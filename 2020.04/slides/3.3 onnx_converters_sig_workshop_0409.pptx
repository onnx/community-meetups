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  <p:sldId id="277" r:id="rId18"/>
  </p:sldIdLst>
  <p:sldSz cx="24387175" cy="13716000"/>
  <p:notesSz cx="7010400" cy="92964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Helvetica Neue" panose="02000503000000020004" pitchFamily="2" charset="0"/>
      <p:bold r:id="rId24"/>
      <p:boldItalic r:id="rId25"/>
    </p:embeddedFont>
    <p:embeddedFont>
      <p:font typeface="Helvetica Neue Light" panose="02000403000000020004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7114">
          <p15:clr>
            <a:srgbClr val="A4A3A4"/>
          </p15:clr>
        </p15:guide>
        <p15:guide id="3" pos="481">
          <p15:clr>
            <a:srgbClr val="A4A3A4"/>
          </p15:clr>
        </p15:guide>
        <p15:guide id="4" pos="7729">
          <p15:clr>
            <a:srgbClr val="A4A3A4"/>
          </p15:clr>
        </p15:guide>
        <p15:guide id="5" pos="1825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5" roundtripDataSignature="AMtx7miOO8cv4sL3Sut5QvE719T5OR46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60" d="100"/>
          <a:sy n="60" d="100"/>
        </p:scale>
        <p:origin x="800" y="208"/>
      </p:cViewPr>
      <p:guideLst>
        <p:guide orient="horz" pos="720"/>
        <p:guide orient="horz" pos="7114"/>
        <p:guide pos="481"/>
        <p:guide pos="7729"/>
        <p:guide pos="1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5" Type="http://customschemas.google.com/relationships/presentationmetadata" Target="meta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87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87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87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87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87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3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299452d97_0_1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299452d9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7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299452d97_0_18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7299452d9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7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d349e0b8_0_0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72d349e0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7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2eb3b3e7c_2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72eb3b3e7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8326" y="697230"/>
            <a:ext cx="46746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3091df178_2_2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73091df178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73091df178_2_6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73091df178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73091df178_2_7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73091df178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3091df178_2_8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73091df178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3091df178_2_8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73091df178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8326" y="697230"/>
            <a:ext cx="46746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8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/Agenda">
  <p:cSld name="Table of Contents/Agenda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33"/>
              <a:buFont typeface="Helvetica Neue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8437964" y="3657600"/>
            <a:ext cx="1516956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SzPts val="3360"/>
              <a:buNone/>
              <a:defRPr sz="3733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3414"/>
              <a:buNone/>
              <a:defRPr>
                <a:solidFill>
                  <a:schemeClr val="accent6"/>
                </a:solidFill>
              </a:defRPr>
            </a:lvl2pPr>
            <a:lvl3pPr marL="1371600" lvl="2" indent="-441940" algn="l">
              <a:spcBef>
                <a:spcPts val="600"/>
              </a:spcBef>
              <a:spcAft>
                <a:spcPts val="0"/>
              </a:spcAft>
              <a:buSzPts val="3360"/>
              <a:buFont typeface="Helvetica Neue Light"/>
              <a:buChar char="-"/>
              <a:defRPr>
                <a:solidFill>
                  <a:schemeClr val="accent6"/>
                </a:solidFill>
              </a:defRPr>
            </a:lvl3pPr>
            <a:lvl4pPr marL="1828800" lvl="3" indent="-431800" algn="l">
              <a:spcBef>
                <a:spcPts val="640"/>
              </a:spcBef>
              <a:spcAft>
                <a:spcPts val="0"/>
              </a:spcAft>
              <a:buSzPts val="3200"/>
              <a:buFont typeface="Helvetica Neue Light"/>
              <a:buChar char="-"/>
              <a:defRPr>
                <a:solidFill>
                  <a:schemeClr val="accent6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body" idx="2"/>
          </p:nvPr>
        </p:nvSpPr>
        <p:spPr>
          <a:xfrm>
            <a:off x="877938" y="3657600"/>
            <a:ext cx="731615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4320"/>
              <a:buNone/>
              <a:defRPr sz="4800">
                <a:solidFill>
                  <a:schemeClr val="dk1"/>
                </a:solidFill>
              </a:defRPr>
            </a:lvl1pPr>
            <a:lvl2pPr marL="914400" lvl="1" indent="-445363" algn="l">
              <a:spcBef>
                <a:spcPts val="600"/>
              </a:spcBef>
              <a:spcAft>
                <a:spcPts val="0"/>
              </a:spcAft>
              <a:buSzPts val="3414"/>
              <a:buChar char="•"/>
              <a:defRPr>
                <a:solidFill>
                  <a:schemeClr val="dk1"/>
                </a:solidFill>
              </a:defRPr>
            </a:lvl2pPr>
            <a:lvl3pPr marL="1371600" lvl="2" indent="-331469" algn="l"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ldNum" idx="12"/>
          </p:nvPr>
        </p:nvSpPr>
        <p:spPr>
          <a:xfrm>
            <a:off x="832870" y="13009036"/>
            <a:ext cx="5664938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756002" y="1950721"/>
            <a:ext cx="230415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756003" y="3657600"/>
            <a:ext cx="22992817" cy="722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2919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Char char="▪"/>
              <a:defRPr sz="4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445363" algn="l">
              <a:spcBef>
                <a:spcPts val="600"/>
              </a:spcBef>
              <a:spcAft>
                <a:spcPts val="0"/>
              </a:spcAft>
              <a:buSzPts val="3414"/>
              <a:buChar char="•"/>
              <a:defRPr sz="4267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441940" algn="l">
              <a:spcBef>
                <a:spcPts val="600"/>
              </a:spcBef>
              <a:spcAft>
                <a:spcPts val="0"/>
              </a:spcAft>
              <a:buSzPts val="3360"/>
              <a:buFont typeface="Helvetica Neue Light"/>
              <a:buChar char="-"/>
              <a:defRPr sz="3733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431800" algn="l">
              <a:spcBef>
                <a:spcPts val="640"/>
              </a:spcBef>
              <a:spcAft>
                <a:spcPts val="0"/>
              </a:spcAft>
              <a:buSzPts val="3200"/>
              <a:buFont typeface="Helvetica Neue Light"/>
              <a:buChar char="-"/>
              <a:defRPr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97954" algn="l">
              <a:spcBef>
                <a:spcPts val="533"/>
              </a:spcBef>
              <a:spcAft>
                <a:spcPts val="0"/>
              </a:spcAft>
              <a:buSzPts val="2667"/>
              <a:buFont typeface="Helvetica Neue Light"/>
              <a:buChar char="-"/>
              <a:defRPr sz="2667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832870" y="13009036"/>
            <a:ext cx="5664938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72eb3b3e7c_2_136"/>
          <p:cNvSpPr txBox="1">
            <a:spLocks noGrp="1"/>
          </p:cNvSpPr>
          <p:nvPr>
            <p:ph type="ctrTitle"/>
          </p:nvPr>
        </p:nvSpPr>
        <p:spPr>
          <a:xfrm>
            <a:off x="3048397" y="2244726"/>
            <a:ext cx="18290400" cy="47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72eb3b3e7c_2_136"/>
          <p:cNvSpPr txBox="1">
            <a:spLocks noGrp="1"/>
          </p:cNvSpPr>
          <p:nvPr>
            <p:ph type="subTitle" idx="1"/>
          </p:nvPr>
        </p:nvSpPr>
        <p:spPr>
          <a:xfrm>
            <a:off x="3048397" y="7204076"/>
            <a:ext cx="18290400" cy="3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5" name="Google Shape;25;g72eb3b3e7c_2_136"/>
          <p:cNvSpPr txBox="1">
            <a:spLocks noGrp="1"/>
          </p:cNvSpPr>
          <p:nvPr>
            <p:ph type="dt" idx="10"/>
          </p:nvPr>
        </p:nvSpPr>
        <p:spPr>
          <a:xfrm>
            <a:off x="1676618" y="12712700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g72eb3b3e7c_2_136"/>
          <p:cNvSpPr txBox="1">
            <a:spLocks noGrp="1"/>
          </p:cNvSpPr>
          <p:nvPr>
            <p:ph type="ftr" idx="11"/>
          </p:nvPr>
        </p:nvSpPr>
        <p:spPr>
          <a:xfrm>
            <a:off x="8078252" y="12712700"/>
            <a:ext cx="8230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g72eb3b3e7c_2_136"/>
          <p:cNvSpPr txBox="1">
            <a:spLocks noGrp="1"/>
          </p:cNvSpPr>
          <p:nvPr>
            <p:ph type="sldNum" idx="12"/>
          </p:nvPr>
        </p:nvSpPr>
        <p:spPr>
          <a:xfrm>
            <a:off x="17223442" y="12712700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/Agenda">
  <p:cSld name="Table of Contents/A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73091df178_2_4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33"/>
              <a:buFont typeface="Helvetica Neue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73091df178_2_4"/>
          <p:cNvSpPr txBox="1">
            <a:spLocks noGrp="1"/>
          </p:cNvSpPr>
          <p:nvPr>
            <p:ph type="body" idx="1"/>
          </p:nvPr>
        </p:nvSpPr>
        <p:spPr>
          <a:xfrm>
            <a:off x="8437964" y="3657600"/>
            <a:ext cx="1516956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SzPts val="3360"/>
              <a:buNone/>
              <a:defRPr sz="3733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14"/>
              <a:buNone/>
              <a:defRPr>
                <a:solidFill>
                  <a:schemeClr val="accent6"/>
                </a:solidFill>
              </a:defRPr>
            </a:lvl2pPr>
            <a:lvl3pPr marL="1371600" lvl="2" indent="-4419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360"/>
              <a:buFont typeface="Helvetica Neue Light"/>
              <a:buChar char="-"/>
              <a:defRPr>
                <a:solidFill>
                  <a:schemeClr val="accent6"/>
                </a:solidFill>
              </a:defRPr>
            </a:lvl3pPr>
            <a:lvl4pPr marL="1828800" lvl="3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Helvetica Neue Light"/>
              <a:buChar char="-"/>
              <a:defRPr>
                <a:solidFill>
                  <a:schemeClr val="accent6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g73091df178_2_4"/>
          <p:cNvSpPr txBox="1">
            <a:spLocks noGrp="1"/>
          </p:cNvSpPr>
          <p:nvPr>
            <p:ph type="body" idx="2"/>
          </p:nvPr>
        </p:nvSpPr>
        <p:spPr>
          <a:xfrm>
            <a:off x="877938" y="3657600"/>
            <a:ext cx="731615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800">
                <a:solidFill>
                  <a:schemeClr val="dk1"/>
                </a:solidFill>
              </a:defRPr>
            </a:lvl1pPr>
            <a:lvl2pPr marL="914400" lvl="1" indent="-4453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14"/>
              <a:buChar char="•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-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2" name="Google Shape;42;g73091df178_2_4"/>
          <p:cNvSpPr txBox="1">
            <a:spLocks noGrp="1"/>
          </p:cNvSpPr>
          <p:nvPr>
            <p:ph type="sldNum" idx="12"/>
          </p:nvPr>
        </p:nvSpPr>
        <p:spPr>
          <a:xfrm>
            <a:off x="832870" y="13009036"/>
            <a:ext cx="5664938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73091df178_2_9"/>
          <p:cNvSpPr txBox="1">
            <a:spLocks noGrp="1"/>
          </p:cNvSpPr>
          <p:nvPr>
            <p:ph type="ctrTitle"/>
          </p:nvPr>
        </p:nvSpPr>
        <p:spPr>
          <a:xfrm>
            <a:off x="3048397" y="2244726"/>
            <a:ext cx="18290400" cy="47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Calibri"/>
              <a:buNone/>
              <a:defRPr sz="1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73091df178_2_9"/>
          <p:cNvSpPr txBox="1">
            <a:spLocks noGrp="1"/>
          </p:cNvSpPr>
          <p:nvPr>
            <p:ph type="subTitle" idx="1"/>
          </p:nvPr>
        </p:nvSpPr>
        <p:spPr>
          <a:xfrm>
            <a:off x="3048397" y="7204076"/>
            <a:ext cx="18290400" cy="3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g73091df178_2_9"/>
          <p:cNvSpPr txBox="1">
            <a:spLocks noGrp="1"/>
          </p:cNvSpPr>
          <p:nvPr>
            <p:ph type="dt" idx="10"/>
          </p:nvPr>
        </p:nvSpPr>
        <p:spPr>
          <a:xfrm>
            <a:off x="1676618" y="12712700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73091df178_2_9"/>
          <p:cNvSpPr txBox="1">
            <a:spLocks noGrp="1"/>
          </p:cNvSpPr>
          <p:nvPr>
            <p:ph type="ftr" idx="11"/>
          </p:nvPr>
        </p:nvSpPr>
        <p:spPr>
          <a:xfrm>
            <a:off x="8078252" y="12712700"/>
            <a:ext cx="8230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g73091df178_2_9"/>
          <p:cNvSpPr txBox="1">
            <a:spLocks noGrp="1"/>
          </p:cNvSpPr>
          <p:nvPr>
            <p:ph type="sldNum" idx="12"/>
          </p:nvPr>
        </p:nvSpPr>
        <p:spPr>
          <a:xfrm>
            <a:off x="17223442" y="12712700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73091df178_2_15"/>
          <p:cNvSpPr txBox="1">
            <a:spLocks noGrp="1"/>
          </p:cNvSpPr>
          <p:nvPr>
            <p:ph type="title"/>
          </p:nvPr>
        </p:nvSpPr>
        <p:spPr>
          <a:xfrm>
            <a:off x="1676618" y="730250"/>
            <a:ext cx="21033900" cy="26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73091df178_2_15"/>
          <p:cNvSpPr txBox="1">
            <a:spLocks noGrp="1"/>
          </p:cNvSpPr>
          <p:nvPr>
            <p:ph type="body" idx="1"/>
          </p:nvPr>
        </p:nvSpPr>
        <p:spPr>
          <a:xfrm>
            <a:off x="1676618" y="3651250"/>
            <a:ext cx="21033900" cy="87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>
            <a:lvl1pPr marL="457200" lvl="0" indent="-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  <a:defRPr/>
            </a:lvl1pPr>
            <a:lvl2pPr marL="914400" lvl="1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2pPr>
            <a:lvl3pPr marL="1371600" lvl="2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  <a:defRPr/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  <a:defRPr/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-"/>
              <a:defRPr/>
            </a:lvl5pPr>
            <a:lvl6pPr marL="2743200" lvl="5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6pPr>
            <a:lvl7pPr marL="3200400" lvl="6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7pPr>
            <a:lvl8pPr marL="3657600" lvl="7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8pPr>
            <a:lvl9pPr marL="4114800" lvl="8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9pPr>
          </a:lstStyle>
          <a:p>
            <a:endParaRPr/>
          </a:p>
        </p:txBody>
      </p:sp>
      <p:sp>
        <p:nvSpPr>
          <p:cNvPr id="52" name="Google Shape;52;g73091df178_2_15"/>
          <p:cNvSpPr txBox="1">
            <a:spLocks noGrp="1"/>
          </p:cNvSpPr>
          <p:nvPr>
            <p:ph type="dt" idx="10"/>
          </p:nvPr>
        </p:nvSpPr>
        <p:spPr>
          <a:xfrm>
            <a:off x="1676618" y="12712700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73091df178_2_15"/>
          <p:cNvSpPr txBox="1">
            <a:spLocks noGrp="1"/>
          </p:cNvSpPr>
          <p:nvPr>
            <p:ph type="ftr" idx="11"/>
          </p:nvPr>
        </p:nvSpPr>
        <p:spPr>
          <a:xfrm>
            <a:off x="8078252" y="12712700"/>
            <a:ext cx="82308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g73091df178_2_15"/>
          <p:cNvSpPr txBox="1">
            <a:spLocks noGrp="1"/>
          </p:cNvSpPr>
          <p:nvPr>
            <p:ph type="sldNum" idx="12"/>
          </p:nvPr>
        </p:nvSpPr>
        <p:spPr>
          <a:xfrm>
            <a:off x="17223442" y="12712700"/>
            <a:ext cx="54870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73091df178_2_21"/>
          <p:cNvSpPr txBox="1">
            <a:spLocks noGrp="1"/>
          </p:cNvSpPr>
          <p:nvPr>
            <p:ph type="title"/>
          </p:nvPr>
        </p:nvSpPr>
        <p:spPr>
          <a:xfrm>
            <a:off x="756002" y="1950721"/>
            <a:ext cx="230415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73091df178_2_21"/>
          <p:cNvSpPr txBox="1">
            <a:spLocks noGrp="1"/>
          </p:cNvSpPr>
          <p:nvPr>
            <p:ph type="body" idx="1"/>
          </p:nvPr>
        </p:nvSpPr>
        <p:spPr>
          <a:xfrm>
            <a:off x="756003" y="3657600"/>
            <a:ext cx="22992817" cy="722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291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Char char="▪"/>
              <a:defRPr sz="4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4453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14"/>
              <a:buChar char="•"/>
              <a:defRPr sz="4267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lvl="2" indent="-44196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360"/>
              <a:buFont typeface="Helvetica Neue Light"/>
              <a:buChar char="-"/>
              <a:defRPr sz="3733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lvl="3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Helvetica Neue Light"/>
              <a:buChar char="-"/>
              <a:defRPr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lvl="4" indent="-397954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SzPts val="2667"/>
              <a:buFont typeface="Helvetica Neue Light"/>
              <a:buChar char="-"/>
              <a:defRPr sz="2667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8" name="Google Shape;58;g73091df178_2_21"/>
          <p:cNvSpPr txBox="1">
            <a:spLocks noGrp="1"/>
          </p:cNvSpPr>
          <p:nvPr>
            <p:ph type="sldNum" idx="12"/>
          </p:nvPr>
        </p:nvSpPr>
        <p:spPr>
          <a:xfrm>
            <a:off x="832870" y="13009036"/>
            <a:ext cx="5664938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757868" y="2438400"/>
            <a:ext cx="22549669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147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45363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4194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60"/>
              <a:buFont typeface="Helvetica Neue Light"/>
              <a:buChar char="-"/>
              <a:defRPr sz="3733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31800" algn="l" rtl="0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-"/>
              <a:defRPr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97954" algn="l" rtl="0"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Helvetica Neue Light"/>
              <a:buChar char="-"/>
              <a:defRPr sz="2667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757867" y="584201"/>
            <a:ext cx="23167816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32870" y="13009036"/>
            <a:ext cx="5664938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2">
          <p15:clr>
            <a:srgbClr val="F26B43"/>
          </p15:clr>
        </p15:guide>
        <p15:guide id="2" pos="181">
          <p15:clr>
            <a:srgbClr val="F26B43"/>
          </p15:clr>
        </p15:guide>
        <p15:guide id="3" orient="horz" pos="2368">
          <p15:clr>
            <a:srgbClr val="F26B43"/>
          </p15:clr>
        </p15:guide>
        <p15:guide id="4" pos="557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73091df178_2_0"/>
          <p:cNvSpPr txBox="1">
            <a:spLocks noGrp="1"/>
          </p:cNvSpPr>
          <p:nvPr>
            <p:ph type="body" idx="1"/>
          </p:nvPr>
        </p:nvSpPr>
        <p:spPr>
          <a:xfrm>
            <a:off x="757868" y="2438400"/>
            <a:ext cx="22549669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14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4538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14"/>
              <a:buFont typeface="Arial"/>
              <a:buChar char="•"/>
              <a:defRPr sz="4267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4196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360"/>
              <a:buFont typeface="Helvetica Neue Light"/>
              <a:buChar char="-"/>
              <a:defRPr sz="3733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-"/>
              <a:defRPr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97954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Helvetica Neue Light"/>
              <a:buChar char="-"/>
              <a:defRPr sz="2667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g73091df178_2_0"/>
          <p:cNvSpPr txBox="1">
            <a:spLocks noGrp="1"/>
          </p:cNvSpPr>
          <p:nvPr>
            <p:ph type="title"/>
          </p:nvPr>
        </p:nvSpPr>
        <p:spPr>
          <a:xfrm>
            <a:off x="757867" y="584201"/>
            <a:ext cx="23167816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333" b="1" i="0" u="none" strike="noStrike" cap="none">
                <a:solidFill>
                  <a:srgbClr val="5596E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600" b="0" i="0" u="none" strike="noStrike" cap="none">
                <a:solidFill>
                  <a:srgbClr val="19191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37" name="Google Shape;37;g73091df178_2_0"/>
          <p:cNvSpPr txBox="1">
            <a:spLocks noGrp="1"/>
          </p:cNvSpPr>
          <p:nvPr>
            <p:ph type="sldNum" idx="12"/>
          </p:nvPr>
        </p:nvSpPr>
        <p:spPr>
          <a:xfrm>
            <a:off x="832870" y="13009036"/>
            <a:ext cx="5664938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2">
          <p15:clr>
            <a:srgbClr val="F26B43"/>
          </p15:clr>
        </p15:guide>
        <p15:guide id="2" pos="181">
          <p15:clr>
            <a:srgbClr val="F26B43"/>
          </p15:clr>
        </p15:guide>
        <p15:guide id="3" orient="horz" pos="2368">
          <p15:clr>
            <a:srgbClr val="F26B43"/>
          </p15:clr>
        </p15:guide>
        <p15:guide id="4" pos="55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orch/pytorch/releas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keras-onnx/releases/tag/v1.6.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onnx/sklearn-onnx/releases/tag/1.6.0" TargetMode="External"/><Relationship Id="rId4" Type="http://schemas.openxmlformats.org/officeDocument/2006/relationships/hyperlink" Target="https://github.com/huggingface/transformer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onnxtensorflow/blob/master/test/backend/test_dynamic_shape.p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sts.lfai.foundation/g/onnx-sig-operators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4387173" cy="47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>
            <a:spLocks noGrp="1"/>
          </p:cNvSpPr>
          <p:nvPr>
            <p:ph type="body" idx="2"/>
          </p:nvPr>
        </p:nvSpPr>
        <p:spPr>
          <a:xfrm>
            <a:off x="2143300" y="5019675"/>
            <a:ext cx="20100600" cy="6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920"/>
              <a:buNone/>
            </a:pPr>
            <a:r>
              <a:rPr lang="en-US" sz="8800"/>
              <a:t>Converters SIG Updates</a:t>
            </a:r>
            <a:endParaRPr sz="8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920"/>
              <a:buNone/>
            </a:pPr>
            <a:endParaRPr sz="88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4860"/>
              <a:buNone/>
            </a:pPr>
            <a:endParaRPr sz="5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4860"/>
              <a:buNone/>
            </a:pPr>
            <a:r>
              <a:rPr lang="en-US" sz="5400"/>
              <a:t>Workshop 04/09/2020</a:t>
            </a:r>
            <a:endParaRPr sz="5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4860"/>
              <a:buNone/>
            </a:pPr>
            <a:r>
              <a:rPr lang="en-US" sz="5400"/>
              <a:t>Chin Huang, IBM</a:t>
            </a:r>
            <a:endParaRPr sz="5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4860"/>
              <a:buNone/>
            </a:pPr>
            <a:r>
              <a:rPr lang="en-US" sz="5400"/>
              <a:t>Guenther Schmuelling, Microsoft</a:t>
            </a:r>
            <a:endParaRPr sz="5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6480"/>
              <a:buNone/>
            </a:pPr>
            <a:endParaRPr sz="72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SzPts val="432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4800"/>
              <a:t>Converters SIG Updates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1797275" y="3343924"/>
            <a:ext cx="196122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</a:rPr>
              <a:t>Quick polls… support for onnx-ml and onnx training </a:t>
            </a:r>
            <a:endParaRPr sz="4000">
              <a:solidFill>
                <a:schemeClr val="dk1"/>
              </a:solidFill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 converters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converters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user experience discussions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ONNX-MLIR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299452d97_0_11"/>
          <p:cNvSpPr txBox="1">
            <a:spLocks noGrp="1"/>
          </p:cNvSpPr>
          <p:nvPr>
            <p:ph type="title"/>
          </p:nvPr>
        </p:nvSpPr>
        <p:spPr>
          <a:xfrm>
            <a:off x="844004" y="478196"/>
            <a:ext cx="22851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5400" b="0">
                <a:solidFill>
                  <a:srgbClr val="304C89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5300" b="0">
                <a:solidFill>
                  <a:srgbClr val="304C89"/>
                </a:solidFill>
                <a:latin typeface="Arial"/>
                <a:ea typeface="Arial"/>
                <a:cs typeface="Arial"/>
                <a:sym typeface="Arial"/>
              </a:rPr>
              <a:t>Converter Updates (since Nov)</a:t>
            </a:r>
            <a:endParaRPr/>
          </a:p>
        </p:txBody>
      </p:sp>
      <p:sp>
        <p:nvSpPr>
          <p:cNvPr id="76" name="Google Shape;76;g7299452d97_0_11"/>
          <p:cNvSpPr txBox="1"/>
          <p:nvPr/>
        </p:nvSpPr>
        <p:spPr>
          <a:xfrm>
            <a:off x="898600" y="2185425"/>
            <a:ext cx="22590000" cy="112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chemeClr val="dk1"/>
                </a:solidFill>
              </a:rPr>
              <a:t>Pytorch-ONNX exporter</a:t>
            </a:r>
            <a:endParaRPr sz="4500" b="1">
              <a:solidFill>
                <a:schemeClr val="dk1"/>
              </a:solidFill>
            </a:endParaRPr>
          </a:p>
          <a:p>
            <a:pPr marL="1828800" lvl="3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 b="1">
                <a:solidFill>
                  <a:schemeClr val="dk1"/>
                </a:solidFill>
              </a:rPr>
              <a:t>ONNX Compliance</a:t>
            </a:r>
            <a:endParaRPr sz="3800" b="1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>
                <a:solidFill>
                  <a:schemeClr val="dk1"/>
                </a:solidFill>
              </a:rPr>
              <a:t>Opset 11 fully supported in</a:t>
            </a:r>
            <a:r>
              <a:rPr lang="en-US" sz="3800">
                <a:solidFill>
                  <a:schemeClr val="dk1"/>
                </a:solidFill>
                <a:uFill>
                  <a:noFill/>
                </a:uFill>
                <a:hlinkClick r:id="rId3"/>
              </a:rPr>
              <a:t> </a:t>
            </a:r>
            <a:r>
              <a:rPr lang="en-US" sz="3800" u="sng">
                <a:solidFill>
                  <a:schemeClr val="hlink"/>
                </a:solidFill>
                <a:hlinkClick r:id="rId3"/>
              </a:rPr>
              <a:t>Pytorch 1.4.0</a:t>
            </a:r>
            <a:r>
              <a:rPr lang="en-US" sz="3800">
                <a:solidFill>
                  <a:schemeClr val="dk1"/>
                </a:solidFill>
              </a:rPr>
              <a:t>；Opset 12 in progress</a:t>
            </a:r>
            <a:endParaRPr sz="3800">
              <a:solidFill>
                <a:schemeClr val="dk1"/>
              </a:solidFill>
            </a:endParaRPr>
          </a:p>
          <a:p>
            <a:pPr marL="1828800" lvl="3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 b="1">
                <a:solidFill>
                  <a:schemeClr val="dk1"/>
                </a:solidFill>
              </a:rPr>
              <a:t>Operators improvement</a:t>
            </a:r>
            <a:endParaRPr sz="3800" b="1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>
                <a:solidFill>
                  <a:schemeClr val="dk1"/>
                </a:solidFill>
              </a:rPr>
              <a:t>More than 20+ new operators have been enabled</a:t>
            </a:r>
            <a:endParaRPr sz="3800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>
                <a:solidFill>
                  <a:schemeClr val="dk1"/>
                </a:solidFill>
              </a:rPr>
              <a:t>Several existing operators export has been updated</a:t>
            </a:r>
            <a:endParaRPr sz="3800">
              <a:solidFill>
                <a:schemeClr val="dk1"/>
              </a:solidFill>
            </a:endParaRPr>
          </a:p>
          <a:p>
            <a:pPr marL="1828800" lvl="3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 b="1">
                <a:solidFill>
                  <a:schemeClr val="dk1"/>
                </a:solidFill>
              </a:rPr>
              <a:t>New features</a:t>
            </a:r>
            <a:endParaRPr sz="3800" b="1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>
                <a:solidFill>
                  <a:schemeClr val="dk1"/>
                </a:solidFill>
              </a:rPr>
              <a:t>Large model export supported in pytorch-onnx exporter</a:t>
            </a:r>
            <a:endParaRPr sz="3800">
              <a:solidFill>
                <a:schemeClr val="dk1"/>
              </a:solidFill>
            </a:endParaRPr>
          </a:p>
          <a:p>
            <a:pPr marL="4114800" lvl="8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■"/>
            </a:pPr>
            <a:r>
              <a:rPr lang="en-US" sz="3500">
                <a:solidFill>
                  <a:schemeClr val="dk1"/>
                </a:solidFill>
              </a:rPr>
              <a:t>HuggingFace GPT-2 Large with 72 layers beyond the 2GB limit exported successfully</a:t>
            </a:r>
            <a:endParaRPr sz="3500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>
                <a:solidFill>
                  <a:schemeClr val="dk1"/>
                </a:solidFill>
              </a:rPr>
              <a:t>ONNX checker Integration in pytorch-onnx exporter for high-quality model export</a:t>
            </a:r>
            <a:endParaRPr sz="3800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>
                <a:solidFill>
                  <a:schemeClr val="dk1"/>
                </a:solidFill>
              </a:rPr>
              <a:t>Boolean tensor indexing supported in pytorch-onnx exporter</a:t>
            </a:r>
            <a:endParaRPr sz="3800">
              <a:solidFill>
                <a:schemeClr val="dk1"/>
              </a:solidFill>
            </a:endParaRPr>
          </a:p>
          <a:p>
            <a:pPr marL="1828800" lvl="3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800" b="1">
                <a:solidFill>
                  <a:schemeClr val="dk1"/>
                </a:solidFill>
              </a:rPr>
              <a:t>More out-of-box model conversion </a:t>
            </a:r>
            <a:r>
              <a:rPr lang="en-US" sz="3800">
                <a:solidFill>
                  <a:schemeClr val="dk1"/>
                </a:solidFill>
              </a:rPr>
              <a:t>with Pytorch 1.4</a:t>
            </a:r>
            <a:endParaRPr sz="3800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500">
                <a:solidFill>
                  <a:schemeClr val="dk1"/>
                </a:solidFill>
              </a:rPr>
              <a:t>Hugging Face BERT/GPT2 models</a:t>
            </a:r>
            <a:endParaRPr sz="3500">
              <a:solidFill>
                <a:schemeClr val="dk1"/>
              </a:solidFill>
            </a:endParaRPr>
          </a:p>
          <a:p>
            <a:pPr marL="3200400" lvl="6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●"/>
            </a:pPr>
            <a:r>
              <a:rPr lang="en-US" sz="3500">
                <a:solidFill>
                  <a:schemeClr val="dk1"/>
                </a:solidFill>
              </a:rPr>
              <a:t>TorchVision models (Opset 11, with fixed input size)</a:t>
            </a:r>
            <a:endParaRPr sz="3500">
              <a:solidFill>
                <a:schemeClr val="dk1"/>
              </a:solidFill>
            </a:endParaRPr>
          </a:p>
          <a:p>
            <a:pPr marL="4114800" lvl="8" indent="-488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Char char="■"/>
            </a:pPr>
            <a:r>
              <a:rPr lang="en-US" sz="3500">
                <a:solidFill>
                  <a:schemeClr val="dk1"/>
                </a:solidFill>
              </a:rPr>
              <a:t>Such as FasterRCNN, MaskRCNN, and KeypointRCNN</a:t>
            </a:r>
            <a:endParaRPr sz="4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299452d97_0_18"/>
          <p:cNvSpPr txBox="1">
            <a:spLocks noGrp="1"/>
          </p:cNvSpPr>
          <p:nvPr>
            <p:ph type="title"/>
          </p:nvPr>
        </p:nvSpPr>
        <p:spPr>
          <a:xfrm>
            <a:off x="844004" y="478196"/>
            <a:ext cx="22851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5400" b="0">
                <a:solidFill>
                  <a:srgbClr val="304C89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5300" b="0">
                <a:solidFill>
                  <a:srgbClr val="304C89"/>
                </a:solidFill>
                <a:latin typeface="Arial"/>
                <a:ea typeface="Arial"/>
                <a:cs typeface="Arial"/>
                <a:sym typeface="Arial"/>
              </a:rPr>
              <a:t>Converter Updates (since Nov)</a:t>
            </a:r>
            <a:endParaRPr/>
          </a:p>
        </p:txBody>
      </p:sp>
      <p:sp>
        <p:nvSpPr>
          <p:cNvPr id="82" name="Google Shape;82;g7299452d97_0_18"/>
          <p:cNvSpPr txBox="1"/>
          <p:nvPr/>
        </p:nvSpPr>
        <p:spPr>
          <a:xfrm>
            <a:off x="1638500" y="1490350"/>
            <a:ext cx="19535100" cy="118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</a:rPr>
              <a:t>Keras-ONNX converter</a:t>
            </a:r>
            <a:endParaRPr sz="3700" b="1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Opset 11 fully supported in</a:t>
            </a:r>
            <a:r>
              <a:rPr lang="en-US" sz="3500">
                <a:solidFill>
                  <a:schemeClr val="dk1"/>
                </a:solidFill>
                <a:uFill>
                  <a:noFill/>
                </a:uFill>
                <a:hlinkClick r:id="rId3"/>
              </a:rPr>
              <a:t> </a:t>
            </a:r>
            <a:r>
              <a:rPr lang="en-US" sz="3500" u="sng">
                <a:solidFill>
                  <a:schemeClr val="hlink"/>
                </a:solidFill>
                <a:hlinkClick r:id="rId3"/>
              </a:rPr>
              <a:t>Keras2onnx V1.6.0</a:t>
            </a:r>
            <a:r>
              <a:rPr lang="en-US" sz="3500">
                <a:solidFill>
                  <a:schemeClr val="dk1"/>
                </a:solidFill>
              </a:rPr>
              <a:t>; Opset 12 in progress</a:t>
            </a:r>
            <a:endParaRPr sz="3500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Support tf.keras in tensorflow 2.0/2.1 with subclassing mode</a:t>
            </a:r>
            <a:endParaRPr sz="3500">
              <a:solidFill>
                <a:schemeClr val="dk1"/>
              </a:solidFill>
            </a:endParaRPr>
          </a:p>
          <a:p>
            <a:pPr marL="22860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Tensorflow 2.2 supported in master branch</a:t>
            </a:r>
            <a:endParaRPr sz="3200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Bidirectional RNN model fully supported</a:t>
            </a:r>
            <a:endParaRPr sz="3500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More out-of-box model conversion</a:t>
            </a:r>
            <a:endParaRPr sz="3500">
              <a:solidFill>
                <a:schemeClr val="dk1"/>
              </a:solidFill>
            </a:endParaRPr>
          </a:p>
          <a:p>
            <a:pPr marL="22860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tf.keras.applications models;</a:t>
            </a:r>
            <a:r>
              <a:rPr lang="en-US" sz="3200">
                <a:solidFill>
                  <a:schemeClr val="dk1"/>
                </a:solidFill>
                <a:uFill>
                  <a:noFill/>
                </a:uFill>
                <a:hlinkClick r:id="rId4"/>
              </a:rPr>
              <a:t> </a:t>
            </a:r>
            <a:r>
              <a:rPr lang="en-US" sz="3200" u="sng">
                <a:solidFill>
                  <a:schemeClr val="hlink"/>
                </a:solidFill>
                <a:hlinkClick r:id="rId4"/>
              </a:rPr>
              <a:t>huggingface/transformers</a:t>
            </a:r>
            <a:r>
              <a:rPr lang="en-US" sz="3200">
                <a:solidFill>
                  <a:schemeClr val="dk1"/>
                </a:solidFill>
              </a:rPr>
              <a:t>.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</a:rPr>
              <a:t>Sklearn-ONNX converter</a:t>
            </a:r>
            <a:endParaRPr sz="3700" b="1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Opset 11 fully supported in</a:t>
            </a:r>
            <a:r>
              <a:rPr lang="en-US" sz="3500">
                <a:solidFill>
                  <a:schemeClr val="dk1"/>
                </a:solidFill>
                <a:uFill>
                  <a:noFill/>
                </a:uFill>
                <a:hlinkClick r:id="rId5"/>
              </a:rPr>
              <a:t> </a:t>
            </a:r>
            <a:r>
              <a:rPr lang="en-US" sz="3500" u="sng">
                <a:solidFill>
                  <a:schemeClr val="hlink"/>
                </a:solidFill>
                <a:hlinkClick r:id="rId5"/>
              </a:rPr>
              <a:t>skl2onx V1.6.0</a:t>
            </a:r>
            <a:r>
              <a:rPr lang="en-US" sz="3500">
                <a:solidFill>
                  <a:schemeClr val="dk1"/>
                </a:solidFill>
              </a:rPr>
              <a:t>; Opset 12 in progress</a:t>
            </a:r>
            <a:endParaRPr sz="3500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Supported new models in Scikit-learn 0.22.1</a:t>
            </a:r>
            <a:endParaRPr sz="3500">
              <a:solidFill>
                <a:schemeClr val="dk1"/>
              </a:solidFill>
            </a:endParaRPr>
          </a:p>
          <a:p>
            <a:pPr marL="2743200" lvl="3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StackingRegressor/Classifier, KNNImputer, CategoricalNB, KNeighborsTransformer, HistGradientBoostingRegressor/Classifier, NeighborhoodComponentsAnalysis</a:t>
            </a:r>
            <a:endParaRPr sz="3200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New features added</a:t>
            </a:r>
            <a:endParaRPr sz="3500">
              <a:solidFill>
                <a:schemeClr val="dk1"/>
              </a:solidFill>
            </a:endParaRPr>
          </a:p>
          <a:p>
            <a:pPr marL="2743200" lvl="3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Boolean input type, decision_function and custom parsers supported in skl2onnx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</a:rPr>
              <a:t>ONNXConverter-Common</a:t>
            </a:r>
            <a:endParaRPr sz="3700" b="1">
              <a:solidFill>
                <a:schemeClr val="dk1"/>
              </a:solidFill>
            </a:endParaRPr>
          </a:p>
          <a:p>
            <a:pPr marL="13716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More graph optimizations added in Graph Optimizer</a:t>
            </a:r>
            <a:endParaRPr sz="3500">
              <a:solidFill>
                <a:schemeClr val="dk1"/>
              </a:solidFill>
            </a:endParaRPr>
          </a:p>
          <a:p>
            <a:pPr marL="22860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MaskRCNN converted from Keras : Observed 50% nodes reduction and up to 7.9x perf speedup with graph optimization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2d349e0b8_0_0"/>
          <p:cNvSpPr txBox="1">
            <a:spLocks noGrp="1"/>
          </p:cNvSpPr>
          <p:nvPr>
            <p:ph type="title"/>
          </p:nvPr>
        </p:nvSpPr>
        <p:spPr>
          <a:xfrm>
            <a:off x="844004" y="478196"/>
            <a:ext cx="22851600" cy="6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5400" b="0">
                <a:solidFill>
                  <a:srgbClr val="304C89"/>
                </a:solidFill>
                <a:latin typeface="Arial"/>
                <a:ea typeface="Arial"/>
                <a:cs typeface="Arial"/>
                <a:sym typeface="Arial"/>
              </a:rPr>
              <a:t>Frontend </a:t>
            </a:r>
            <a:r>
              <a:rPr lang="en-US" sz="5300" b="0">
                <a:solidFill>
                  <a:srgbClr val="304C89"/>
                </a:solidFill>
                <a:latin typeface="Arial"/>
                <a:ea typeface="Arial"/>
                <a:cs typeface="Arial"/>
                <a:sym typeface="Arial"/>
              </a:rPr>
              <a:t>Converter Updates (since Nov)</a:t>
            </a:r>
            <a:endParaRPr/>
          </a:p>
        </p:txBody>
      </p:sp>
      <p:sp>
        <p:nvSpPr>
          <p:cNvPr id="88" name="Google Shape;88;g72d349e0b8_0_0"/>
          <p:cNvSpPr txBox="1"/>
          <p:nvPr/>
        </p:nvSpPr>
        <p:spPr>
          <a:xfrm>
            <a:off x="1638500" y="1490350"/>
            <a:ext cx="19535100" cy="118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chemeClr val="dk1"/>
                </a:solidFill>
              </a:rPr>
              <a:t>Tensorflow-ONNX converter</a:t>
            </a:r>
            <a:endParaRPr sz="3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</a:rPr>
              <a:t>released version tf2onnx-1.5.6</a:t>
            </a:r>
            <a:endParaRPr sz="3500" b="1">
              <a:solidFill>
                <a:schemeClr val="dk1"/>
              </a:solidFill>
            </a:endParaRPr>
          </a:p>
          <a:p>
            <a:pPr marL="9144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supports opset 7-11, tensorflow 1.5-1.14</a:t>
            </a:r>
            <a:endParaRPr sz="3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</a:rPr>
              <a:t>master</a:t>
            </a:r>
            <a:endParaRPr sz="3500" b="1">
              <a:solidFill>
                <a:schemeClr val="dk1"/>
              </a:solidFill>
            </a:endParaRPr>
          </a:p>
          <a:p>
            <a:pPr marL="9144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opset 7-11</a:t>
            </a:r>
            <a:endParaRPr sz="3500">
              <a:solidFill>
                <a:schemeClr val="dk1"/>
              </a:solidFill>
            </a:endParaRPr>
          </a:p>
          <a:p>
            <a:pPr marL="9144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tensorflow 1.11-1.15, tensorflow 2.1-2.2</a:t>
            </a:r>
            <a:endParaRPr sz="3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chemeClr val="dk1"/>
                </a:solidFill>
              </a:rPr>
              <a:t>experimental tensorflow 2 support</a:t>
            </a:r>
            <a:endParaRPr sz="3500" b="1">
              <a:solidFill>
                <a:schemeClr val="dk1"/>
              </a:solidFill>
            </a:endParaRPr>
          </a:p>
          <a:p>
            <a:pPr marL="9144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basic models should work</a:t>
            </a:r>
            <a:endParaRPr sz="3500">
              <a:solidFill>
                <a:schemeClr val="dk1"/>
              </a:solidFill>
            </a:endParaRPr>
          </a:p>
          <a:p>
            <a:pPr marL="9144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still some issues with lstm</a:t>
            </a:r>
            <a:endParaRPr sz="3500">
              <a:solidFill>
                <a:schemeClr val="dk1"/>
              </a:solidFill>
            </a:endParaRPr>
          </a:p>
          <a:p>
            <a:pPr marL="914400" lvl="0" indent="-450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●"/>
            </a:pPr>
            <a:r>
              <a:rPr lang="en-US" sz="3500">
                <a:solidFill>
                  <a:schemeClr val="dk1"/>
                </a:solidFill>
              </a:rPr>
              <a:t>uses tensorflow V2 control flow</a:t>
            </a:r>
            <a:endParaRPr sz="3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4800"/>
              <a:t>Backend Converter Updates</a:t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1797275" y="3343925"/>
            <a:ext cx="19612200" cy="8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ONNX-TF</a:t>
            </a:r>
            <a:endParaRPr/>
          </a:p>
          <a:p>
            <a:pPr marL="1658937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Tensorflow 2.0 </a:t>
            </a:r>
            <a:r>
              <a:rPr lang="en-US" sz="4000">
                <a:solidFill>
                  <a:schemeClr val="dk1"/>
                </a:solidFill>
              </a:rPr>
              <a:t>new APIs, tf.function, and persist as SavedModel</a:t>
            </a:r>
            <a:endParaRPr sz="4000">
              <a:solidFill>
                <a:schemeClr val="dk1"/>
              </a:solidFill>
            </a:endParaRPr>
          </a:p>
          <a:p>
            <a:pPr marL="1658938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>
                <a:solidFill>
                  <a:schemeClr val="dk1"/>
                </a:solidFill>
              </a:rPr>
              <a:t>Opset 11 support almost complete</a:t>
            </a:r>
            <a:endParaRPr sz="4000">
              <a:solidFill>
                <a:schemeClr val="dk1"/>
              </a:solidFill>
            </a:endParaRPr>
          </a:p>
          <a:p>
            <a:pPr marL="1658937" marR="0" lvl="1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Dynamic/Unknown input shapes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lvl="4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000"/>
              <a:buChar char="○"/>
            </a:pPr>
            <a:r>
              <a:rPr lang="en-US" sz="3000">
                <a:solidFill>
                  <a:srgbClr val="1D1C1D"/>
                </a:solidFill>
                <a:highlight>
                  <a:srgbClr val="F8F8F8"/>
                </a:highlight>
              </a:rPr>
              <a:t>ONNX supports it but no standard backend test to verify it</a:t>
            </a:r>
            <a:endParaRPr sz="300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marL="2286000" lvl="4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000"/>
              <a:buChar char="○"/>
            </a:pPr>
            <a:r>
              <a:rPr lang="en-US" sz="3000">
                <a:solidFill>
                  <a:srgbClr val="1D1C1D"/>
                </a:solidFill>
                <a:highlight>
                  <a:srgbClr val="F8F8F8"/>
                </a:highlight>
              </a:rPr>
              <a:t>ONNX-TF implemented some dynamic shape input test</a:t>
            </a:r>
            <a:endParaRPr sz="300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D1C1D"/>
                </a:solidFill>
                <a:highlight>
                  <a:srgbClr val="F8F8F8"/>
                </a:highlight>
              </a:rPr>
              <a:t>	</a:t>
            </a:r>
            <a:r>
              <a:rPr lang="en-US" sz="3000">
                <a:solidFill>
                  <a:schemeClr val="hlink"/>
                </a:solidFill>
                <a:highlight>
                  <a:srgbClr val="F8F8F8"/>
                </a:highlight>
                <a:uFill>
                  <a:noFill/>
                </a:uFill>
                <a:hlinkClick r:id="rId3"/>
              </a:rPr>
              <a:t>https://github.com/onnx/onnxtensorflow/blob/master/test/backend/test_dynamic_shape.py</a:t>
            </a:r>
            <a:endParaRPr sz="3000">
              <a:solidFill>
                <a:schemeClr val="hlink"/>
              </a:solidFill>
              <a:highlight>
                <a:srgbClr val="F8F8F8"/>
              </a:highlight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000">
                <a:solidFill>
                  <a:schemeClr val="dk1"/>
                </a:solidFill>
              </a:rPr>
              <a:t>General </a:t>
            </a:r>
            <a:endParaRPr sz="4000">
              <a:solidFill>
                <a:schemeClr val="dk1"/>
              </a:solidFill>
            </a:endParaRPr>
          </a:p>
          <a:p>
            <a:pPr marL="1828800" marR="0" lvl="3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ONNX-ML </a:t>
            </a:r>
            <a:endParaRPr sz="3600">
              <a:solidFill>
                <a:schemeClr val="dk1"/>
              </a:solidFill>
            </a:endParaRPr>
          </a:p>
          <a:p>
            <a:pPr marL="2286000" marR="0" lvl="4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Operators support level (poll)</a:t>
            </a:r>
            <a:endParaRPr sz="3600">
              <a:solidFill>
                <a:schemeClr val="dk1"/>
              </a:solidFill>
            </a:endParaRPr>
          </a:p>
          <a:p>
            <a:pPr marL="2286000" marR="0" lvl="4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Standard ONNX-ML test cases</a:t>
            </a:r>
            <a:endParaRPr sz="3600">
              <a:solidFill>
                <a:schemeClr val="dk1"/>
              </a:solidFill>
            </a:endParaRPr>
          </a:p>
          <a:p>
            <a:pPr marL="1828800" marR="0" lvl="3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Training</a:t>
            </a:r>
            <a:endParaRPr sz="3600">
              <a:solidFill>
                <a:schemeClr val="dk1"/>
              </a:solidFill>
            </a:endParaRPr>
          </a:p>
          <a:p>
            <a:pPr marL="2286000" marR="0" lvl="4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Training support plans (poll)</a:t>
            </a:r>
            <a:endParaRPr sz="3600">
              <a:solidFill>
                <a:schemeClr val="dk1"/>
              </a:solidFill>
            </a:endParaRPr>
          </a:p>
          <a:p>
            <a:pPr marL="2286000" marR="0" lvl="4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Training user experience in converters</a:t>
            </a:r>
            <a:endParaRPr sz="3600">
              <a:solidFill>
                <a:schemeClr val="dk1"/>
              </a:solidFill>
            </a:endParaRPr>
          </a:p>
          <a:p>
            <a:pPr marL="5715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4800"/>
              <a:t>Training User Experience in Converters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1909236" y="3148600"/>
            <a:ext cx="19612302" cy="5755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 #1: The onnx model contains inference only graph and the backend converters/runtimes will generate and run training graph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behaviors: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(framework converter or runtime) executes training </a:t>
            </a:r>
            <a:r>
              <a:rPr lang="en-US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with user inputs or defaults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hyperparameters, loss functions, and optimizers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No changes to the frontend converters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support this use case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Runtime persists a ONNX trainable model after n iterations. The next training iteration and inference could be executed in either a runtime or a framework, see use case #2.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 converts to and persists a framework specific trainable model after n iterations. The next training iteration and inference are executed in a framework.</a:t>
            </a:r>
            <a:endParaRPr/>
          </a:p>
          <a:p>
            <a:pPr marL="5715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342969" y="9780084"/>
            <a:ext cx="3553338" cy="8749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Framework </a:t>
            </a: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inference</a:t>
            </a:r>
            <a:r>
              <a:rPr lang="en-US"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model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381998" y="9163148"/>
            <a:ext cx="3042749" cy="2114451"/>
          </a:xfrm>
          <a:prstGeom prst="rect">
            <a:avLst/>
          </a:prstGeom>
          <a:solidFill>
            <a:srgbClr val="39FEE7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Existing ONNX inference model for mnist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3" name="Google Shape;103;p5"/>
          <p:cNvCxnSpPr>
            <a:stCxn id="101" idx="3"/>
            <a:endCxn id="102" idx="1"/>
          </p:cNvCxnSpPr>
          <p:nvPr/>
        </p:nvCxnSpPr>
        <p:spPr>
          <a:xfrm>
            <a:off x="4896307" y="10217577"/>
            <a:ext cx="24858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4" name="Google Shape;104;p5"/>
          <p:cNvCxnSpPr>
            <a:stCxn id="102" idx="3"/>
          </p:cNvCxnSpPr>
          <p:nvPr/>
        </p:nvCxnSpPr>
        <p:spPr>
          <a:xfrm rot="10800000" flipH="1">
            <a:off x="10424747" y="9504273"/>
            <a:ext cx="2611800" cy="71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5" name="Google Shape;105;p5"/>
          <p:cNvSpPr/>
          <p:nvPr/>
        </p:nvSpPr>
        <p:spPr>
          <a:xfrm>
            <a:off x="13036568" y="9151434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Framework training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14047184" y="7814842"/>
            <a:ext cx="3399149" cy="5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 in framework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3087788" y="11668187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ONNX training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16836056" y="9606068"/>
            <a:ext cx="150728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9" name="Google Shape;109;p5"/>
          <p:cNvSpPr txBox="1"/>
          <p:nvPr/>
        </p:nvSpPr>
        <p:spPr>
          <a:xfrm>
            <a:off x="9856482" y="8645355"/>
            <a:ext cx="35356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Backend Converters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3738828" y="9151434"/>
            <a:ext cx="35533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Frontend Converters</a:t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4010745" y="8230853"/>
            <a:ext cx="1866900" cy="184116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7397" y="60000"/>
                </a:moveTo>
                <a:lnTo>
                  <a:pt x="7397" y="60000"/>
                </a:lnTo>
                <a:cubicBezTo>
                  <a:pt x="7397" y="33917"/>
                  <a:pt x="26582" y="11790"/>
                  <a:pt x="52445" y="8044"/>
                </a:cubicBezTo>
                <a:cubicBezTo>
                  <a:pt x="78308" y="4298"/>
                  <a:pt x="103005" y="20070"/>
                  <a:pt x="110434" y="45077"/>
                </a:cubicBezTo>
                <a:lnTo>
                  <a:pt x="117442" y="45077"/>
                </a:lnTo>
                <a:lnTo>
                  <a:pt x="105207" y="60000"/>
                </a:lnTo>
                <a:lnTo>
                  <a:pt x="87855" y="45077"/>
                </a:lnTo>
                <a:lnTo>
                  <a:pt x="94687" y="45077"/>
                </a:lnTo>
                <a:lnTo>
                  <a:pt x="94687" y="45077"/>
                </a:lnTo>
                <a:cubicBezTo>
                  <a:pt x="87556" y="28771"/>
                  <a:pt x="69863" y="19671"/>
                  <a:pt x="52316" y="23282"/>
                </a:cubicBezTo>
                <a:cubicBezTo>
                  <a:pt x="34770" y="26894"/>
                  <a:pt x="22190" y="42227"/>
                  <a:pt x="22190" y="60000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8343344" y="9168575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Framework inference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4462352" y="10348644"/>
            <a:ext cx="283058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 in runtime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4047184" y="10761136"/>
            <a:ext cx="1866900" cy="184116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7397" y="60000"/>
                </a:moveTo>
                <a:lnTo>
                  <a:pt x="7397" y="60000"/>
                </a:lnTo>
                <a:cubicBezTo>
                  <a:pt x="7397" y="33917"/>
                  <a:pt x="26582" y="11790"/>
                  <a:pt x="52445" y="8044"/>
                </a:cubicBezTo>
                <a:cubicBezTo>
                  <a:pt x="78308" y="4298"/>
                  <a:pt x="103005" y="20070"/>
                  <a:pt x="110434" y="45077"/>
                </a:cubicBezTo>
                <a:lnTo>
                  <a:pt x="117442" y="45077"/>
                </a:lnTo>
                <a:lnTo>
                  <a:pt x="105207" y="60000"/>
                </a:lnTo>
                <a:lnTo>
                  <a:pt x="87855" y="45077"/>
                </a:lnTo>
                <a:lnTo>
                  <a:pt x="94687" y="45077"/>
                </a:lnTo>
                <a:lnTo>
                  <a:pt x="94687" y="45077"/>
                </a:lnTo>
                <a:cubicBezTo>
                  <a:pt x="87556" y="28771"/>
                  <a:pt x="69863" y="19671"/>
                  <a:pt x="52316" y="23282"/>
                </a:cubicBezTo>
                <a:cubicBezTo>
                  <a:pt x="34770" y="26894"/>
                  <a:pt x="22190" y="42227"/>
                  <a:pt x="22190" y="60000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15" name="Google Shape;115;p5"/>
          <p:cNvCxnSpPr>
            <a:endCxn id="107" idx="1"/>
          </p:cNvCxnSpPr>
          <p:nvPr/>
        </p:nvCxnSpPr>
        <p:spPr>
          <a:xfrm>
            <a:off x="10424688" y="10367480"/>
            <a:ext cx="2663100" cy="17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6" name="Google Shape;116;p5"/>
          <p:cNvCxnSpPr/>
          <p:nvPr/>
        </p:nvCxnSpPr>
        <p:spPr>
          <a:xfrm>
            <a:off x="16903044" y="12117902"/>
            <a:ext cx="150728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7" name="Google Shape;117;p5"/>
          <p:cNvSpPr/>
          <p:nvPr/>
        </p:nvSpPr>
        <p:spPr>
          <a:xfrm>
            <a:off x="18410331" y="11683040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ONNX inference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4800"/>
              <a:t>Training User Experience in Converters 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342969" y="9780084"/>
            <a:ext cx="3553338" cy="8749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Framework training model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381998" y="9163148"/>
            <a:ext cx="3042749" cy="2114451"/>
          </a:xfrm>
          <a:prstGeom prst="rect">
            <a:avLst/>
          </a:prstGeom>
          <a:solidFill>
            <a:srgbClr val="39FEE7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ONNX train</a:t>
            </a: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able</a:t>
            </a:r>
            <a:r>
              <a:rPr lang="en-US" sz="3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model for mnist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25" name="Google Shape;125;p6"/>
          <p:cNvCxnSpPr>
            <a:stCxn id="123" idx="3"/>
            <a:endCxn id="124" idx="1"/>
          </p:cNvCxnSpPr>
          <p:nvPr/>
        </p:nvCxnSpPr>
        <p:spPr>
          <a:xfrm>
            <a:off x="4896307" y="10217577"/>
            <a:ext cx="2485800" cy="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6" name="Google Shape;126;p6"/>
          <p:cNvCxnSpPr>
            <a:stCxn id="124" idx="3"/>
          </p:cNvCxnSpPr>
          <p:nvPr/>
        </p:nvCxnSpPr>
        <p:spPr>
          <a:xfrm rot="10800000" flipH="1">
            <a:off x="10424747" y="9504273"/>
            <a:ext cx="2611800" cy="71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7" name="Google Shape;127;p6"/>
          <p:cNvSpPr/>
          <p:nvPr/>
        </p:nvSpPr>
        <p:spPr>
          <a:xfrm>
            <a:off x="13036568" y="9151434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Framework training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14047184" y="7814842"/>
            <a:ext cx="3399149" cy="5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 in framework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3087788" y="11668187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ONNX training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16836056" y="9606068"/>
            <a:ext cx="150728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1" name="Google Shape;131;p6"/>
          <p:cNvSpPr txBox="1"/>
          <p:nvPr/>
        </p:nvSpPr>
        <p:spPr>
          <a:xfrm>
            <a:off x="9856482" y="8645355"/>
            <a:ext cx="35356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Backend Converters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3738828" y="9151434"/>
            <a:ext cx="35533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Frontend Converters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4010745" y="8230853"/>
            <a:ext cx="1866900" cy="184116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7397" y="60000"/>
                </a:moveTo>
                <a:lnTo>
                  <a:pt x="7397" y="60000"/>
                </a:lnTo>
                <a:cubicBezTo>
                  <a:pt x="7397" y="33917"/>
                  <a:pt x="26582" y="11790"/>
                  <a:pt x="52445" y="8044"/>
                </a:cubicBezTo>
                <a:cubicBezTo>
                  <a:pt x="78308" y="4298"/>
                  <a:pt x="103005" y="20070"/>
                  <a:pt x="110434" y="45077"/>
                </a:cubicBezTo>
                <a:lnTo>
                  <a:pt x="117442" y="45077"/>
                </a:lnTo>
                <a:lnTo>
                  <a:pt x="105207" y="60000"/>
                </a:lnTo>
                <a:lnTo>
                  <a:pt x="87855" y="45077"/>
                </a:lnTo>
                <a:lnTo>
                  <a:pt x="94687" y="45077"/>
                </a:lnTo>
                <a:lnTo>
                  <a:pt x="94687" y="45077"/>
                </a:lnTo>
                <a:cubicBezTo>
                  <a:pt x="87556" y="28771"/>
                  <a:pt x="69863" y="19671"/>
                  <a:pt x="52316" y="23282"/>
                </a:cubicBezTo>
                <a:cubicBezTo>
                  <a:pt x="34770" y="26894"/>
                  <a:pt x="22190" y="42227"/>
                  <a:pt x="22190" y="60000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8343344" y="9168575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Framework inference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4462352" y="10348644"/>
            <a:ext cx="283058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Train in runtime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14047184" y="10761136"/>
            <a:ext cx="1866900" cy="1841161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7397" y="60000"/>
                </a:moveTo>
                <a:lnTo>
                  <a:pt x="7397" y="60000"/>
                </a:lnTo>
                <a:cubicBezTo>
                  <a:pt x="7397" y="33917"/>
                  <a:pt x="26582" y="11790"/>
                  <a:pt x="52445" y="8044"/>
                </a:cubicBezTo>
                <a:cubicBezTo>
                  <a:pt x="78308" y="4298"/>
                  <a:pt x="103005" y="20070"/>
                  <a:pt x="110434" y="45077"/>
                </a:cubicBezTo>
                <a:lnTo>
                  <a:pt x="117442" y="45077"/>
                </a:lnTo>
                <a:lnTo>
                  <a:pt x="105207" y="60000"/>
                </a:lnTo>
                <a:lnTo>
                  <a:pt x="87855" y="45077"/>
                </a:lnTo>
                <a:lnTo>
                  <a:pt x="94687" y="45077"/>
                </a:lnTo>
                <a:lnTo>
                  <a:pt x="94687" y="45077"/>
                </a:lnTo>
                <a:cubicBezTo>
                  <a:pt x="87556" y="28771"/>
                  <a:pt x="69863" y="19671"/>
                  <a:pt x="52316" y="23282"/>
                </a:cubicBezTo>
                <a:cubicBezTo>
                  <a:pt x="34770" y="26894"/>
                  <a:pt x="22190" y="42227"/>
                  <a:pt x="22190" y="60000"/>
                </a:cubicBezTo>
                <a:close/>
              </a:path>
            </a:pathLst>
          </a:cu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37" name="Google Shape;137;p6"/>
          <p:cNvCxnSpPr>
            <a:endCxn id="129" idx="1"/>
          </p:cNvCxnSpPr>
          <p:nvPr/>
        </p:nvCxnSpPr>
        <p:spPr>
          <a:xfrm>
            <a:off x="10424688" y="10367480"/>
            <a:ext cx="2663100" cy="1738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8" name="Google Shape;138;p6"/>
          <p:cNvCxnSpPr/>
          <p:nvPr/>
        </p:nvCxnSpPr>
        <p:spPr>
          <a:xfrm>
            <a:off x="16903044" y="12117902"/>
            <a:ext cx="150728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9" name="Google Shape;139;p6"/>
          <p:cNvSpPr/>
          <p:nvPr/>
        </p:nvSpPr>
        <p:spPr>
          <a:xfrm>
            <a:off x="18410331" y="11683040"/>
            <a:ext cx="3815255" cy="8749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</a:pPr>
            <a:r>
              <a:rPr lang="en-US"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ONNX inference model</a:t>
            </a:r>
            <a:endParaRPr sz="32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1909236" y="3148600"/>
            <a:ext cx="19612302" cy="520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 #2: The onnx model contains inference and training information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behaviors: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Frontend converter generates the training info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described in spec, such as hyperparameters, training initialization, algorithm, gradients, loss functions, optimizers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Backend (framework converter or runtime) executes training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described in the model/training info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Runtime persists an ONNX trainable model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n iterations. The next training iteration and inference could be executed in either a runtime or a framework.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 converts to and </a:t>
            </a:r>
            <a:r>
              <a:rPr lang="en-US" sz="32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persists a framework specific trainable model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n iterations. The next training iteration and inference are executed in a framework.</a:t>
            </a:r>
            <a:endParaRPr/>
          </a:p>
          <a:p>
            <a:pPr marL="5715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756004" y="1950721"/>
            <a:ext cx="22851522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</a:pPr>
            <a:r>
              <a:rPr lang="en-US" sz="4800"/>
              <a:t>Training User Experience in Converters 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1909236" y="3148600"/>
            <a:ext cx="19612302" cy="7786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support in Converters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Currently</a:t>
            </a:r>
            <a:r>
              <a:rPr lang="en-US" sz="3600">
                <a:solidFill>
                  <a:schemeClr val="dk1"/>
                </a:solidFill>
              </a:rPr>
              <a:t>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converters</a:t>
            </a:r>
            <a:r>
              <a:rPr lang="en-US" sz="3600">
                <a:solidFill>
                  <a:schemeClr val="dk1"/>
                </a:solidFill>
              </a:rPr>
              <a:t> are in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various phases of readiness, from no plans, </a:t>
            </a:r>
            <a:r>
              <a:rPr lang="en-US" sz="3600">
                <a:solidFill>
                  <a:schemeClr val="dk1"/>
                </a:solidFill>
              </a:rPr>
              <a:t>early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investigation, to simple prototype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Questions: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</a:t>
            </a:r>
            <a:r>
              <a:rPr lang="en-US" sz="36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practical (customer) models and scenarios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illustrate training starts from one framework and ends in another (possibly transfer learning)?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Should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backend framework converter also generate and save an ONNX trainable model in addition to the framework format?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</a:rPr>
              <a:t>Any ONNX </a:t>
            </a:r>
            <a:r>
              <a:rPr lang="en-US" sz="3600">
                <a:solidFill>
                  <a:srgbClr val="00B0F0"/>
                </a:solidFill>
              </a:rPr>
              <a:t>training APIs</a:t>
            </a:r>
            <a:r>
              <a:rPr lang="en-US" sz="3600">
                <a:solidFill>
                  <a:schemeClr val="dk1"/>
                </a:solidFill>
              </a:rPr>
              <a:t>, similar to ‘prepare’ for inference, for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converters</a:t>
            </a:r>
            <a:r>
              <a:rPr lang="en-US" sz="3600">
                <a:solidFill>
                  <a:schemeClr val="dk1"/>
                </a:solidFill>
              </a:rPr>
              <a:t> to test and verify 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</a:t>
            </a:r>
            <a:r>
              <a:rPr lang="en-US" sz="3600">
                <a:solidFill>
                  <a:schemeClr val="dk1"/>
                </a:solidFill>
              </a:rPr>
              <a:t>capability</a:t>
            </a: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72eb3b3e7c_2_0"/>
          <p:cNvSpPr txBox="1">
            <a:spLocks noGrp="1"/>
          </p:cNvSpPr>
          <p:nvPr>
            <p:ph type="ctrTitle"/>
          </p:nvPr>
        </p:nvSpPr>
        <p:spPr>
          <a:xfrm>
            <a:off x="3048397" y="2244726"/>
            <a:ext cx="182904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</a:pPr>
            <a:r>
              <a:rPr lang="en-US" sz="10800"/>
              <a:t>Implementing ONNX using MLIR</a:t>
            </a:r>
            <a:endParaRPr/>
          </a:p>
        </p:txBody>
      </p:sp>
      <p:sp>
        <p:nvSpPr>
          <p:cNvPr id="152" name="Google Shape;152;g72eb3b3e7c_2_0"/>
          <p:cNvSpPr txBox="1">
            <a:spLocks noGrp="1"/>
          </p:cNvSpPr>
          <p:nvPr>
            <p:ph type="subTitle" idx="1"/>
          </p:nvPr>
        </p:nvSpPr>
        <p:spPr>
          <a:xfrm>
            <a:off x="3048397" y="7204074"/>
            <a:ext cx="18290400" cy="4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Gheorghe-Teodor (Doru) </a:t>
            </a:r>
            <a:r>
              <a:rPr lang="en-US" sz="4400" b="1"/>
              <a:t>Bercea</a:t>
            </a:r>
            <a:endParaRPr sz="4400"/>
          </a:p>
          <a:p>
            <a:pPr marL="0" lvl="0" indent="0" algn="r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Tong </a:t>
            </a:r>
            <a:r>
              <a:rPr lang="en-US" sz="4400" b="1"/>
              <a:t>Chen</a:t>
            </a:r>
            <a:endParaRPr sz="4400"/>
          </a:p>
          <a:p>
            <a:pPr marL="0" lvl="0" indent="0" algn="r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Alexandre </a:t>
            </a:r>
            <a:r>
              <a:rPr lang="en-US" sz="4400" b="1"/>
              <a:t>Eichenberger</a:t>
            </a:r>
            <a:endParaRPr sz="4400"/>
          </a:p>
          <a:p>
            <a:pPr marL="0" lvl="0" indent="0" algn="r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Tian </a:t>
            </a:r>
            <a:r>
              <a:rPr lang="en-US" sz="4400" b="1"/>
              <a:t>Jin</a:t>
            </a:r>
            <a:endParaRPr sz="4400" b="1"/>
          </a:p>
          <a:p>
            <a:pPr marL="0" lvl="0" indent="0" algn="r" rtl="0">
              <a:lnSpc>
                <a:spcPct val="80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Kevin </a:t>
            </a:r>
            <a:r>
              <a:rPr lang="en-US" sz="4400" b="1"/>
              <a:t>O’Brien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3091df178_2_25"/>
          <p:cNvSpPr/>
          <p:nvPr/>
        </p:nvSpPr>
        <p:spPr>
          <a:xfrm>
            <a:off x="4594524" y="1901952"/>
            <a:ext cx="18487897" cy="7544770"/>
          </a:xfrm>
          <a:prstGeom prst="roundRect">
            <a:avLst>
              <a:gd name="adj" fmla="val 4913"/>
            </a:avLst>
          </a:prstGeom>
          <a:noFill/>
          <a:ln w="31750" cap="flat" cmpd="sng">
            <a:solidFill>
              <a:srgbClr val="31538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73091df178_2_25"/>
          <p:cNvSpPr txBox="1">
            <a:spLocks noGrp="1"/>
          </p:cNvSpPr>
          <p:nvPr>
            <p:ph type="title"/>
          </p:nvPr>
        </p:nvSpPr>
        <p:spPr>
          <a:xfrm>
            <a:off x="1676618" y="730250"/>
            <a:ext cx="210339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en-US" sz="6400"/>
              <a:t>Structure of ONNX-MLIR</a:t>
            </a:r>
            <a:endParaRPr/>
          </a:p>
        </p:txBody>
      </p:sp>
      <p:sp>
        <p:nvSpPr>
          <p:cNvPr id="205" name="Google Shape;205;g73091df178_2_25"/>
          <p:cNvSpPr txBox="1">
            <a:spLocks noGrp="1"/>
          </p:cNvSpPr>
          <p:nvPr>
            <p:ph type="body" idx="1"/>
          </p:nvPr>
        </p:nvSpPr>
        <p:spPr>
          <a:xfrm>
            <a:off x="1517572" y="9780104"/>
            <a:ext cx="21033900" cy="37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457200" lvl="0" indent="-4508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▪"/>
            </a:pPr>
            <a:r>
              <a:rPr lang="en-US" sz="3300"/>
              <a:t>Generate automatically a TableGen description from the  Operators.md ONNX specification (gen_doc.py)</a:t>
            </a:r>
            <a:endParaRPr/>
          </a:p>
          <a:p>
            <a:pPr marL="457200" lvl="0" indent="-45085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300"/>
              <a:buChar char="▪"/>
            </a:pPr>
            <a:r>
              <a:rPr lang="en-US" sz="3300"/>
              <a:t>Manually define variants of existing ONNX operations when desired (ex. Conv with no bias: MaxPoolSingleOut).</a:t>
            </a:r>
            <a:endParaRPr/>
          </a:p>
          <a:p>
            <a:pPr marL="457200" lvl="0" indent="-45085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300"/>
              <a:buChar char="▪"/>
            </a:pPr>
            <a:r>
              <a:rPr lang="en-US" sz="3300"/>
              <a:t>Process TableGen files to produce C++ code</a:t>
            </a:r>
            <a:endParaRPr/>
          </a:p>
          <a:p>
            <a:pPr marL="457200" lvl="0" indent="-45085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300"/>
              <a:buChar char="▪"/>
            </a:pPr>
            <a:r>
              <a:rPr lang="en-US" sz="3300"/>
              <a:t>Implement shape inference rules according to ONNX specification and apply them (Example 1).</a:t>
            </a:r>
            <a:endParaRPr/>
          </a:p>
          <a:p>
            <a:pPr marL="457200" lvl="0" indent="-450850" algn="l" rtl="0">
              <a:lnSpc>
                <a:spcPct val="8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300"/>
              <a:buChar char="▪"/>
            </a:pPr>
            <a:r>
              <a:rPr lang="en-US" sz="3300"/>
              <a:t>Apply rewrite rules to source containing shape-inferred ONNX Dialect operations.</a:t>
            </a:r>
            <a:endParaRPr/>
          </a:p>
          <a:p>
            <a:pPr marL="457200" lvl="0" indent="-450850" algn="l" rtl="0">
              <a:lnSpc>
                <a:spcPct val="80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3300"/>
              <a:buChar char="▪"/>
            </a:pPr>
            <a:r>
              <a:rPr lang="en-US" sz="3300"/>
              <a:t>Lower ONNX Dialect operations to KRNL and Standard Dialects.</a:t>
            </a:r>
            <a:endParaRPr/>
          </a:p>
        </p:txBody>
      </p:sp>
      <p:sp>
        <p:nvSpPr>
          <p:cNvPr id="206" name="Google Shape;206;g73091df178_2_25"/>
          <p:cNvSpPr/>
          <p:nvPr/>
        </p:nvSpPr>
        <p:spPr>
          <a:xfrm>
            <a:off x="780390" y="4697302"/>
            <a:ext cx="2950500" cy="1609200"/>
          </a:xfrm>
          <a:prstGeom prst="rect">
            <a:avLst/>
          </a:prstGeom>
          <a:solidFill>
            <a:srgbClr val="0070C0"/>
          </a:solidFill>
          <a:ln w="254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ONNX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Specification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73091df178_2_25"/>
          <p:cNvSpPr/>
          <p:nvPr/>
        </p:nvSpPr>
        <p:spPr>
          <a:xfrm>
            <a:off x="5780363" y="4688146"/>
            <a:ext cx="2950500" cy="1609200"/>
          </a:xfrm>
          <a:prstGeom prst="rect">
            <a:avLst/>
          </a:prstGeom>
          <a:solidFill>
            <a:srgbClr val="253965"/>
          </a:solidFill>
          <a:ln w="254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ONNX MLIR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Dialect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g73091df178_2_25"/>
          <p:cNvCxnSpPr>
            <a:stCxn id="206" idx="3"/>
            <a:endCxn id="207" idx="1"/>
          </p:cNvCxnSpPr>
          <p:nvPr/>
        </p:nvCxnSpPr>
        <p:spPr>
          <a:xfrm rot="10800000" flipH="1">
            <a:off x="3730890" y="5492602"/>
            <a:ext cx="2049600" cy="9300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09" name="Google Shape;209;g73091df178_2_25"/>
          <p:cNvSpPr txBox="1"/>
          <p:nvPr/>
        </p:nvSpPr>
        <p:spPr>
          <a:xfrm>
            <a:off x="1286082" y="7197791"/>
            <a:ext cx="3005701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Auto-generated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73091df178_2_25"/>
          <p:cNvSpPr/>
          <p:nvPr/>
        </p:nvSpPr>
        <p:spPr>
          <a:xfrm>
            <a:off x="5798561" y="2405932"/>
            <a:ext cx="2950500" cy="1609200"/>
          </a:xfrm>
          <a:prstGeom prst="rect">
            <a:avLst/>
          </a:prstGeom>
          <a:solidFill>
            <a:srgbClr val="253965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Variants of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ONNX Ops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73091df178_2_25"/>
          <p:cNvSpPr/>
          <p:nvPr/>
        </p:nvSpPr>
        <p:spPr>
          <a:xfrm>
            <a:off x="5798561" y="6874810"/>
            <a:ext cx="2950500" cy="1609200"/>
          </a:xfrm>
          <a:prstGeom prst="rect">
            <a:avLst/>
          </a:prstGeom>
          <a:solidFill>
            <a:schemeClr val="accent2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Rewrite rules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(canonicalize)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73091df178_2_25"/>
          <p:cNvSpPr txBox="1"/>
          <p:nvPr/>
        </p:nvSpPr>
        <p:spPr>
          <a:xfrm>
            <a:off x="3744141" y="4857386"/>
            <a:ext cx="205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gen_doc.py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73091df178_2_25"/>
          <p:cNvSpPr/>
          <p:nvPr/>
        </p:nvSpPr>
        <p:spPr>
          <a:xfrm>
            <a:off x="302277" y="7930529"/>
            <a:ext cx="831600" cy="345600"/>
          </a:xfrm>
          <a:prstGeom prst="rect">
            <a:avLst/>
          </a:prstGeom>
          <a:solidFill>
            <a:schemeClr val="accent2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73091df178_2_25"/>
          <p:cNvSpPr/>
          <p:nvPr/>
        </p:nvSpPr>
        <p:spPr>
          <a:xfrm>
            <a:off x="15396383" y="2133906"/>
            <a:ext cx="2950500" cy="1609200"/>
          </a:xfrm>
          <a:prstGeom prst="rect">
            <a:avLst/>
          </a:prstGeom>
          <a:solidFill>
            <a:schemeClr val="accent6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Inference rules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73091df178_2_25"/>
          <p:cNvSpPr/>
          <p:nvPr/>
        </p:nvSpPr>
        <p:spPr>
          <a:xfrm>
            <a:off x="8902787" y="2301864"/>
            <a:ext cx="222000" cy="4082400"/>
          </a:xfrm>
          <a:prstGeom prst="righ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73091df178_2_25"/>
          <p:cNvSpPr/>
          <p:nvPr/>
        </p:nvSpPr>
        <p:spPr>
          <a:xfrm>
            <a:off x="9314066" y="4305661"/>
            <a:ext cx="2076300" cy="17406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73091df178_2_25"/>
          <p:cNvSpPr/>
          <p:nvPr/>
        </p:nvSpPr>
        <p:spPr>
          <a:xfrm>
            <a:off x="11739160" y="4388895"/>
            <a:ext cx="2950500" cy="1609200"/>
          </a:xfrm>
          <a:prstGeom prst="rect">
            <a:avLst/>
          </a:prstGeom>
          <a:solidFill>
            <a:schemeClr val="accent6"/>
          </a:solidFill>
          <a:ln w="254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Definitions of ONNX objects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73091df178_2_25"/>
          <p:cNvSpPr/>
          <p:nvPr/>
        </p:nvSpPr>
        <p:spPr>
          <a:xfrm>
            <a:off x="302277" y="8524800"/>
            <a:ext cx="831600" cy="345600"/>
          </a:xfrm>
          <a:prstGeom prst="rect">
            <a:avLst/>
          </a:prstGeom>
          <a:solidFill>
            <a:schemeClr val="accent6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73091df178_2_25"/>
          <p:cNvSpPr txBox="1"/>
          <p:nvPr/>
        </p:nvSpPr>
        <p:spPr>
          <a:xfrm>
            <a:off x="1286083" y="8399722"/>
            <a:ext cx="125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C++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73091df178_2_25"/>
          <p:cNvSpPr/>
          <p:nvPr/>
        </p:nvSpPr>
        <p:spPr>
          <a:xfrm>
            <a:off x="15396383" y="4388895"/>
            <a:ext cx="2950500" cy="1609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Shape inference pass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73091df178_2_25"/>
          <p:cNvCxnSpPr>
            <a:stCxn id="214" idx="2"/>
            <a:endCxn id="220" idx="0"/>
          </p:cNvCxnSpPr>
          <p:nvPr/>
        </p:nvCxnSpPr>
        <p:spPr>
          <a:xfrm>
            <a:off x="16871633" y="3743106"/>
            <a:ext cx="0" cy="645900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22" name="Google Shape;222;g73091df178_2_25"/>
          <p:cNvCxnSpPr>
            <a:stCxn id="217" idx="3"/>
            <a:endCxn id="220" idx="1"/>
          </p:cNvCxnSpPr>
          <p:nvPr/>
        </p:nvCxnSpPr>
        <p:spPr>
          <a:xfrm>
            <a:off x="14689660" y="5193495"/>
            <a:ext cx="706800" cy="0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23" name="Google Shape;223;g73091df178_2_25"/>
          <p:cNvSpPr/>
          <p:nvPr/>
        </p:nvSpPr>
        <p:spPr>
          <a:xfrm>
            <a:off x="9341308" y="6809148"/>
            <a:ext cx="2076300" cy="17406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73091df178_2_25"/>
          <p:cNvSpPr/>
          <p:nvPr/>
        </p:nvSpPr>
        <p:spPr>
          <a:xfrm>
            <a:off x="11739160" y="7148337"/>
            <a:ext cx="2950500" cy="1609200"/>
          </a:xfrm>
          <a:prstGeom prst="rect">
            <a:avLst/>
          </a:prstGeom>
          <a:solidFill>
            <a:schemeClr val="accent6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ONNX Dialect Rewrites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g73091df178_2_25"/>
          <p:cNvCxnSpPr>
            <a:stCxn id="224" idx="3"/>
            <a:endCxn id="226" idx="1"/>
          </p:cNvCxnSpPr>
          <p:nvPr/>
        </p:nvCxnSpPr>
        <p:spPr>
          <a:xfrm>
            <a:off x="14689660" y="7952937"/>
            <a:ext cx="706800" cy="0"/>
          </a:xfrm>
          <a:prstGeom prst="straightConnector1">
            <a:avLst/>
          </a:prstGeom>
          <a:noFill/>
          <a:ln w="635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26" name="Google Shape;226;g73091df178_2_25"/>
          <p:cNvSpPr/>
          <p:nvPr/>
        </p:nvSpPr>
        <p:spPr>
          <a:xfrm>
            <a:off x="15396383" y="7148337"/>
            <a:ext cx="2950500" cy="1609200"/>
          </a:xfrm>
          <a:prstGeom prst="rect">
            <a:avLst/>
          </a:prstGeom>
          <a:solidFill>
            <a:schemeClr val="accent6"/>
          </a:solidFill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Lowering Pass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g73091df178_2_25"/>
          <p:cNvCxnSpPr>
            <a:stCxn id="226" idx="3"/>
            <a:endCxn id="228" idx="1"/>
          </p:cNvCxnSpPr>
          <p:nvPr/>
        </p:nvCxnSpPr>
        <p:spPr>
          <a:xfrm rot="10800000" flipH="1">
            <a:off x="18346883" y="3259137"/>
            <a:ext cx="1093200" cy="4693800"/>
          </a:xfrm>
          <a:prstGeom prst="bentConnector3">
            <a:avLst>
              <a:gd name="adj1" fmla="val 50000"/>
            </a:avLst>
          </a:prstGeom>
          <a:noFill/>
          <a:ln w="635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29" name="Google Shape;229;g73091df178_2_25"/>
          <p:cNvSpPr txBox="1"/>
          <p:nvPr/>
        </p:nvSpPr>
        <p:spPr>
          <a:xfrm>
            <a:off x="19440075" y="1075706"/>
            <a:ext cx="25893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ONNX-MLIR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73091df178_2_25"/>
          <p:cNvSpPr txBox="1"/>
          <p:nvPr/>
        </p:nvSpPr>
        <p:spPr>
          <a:xfrm>
            <a:off x="11855894" y="8712041"/>
            <a:ext cx="2717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canonicalization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73091df178_2_25"/>
          <p:cNvSpPr/>
          <p:nvPr/>
        </p:nvSpPr>
        <p:spPr>
          <a:xfrm rot="-5400000" flipH="1">
            <a:off x="20101626" y="6713067"/>
            <a:ext cx="1720701" cy="1833902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73091df178_2_25"/>
          <p:cNvSpPr/>
          <p:nvPr/>
        </p:nvSpPr>
        <p:spPr>
          <a:xfrm rot="-5400000" flipH="1">
            <a:off x="20101626" y="4097483"/>
            <a:ext cx="1720701" cy="1833902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73091df178_2_25"/>
          <p:cNvSpPr/>
          <p:nvPr/>
        </p:nvSpPr>
        <p:spPr>
          <a:xfrm>
            <a:off x="302277" y="7278905"/>
            <a:ext cx="737625" cy="345600"/>
          </a:xfrm>
          <a:prstGeom prst="rect">
            <a:avLst/>
          </a:prstGeom>
          <a:noFill/>
          <a:ln w="1270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73091df178_2_25"/>
          <p:cNvSpPr txBox="1"/>
          <p:nvPr/>
        </p:nvSpPr>
        <p:spPr>
          <a:xfrm>
            <a:off x="1286083" y="7830002"/>
            <a:ext cx="317344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TableGen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73091df178_2_25"/>
          <p:cNvSpPr/>
          <p:nvPr/>
        </p:nvSpPr>
        <p:spPr>
          <a:xfrm>
            <a:off x="11722358" y="7129213"/>
            <a:ext cx="2972756" cy="1628324"/>
          </a:xfrm>
          <a:custGeom>
            <a:avLst/>
            <a:gdLst/>
            <a:ahLst/>
            <a:cxnLst/>
            <a:rect l="l" t="t" r="r" b="b"/>
            <a:pathLst>
              <a:path w="2972756" h="1619372" extrusionOk="0">
                <a:moveTo>
                  <a:pt x="16561" y="1619372"/>
                </a:moveTo>
                <a:cubicBezTo>
                  <a:pt x="20382" y="14734"/>
                  <a:pt x="14777" y="842212"/>
                  <a:pt x="0" y="12993"/>
                </a:cubicBezTo>
                <a:cubicBezTo>
                  <a:pt x="597964" y="32186"/>
                  <a:pt x="-1019" y="6666"/>
                  <a:pt x="2972756" y="0"/>
                </a:cubicBezTo>
              </a:path>
            </a:pathLst>
          </a:custGeom>
          <a:noFill/>
          <a:ln w="2540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g73091df178_2_25"/>
          <p:cNvCxnSpPr>
            <a:stCxn id="220" idx="2"/>
            <a:endCxn id="224" idx="0"/>
          </p:cNvCxnSpPr>
          <p:nvPr/>
        </p:nvCxnSpPr>
        <p:spPr>
          <a:xfrm rot="5400000">
            <a:off x="14467883" y="4744545"/>
            <a:ext cx="1150200" cy="3657300"/>
          </a:xfrm>
          <a:prstGeom prst="bentConnector3">
            <a:avLst>
              <a:gd name="adj1" fmla="val 50002"/>
            </a:avLst>
          </a:prstGeom>
          <a:noFill/>
          <a:ln w="635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28" name="Google Shape;228;g73091df178_2_25"/>
          <p:cNvSpPr/>
          <p:nvPr/>
        </p:nvSpPr>
        <p:spPr>
          <a:xfrm>
            <a:off x="19440075" y="2126401"/>
            <a:ext cx="2950500" cy="2265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KRNL + MLIR Standard Dialects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73091df178_2_25"/>
          <p:cNvSpPr/>
          <p:nvPr/>
        </p:nvSpPr>
        <p:spPr>
          <a:xfrm>
            <a:off x="19742816" y="5769853"/>
            <a:ext cx="2369100" cy="12606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LLVM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Dialect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73091df178_2_25"/>
          <p:cNvSpPr/>
          <p:nvPr/>
        </p:nvSpPr>
        <p:spPr>
          <a:xfrm>
            <a:off x="19998375" y="8399722"/>
            <a:ext cx="1833900" cy="10470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LLVM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3091df178_2_65"/>
          <p:cNvSpPr txBox="1">
            <a:spLocks noGrp="1"/>
          </p:cNvSpPr>
          <p:nvPr>
            <p:ph type="title"/>
          </p:nvPr>
        </p:nvSpPr>
        <p:spPr>
          <a:xfrm>
            <a:off x="1676618" y="730250"/>
            <a:ext cx="210339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en-US" sz="6400"/>
              <a:t>Convolution in ONNX dialect</a:t>
            </a:r>
            <a:endParaRPr/>
          </a:p>
        </p:txBody>
      </p:sp>
      <p:sp>
        <p:nvSpPr>
          <p:cNvPr id="244" name="Google Shape;244;g73091df178_2_65"/>
          <p:cNvSpPr/>
          <p:nvPr/>
        </p:nvSpPr>
        <p:spPr>
          <a:xfrm>
            <a:off x="942799" y="6053400"/>
            <a:ext cx="1716300" cy="1609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ONNX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73091df178_2_65"/>
          <p:cNvSpPr txBox="1"/>
          <p:nvPr/>
        </p:nvSpPr>
        <p:spPr>
          <a:xfrm>
            <a:off x="7448450" y="4465684"/>
            <a:ext cx="16665300" cy="720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%2</a:t>
            </a: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"onnx.Conv"( </a:t>
            </a:r>
            <a:r>
              <a:rPr lang="en-US" sz="4400" b="1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%arg0</a:t>
            </a: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4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%arg1</a:t>
            </a: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{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lang="en-US"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auto_pad = "SAME_UPPER",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         dilations = [1, 1],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         group = 1 : i64,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         kernel_shape = [5, 5],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         strides = [1, 1]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} : (</a:t>
            </a:r>
            <a:r>
              <a:rPr lang="en-US" sz="4400" b="1" i="0" u="none" strike="noStrike" cap="non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tensor&lt;1x1x28x28xf32&gt;, </a:t>
            </a:r>
            <a:r>
              <a:rPr lang="en-US" sz="44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tensor&lt;8x1x5x5xf32&gt;</a:t>
            </a: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-&gt;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</a:t>
            </a:r>
            <a:r>
              <a:rPr lang="en-US" sz="4400" b="1" i="0" u="none" strike="noStrike" cap="non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tensor&lt;1x8x28x28xf32&gt;</a:t>
            </a:r>
            <a:endParaRPr sz="4400" b="1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73091df178_2_65"/>
          <p:cNvSpPr/>
          <p:nvPr/>
        </p:nvSpPr>
        <p:spPr>
          <a:xfrm>
            <a:off x="7316150" y="3246389"/>
            <a:ext cx="132300" cy="7202863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g73091df178_2_65"/>
          <p:cNvCxnSpPr>
            <a:stCxn id="244" idx="3"/>
          </p:cNvCxnSpPr>
          <p:nvPr/>
        </p:nvCxnSpPr>
        <p:spPr>
          <a:xfrm>
            <a:off x="2659099" y="6858000"/>
            <a:ext cx="4657200" cy="0"/>
          </a:xfrm>
          <a:prstGeom prst="straightConnector1">
            <a:avLst/>
          </a:prstGeom>
          <a:noFill/>
          <a:ln w="635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48" name="Google Shape;248;g73091df178_2_65"/>
          <p:cNvSpPr txBox="1"/>
          <p:nvPr/>
        </p:nvSpPr>
        <p:spPr>
          <a:xfrm>
            <a:off x="273425" y="7849030"/>
            <a:ext cx="7839694" cy="1609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nnx-mlir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--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EmitONNXIR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mnist.onnx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73091df178_2_74"/>
          <p:cNvSpPr txBox="1">
            <a:spLocks noGrp="1"/>
          </p:cNvSpPr>
          <p:nvPr>
            <p:ph type="title"/>
          </p:nvPr>
        </p:nvSpPr>
        <p:spPr>
          <a:xfrm>
            <a:off x="1676618" y="730250"/>
            <a:ext cx="210339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en-US" sz="6400"/>
              <a:t>Defining the ONNX Dialect in TableGen</a:t>
            </a:r>
            <a:endParaRPr/>
          </a:p>
        </p:txBody>
      </p:sp>
      <p:sp>
        <p:nvSpPr>
          <p:cNvPr id="254" name="Google Shape;254;g73091df178_2_74"/>
          <p:cNvSpPr txBox="1">
            <a:spLocks noGrp="1"/>
          </p:cNvSpPr>
          <p:nvPr>
            <p:ph type="body" idx="1"/>
          </p:nvPr>
        </p:nvSpPr>
        <p:spPr>
          <a:xfrm>
            <a:off x="1676618" y="2047456"/>
            <a:ext cx="22140312" cy="5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Read the ONNX specification and automatically translate specs into an MLIR TableGen file ( gen_doc.py).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TableGen format is later transformed by MLIR TableGen into:</a:t>
            </a:r>
            <a:endParaRPr/>
          </a:p>
          <a:p>
            <a:pPr marL="91440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builders for creating the objects representing the ONNX operation</a:t>
            </a:r>
            <a:endParaRPr/>
          </a:p>
          <a:p>
            <a:pPr marL="91440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getter and setter methods for arguments and attributes (ex. A(), B(), …),</a:t>
            </a:r>
            <a:endParaRPr/>
          </a:p>
          <a:p>
            <a:pPr marL="91440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</a:pPr>
            <a:r>
              <a:rPr lang="en-US" sz="2800" b="1">
                <a:solidFill>
                  <a:schemeClr val="accent6"/>
                </a:solidFill>
              </a:rPr>
              <a:t>verification methods</a:t>
            </a:r>
            <a:endParaRPr/>
          </a:p>
          <a:p>
            <a:pPr marL="914400" lvl="1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rPr lang="en-US" sz="2800" b="1">
                <a:solidFill>
                  <a:schemeClr val="accent2"/>
                </a:solidFill>
              </a:rPr>
              <a:t>inference method declarations</a:t>
            </a:r>
            <a:endParaRPr/>
          </a:p>
          <a:p>
            <a:pPr marL="914400" lvl="1" indent="0" algn="l" rt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accent1"/>
              </a:buClr>
              <a:buSzPts val="2800"/>
              <a:buNone/>
            </a:pPr>
            <a:r>
              <a:rPr lang="en-US" sz="2800" b="1">
                <a:solidFill>
                  <a:schemeClr val="accent1"/>
                </a:solidFill>
              </a:rPr>
              <a:t>canonicalization methods declarations</a:t>
            </a:r>
            <a:endParaRPr/>
          </a:p>
        </p:txBody>
      </p:sp>
      <p:sp>
        <p:nvSpPr>
          <p:cNvPr id="255" name="Google Shape;255;g73091df178_2_74"/>
          <p:cNvSpPr txBox="1"/>
          <p:nvPr/>
        </p:nvSpPr>
        <p:spPr>
          <a:xfrm>
            <a:off x="4659455" y="7083848"/>
            <a:ext cx="15068700" cy="6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 ONNXAddOp:ONNX_Op&lt;"Add",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[NoSideEffect, </a:t>
            </a:r>
            <a:r>
              <a:rPr lang="en-US" sz="36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DeclareOpInterfaceMethods&lt;ShapeInferenceOpInterface&gt;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]&gt; {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6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let hasCanonicalizer = 1;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summary = "ONNX Add operation";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description = [{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"Performs element-wise binary addition. …"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}];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arguments = (ins </a:t>
            </a:r>
            <a:r>
              <a:rPr lang="en-US" sz="36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AnyTypeOf&lt;[AnyMemRef, AnyTensor]&gt;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:$A,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AnyTypeOf&lt;[AnyMemRef, AnyTensor]&gt;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:$B);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let results = (outs </a:t>
            </a:r>
            <a:r>
              <a:rPr lang="en-US" sz="36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AnyTypeOf&lt;[AnyMemRef, AnyTensor]&gt;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:$C);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73091df178_2_80"/>
          <p:cNvSpPr txBox="1"/>
          <p:nvPr/>
        </p:nvSpPr>
        <p:spPr>
          <a:xfrm>
            <a:off x="701719" y="8390628"/>
            <a:ext cx="21525355" cy="4028957"/>
          </a:xfrm>
          <a:prstGeom prst="rect">
            <a:avLst/>
          </a:prstGeom>
          <a:solidFill>
            <a:schemeClr val="lt1"/>
          </a:solidFill>
          <a:ln w="349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%0 = </a:t>
            </a: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"onnx.Gemm"</a:t>
            </a: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(%a0, %a1, %a2) {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lang="en-US" sz="4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alpha = 1.000000e+00 : f32,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beta = 1.000000e+00 : f32,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transA = 0 : i64,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transB = 0 : i64 </a:t>
            </a: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: (tensor&lt;10x10xf32&gt;, tensor&lt;10x10xf32&gt;, tensor&lt;10x10xf32&gt;) -&gt;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tensor&lt;10x10xf32&gt;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73091df178_2_80"/>
          <p:cNvSpPr txBox="1">
            <a:spLocks noGrp="1"/>
          </p:cNvSpPr>
          <p:nvPr>
            <p:ph type="title"/>
          </p:nvPr>
        </p:nvSpPr>
        <p:spPr>
          <a:xfrm>
            <a:off x="1676625" y="730250"/>
            <a:ext cx="22277101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en-US" sz="6400"/>
              <a:t>Declaring transformations for ONNX Dialect in TableGen</a:t>
            </a:r>
            <a:endParaRPr/>
          </a:p>
        </p:txBody>
      </p:sp>
      <p:sp>
        <p:nvSpPr>
          <p:cNvPr id="262" name="Google Shape;262;g73091df178_2_80"/>
          <p:cNvSpPr txBox="1"/>
          <p:nvPr/>
        </p:nvSpPr>
        <p:spPr>
          <a:xfrm>
            <a:off x="701717" y="2487263"/>
            <a:ext cx="21525358" cy="1893352"/>
          </a:xfrm>
          <a:prstGeom prst="rect">
            <a:avLst/>
          </a:prstGeom>
          <a:solidFill>
            <a:schemeClr val="lt1"/>
          </a:solidFill>
          <a:ln w="349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%0 = </a:t>
            </a: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"onnx.MatMul"</a:t>
            </a: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(%a0, %a1) : (tensor&lt;10x10xf32&gt;, tensor&lt;10x10xf32&gt;) -&gt; tensor&lt;10x10xf32&gt;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%1 = </a:t>
            </a: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"onnx.Add"</a:t>
            </a: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(%0, %a2) : (tensor&lt;10x10xf32&gt;, tensor&lt;10x10xf32&gt;) -&gt; tensor&lt;10x10xf32&gt;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73091df178_2_80"/>
          <p:cNvSpPr/>
          <p:nvPr/>
        </p:nvSpPr>
        <p:spPr>
          <a:xfrm rot="5400000">
            <a:off x="281105" y="5484872"/>
            <a:ext cx="3268930" cy="17409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73091df178_2_80"/>
          <p:cNvSpPr txBox="1"/>
          <p:nvPr/>
        </p:nvSpPr>
        <p:spPr>
          <a:xfrm>
            <a:off x="3219825" y="5870020"/>
            <a:ext cx="20733901" cy="1292400"/>
          </a:xfrm>
          <a:prstGeom prst="rect">
            <a:avLst/>
          </a:prstGeom>
          <a:solidFill>
            <a:schemeClr val="lt1"/>
          </a:solidFill>
          <a:ln w="349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Pat&lt;(</a:t>
            </a:r>
            <a:r>
              <a:rPr lang="en-US" sz="36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ONNXAddOp</a:t>
            </a:r>
            <a:r>
              <a:rPr lang="en-US" sz="36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36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ONNXMatMulOp</a:t>
            </a:r>
            <a:r>
              <a:rPr lang="en-US" sz="36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:$res $m1, $m2), $m3)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-US" sz="36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(ONNXGemmOp $m1, $m2, $m3, (GemmAlpha), (GemmBeta), (GemmTransA), (GemmTransB)</a:t>
            </a:r>
            <a:r>
              <a:rPr lang="en-US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)&gt;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3091df178_2_88"/>
          <p:cNvSpPr txBox="1">
            <a:spLocks noGrp="1"/>
          </p:cNvSpPr>
          <p:nvPr>
            <p:ph type="title"/>
          </p:nvPr>
        </p:nvSpPr>
        <p:spPr>
          <a:xfrm>
            <a:off x="1676618" y="730250"/>
            <a:ext cx="210339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</a:pPr>
            <a:r>
              <a:rPr lang="en-US" sz="6400"/>
              <a:t>Where we are with development.</a:t>
            </a:r>
            <a:endParaRPr/>
          </a:p>
        </p:txBody>
      </p:sp>
      <p:sp>
        <p:nvSpPr>
          <p:cNvPr id="270" name="Google Shape;270;g73091df178_2_88"/>
          <p:cNvSpPr txBox="1">
            <a:spLocks noGrp="1"/>
          </p:cNvSpPr>
          <p:nvPr>
            <p:ph type="body" idx="1"/>
          </p:nvPr>
        </p:nvSpPr>
        <p:spPr>
          <a:xfrm>
            <a:off x="1676618" y="2047460"/>
            <a:ext cx="21033900" cy="109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00" rIns="182875" bIns="914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Full support for representation of ONNX operations within MLIR framework.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Growing number of operations can be lowered from ONNX -&gt; MLIR Dialects -&gt; LLVM.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▪"/>
            </a:pPr>
            <a:r>
              <a:rPr lang="en-US" sz="3600"/>
              <a:t>Support lowering of MNIST from ONNX Dialect to LLVM.</a:t>
            </a:r>
            <a:endParaRPr sz="3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3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In Progress: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Laying down some infrastructure that will allow the user to control compiling and running models in general not just MNIST.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More operation lowering support.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Explore optimal ways to encode ONNX model metadata -</a:t>
            </a:r>
            <a:endParaRPr/>
          </a:p>
          <a:p>
            <a:pPr marL="137160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Opset version, initializers, big constants.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Support operation versioning -</a:t>
            </a:r>
            <a:endParaRPr/>
          </a:p>
          <a:p>
            <a:pPr marL="1371600" lvl="1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ONNX-MLIR can potentially help with converter efforts too.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▪"/>
            </a:pPr>
            <a:r>
              <a:rPr lang="en-US" sz="3600"/>
              <a:t>More tests!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>
                <a:schemeClr val="dk1"/>
              </a:buClr>
              <a:buSzPts val="3600"/>
              <a:buNone/>
            </a:pP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 txBox="1"/>
          <p:nvPr/>
        </p:nvSpPr>
        <p:spPr>
          <a:xfrm>
            <a:off x="2387488" y="5019669"/>
            <a:ext cx="19612200" cy="3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 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Join our SIG Meetings</a:t>
            </a: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>
                <a:solidFill>
                  <a:schemeClr val="hlink"/>
                </a:solidFill>
                <a:hlinkClick r:id="rId3"/>
              </a:rPr>
              <a:t>https://lists.lfai.foundation/g/onnx-sig-operators/</a:t>
            </a:r>
            <a:endParaRPr sz="480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dk1"/>
              </a:solidFill>
            </a:endParaRPr>
          </a:p>
          <a:p>
            <a:pPr marL="571500" marR="0" lvl="0" indent="-190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endParaRPr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_Performance_Marketing_Theme">
  <a:themeElements>
    <a:clrScheme name="IBM DBG Colors">
      <a:dk1>
        <a:srgbClr val="323232"/>
      </a:dk1>
      <a:lt1>
        <a:srgbClr val="FFFFFF"/>
      </a:lt1>
      <a:dk2>
        <a:srgbClr val="0F182D"/>
      </a:dk2>
      <a:lt2>
        <a:srgbClr val="D9DBD9"/>
      </a:lt2>
      <a:accent1>
        <a:srgbClr val="304C89"/>
      </a:accent1>
      <a:accent2>
        <a:srgbClr val="253965"/>
      </a:accent2>
      <a:accent3>
        <a:srgbClr val="00B4A0"/>
      </a:accent3>
      <a:accent4>
        <a:srgbClr val="00B3B1"/>
      </a:accent4>
      <a:accent5>
        <a:srgbClr val="FA2C34"/>
      </a:accent5>
      <a:accent6>
        <a:srgbClr val="F05253"/>
      </a:accent6>
      <a:hlink>
        <a:srgbClr val="4378BC"/>
      </a:hlink>
      <a:folHlink>
        <a:srgbClr val="AB1A8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BM_Performance_Marketing_Theme">
  <a:themeElements>
    <a:clrScheme name="IBM DBG Colors">
      <a:dk1>
        <a:srgbClr val="323232"/>
      </a:dk1>
      <a:lt1>
        <a:srgbClr val="FFFFFF"/>
      </a:lt1>
      <a:dk2>
        <a:srgbClr val="0F182D"/>
      </a:dk2>
      <a:lt2>
        <a:srgbClr val="D9DBD9"/>
      </a:lt2>
      <a:accent1>
        <a:srgbClr val="304C89"/>
      </a:accent1>
      <a:accent2>
        <a:srgbClr val="253965"/>
      </a:accent2>
      <a:accent3>
        <a:srgbClr val="00B4A0"/>
      </a:accent3>
      <a:accent4>
        <a:srgbClr val="00B3B1"/>
      </a:accent4>
      <a:accent5>
        <a:srgbClr val="FA2C34"/>
      </a:accent5>
      <a:accent6>
        <a:srgbClr val="F05253"/>
      </a:accent6>
      <a:hlink>
        <a:srgbClr val="4378BC"/>
      </a:hlink>
      <a:folHlink>
        <a:srgbClr val="AB1A8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1517</Words>
  <Application>Microsoft Macintosh PowerPoint</Application>
  <PresentationFormat>Custom</PresentationFormat>
  <Paragraphs>223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Helvetica Neue Light</vt:lpstr>
      <vt:lpstr>Noto Sans Symbols</vt:lpstr>
      <vt:lpstr>Helvetica Neue</vt:lpstr>
      <vt:lpstr>Calibri</vt:lpstr>
      <vt:lpstr>Arial</vt:lpstr>
      <vt:lpstr>IBM_Performance_Marketing_Theme</vt:lpstr>
      <vt:lpstr>IBM_Performance_Marketing_Theme</vt:lpstr>
      <vt:lpstr>PowerPoint Presentation</vt:lpstr>
      <vt:lpstr>Converters SIG Updates</vt:lpstr>
      <vt:lpstr>Frontend Converter Updates (since Nov)</vt:lpstr>
      <vt:lpstr>Frontend Converter Updates (since Nov)</vt:lpstr>
      <vt:lpstr>Frontend Converter Updates (since Nov)</vt:lpstr>
      <vt:lpstr>Backend Converter Updates</vt:lpstr>
      <vt:lpstr>Training User Experience in Converters</vt:lpstr>
      <vt:lpstr>Training User Experience in Converters </vt:lpstr>
      <vt:lpstr>Training User Experience in Converters </vt:lpstr>
      <vt:lpstr>Implementing ONNX using MLIR</vt:lpstr>
      <vt:lpstr>Structure of ONNX-MLIR</vt:lpstr>
      <vt:lpstr>Convolution in ONNX dialect</vt:lpstr>
      <vt:lpstr>Defining the ONNX Dialect in TableGen</vt:lpstr>
      <vt:lpstr>Declaring transformations for ONNX Dialect in TableGen</vt:lpstr>
      <vt:lpstr>Where we are with development.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Truong</dc:creator>
  <cp:lastModifiedBy>DORU BERCEA</cp:lastModifiedBy>
  <cp:revision>5</cp:revision>
  <dcterms:created xsi:type="dcterms:W3CDTF">2015-12-17T14:38:50Z</dcterms:created>
  <dcterms:modified xsi:type="dcterms:W3CDTF">2020-04-09T20:03:28Z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qining@microsoft.com</vt:lpwstr>
  </property>
  <property fmtid="{D5CDD505-2E9C-101B-9397-08002B2CF9AE}" pid="5" name="MSIP_Label_f42aa342-8706-4288-bd11-ebb85995028c_SetDate">
    <vt:lpwstr>2019-11-12T22:56:21.4020255Z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5b7c36f2-8758-4677-8dfd-4fc6ff4de7fc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