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930" r:id="rId4"/>
    <p:sldMasterId id="2147483986" r:id="rId5"/>
    <p:sldMasterId id="2147484005" r:id="rId6"/>
    <p:sldMasterId id="2147484017" r:id="rId7"/>
  </p:sldMasterIdLst>
  <p:notesMasterIdLst>
    <p:notesMasterId r:id="rId19"/>
  </p:notesMasterIdLst>
  <p:handoutMasterIdLst>
    <p:handoutMasterId r:id="rId20"/>
  </p:handoutMasterIdLst>
  <p:sldIdLst>
    <p:sldId id="256" r:id="rId8"/>
    <p:sldId id="2997" r:id="rId9"/>
    <p:sldId id="3052" r:id="rId10"/>
    <p:sldId id="3069" r:id="rId11"/>
    <p:sldId id="9730" r:id="rId12"/>
    <p:sldId id="9723" r:id="rId13"/>
    <p:sldId id="3073" r:id="rId14"/>
    <p:sldId id="9731" r:id="rId15"/>
    <p:sldId id="9732" r:id="rId16"/>
    <p:sldId id="2057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4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6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8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0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2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4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0" algn="l" defTabSz="91424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7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7"/>
    <a:srgbClr val="A21820"/>
    <a:srgbClr val="171C2D"/>
    <a:srgbClr val="F5811F"/>
    <a:srgbClr val="045C99"/>
    <a:srgbClr val="EB1C23"/>
    <a:srgbClr val="7F7F7F"/>
    <a:srgbClr val="0C0C0C"/>
    <a:srgbClr val="00B2BA"/>
    <a:srgbClr val="8D91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6A3164-ECFD-4903-ACB0-28E81075B382}" v="2199" dt="2020-04-07T13:54:58.295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38" autoAdjust="0"/>
  </p:normalViewPr>
  <p:slideViewPr>
    <p:cSldViewPr showGuides="1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  <p:guide orient="horz" pos="1776"/>
      </p:guideLst>
    </p:cSldViewPr>
  </p:slideViewPr>
  <p:outlineViewPr>
    <p:cViewPr>
      <p:scale>
        <a:sx n="33" d="100"/>
        <a:sy n="33" d="100"/>
      </p:scale>
      <p:origin x="0" y="-337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778"/>
    </p:cViewPr>
  </p:sorterViewPr>
  <p:notesViewPr>
    <p:cSldViewPr>
      <p:cViewPr>
        <p:scale>
          <a:sx n="66" d="100"/>
          <a:sy n="66" d="100"/>
        </p:scale>
        <p:origin x="313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9EEC3C-A001-4107-B54E-3DA93EFF18E7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9C473-A00E-481E-A6E8-16CFC626F8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6447F-F8B4-4CE6-9C1A-CBB460477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77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96E16B4-3FB2-4CDC-BEBF-CD70C72EF480}" type="datetimeFigureOut">
              <a:rPr lang="en-US" smtClean="0"/>
              <a:pPr/>
              <a:t>4/8/2020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8382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42829-8409-4711-B36D-25AE5703B86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22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4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120" algn="l" defTabSz="91424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240" algn="l" defTabSz="91424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360" algn="l" defTabSz="91424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480" algn="l" defTabSz="91424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60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2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4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0" algn="l" defTabSz="91424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Default approach in FINN</a:t>
            </a:r>
          </a:p>
          <a:p>
            <a:endParaRPr lang="en-IE" dirty="0"/>
          </a:p>
          <a:p>
            <a:r>
              <a:rPr lang="en-IE" dirty="0"/>
              <a:t>Explain what’s going on in the animation, and then play animation (same with the slide before)</a:t>
            </a:r>
          </a:p>
          <a:p>
            <a:endParaRPr lang="en-IE" dirty="0"/>
          </a:p>
          <a:p>
            <a:r>
              <a:rPr lang="en-IE" dirty="0"/>
              <a:t>Customize both the precision and the structure of the compute engine</a:t>
            </a:r>
          </a:p>
          <a:p>
            <a:endParaRPr lang="en-IE" dirty="0"/>
          </a:p>
          <a:p>
            <a:r>
              <a:rPr lang="en-IE" dirty="0"/>
              <a:t>Compute engine structure mimics the NN in hardware, all layers process in parallel, in pipeline fashion (animation)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D42829-8409-4711-B36D-25AE5703B8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91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Work on FINN has resulted in a number of technology demonstrators which validate approach at various scales</a:t>
            </a:r>
          </a:p>
          <a:p>
            <a:endParaRPr lang="nb-NO" dirty="0"/>
          </a:p>
          <a:p>
            <a:r>
              <a:rPr lang="nb-NO" dirty="0"/>
              <a:t>Multi-layer perceptron acceleration, MNIST but also consider other applications such as high-energy physics</a:t>
            </a:r>
          </a:p>
          <a:p>
            <a:endParaRPr lang="nb-NO" dirty="0"/>
          </a:p>
          <a:p>
            <a:r>
              <a:rPr lang="nb-NO" dirty="0"/>
              <a:t>Object detection and clasiffication, relevant to ADAS applications</a:t>
            </a:r>
          </a:p>
          <a:p>
            <a:endParaRPr lang="nb-NO" dirty="0"/>
          </a:p>
          <a:p>
            <a:r>
              <a:rPr lang="nb-NO" dirty="0"/>
              <a:t>Object clasiffication for data-center applications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D42829-8409-4711-B36D-25AE5703B8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226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Key challenge – how do we realize conversion from full precision network to dataflow implementation in FPGA, through codesign</a:t>
            </a:r>
            <a:r>
              <a:rPr lang="en-US" dirty="0"/>
              <a:t>; </a:t>
            </a:r>
          </a:p>
          <a:p>
            <a:endParaRPr lang="en-US" dirty="0"/>
          </a:p>
          <a:p>
            <a:r>
              <a:rPr lang="en-US" dirty="0"/>
              <a:t>FINN vision: Enables customization at the neural network level and FPGA accelerator level</a:t>
            </a:r>
          </a:p>
          <a:p>
            <a:endParaRPr lang="en-US" dirty="0"/>
          </a:p>
          <a:p>
            <a:r>
              <a:rPr lang="en-US" dirty="0"/>
              <a:t>Designed as enabler towards FPGA inference for a wider audience </a:t>
            </a:r>
          </a:p>
          <a:p>
            <a:endParaRPr lang="en-US" dirty="0"/>
          </a:p>
          <a:p>
            <a:r>
              <a:rPr lang="en-US" dirty="0"/>
              <a:t>user not customer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1F047-73B9-2242-8741-E495F8F7C80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2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251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How we plan to accomplish this mission: stack of modular components</a:t>
            </a:r>
          </a:p>
          <a:p>
            <a:endParaRPr lang="nb-NO" dirty="0"/>
          </a:p>
          <a:p>
            <a:r>
              <a:rPr lang="nb-NO" dirty="0"/>
              <a:t>Brevitas provides algorithmic customization, FINN compiler generates hardware accelerators</a:t>
            </a:r>
          </a:p>
          <a:p>
            <a:endParaRPr lang="nb-NO" dirty="0"/>
          </a:p>
          <a:p>
            <a:r>
              <a:rPr lang="nb-NO" dirty="0"/>
              <a:t>Designed for easy integration with Pynq, although other runtimes exist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80794-7C82-4F4B-8127-E4B45E8D81A4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682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D42829-8409-4711-B36D-25AE5703B8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691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57B3CB1-5EBA-8948-BF2E-5B9E38D5A8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04000" y="2546713"/>
            <a:ext cx="5253400" cy="38517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2BB0D6E-75EE-DB4D-95F0-1E0A20F728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414" y="656115"/>
            <a:ext cx="1321445" cy="2681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D36CB97-8324-8440-AF83-FDCF5C83423C}"/>
              </a:ext>
            </a:extLst>
          </p:cNvPr>
          <p:cNvSpPr/>
          <p:nvPr userDrawn="1"/>
        </p:nvSpPr>
        <p:spPr>
          <a:xfrm>
            <a:off x="10210800" y="6119691"/>
            <a:ext cx="1752600" cy="6621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695751-8148-D44C-819F-19AC107A8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121" y="2700534"/>
            <a:ext cx="8945879" cy="975360"/>
          </a:xfrm>
        </p:spPr>
        <p:txBody>
          <a:bodyPr/>
          <a:lstStyle>
            <a:lvl1pPr>
              <a:defRPr sz="4400"/>
            </a:lvl1pPr>
          </a:lstStyle>
          <a:p>
            <a:pPr>
              <a:lnSpc>
                <a:spcPct val="85000"/>
              </a:lnSpc>
            </a:pPr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32" name="Name, Title, Date">
            <a:extLst>
              <a:ext uri="{FF2B5EF4-FFF2-40B4-BE49-F238E27FC236}">
                <a16:creationId xmlns:a16="http://schemas.microsoft.com/office/drawing/2014/main" id="{2396738D-B05F-FC45-B1A8-82AA1CB933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9121" y="4490866"/>
            <a:ext cx="7417990" cy="1092607"/>
          </a:xfrm>
        </p:spPr>
        <p:txBody>
          <a:bodyPr wrap="square">
            <a:spAutoFit/>
          </a:bodyPr>
          <a:lstStyle>
            <a:lvl1pPr marL="0" indent="0" algn="l">
              <a:spcBef>
                <a:spcPts val="300"/>
              </a:spcBef>
              <a:buNone/>
              <a:defRPr lang="en-US" sz="2000" b="0" i="0" kern="1200" baseline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Title</a:t>
            </a:r>
          </a:p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73246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121" y="304800"/>
            <a:ext cx="7421878" cy="9753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79120" y="1733296"/>
            <a:ext cx="7421879" cy="37531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C16CF1-E2E6-48D5-A44C-7C8249C74C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0944" y="381000"/>
            <a:ext cx="1941690" cy="117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2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1" y="304800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4004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1" y="304800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824BE7-9859-7240-83D5-846AECA2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1" y="1470401"/>
            <a:ext cx="11033760" cy="4632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4962" indent="-234962">
              <a:buSzPct val="80000"/>
              <a:buFont typeface="Webdings" panose="05030102010509060703" pitchFamily="18" charset="2"/>
              <a:buChar char=""/>
              <a:defRPr lang="en-US" dirty="0" smtClean="0"/>
            </a:lvl1pPr>
            <a:lvl2pPr marL="452989" indent="-220144">
              <a:buSzPct val="80000"/>
              <a:buFont typeface="Wingdings 3" panose="05040102010807070707" pitchFamily="18" charset="2"/>
              <a:buChar char=""/>
              <a:defRPr sz="2000"/>
            </a:lvl2pPr>
            <a:lvl3pPr marL="685835" indent="-232845">
              <a:buSzPct val="80000"/>
              <a:buFont typeface="Wingdings 3" panose="05040102010807070707" pitchFamily="18" charset="2"/>
              <a:buChar char="¬"/>
              <a:defRPr sz="1600"/>
            </a:lvl3pPr>
            <a:lvl4pPr marL="916563" indent="-230729">
              <a:buSzPct val="80000"/>
              <a:buFont typeface="Wingdings 3" panose="05040102010807070707" pitchFamily="18" charset="2"/>
              <a:buChar char="¬"/>
              <a:defRPr/>
            </a:lvl4pPr>
            <a:lvl5pPr marL="1138824" indent="-222262">
              <a:buSzPct val="80000"/>
              <a:buFont typeface="Wingdings 3" panose="05040102010807070707" pitchFamily="18" charset="2"/>
              <a:buChar char="¬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3918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1" y="304800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120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1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A8B06E9-672B-49AA-8789-D576D5680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2307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E2AE14-D6F3-42D2-A4A3-74BBE239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0944" y="381000"/>
            <a:ext cx="1941690" cy="117729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1320318-DA78-471F-8076-1A95C52545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807" y="3124200"/>
            <a:ext cx="11093827" cy="701040"/>
          </a:xfrm>
        </p:spPr>
        <p:txBody>
          <a:bodyPr anchor="b">
            <a:noAutofit/>
          </a:bodyPr>
          <a:lstStyle>
            <a:lvl1pPr>
              <a:defRPr lang="en-US" sz="4201" b="1" i="0" kern="1200" dirty="0">
                <a:solidFill>
                  <a:schemeClr val="bg1"/>
                </a:solidFill>
                <a:latin typeface="Arial" charset="0"/>
                <a:ea typeface="+mj-ea"/>
                <a:cs typeface="Arial" charset="0"/>
              </a:defRPr>
            </a:lvl1pPr>
          </a:lstStyle>
          <a:p>
            <a:r>
              <a:rPr lang="en-US" dirty="0"/>
              <a:t>Simple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D42470-3AEB-A94C-96B8-18E2C7C25164}"/>
              </a:ext>
            </a:extLst>
          </p:cNvPr>
          <p:cNvSpPr/>
          <p:nvPr userDrawn="1"/>
        </p:nvSpPr>
        <p:spPr>
          <a:xfrm>
            <a:off x="10058400" y="6109945"/>
            <a:ext cx="1752600" cy="662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35D3FD-B992-1F41-849B-4E9534CAB9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856" y="6441000"/>
            <a:ext cx="975225" cy="197921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E052772-3EFC-D34C-AA1A-1135DE3C5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bg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1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with Pictur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E2AE14-D6F3-42D2-A4A3-74BBE239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0944" y="381000"/>
            <a:ext cx="1941690" cy="117729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512AD6E-7A81-4D46-A4DC-BC3429D8CF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807" y="3124200"/>
            <a:ext cx="5514793" cy="701040"/>
          </a:xfrm>
        </p:spPr>
        <p:txBody>
          <a:bodyPr anchor="b">
            <a:noAutofit/>
          </a:bodyPr>
          <a:lstStyle>
            <a:lvl1pPr>
              <a:defRPr lang="en-US" sz="4201" b="1" i="0" kern="1200" dirty="0">
                <a:solidFill>
                  <a:schemeClr val="bg1"/>
                </a:solidFill>
                <a:latin typeface="Arial" charset="0"/>
                <a:ea typeface="+mj-ea"/>
                <a:cs typeface="Arial" charset="0"/>
              </a:defRPr>
            </a:lvl1pPr>
          </a:lstStyle>
          <a:p>
            <a:r>
              <a:rPr lang="en-US" dirty="0"/>
              <a:t>Simple Statement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89EAEFDD-B284-E94B-8F1D-D7E1627370F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81768" y="1558290"/>
            <a:ext cx="4457700" cy="3741422"/>
          </a:xfrm>
          <a:prstGeom prst="rect">
            <a:avLst/>
          </a:prstGeom>
          <a:noFill/>
        </p:spPr>
        <p:txBody>
          <a:bodyPr vert="horz" lIns="91440" tIns="1371600" rIns="91440" bIns="0" rtlCol="0" anchor="ctr" anchorCtr="0">
            <a:noAutofit/>
          </a:bodyPr>
          <a:lstStyle>
            <a:lvl1pPr marL="309026" indent="-309026" algn="ctr">
              <a:buNone/>
              <a:defRPr lang="en-US" sz="1867" dirty="0">
                <a:solidFill>
                  <a:schemeClr val="bg1"/>
                </a:solidFill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ct val="100000"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E7C71-1267-7F46-A82A-631E19E556BC}"/>
              </a:ext>
            </a:extLst>
          </p:cNvPr>
          <p:cNvSpPr/>
          <p:nvPr userDrawn="1"/>
        </p:nvSpPr>
        <p:spPr>
          <a:xfrm>
            <a:off x="10058400" y="6109945"/>
            <a:ext cx="1752600" cy="662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667D16-E95F-F440-8D2D-18A462CF21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856" y="6441000"/>
            <a:ext cx="975225" cy="197921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B8CD8B4-2837-BA4D-9DA4-67F8481F1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bg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45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0434C-4CE7-42D1-965D-0265C29B04F3}"/>
              </a:ext>
            </a:extLst>
          </p:cNvPr>
          <p:cNvGrpSpPr/>
          <p:nvPr/>
        </p:nvGrpSpPr>
        <p:grpSpPr>
          <a:xfrm>
            <a:off x="640118" y="3425008"/>
            <a:ext cx="5608321" cy="1019992"/>
            <a:chOff x="480089" y="2568756"/>
            <a:chExt cx="4206240" cy="76499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88497C-C551-4465-9953-8BC43D9E0208}"/>
                </a:ext>
              </a:extLst>
            </p:cNvPr>
            <p:cNvSpPr/>
            <p:nvPr/>
          </p:nvSpPr>
          <p:spPr>
            <a:xfrm>
              <a:off x="480089" y="2841307"/>
              <a:ext cx="4206240" cy="4924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r>
                <a:rPr lang="en-US" sz="4800" b="1" spc="100" dirty="0">
                  <a:solidFill>
                    <a:schemeClr val="bg1"/>
                  </a:solidFill>
                </a:rPr>
                <a:t>Thank You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F6007A-E1A7-46F3-B830-C81E32C3CF47}"/>
                </a:ext>
              </a:extLst>
            </p:cNvPr>
            <p:cNvCxnSpPr>
              <a:cxnSpLocks/>
            </p:cNvCxnSpPr>
            <p:nvPr/>
          </p:nvCxnSpPr>
          <p:spPr>
            <a:xfrm>
              <a:off x="520059" y="2568756"/>
              <a:ext cx="825801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39F4C22-7CBE-4004-AC0C-D9091BDDF3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04000" y="2546713"/>
            <a:ext cx="5253400" cy="3851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35D3FD-B992-1F41-849B-4E9534CAB9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5480" y="2457303"/>
            <a:ext cx="2331726" cy="4732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2EA454-74F4-0847-8EA2-1E94A436814E}"/>
              </a:ext>
            </a:extLst>
          </p:cNvPr>
          <p:cNvSpPr/>
          <p:nvPr userDrawn="1"/>
        </p:nvSpPr>
        <p:spPr>
          <a:xfrm>
            <a:off x="10058400" y="6109945"/>
            <a:ext cx="1752600" cy="662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30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ilinx Mission Statement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70BA53-DDA7-4989-871D-4C13A03CF2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39" b="656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0434C-4CE7-42D1-965D-0265C29B04F3}"/>
              </a:ext>
            </a:extLst>
          </p:cNvPr>
          <p:cNvGrpSpPr/>
          <p:nvPr/>
        </p:nvGrpSpPr>
        <p:grpSpPr>
          <a:xfrm>
            <a:off x="587021" y="3276599"/>
            <a:ext cx="8658579" cy="1305108"/>
            <a:chOff x="440266" y="2597168"/>
            <a:chExt cx="6493934" cy="9788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88497C-C551-4465-9953-8BC43D9E0208}"/>
                </a:ext>
              </a:extLst>
            </p:cNvPr>
            <p:cNvSpPr/>
            <p:nvPr/>
          </p:nvSpPr>
          <p:spPr>
            <a:xfrm>
              <a:off x="440266" y="3083556"/>
              <a:ext cx="6493934" cy="4924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>
                <a:spcAft>
                  <a:spcPts val="800"/>
                </a:spcAft>
              </a:pPr>
              <a:r>
                <a:rPr lang="en-US" sz="3801" b="1" spc="100" dirty="0">
                  <a:solidFill>
                    <a:schemeClr val="bg1"/>
                  </a:solidFill>
                </a:rPr>
                <a:t>Building</a:t>
              </a:r>
              <a:r>
                <a:rPr lang="en-US" sz="3801" b="1" spc="100" baseline="0" dirty="0">
                  <a:solidFill>
                    <a:schemeClr val="bg1"/>
                  </a:solidFill>
                </a:rPr>
                <a:t> the Adaptable,</a:t>
              </a:r>
            </a:p>
            <a:p>
              <a:pPr>
                <a:spcAft>
                  <a:spcPts val="800"/>
                </a:spcAft>
              </a:pPr>
              <a:r>
                <a:rPr lang="en-US" sz="3801" b="1" spc="100" baseline="0" dirty="0">
                  <a:solidFill>
                    <a:schemeClr val="accent1"/>
                  </a:solidFill>
                </a:rPr>
                <a:t>Intelligent World</a:t>
              </a:r>
              <a:endParaRPr lang="en-US" sz="3801" b="1" spc="100" dirty="0">
                <a:solidFill>
                  <a:schemeClr val="accent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F6007A-E1A7-46F3-B830-C81E32C3CF47}"/>
                </a:ext>
              </a:extLst>
            </p:cNvPr>
            <p:cNvCxnSpPr>
              <a:cxnSpLocks/>
            </p:cNvCxnSpPr>
            <p:nvPr/>
          </p:nvCxnSpPr>
          <p:spPr>
            <a:xfrm>
              <a:off x="520059" y="2597168"/>
              <a:ext cx="825801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E88497C-C551-4465-9953-8BC43D9E0208}"/>
              </a:ext>
            </a:extLst>
          </p:cNvPr>
          <p:cNvSpPr/>
          <p:nvPr userDrawn="1"/>
        </p:nvSpPr>
        <p:spPr>
          <a:xfrm>
            <a:off x="640118" y="2295751"/>
            <a:ext cx="6599179" cy="656591"/>
          </a:xfrm>
          <a:prstGeom prst="rect">
            <a:avLst/>
          </a:prstGeom>
        </p:spPr>
        <p:txBody>
          <a:bodyPr vert="horz" lIns="91464" tIns="45732" rIns="91464" bIns="45732" rtlCol="0" anchor="ctr">
            <a:noAutofit/>
          </a:bodyPr>
          <a:lstStyle/>
          <a:p>
            <a:pPr>
              <a:spcAft>
                <a:spcPts val="800"/>
              </a:spcAft>
            </a:pPr>
            <a:r>
              <a:rPr lang="en-US" sz="3801" b="1" spc="100" dirty="0">
                <a:solidFill>
                  <a:schemeClr val="bg1"/>
                </a:solidFill>
              </a:rPr>
              <a:t>Xilinx Mission</a:t>
            </a:r>
            <a:endParaRPr lang="en-US" sz="3801" b="1" spc="1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63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em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2B81EF3-03B2-48A1-BFCD-AA5945C34E16}"/>
              </a:ext>
            </a:extLst>
          </p:cNvPr>
          <p:cNvGrpSpPr/>
          <p:nvPr userDrawn="1"/>
        </p:nvGrpSpPr>
        <p:grpSpPr>
          <a:xfrm>
            <a:off x="-2" y="-2"/>
            <a:ext cx="12192003" cy="6858003"/>
            <a:chOff x="-1" y="-1"/>
            <a:chExt cx="9144002" cy="514350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BF6BD96-5AC0-BA4C-8360-8C77282D5BC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2413" r="-1240"/>
            <a:stretch/>
          </p:blipFill>
          <p:spPr>
            <a:xfrm>
              <a:off x="-1" y="-1"/>
              <a:ext cx="6293495" cy="5143500"/>
            </a:xfrm>
            <a:prstGeom prst="rect">
              <a:avLst/>
            </a:prstGeom>
          </p:spPr>
        </p:pic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AD0BF0B-9571-B64F-B07D-4230F8DE4E16}"/>
                </a:ext>
              </a:extLst>
            </p:cNvPr>
            <p:cNvSpPr/>
            <p:nvPr userDrawn="1"/>
          </p:nvSpPr>
          <p:spPr>
            <a:xfrm rot="5400000">
              <a:off x="2000250" y="-2000250"/>
              <a:ext cx="5143501" cy="9144001"/>
            </a:xfrm>
            <a:custGeom>
              <a:avLst/>
              <a:gdLst>
                <a:gd name="connsiteX0" fmla="*/ 0 w 5143501"/>
                <a:gd name="connsiteY0" fmla="*/ 9144001 h 9144001"/>
                <a:gd name="connsiteX1" fmla="*/ 1 w 5143501"/>
                <a:gd name="connsiteY1" fmla="*/ 0 h 9144001"/>
                <a:gd name="connsiteX2" fmla="*/ 5143501 w 5143501"/>
                <a:gd name="connsiteY2" fmla="*/ 0 h 9144001"/>
                <a:gd name="connsiteX3" fmla="*/ 5143501 w 5143501"/>
                <a:gd name="connsiteY3" fmla="*/ 6557996 h 9144001"/>
                <a:gd name="connsiteX4" fmla="*/ 2571755 w 5143501"/>
                <a:gd name="connsiteY4" fmla="*/ 3986248 h 9144001"/>
                <a:gd name="connsiteX5" fmla="*/ 4 w 5143501"/>
                <a:gd name="connsiteY5" fmla="*/ 6557999 h 9144001"/>
                <a:gd name="connsiteX6" fmla="*/ 4 w 5143501"/>
                <a:gd name="connsiteY6" fmla="*/ 9144001 h 9144001"/>
                <a:gd name="connsiteX7" fmla="*/ 0 w 5143501"/>
                <a:gd name="connsiteY7" fmla="*/ 9144001 h 914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43501" h="9144001">
                  <a:moveTo>
                    <a:pt x="0" y="9144001"/>
                  </a:moveTo>
                  <a:lnTo>
                    <a:pt x="1" y="0"/>
                  </a:lnTo>
                  <a:lnTo>
                    <a:pt x="5143501" y="0"/>
                  </a:lnTo>
                  <a:lnTo>
                    <a:pt x="5143501" y="6557996"/>
                  </a:lnTo>
                  <a:lnTo>
                    <a:pt x="2571755" y="3986248"/>
                  </a:lnTo>
                  <a:lnTo>
                    <a:pt x="4" y="6557999"/>
                  </a:lnTo>
                  <a:lnTo>
                    <a:pt x="4" y="9144001"/>
                  </a:lnTo>
                  <a:lnTo>
                    <a:pt x="0" y="9144001"/>
                  </a:lnTo>
                  <a:close/>
                </a:path>
              </a:pathLst>
            </a:custGeom>
            <a:solidFill>
              <a:srgbClr val="161C2E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6C3D070-FF44-A246-83AC-E7FBF802C4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21305693">
              <a:off x="568784" y="805923"/>
              <a:ext cx="2504055" cy="1835945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409BBDC-04F8-4348-B714-BDA1B9EA97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10425" y="2884733"/>
            <a:ext cx="4488804" cy="108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ayout (Custom Graphic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751380-ECCD-6740-8656-E1B196E55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"/>
            <a:ext cx="12192001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288FCA-744D-4341-A43C-24F4B78219D4}"/>
              </a:ext>
            </a:extLst>
          </p:cNvPr>
          <p:cNvSpPr/>
          <p:nvPr userDrawn="1"/>
        </p:nvSpPr>
        <p:spPr>
          <a:xfrm>
            <a:off x="0" y="-1"/>
            <a:ext cx="7559040" cy="6858001"/>
          </a:xfrm>
          <a:prstGeom prst="rect">
            <a:avLst/>
          </a:prstGeom>
          <a:gradFill flip="none" rotWithShape="1">
            <a:gsLst>
              <a:gs pos="22000">
                <a:schemeClr val="tx1">
                  <a:alpha val="80000"/>
                </a:schemeClr>
              </a:gs>
              <a:gs pos="94000">
                <a:schemeClr val="tx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F8F906-60B3-644F-ADB0-B9CDC26F43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7699" y="657922"/>
            <a:ext cx="2224616" cy="5394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622B80-4B0F-E040-8CA6-76145113269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3890" y="6247004"/>
            <a:ext cx="1125861" cy="2285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BE63EC-F181-1242-8BFF-0DDF8C88DE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65353" r="-1192"/>
          <a:stretch/>
        </p:blipFill>
        <p:spPr>
          <a:xfrm>
            <a:off x="8310563" y="2092755"/>
            <a:ext cx="3302317" cy="235134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6767083-50CB-844F-80E8-748D15E8E3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9119" y="1816681"/>
            <a:ext cx="7559040" cy="1341120"/>
          </a:xfrm>
        </p:spPr>
        <p:txBody>
          <a:bodyPr vert="horz" wrap="square" lIns="91440" tIns="45720" rIns="91440" bIns="45720" rtlCol="0" anchor="b" anchorCtr="0">
            <a:noAutofit/>
          </a:bodyPr>
          <a:lstStyle>
            <a:lvl1pPr>
              <a:defRPr lang="en-US" sz="4533" baseline="0" dirty="0">
                <a:solidFill>
                  <a:schemeClr val="bg1"/>
                </a:solidFill>
              </a:defRPr>
            </a:lvl1pPr>
          </a:lstStyle>
          <a:p>
            <a:pPr marL="0" lvl="0">
              <a:lnSpc>
                <a:spcPct val="85000"/>
              </a:lnSpc>
            </a:pPr>
            <a:r>
              <a:rPr lang="en-US" dirty="0"/>
              <a:t>Presentation Title</a:t>
            </a:r>
          </a:p>
        </p:txBody>
      </p:sp>
      <p:sp>
        <p:nvSpPr>
          <p:cNvPr id="10" name="Name, Title, Date">
            <a:extLst>
              <a:ext uri="{FF2B5EF4-FFF2-40B4-BE49-F238E27FC236}">
                <a16:creationId xmlns:a16="http://schemas.microsoft.com/office/drawing/2014/main" id="{0B29A003-0E7B-1340-A8FE-5F43B8C4F8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9120" y="3163968"/>
            <a:ext cx="7559040" cy="46794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26478" indent="-226478">
              <a:buNone/>
              <a:defRPr lang="en-US" i="0" baseline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>
              <a:spcBef>
                <a:spcPts val="300"/>
              </a:spcBef>
            </a:pPr>
            <a:r>
              <a:rPr lang="en-US" dirty="0"/>
              <a:t>Subtitle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4CF039-AEC0-7245-A03A-0FE18D7477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16" y="4727960"/>
            <a:ext cx="7558617" cy="390144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226478" indent="-226478">
              <a:buNone/>
              <a:defRPr lang="en-US" sz="1867" dirty="0" smtClean="0">
                <a:solidFill>
                  <a:schemeClr val="bg1"/>
                </a:solidFill>
              </a:defRPr>
            </a:lvl1pPr>
          </a:lstStyle>
          <a:p>
            <a:pPr marL="0" lvl="0" indent="0"/>
            <a:r>
              <a:rPr lang="en-US" dirty="0"/>
              <a:t>Name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6D5AEE1-675F-B642-9E1B-F4CD6231755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116" y="5118957"/>
            <a:ext cx="7559041" cy="3901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marL="226478" indent="-226478">
              <a:buNone/>
              <a:defRPr lang="en-US" sz="1867" dirty="0" smtClean="0">
                <a:solidFill>
                  <a:schemeClr val="bg1"/>
                </a:solidFill>
              </a:defRPr>
            </a:lvl1pPr>
          </a:lstStyle>
          <a:p>
            <a:pPr marL="0" lvl="0" indent="0"/>
            <a:r>
              <a:rPr lang="en-US" dirty="0"/>
              <a:t>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5AF98363-3FC9-C64A-AE10-5B3706F942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9116" y="5509804"/>
            <a:ext cx="7559041" cy="36576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marL="226478" indent="-226478">
              <a:buNone/>
              <a:defRPr lang="en-US" sz="1600" i="0" baseline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>
              <a:spcBef>
                <a:spcPts val="300"/>
              </a:spcBef>
            </a:pPr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5786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A274A93-01BE-4AAC-98EB-CFFD34C0A028}"/>
              </a:ext>
            </a:extLst>
          </p:cNvPr>
          <p:cNvGrpSpPr/>
          <p:nvPr userDrawn="1"/>
        </p:nvGrpSpPr>
        <p:grpSpPr>
          <a:xfrm>
            <a:off x="-3" y="0"/>
            <a:ext cx="12192003" cy="6858000"/>
            <a:chOff x="-2" y="0"/>
            <a:chExt cx="9144002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F3F025-029F-1C46-9C57-6B0D98CA9B2B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04CB6FC-A014-BF45-9BC2-66CB669E4404}"/>
                </a:ext>
              </a:extLst>
            </p:cNvPr>
            <p:cNvSpPr/>
            <p:nvPr userDrawn="1"/>
          </p:nvSpPr>
          <p:spPr>
            <a:xfrm rot="5400000">
              <a:off x="-285748" y="285751"/>
              <a:ext cx="5143494" cy="4572001"/>
            </a:xfrm>
            <a:custGeom>
              <a:avLst/>
              <a:gdLst>
                <a:gd name="connsiteX0" fmla="*/ 0 w 5143494"/>
                <a:gd name="connsiteY0" fmla="*/ 4572001 h 4572001"/>
                <a:gd name="connsiteX1" fmla="*/ 0 w 5143494"/>
                <a:gd name="connsiteY1" fmla="*/ 2571751 h 4572001"/>
                <a:gd name="connsiteX2" fmla="*/ 2571751 w 5143494"/>
                <a:gd name="connsiteY2" fmla="*/ 0 h 4572001"/>
                <a:gd name="connsiteX3" fmla="*/ 5143494 w 5143494"/>
                <a:gd name="connsiteY3" fmla="*/ 2571745 h 4572001"/>
                <a:gd name="connsiteX4" fmla="*/ 5143494 w 5143494"/>
                <a:gd name="connsiteY4" fmla="*/ 4572001 h 4572001"/>
                <a:gd name="connsiteX5" fmla="*/ 0 w 5143494"/>
                <a:gd name="connsiteY5" fmla="*/ 4572001 h 457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43494" h="4572001">
                  <a:moveTo>
                    <a:pt x="0" y="4572001"/>
                  </a:moveTo>
                  <a:lnTo>
                    <a:pt x="0" y="2571751"/>
                  </a:lnTo>
                  <a:lnTo>
                    <a:pt x="2571751" y="0"/>
                  </a:lnTo>
                  <a:lnTo>
                    <a:pt x="5143494" y="2571745"/>
                  </a:lnTo>
                  <a:lnTo>
                    <a:pt x="5143494" y="4572001"/>
                  </a:lnTo>
                  <a:lnTo>
                    <a:pt x="0" y="457200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240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4F9E77B-3523-0441-8A84-AB61EC5A90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>
              <a:off x="140743" y="1910034"/>
              <a:ext cx="3940050" cy="2888800"/>
            </a:xfrm>
            <a:prstGeom prst="rect">
              <a:avLst/>
            </a:prstGeom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326BEF58-8A1E-F64C-BA93-8179AA11A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119" y="676292"/>
            <a:ext cx="3475645" cy="975360"/>
          </a:xfr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lang="en-US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DC1E174-E94C-C644-AC81-6E590012D7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61747" y="1478280"/>
            <a:ext cx="5251133" cy="39014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32828" indent="-232828" algn="l" defTabSz="1219170" rtl="0" eaLnBrk="1" latinLnBrk="0" hangingPunct="1">
              <a:lnSpc>
                <a:spcPct val="10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›"/>
              <a:defRPr lang="en-US" sz="24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>
              <a:spcBef>
                <a:spcPts val="1600"/>
              </a:spcBef>
              <a:spcAft>
                <a:spcPts val="533"/>
              </a:spcAft>
            </a:pPr>
            <a:r>
              <a:rPr lang="en-US" dirty="0"/>
              <a:t>Agenda Item 1</a:t>
            </a:r>
          </a:p>
          <a:p>
            <a:pPr lvl="0">
              <a:spcBef>
                <a:spcPts val="1600"/>
              </a:spcBef>
              <a:spcAft>
                <a:spcPts val="533"/>
              </a:spcAft>
            </a:pPr>
            <a:r>
              <a:rPr lang="en-US" dirty="0"/>
              <a:t>Agenda Item 2</a:t>
            </a:r>
          </a:p>
          <a:p>
            <a:pPr lvl="0">
              <a:spcBef>
                <a:spcPts val="1600"/>
              </a:spcBef>
              <a:spcAft>
                <a:spcPts val="533"/>
              </a:spcAft>
            </a:pPr>
            <a:r>
              <a:rPr lang="en-US" dirty="0"/>
              <a:t>Agenda Item 3</a:t>
            </a:r>
          </a:p>
          <a:p>
            <a:pPr lvl="0">
              <a:spcBef>
                <a:spcPts val="1600"/>
              </a:spcBef>
              <a:spcAft>
                <a:spcPts val="533"/>
              </a:spcAft>
            </a:pPr>
            <a:r>
              <a:rPr lang="en-US" dirty="0"/>
              <a:t>Agenda Item 4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6A086DA0-A714-384E-8A98-FDDB33993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bg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579119" y="1085343"/>
            <a:ext cx="1750907" cy="566309"/>
          </a:xfrm>
          <a:prstGeom prst="rect">
            <a:avLst/>
          </a:prstGeom>
        </p:spPr>
        <p:txBody>
          <a:bodyPr vert="horz" lIns="121920" tIns="60960" rIns="121920" bIns="60960" rtlCol="0" anchor="b" anchorCtr="0">
            <a:noAutofit/>
          </a:bodyPr>
          <a:lstStyle>
            <a:lvl1pPr lvl="0">
              <a:lnSpc>
                <a:spcPct val="90000"/>
              </a:lnSpc>
              <a:spcBef>
                <a:spcPct val="0"/>
              </a:spcBef>
              <a:buNone/>
              <a:defRPr lang="en-US" sz="2400" b="1" i="0" dirty="0" smtClean="0">
                <a:solidFill>
                  <a:schemeClr val="bg1"/>
                </a:solidFill>
                <a:latin typeface="Arial" charset="0"/>
                <a:ea typeface="+mj-ea"/>
                <a:cs typeface="Arial" charset="0"/>
              </a:defRPr>
            </a:lvl1pPr>
          </a:lstStyle>
          <a:p>
            <a:pPr lvl="0"/>
            <a:r>
              <a:rPr lang="en-US" sz="3200" dirty="0"/>
              <a:t>Agenda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518F0E-1155-4D8F-BD1F-DE803C0258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789" y="6440992"/>
            <a:ext cx="975360" cy="19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0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234696"/>
            <a:ext cx="11033760" cy="975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79121" y="1463040"/>
            <a:ext cx="11032913" cy="463296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7249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824BE7-9859-7240-83D5-846AECA2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470401"/>
            <a:ext cx="11033760" cy="4632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6157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ABB6BA-811A-0044-A6A3-7AC30589C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" t="5228" r="32561" b="-9808"/>
          <a:stretch/>
        </p:blipFill>
        <p:spPr>
          <a:xfrm>
            <a:off x="9554155" y="0"/>
            <a:ext cx="2637845" cy="299905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0B44349-AA9D-474E-A05C-8C8AB9950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119" y="1905000"/>
            <a:ext cx="6727039" cy="3048000"/>
          </a:xfrm>
        </p:spPr>
        <p:txBody>
          <a:bodyPr vert="horz" wrap="square" lIns="91440" tIns="45720" rIns="91440" bIns="45720" rtlCol="0" anchor="ctr" anchorCtr="0">
            <a:noAutofit/>
          </a:bodyPr>
          <a:lstStyle>
            <a:lvl1pPr>
              <a:defRPr lang="en-US" sz="4000" baseline="0" dirty="0">
                <a:solidFill>
                  <a:schemeClr val="bg1"/>
                </a:solidFill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Insert Section Title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AB31E-CF7D-B64D-ACC1-A396661FE120}"/>
              </a:ext>
            </a:extLst>
          </p:cNvPr>
          <p:cNvSpPr/>
          <p:nvPr userDrawn="1"/>
        </p:nvSpPr>
        <p:spPr>
          <a:xfrm>
            <a:off x="10832949" y="6443472"/>
            <a:ext cx="1176171" cy="371856"/>
          </a:xfrm>
          <a:prstGeom prst="rect">
            <a:avLst/>
          </a:prstGeom>
          <a:solidFill>
            <a:srgbClr val="161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C8D7D9-DE30-1C4C-BC31-7B1F4A510E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789" y="6440920"/>
            <a:ext cx="975360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4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234696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120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A8B06E9-672B-49AA-8789-D576D5680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248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234696"/>
            <a:ext cx="11033760" cy="975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120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1867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F7155BD-B961-41E0-AF74-6D9FAF242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394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E49B257-3F0B-430C-B5F3-399337A57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699CE-F578-4DF4-A3DA-2DA63E0E8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97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234696"/>
            <a:ext cx="11033760" cy="975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19492" y="4884001"/>
            <a:ext cx="3352800" cy="670560"/>
          </a:xfrm>
          <a:prstGeom prst="rect">
            <a:avLst/>
          </a:prstGeom>
        </p:spPr>
        <p:txBody>
          <a:bodyPr lIns="0" tIns="45720" rIns="0" bIns="45720">
            <a:noAutofit/>
          </a:bodyPr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  <a:lvl2pPr>
              <a:defRPr sz="1351"/>
            </a:lvl2pPr>
            <a:lvl3pPr>
              <a:defRPr sz="1351"/>
            </a:lvl3pPr>
            <a:lvl4pPr>
              <a:defRPr sz="1351"/>
            </a:lvl4pPr>
            <a:lvl5pPr>
              <a:defRPr sz="1351"/>
            </a:lvl5pPr>
          </a:lstStyle>
          <a:p>
            <a:pPr lvl="0"/>
            <a:r>
              <a:rPr lang="en-US" dirty="0"/>
              <a:t>Insert additional supporting text here.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4454227" y="4884001"/>
            <a:ext cx="3352800" cy="670560"/>
          </a:xfrm>
          <a:prstGeom prst="rect">
            <a:avLst/>
          </a:prstGeom>
        </p:spPr>
        <p:txBody>
          <a:bodyPr lIns="0" tIns="45720" rIns="0" bIns="45720">
            <a:noAutofit/>
          </a:bodyPr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  <a:lvl2pPr>
              <a:defRPr sz="1351"/>
            </a:lvl2pPr>
            <a:lvl3pPr>
              <a:defRPr sz="1351"/>
            </a:lvl3pPr>
            <a:lvl4pPr>
              <a:defRPr sz="1351"/>
            </a:lvl4pPr>
            <a:lvl5pPr>
              <a:defRPr sz="1351"/>
            </a:lvl5pPr>
          </a:lstStyle>
          <a:p>
            <a:pPr lvl="0"/>
            <a:r>
              <a:rPr lang="en-US" dirty="0"/>
              <a:t>Insert additional supporting text here.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88961" y="4884001"/>
            <a:ext cx="3352800" cy="670560"/>
          </a:xfrm>
          <a:prstGeom prst="rect">
            <a:avLst/>
          </a:prstGeom>
        </p:spPr>
        <p:txBody>
          <a:bodyPr lIns="0" tIns="45720" rIns="0" bIns="45720">
            <a:noAutofit/>
          </a:bodyPr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  <a:lvl2pPr>
              <a:defRPr sz="1351"/>
            </a:lvl2pPr>
            <a:lvl3pPr>
              <a:defRPr sz="1351"/>
            </a:lvl3pPr>
            <a:lvl4pPr>
              <a:defRPr sz="1351"/>
            </a:lvl4pPr>
            <a:lvl5pPr>
              <a:defRPr sz="1351"/>
            </a:lvl5pPr>
          </a:lstStyle>
          <a:p>
            <a:pPr lvl="0"/>
            <a:r>
              <a:rPr lang="en-US" dirty="0"/>
              <a:t>Insert additional supporting text here.</a:t>
            </a:r>
          </a:p>
        </p:txBody>
      </p:sp>
      <p:sp>
        <p:nvSpPr>
          <p:cNvPr id="8" name="Picture Placeholder 426"/>
          <p:cNvSpPr>
            <a:spLocks noGrp="1"/>
          </p:cNvSpPr>
          <p:nvPr>
            <p:ph type="pic" sz="quarter" idx="11"/>
          </p:nvPr>
        </p:nvSpPr>
        <p:spPr>
          <a:xfrm>
            <a:off x="8188961" y="1575182"/>
            <a:ext cx="3291840" cy="3086100"/>
          </a:xfrm>
          <a:prstGeom prst="rect">
            <a:avLst/>
          </a:prstGeom>
          <a:solidFill>
            <a:schemeClr val="bg1"/>
          </a:solidFill>
        </p:spPr>
        <p:txBody>
          <a:bodyPr tIns="1371600" bIns="0"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26"/>
          <p:cNvSpPr>
            <a:spLocks noGrp="1"/>
          </p:cNvSpPr>
          <p:nvPr>
            <p:ph type="pic" sz="quarter" idx="19"/>
          </p:nvPr>
        </p:nvSpPr>
        <p:spPr>
          <a:xfrm>
            <a:off x="719492" y="1575182"/>
            <a:ext cx="3291840" cy="3086100"/>
          </a:xfrm>
          <a:prstGeom prst="rect">
            <a:avLst/>
          </a:prstGeom>
          <a:solidFill>
            <a:schemeClr val="bg1"/>
          </a:solidFill>
        </p:spPr>
        <p:txBody>
          <a:bodyPr tIns="1371600" bIns="0"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Picture Placeholder 426"/>
          <p:cNvSpPr>
            <a:spLocks noGrp="1"/>
          </p:cNvSpPr>
          <p:nvPr>
            <p:ph type="pic" sz="quarter" idx="20"/>
          </p:nvPr>
        </p:nvSpPr>
        <p:spPr>
          <a:xfrm>
            <a:off x="4454227" y="1575182"/>
            <a:ext cx="3291840" cy="3086100"/>
          </a:xfrm>
          <a:prstGeom prst="rect">
            <a:avLst/>
          </a:prstGeom>
          <a:solidFill>
            <a:schemeClr val="bg1"/>
          </a:solidFill>
        </p:spPr>
        <p:txBody>
          <a:bodyPr tIns="1371600" bIns="0"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FAE8EAD7-73FF-4B51-ADDC-B10F6DEA2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8854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1F1A9D0-7535-7A4E-B470-24FA657D3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" t="5228" r="32561" b="-9808"/>
          <a:stretch/>
        </p:blipFill>
        <p:spPr>
          <a:xfrm>
            <a:off x="9554155" y="0"/>
            <a:ext cx="2637845" cy="299905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512AD6E-7A81-4D46-A4DC-BC3429D8CF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95" y="1044731"/>
            <a:ext cx="5852160" cy="2072640"/>
          </a:xfrm>
        </p:spPr>
        <p:txBody>
          <a:bodyPr anchor="b">
            <a:noAutofit/>
          </a:bodyPr>
          <a:lstStyle>
            <a:lvl1pPr>
              <a:defRPr lang="en-US" sz="4800" b="1" i="0" kern="1200" dirty="0">
                <a:solidFill>
                  <a:schemeClr val="tx1"/>
                </a:solidFill>
                <a:latin typeface="Arial" charset="0"/>
                <a:ea typeface="+mj-ea"/>
                <a:cs typeface="Arial" charset="0"/>
              </a:defRPr>
            </a:lvl1pPr>
          </a:lstStyle>
          <a:p>
            <a:r>
              <a:rPr lang="en-US" dirty="0"/>
              <a:t>Simple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658E4E-230D-8D43-99E8-0341ED808C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593" y="3010881"/>
            <a:ext cx="5852160" cy="20726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400" b="0" i="0" baseline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Introduction or Concept Slide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56DD9-E42C-4D4F-A871-F7A8E19C5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703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ke-Away Slide (Sub-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79120" y="234696"/>
            <a:ext cx="11033760" cy="975360"/>
          </a:xfrm>
        </p:spPr>
        <p:txBody>
          <a:bodyPr/>
          <a:lstStyle>
            <a:lvl1pPr>
              <a:defRPr sz="3200" baseline="0"/>
            </a:lvl1pPr>
          </a:lstStyle>
          <a:p>
            <a:r>
              <a:rPr lang="en-US" dirty="0"/>
              <a:t>Take-Away Slide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79120" y="1538984"/>
            <a:ext cx="11033760" cy="508723"/>
          </a:xfrm>
          <a:prstGeom prst="rect">
            <a:avLst/>
          </a:prstGeom>
          <a:noFill/>
        </p:spPr>
        <p:txBody>
          <a:bodyPr tIns="0" bIns="0" anchor="b">
            <a:noAutofit/>
          </a:bodyPr>
          <a:lstStyle>
            <a:lvl1pPr marL="0" indent="0">
              <a:spcBef>
                <a:spcPts val="800"/>
              </a:spcBef>
              <a:buNone/>
              <a:defRPr sz="3200" b="0">
                <a:solidFill>
                  <a:schemeClr val="accent1"/>
                </a:solidFill>
              </a:defRPr>
            </a:lvl1pPr>
          </a:lstStyle>
          <a:p>
            <a:r>
              <a:rPr lang="en-US" kern="0" dirty="0"/>
              <a:t>List item header text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579120" y="2101124"/>
            <a:ext cx="11033760" cy="562137"/>
          </a:xfrm>
          <a:prstGeom prst="rect">
            <a:avLst/>
          </a:prstGeom>
        </p:spPr>
        <p:txBody>
          <a:bodyPr lIns="91440" tIns="0" rIns="9144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lang="en-US" sz="2133" b="0" dirty="0">
                <a:solidFill>
                  <a:schemeClr val="tx1"/>
                </a:solidFill>
              </a:defRPr>
            </a:lvl1pPr>
            <a:lvl2pPr marL="171446" indent="-163509">
              <a:lnSpc>
                <a:spcPct val="150000"/>
              </a:lnSpc>
              <a:buFontTx/>
              <a:buBlip>
                <a:blip r:embed="rId2"/>
              </a:buBlip>
              <a:tabLst/>
              <a:defRPr sz="1800">
                <a:solidFill>
                  <a:srgbClr val="5D606C"/>
                </a:solidFill>
              </a:defRPr>
            </a:lvl2pPr>
            <a:lvl3pPr marL="461951" indent="-290506">
              <a:lnSpc>
                <a:spcPct val="150000"/>
              </a:lnSpc>
              <a:buFontTx/>
              <a:buBlip>
                <a:blip r:embed="rId3"/>
              </a:buBlip>
              <a:tabLst/>
              <a:defRPr sz="1800">
                <a:solidFill>
                  <a:srgbClr val="5D606C"/>
                </a:solidFill>
              </a:defRPr>
            </a:lvl3pPr>
            <a:lvl4pPr>
              <a:defRPr>
                <a:solidFill>
                  <a:srgbClr val="5D606C"/>
                </a:solidFill>
              </a:defRPr>
            </a:lvl4pPr>
            <a:lvl5pPr>
              <a:defRPr>
                <a:solidFill>
                  <a:srgbClr val="5D606C"/>
                </a:solidFill>
              </a:defRPr>
            </a:lvl5pPr>
          </a:lstStyle>
          <a:p>
            <a:pPr lvl="0"/>
            <a:r>
              <a:rPr lang="en-US" dirty="0"/>
              <a:t>List item subhead text style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do.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579120" y="3153729"/>
            <a:ext cx="11033760" cy="508723"/>
          </a:xfrm>
          <a:prstGeom prst="rect">
            <a:avLst/>
          </a:prstGeom>
          <a:noFill/>
        </p:spPr>
        <p:txBody>
          <a:bodyPr tIns="0" bIns="0" anchor="b">
            <a:noAutofit/>
          </a:bodyPr>
          <a:lstStyle>
            <a:lvl1pPr marL="0" indent="0">
              <a:spcBef>
                <a:spcPts val="800"/>
              </a:spcBef>
              <a:buNone/>
              <a:defRPr sz="3200" b="0">
                <a:solidFill>
                  <a:schemeClr val="accent1"/>
                </a:solidFill>
              </a:defRPr>
            </a:lvl1pPr>
          </a:lstStyle>
          <a:p>
            <a:r>
              <a:rPr lang="en-US" kern="0" dirty="0"/>
              <a:t>List item header text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579120" y="3705948"/>
            <a:ext cx="11033760" cy="562137"/>
          </a:xfrm>
          <a:prstGeom prst="rect">
            <a:avLst/>
          </a:prstGeom>
        </p:spPr>
        <p:txBody>
          <a:bodyPr lIns="91440" tIns="0" rIns="9144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lang="en-US" sz="2133" b="0" dirty="0">
                <a:solidFill>
                  <a:schemeClr val="tx1"/>
                </a:solidFill>
              </a:defRPr>
            </a:lvl1pPr>
            <a:lvl2pPr marL="171446" indent="-163509">
              <a:lnSpc>
                <a:spcPct val="150000"/>
              </a:lnSpc>
              <a:buFontTx/>
              <a:buBlip>
                <a:blip r:embed="rId2"/>
              </a:buBlip>
              <a:tabLst/>
              <a:defRPr sz="1800">
                <a:solidFill>
                  <a:srgbClr val="5D606C"/>
                </a:solidFill>
              </a:defRPr>
            </a:lvl2pPr>
            <a:lvl3pPr marL="461951" indent="-290506">
              <a:lnSpc>
                <a:spcPct val="150000"/>
              </a:lnSpc>
              <a:buFontTx/>
              <a:buBlip>
                <a:blip r:embed="rId3"/>
              </a:buBlip>
              <a:tabLst/>
              <a:defRPr sz="1800">
                <a:solidFill>
                  <a:srgbClr val="5D606C"/>
                </a:solidFill>
              </a:defRPr>
            </a:lvl3pPr>
            <a:lvl4pPr>
              <a:defRPr>
                <a:solidFill>
                  <a:srgbClr val="5D606C"/>
                </a:solidFill>
              </a:defRPr>
            </a:lvl4pPr>
            <a:lvl5pPr>
              <a:defRPr>
                <a:solidFill>
                  <a:srgbClr val="5D606C"/>
                </a:solidFill>
              </a:defRPr>
            </a:lvl5pPr>
          </a:lstStyle>
          <a:p>
            <a:pPr lvl="0"/>
            <a:r>
              <a:rPr lang="en-US" dirty="0"/>
              <a:t>List item subhead text style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do.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579120" y="4768475"/>
            <a:ext cx="11033760" cy="508723"/>
          </a:xfrm>
          <a:prstGeom prst="rect">
            <a:avLst/>
          </a:prstGeom>
          <a:noFill/>
        </p:spPr>
        <p:txBody>
          <a:bodyPr tIns="0" bIns="0" anchor="b">
            <a:noAutofit/>
          </a:bodyPr>
          <a:lstStyle>
            <a:lvl1pPr marL="0" indent="0">
              <a:spcBef>
                <a:spcPts val="800"/>
              </a:spcBef>
              <a:buNone/>
              <a:defRPr sz="3200" b="0">
                <a:solidFill>
                  <a:schemeClr val="accent1"/>
                </a:solidFill>
              </a:defRPr>
            </a:lvl1pPr>
          </a:lstStyle>
          <a:p>
            <a:r>
              <a:rPr lang="en-US" kern="0" dirty="0"/>
              <a:t>List item header text style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579120" y="5330614"/>
            <a:ext cx="11033760" cy="562137"/>
          </a:xfrm>
          <a:prstGeom prst="rect">
            <a:avLst/>
          </a:prstGeom>
        </p:spPr>
        <p:txBody>
          <a:bodyPr lIns="91440" tIns="0" rIns="9144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lang="en-US" sz="2133" b="0" dirty="0">
                <a:solidFill>
                  <a:schemeClr val="tx1"/>
                </a:solidFill>
              </a:defRPr>
            </a:lvl1pPr>
            <a:lvl2pPr marL="171446" indent="-163509">
              <a:lnSpc>
                <a:spcPct val="150000"/>
              </a:lnSpc>
              <a:buFontTx/>
              <a:buBlip>
                <a:blip r:embed="rId2"/>
              </a:buBlip>
              <a:tabLst/>
              <a:defRPr sz="1800">
                <a:solidFill>
                  <a:srgbClr val="5D606C"/>
                </a:solidFill>
              </a:defRPr>
            </a:lvl2pPr>
            <a:lvl3pPr marL="461951" indent="-290506">
              <a:lnSpc>
                <a:spcPct val="150000"/>
              </a:lnSpc>
              <a:buFontTx/>
              <a:buBlip>
                <a:blip r:embed="rId3"/>
              </a:buBlip>
              <a:tabLst/>
              <a:defRPr sz="1800">
                <a:solidFill>
                  <a:srgbClr val="5D606C"/>
                </a:solidFill>
              </a:defRPr>
            </a:lvl3pPr>
            <a:lvl4pPr>
              <a:defRPr>
                <a:solidFill>
                  <a:srgbClr val="5D606C"/>
                </a:solidFill>
              </a:defRPr>
            </a:lvl4pPr>
            <a:lvl5pPr>
              <a:defRPr>
                <a:solidFill>
                  <a:srgbClr val="5D606C"/>
                </a:solidFill>
              </a:defRPr>
            </a:lvl5pPr>
          </a:lstStyle>
          <a:p>
            <a:pPr lvl="0"/>
            <a:r>
              <a:rPr lang="en-US" dirty="0"/>
              <a:t>List item subhead text style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do.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85CF9FE-C680-4EF9-93E4-4AE6C0C3E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82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-Away Slide (Bulle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21B7EA41-46BF-B947-8230-37EB3728F5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119" y="234696"/>
            <a:ext cx="11033760" cy="975360"/>
          </a:xfrm>
        </p:spPr>
        <p:txBody>
          <a:bodyPr/>
          <a:lstStyle>
            <a:lvl1pPr>
              <a:defRPr sz="3200" baseline="0"/>
            </a:lvl1pPr>
          </a:lstStyle>
          <a:p>
            <a:r>
              <a:rPr lang="en-US" dirty="0"/>
              <a:t>Take-Away Slide with Bullets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D465602-9518-D549-819E-52FFB5D1AC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9119" y="1538984"/>
            <a:ext cx="11033760" cy="508723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>
              <a:spcBef>
                <a:spcPts val="800"/>
              </a:spcBef>
              <a:buNone/>
              <a:defRPr sz="2667" b="0">
                <a:solidFill>
                  <a:schemeClr val="accent1"/>
                </a:solidFill>
              </a:defRPr>
            </a:lvl1pPr>
          </a:lstStyle>
          <a:p>
            <a:r>
              <a:rPr lang="en-US" kern="0" dirty="0"/>
              <a:t>List item header text style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5273868-A160-3B46-8F69-A41EDF54BD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19" y="3151529"/>
            <a:ext cx="11033760" cy="508723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>
              <a:spcBef>
                <a:spcPts val="800"/>
              </a:spcBef>
              <a:buNone/>
              <a:defRPr sz="2667" b="0">
                <a:solidFill>
                  <a:schemeClr val="accent1"/>
                </a:solidFill>
              </a:defRPr>
            </a:lvl1pPr>
          </a:lstStyle>
          <a:p>
            <a:r>
              <a:rPr lang="en-US" kern="0" dirty="0"/>
              <a:t>List item header text style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165392-FF16-194E-BB96-47B05786B7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19" y="4763937"/>
            <a:ext cx="11033760" cy="508723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>
              <a:spcBef>
                <a:spcPts val="800"/>
              </a:spcBef>
              <a:buNone/>
              <a:defRPr sz="2667" b="0">
                <a:solidFill>
                  <a:schemeClr val="accent1"/>
                </a:solidFill>
              </a:defRPr>
            </a:lvl1pPr>
          </a:lstStyle>
          <a:p>
            <a:r>
              <a:rPr lang="en-US" kern="0" dirty="0"/>
              <a:t>List item header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9" hasCustomPrompt="1"/>
          </p:nvPr>
        </p:nvSpPr>
        <p:spPr>
          <a:xfrm>
            <a:off x="579120" y="2057639"/>
            <a:ext cx="11033760" cy="70961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24361" indent="-224361">
              <a:spcBef>
                <a:spcPts val="0"/>
              </a:spcBef>
              <a:spcAft>
                <a:spcPts val="800"/>
              </a:spcAft>
              <a:defRPr sz="1467" b="0"/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List item subhead text style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</a:t>
            </a:r>
          </a:p>
          <a:p>
            <a:pPr lvl="0"/>
            <a:r>
              <a:rPr lang="en-US" dirty="0"/>
              <a:t>List item subhead text style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do.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30" hasCustomPrompt="1"/>
          </p:nvPr>
        </p:nvSpPr>
        <p:spPr>
          <a:xfrm>
            <a:off x="579120" y="3669997"/>
            <a:ext cx="11033760" cy="70961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24361" indent="-224361">
              <a:spcBef>
                <a:spcPts val="0"/>
              </a:spcBef>
              <a:spcAft>
                <a:spcPts val="800"/>
              </a:spcAft>
              <a:defRPr sz="1467" b="0"/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List item subhead text style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</a:t>
            </a:r>
          </a:p>
          <a:p>
            <a:pPr lvl="0"/>
            <a:r>
              <a:rPr lang="en-US" dirty="0"/>
              <a:t>List item subhead text style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do.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31" hasCustomPrompt="1"/>
          </p:nvPr>
        </p:nvSpPr>
        <p:spPr>
          <a:xfrm>
            <a:off x="579120" y="5292979"/>
            <a:ext cx="11033760" cy="70961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24361" indent="-224361">
              <a:spcBef>
                <a:spcPts val="0"/>
              </a:spcBef>
              <a:spcAft>
                <a:spcPts val="800"/>
              </a:spcAft>
              <a:defRPr sz="1467" b="0"/>
            </a:lvl1pPr>
            <a:lvl2pPr marL="457189" indent="0">
              <a:buNone/>
              <a:defRPr/>
            </a:lvl2pPr>
          </a:lstStyle>
          <a:p>
            <a:pPr lvl="0"/>
            <a:r>
              <a:rPr lang="en-US" dirty="0"/>
              <a:t>List item subhead text style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</a:t>
            </a:r>
          </a:p>
          <a:p>
            <a:pPr lvl="0"/>
            <a:r>
              <a:rPr lang="en-US" dirty="0"/>
              <a:t>List item subhead text style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do.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C9E0876-1546-428F-B2BD-95AF544F9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613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560C60F-107D-4DE1-B85A-9A09B4392D7A}"/>
              </a:ext>
            </a:extLst>
          </p:cNvPr>
          <p:cNvGrpSpPr/>
          <p:nvPr userDrawn="1"/>
        </p:nvGrpSpPr>
        <p:grpSpPr>
          <a:xfrm>
            <a:off x="-2" y="-2"/>
            <a:ext cx="12192003" cy="6858003"/>
            <a:chOff x="-1" y="-1"/>
            <a:chExt cx="9144002" cy="51435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BC766D-079B-7A4B-BE7E-532A371851D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32413" r="-1240"/>
            <a:stretch/>
          </p:blipFill>
          <p:spPr>
            <a:xfrm>
              <a:off x="-1" y="-1"/>
              <a:ext cx="6293495" cy="5143500"/>
            </a:xfrm>
            <a:prstGeom prst="rect">
              <a:avLst/>
            </a:prstGeom>
          </p:spPr>
        </p:pic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A7A31F6-8FFD-1F4F-B6F5-36A687403725}"/>
                </a:ext>
              </a:extLst>
            </p:cNvPr>
            <p:cNvSpPr/>
            <p:nvPr userDrawn="1"/>
          </p:nvSpPr>
          <p:spPr>
            <a:xfrm rot="5400000">
              <a:off x="2000250" y="-2000250"/>
              <a:ext cx="5143501" cy="9144001"/>
            </a:xfrm>
            <a:custGeom>
              <a:avLst/>
              <a:gdLst>
                <a:gd name="connsiteX0" fmla="*/ 0 w 5143501"/>
                <a:gd name="connsiteY0" fmla="*/ 9144001 h 9144001"/>
                <a:gd name="connsiteX1" fmla="*/ 1 w 5143501"/>
                <a:gd name="connsiteY1" fmla="*/ 0 h 9144001"/>
                <a:gd name="connsiteX2" fmla="*/ 5143501 w 5143501"/>
                <a:gd name="connsiteY2" fmla="*/ 0 h 9144001"/>
                <a:gd name="connsiteX3" fmla="*/ 5143501 w 5143501"/>
                <a:gd name="connsiteY3" fmla="*/ 6557996 h 9144001"/>
                <a:gd name="connsiteX4" fmla="*/ 2571755 w 5143501"/>
                <a:gd name="connsiteY4" fmla="*/ 3986248 h 9144001"/>
                <a:gd name="connsiteX5" fmla="*/ 4 w 5143501"/>
                <a:gd name="connsiteY5" fmla="*/ 6557999 h 9144001"/>
                <a:gd name="connsiteX6" fmla="*/ 4 w 5143501"/>
                <a:gd name="connsiteY6" fmla="*/ 9144001 h 9144001"/>
                <a:gd name="connsiteX7" fmla="*/ 0 w 5143501"/>
                <a:gd name="connsiteY7" fmla="*/ 9144001 h 9144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43501" h="9144001">
                  <a:moveTo>
                    <a:pt x="0" y="9144001"/>
                  </a:moveTo>
                  <a:lnTo>
                    <a:pt x="1" y="0"/>
                  </a:lnTo>
                  <a:lnTo>
                    <a:pt x="5143501" y="0"/>
                  </a:lnTo>
                  <a:lnTo>
                    <a:pt x="5143501" y="6557996"/>
                  </a:lnTo>
                  <a:lnTo>
                    <a:pt x="2571755" y="3986248"/>
                  </a:lnTo>
                  <a:lnTo>
                    <a:pt x="4" y="6557999"/>
                  </a:lnTo>
                  <a:lnTo>
                    <a:pt x="4" y="9144001"/>
                  </a:lnTo>
                  <a:lnTo>
                    <a:pt x="0" y="914400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1BF435-565A-204D-9318-FB5F7C551F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21305693">
              <a:off x="568784" y="805923"/>
              <a:ext cx="2504055" cy="1835945"/>
            </a:xfrm>
            <a:prstGeom prst="rect">
              <a:avLst/>
            </a:prstGeom>
          </p:spPr>
        </p:pic>
      </p:grpSp>
      <p:sp>
        <p:nvSpPr>
          <p:cNvPr id="6" name="Freeform 5">
            <a:extLst>
              <a:ext uri="{FF2B5EF4-FFF2-40B4-BE49-F238E27FC236}">
                <a16:creationId xmlns:a16="http://schemas.microsoft.com/office/drawing/2014/main" id="{20AE3CDC-2653-DD4B-A914-7B331786B0F1}"/>
              </a:ext>
            </a:extLst>
          </p:cNvPr>
          <p:cNvSpPr/>
          <p:nvPr userDrawn="1"/>
        </p:nvSpPr>
        <p:spPr>
          <a:xfrm rot="5400000">
            <a:off x="-1704999" y="1705000"/>
            <a:ext cx="6858000" cy="3448008"/>
          </a:xfrm>
          <a:custGeom>
            <a:avLst/>
            <a:gdLst>
              <a:gd name="connsiteX0" fmla="*/ 0 w 5143500"/>
              <a:gd name="connsiteY0" fmla="*/ 2586006 h 2586006"/>
              <a:gd name="connsiteX1" fmla="*/ 0 w 5143500"/>
              <a:gd name="connsiteY1" fmla="*/ 2586005 h 2586006"/>
              <a:gd name="connsiteX2" fmla="*/ 5143497 w 5143500"/>
              <a:gd name="connsiteY2" fmla="*/ 2586005 h 2586006"/>
              <a:gd name="connsiteX3" fmla="*/ 5143497 w 5143500"/>
              <a:gd name="connsiteY3" fmla="*/ 0 h 2586006"/>
              <a:gd name="connsiteX4" fmla="*/ 5143500 w 5143500"/>
              <a:gd name="connsiteY4" fmla="*/ 3 h 2586006"/>
              <a:gd name="connsiteX5" fmla="*/ 5143500 w 5143500"/>
              <a:gd name="connsiteY5" fmla="*/ 2586006 h 2586006"/>
              <a:gd name="connsiteX6" fmla="*/ 0 w 5143500"/>
              <a:gd name="connsiteY6" fmla="*/ 2586006 h 2586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43500" h="2586006">
                <a:moveTo>
                  <a:pt x="0" y="2586006"/>
                </a:moveTo>
                <a:lnTo>
                  <a:pt x="0" y="2586005"/>
                </a:lnTo>
                <a:lnTo>
                  <a:pt x="5143497" y="2586005"/>
                </a:lnTo>
                <a:lnTo>
                  <a:pt x="5143497" y="0"/>
                </a:lnTo>
                <a:lnTo>
                  <a:pt x="5143500" y="3"/>
                </a:lnTo>
                <a:lnTo>
                  <a:pt x="5143500" y="2586006"/>
                </a:lnTo>
                <a:lnTo>
                  <a:pt x="0" y="258600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CFABB-2A44-F342-94FB-75C5A4C0D0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10425" y="2884733"/>
            <a:ext cx="4488804" cy="108853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8848C21-7BE8-984A-899A-5B7BAE47742E}"/>
              </a:ext>
            </a:extLst>
          </p:cNvPr>
          <p:cNvSpPr/>
          <p:nvPr userDrawn="1"/>
        </p:nvSpPr>
        <p:spPr>
          <a:xfrm>
            <a:off x="7185245" y="4891049"/>
            <a:ext cx="2595156" cy="656591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/>
          <a:p>
            <a:pPr lvl="0" indent="0" defTabSz="1219170">
              <a:lnSpc>
                <a:spcPct val="100000"/>
              </a:lnSpc>
              <a:spcBef>
                <a:spcPts val="1600"/>
              </a:spcBef>
              <a:buClr>
                <a:srgbClr val="FF0000"/>
              </a:buClr>
              <a:buSzPct val="90000"/>
              <a:buFont typeface="Calibri" panose="020F0502020204030204" pitchFamily="34" charset="0"/>
              <a:buNone/>
            </a:pPr>
            <a:r>
              <a:rPr lang="en-US" sz="3467" b="1" i="0" noProof="0" dirty="0">
                <a:solidFill>
                  <a:schemeClr val="bg1"/>
                </a:solidFill>
                <a:latin typeface="Arial" charset="0"/>
                <a:ea typeface="+mj-ea"/>
                <a:cs typeface="Arial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331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09600" y="6577015"/>
            <a:ext cx="1117600" cy="2444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fld id="{A5E8C2A6-B68F-4218-B0A1-7C53ECC6E713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09550"/>
            <a:ext cx="10972800" cy="56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6206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63041"/>
            <a:ext cx="10515600" cy="47594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tabLst>
                <a:tab pos="2627248" algn="l"/>
              </a:tabLs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&gt;&gt; </a:t>
            </a:r>
            <a:fld id="{626C978B-826E-438C-909A-E9C381D3FF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6901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63041"/>
            <a:ext cx="10515600" cy="47594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tabLst>
                <a:tab pos="2627248" algn="l"/>
              </a:tabLs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&gt;&gt; </a:t>
            </a:r>
            <a:fld id="{626C978B-826E-438C-909A-E9C381D3FF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73974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57B3CB1-5EBA-8948-BF2E-5B9E38D5A8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04000" y="2546713"/>
            <a:ext cx="5253400" cy="38517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2BB0D6E-75EE-DB4D-95F0-1E0A20F728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414" y="656115"/>
            <a:ext cx="1321445" cy="2681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D36CB97-8324-8440-AF83-FDCF5C83423C}"/>
              </a:ext>
            </a:extLst>
          </p:cNvPr>
          <p:cNvSpPr/>
          <p:nvPr userDrawn="1"/>
        </p:nvSpPr>
        <p:spPr>
          <a:xfrm>
            <a:off x="10210800" y="6119691"/>
            <a:ext cx="1752600" cy="6621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695751-8148-D44C-819F-19AC107A8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121" y="2700534"/>
            <a:ext cx="8945879" cy="975360"/>
          </a:xfrm>
        </p:spPr>
        <p:txBody>
          <a:bodyPr/>
          <a:lstStyle>
            <a:lvl1pPr>
              <a:defRPr sz="4400"/>
            </a:lvl1pPr>
          </a:lstStyle>
          <a:p>
            <a:pPr>
              <a:lnSpc>
                <a:spcPct val="85000"/>
              </a:lnSpc>
            </a:pPr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32" name="Name, Title, Date">
            <a:extLst>
              <a:ext uri="{FF2B5EF4-FFF2-40B4-BE49-F238E27FC236}">
                <a16:creationId xmlns:a16="http://schemas.microsoft.com/office/drawing/2014/main" id="{2396738D-B05F-FC45-B1A8-82AA1CB933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9121" y="4490866"/>
            <a:ext cx="7417990" cy="1092607"/>
          </a:xfrm>
        </p:spPr>
        <p:txBody>
          <a:bodyPr wrap="square">
            <a:spAutoFit/>
          </a:bodyPr>
          <a:lstStyle>
            <a:lvl1pPr marL="0" indent="0" algn="l">
              <a:spcBef>
                <a:spcPts val="300"/>
              </a:spcBef>
              <a:buNone/>
              <a:defRPr lang="en-US" sz="2000" b="0" i="0" kern="1200" baseline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Title</a:t>
            </a:r>
          </a:p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901214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121" y="304800"/>
            <a:ext cx="7421878" cy="9753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79120" y="1733296"/>
            <a:ext cx="7421879" cy="37531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C16CF1-E2E6-48D5-A44C-7C8249C74C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0944" y="381000"/>
            <a:ext cx="1941690" cy="117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8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1" y="304800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7010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1" y="304800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824BE7-9859-7240-83D5-846AECA2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1" y="1470401"/>
            <a:ext cx="11033760" cy="4632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4962" indent="-234962">
              <a:buSzPct val="80000"/>
              <a:buFont typeface="Webdings" panose="05030102010509060703" pitchFamily="18" charset="2"/>
              <a:buChar char=""/>
              <a:defRPr lang="en-US" dirty="0" smtClean="0"/>
            </a:lvl1pPr>
            <a:lvl2pPr marL="452989" indent="-220144">
              <a:buSzPct val="80000"/>
              <a:buFont typeface="Wingdings 3" panose="05040102010807070707" pitchFamily="18" charset="2"/>
              <a:buChar char=""/>
              <a:defRPr sz="2000"/>
            </a:lvl2pPr>
            <a:lvl3pPr marL="685835" indent="-232845">
              <a:buSzPct val="80000"/>
              <a:buFont typeface="Wingdings 3" panose="05040102010807070707" pitchFamily="18" charset="2"/>
              <a:buChar char="¬"/>
              <a:defRPr sz="1600"/>
            </a:lvl3pPr>
            <a:lvl4pPr marL="916563" indent="-230729">
              <a:buSzPct val="80000"/>
              <a:buFont typeface="Wingdings 3" panose="05040102010807070707" pitchFamily="18" charset="2"/>
              <a:buChar char="¬"/>
              <a:defRPr/>
            </a:lvl4pPr>
            <a:lvl5pPr marL="1138824" indent="-222262">
              <a:buSzPct val="80000"/>
              <a:buFont typeface="Wingdings 3" panose="05040102010807070707" pitchFamily="18" charset="2"/>
              <a:buChar char="¬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31619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1" y="304800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120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1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A8B06E9-672B-49AA-8789-D576D5680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4361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E2AE14-D6F3-42D2-A4A3-74BBE239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0944" y="381000"/>
            <a:ext cx="1941690" cy="117729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1320318-DA78-471F-8076-1A95C52545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807" y="3124200"/>
            <a:ext cx="11093827" cy="701040"/>
          </a:xfrm>
        </p:spPr>
        <p:txBody>
          <a:bodyPr anchor="b">
            <a:noAutofit/>
          </a:bodyPr>
          <a:lstStyle>
            <a:lvl1pPr>
              <a:defRPr lang="en-US" sz="4201" b="1" i="0" kern="1200" dirty="0">
                <a:solidFill>
                  <a:schemeClr val="bg1"/>
                </a:solidFill>
                <a:latin typeface="Arial" charset="0"/>
                <a:ea typeface="+mj-ea"/>
                <a:cs typeface="Arial" charset="0"/>
              </a:defRPr>
            </a:lvl1pPr>
          </a:lstStyle>
          <a:p>
            <a:r>
              <a:rPr lang="en-US" dirty="0"/>
              <a:t>Simple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D42470-3AEB-A94C-96B8-18E2C7C25164}"/>
              </a:ext>
            </a:extLst>
          </p:cNvPr>
          <p:cNvSpPr/>
          <p:nvPr userDrawn="1"/>
        </p:nvSpPr>
        <p:spPr>
          <a:xfrm>
            <a:off x="10058400" y="6109945"/>
            <a:ext cx="1752600" cy="662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35D3FD-B992-1F41-849B-4E9534CAB9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856" y="6441000"/>
            <a:ext cx="975225" cy="197921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E052772-3EFC-D34C-AA1A-1135DE3C5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bg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14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with Pictur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E2AE14-D6F3-42D2-A4A3-74BBE239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0944" y="381000"/>
            <a:ext cx="1941690" cy="117729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512AD6E-7A81-4D46-A4DC-BC3429D8CF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807" y="3124200"/>
            <a:ext cx="5514793" cy="701040"/>
          </a:xfrm>
        </p:spPr>
        <p:txBody>
          <a:bodyPr anchor="b">
            <a:noAutofit/>
          </a:bodyPr>
          <a:lstStyle>
            <a:lvl1pPr>
              <a:defRPr lang="en-US" sz="4201" b="1" i="0" kern="1200" dirty="0">
                <a:solidFill>
                  <a:schemeClr val="bg1"/>
                </a:solidFill>
                <a:latin typeface="Arial" charset="0"/>
                <a:ea typeface="+mj-ea"/>
                <a:cs typeface="Arial" charset="0"/>
              </a:defRPr>
            </a:lvl1pPr>
          </a:lstStyle>
          <a:p>
            <a:r>
              <a:rPr lang="en-US" dirty="0"/>
              <a:t>Simple Statement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89EAEFDD-B284-E94B-8F1D-D7E1627370F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81768" y="1558290"/>
            <a:ext cx="4457700" cy="3741422"/>
          </a:xfrm>
          <a:prstGeom prst="rect">
            <a:avLst/>
          </a:prstGeom>
          <a:noFill/>
        </p:spPr>
        <p:txBody>
          <a:bodyPr vert="horz" lIns="91440" tIns="1371600" rIns="91440" bIns="0" rtlCol="0" anchor="ctr" anchorCtr="0">
            <a:noAutofit/>
          </a:bodyPr>
          <a:lstStyle>
            <a:lvl1pPr marL="309026" indent="-309026" algn="ctr">
              <a:buNone/>
              <a:defRPr lang="en-US" sz="1867" dirty="0">
                <a:solidFill>
                  <a:schemeClr val="bg1"/>
                </a:solidFill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ct val="100000"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E7C71-1267-7F46-A82A-631E19E556BC}"/>
              </a:ext>
            </a:extLst>
          </p:cNvPr>
          <p:cNvSpPr/>
          <p:nvPr userDrawn="1"/>
        </p:nvSpPr>
        <p:spPr>
          <a:xfrm>
            <a:off x="10058400" y="6109945"/>
            <a:ext cx="1752600" cy="662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667D16-E95F-F440-8D2D-18A462CF21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856" y="6441000"/>
            <a:ext cx="975225" cy="197921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B8CD8B4-2837-BA4D-9DA4-67F8481F1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bg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5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0434C-4CE7-42D1-965D-0265C29B04F3}"/>
              </a:ext>
            </a:extLst>
          </p:cNvPr>
          <p:cNvGrpSpPr/>
          <p:nvPr/>
        </p:nvGrpSpPr>
        <p:grpSpPr>
          <a:xfrm>
            <a:off x="640118" y="3425008"/>
            <a:ext cx="5608321" cy="1019992"/>
            <a:chOff x="480089" y="2568756"/>
            <a:chExt cx="4206240" cy="76499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88497C-C551-4465-9953-8BC43D9E0208}"/>
                </a:ext>
              </a:extLst>
            </p:cNvPr>
            <p:cNvSpPr/>
            <p:nvPr/>
          </p:nvSpPr>
          <p:spPr>
            <a:xfrm>
              <a:off x="480089" y="2841307"/>
              <a:ext cx="4206240" cy="4924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r>
                <a:rPr lang="en-US" sz="4800" b="1" spc="100" dirty="0">
                  <a:solidFill>
                    <a:schemeClr val="bg1"/>
                  </a:solidFill>
                </a:rPr>
                <a:t>Thank You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F6007A-E1A7-46F3-B830-C81E32C3CF47}"/>
                </a:ext>
              </a:extLst>
            </p:cNvPr>
            <p:cNvCxnSpPr>
              <a:cxnSpLocks/>
            </p:cNvCxnSpPr>
            <p:nvPr/>
          </p:nvCxnSpPr>
          <p:spPr>
            <a:xfrm>
              <a:off x="520059" y="2568756"/>
              <a:ext cx="825801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39F4C22-7CBE-4004-AC0C-D9091BDDF3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04000" y="2546713"/>
            <a:ext cx="5253400" cy="3851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35D3FD-B992-1F41-849B-4E9534CAB9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5480" y="2457303"/>
            <a:ext cx="2331726" cy="4732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2EA454-74F4-0847-8EA2-1E94A436814E}"/>
              </a:ext>
            </a:extLst>
          </p:cNvPr>
          <p:cNvSpPr/>
          <p:nvPr userDrawn="1"/>
        </p:nvSpPr>
        <p:spPr>
          <a:xfrm>
            <a:off x="10058400" y="6109945"/>
            <a:ext cx="1752600" cy="662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95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ilinx Mission Statement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70BA53-DDA7-4989-871D-4C13A03CF2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39" b="656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0434C-4CE7-42D1-965D-0265C29B04F3}"/>
              </a:ext>
            </a:extLst>
          </p:cNvPr>
          <p:cNvGrpSpPr/>
          <p:nvPr/>
        </p:nvGrpSpPr>
        <p:grpSpPr>
          <a:xfrm>
            <a:off x="587021" y="3276599"/>
            <a:ext cx="8658579" cy="1305108"/>
            <a:chOff x="440266" y="2597168"/>
            <a:chExt cx="6493934" cy="9788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88497C-C551-4465-9953-8BC43D9E0208}"/>
                </a:ext>
              </a:extLst>
            </p:cNvPr>
            <p:cNvSpPr/>
            <p:nvPr/>
          </p:nvSpPr>
          <p:spPr>
            <a:xfrm>
              <a:off x="440266" y="3083556"/>
              <a:ext cx="6493934" cy="4924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>
                <a:spcAft>
                  <a:spcPts val="800"/>
                </a:spcAft>
              </a:pPr>
              <a:r>
                <a:rPr lang="en-US" sz="3801" b="1" spc="100" dirty="0">
                  <a:solidFill>
                    <a:schemeClr val="bg1"/>
                  </a:solidFill>
                </a:rPr>
                <a:t>Building</a:t>
              </a:r>
              <a:r>
                <a:rPr lang="en-US" sz="3801" b="1" spc="100" baseline="0" dirty="0">
                  <a:solidFill>
                    <a:schemeClr val="bg1"/>
                  </a:solidFill>
                </a:rPr>
                <a:t> the Adaptable,</a:t>
              </a:r>
            </a:p>
            <a:p>
              <a:pPr>
                <a:spcAft>
                  <a:spcPts val="800"/>
                </a:spcAft>
              </a:pPr>
              <a:r>
                <a:rPr lang="en-US" sz="3801" b="1" spc="100" baseline="0" dirty="0">
                  <a:solidFill>
                    <a:schemeClr val="accent1"/>
                  </a:solidFill>
                </a:rPr>
                <a:t>Intelligent World</a:t>
              </a:r>
              <a:endParaRPr lang="en-US" sz="3801" b="1" spc="100" dirty="0">
                <a:solidFill>
                  <a:schemeClr val="accent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F6007A-E1A7-46F3-B830-C81E32C3CF47}"/>
                </a:ext>
              </a:extLst>
            </p:cNvPr>
            <p:cNvCxnSpPr>
              <a:cxnSpLocks/>
            </p:cNvCxnSpPr>
            <p:nvPr/>
          </p:nvCxnSpPr>
          <p:spPr>
            <a:xfrm>
              <a:off x="520059" y="2597168"/>
              <a:ext cx="825801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E88497C-C551-4465-9953-8BC43D9E0208}"/>
              </a:ext>
            </a:extLst>
          </p:cNvPr>
          <p:cNvSpPr/>
          <p:nvPr userDrawn="1"/>
        </p:nvSpPr>
        <p:spPr>
          <a:xfrm>
            <a:off x="640118" y="2295751"/>
            <a:ext cx="6599179" cy="656591"/>
          </a:xfrm>
          <a:prstGeom prst="rect">
            <a:avLst/>
          </a:prstGeom>
        </p:spPr>
        <p:txBody>
          <a:bodyPr vert="horz" lIns="91464" tIns="45732" rIns="91464" bIns="45732" rtlCol="0" anchor="ctr">
            <a:noAutofit/>
          </a:bodyPr>
          <a:lstStyle/>
          <a:p>
            <a:pPr>
              <a:spcAft>
                <a:spcPts val="800"/>
              </a:spcAft>
            </a:pPr>
            <a:r>
              <a:rPr lang="en-US" sz="3801" b="1" spc="100" dirty="0">
                <a:solidFill>
                  <a:schemeClr val="bg1"/>
                </a:solidFill>
              </a:rPr>
              <a:t>Xilinx Mission</a:t>
            </a:r>
            <a:endParaRPr lang="en-US" sz="3801" b="1" spc="1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19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63040"/>
            <a:ext cx="10515600" cy="47594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tabLst>
                <a:tab pos="2627313" algn="l"/>
              </a:tabLs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&gt;&gt; </a:t>
            </a:r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32384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234696"/>
            <a:ext cx="11033760" cy="975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79121" y="1463040"/>
            <a:ext cx="11032913" cy="463296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67664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57B3CB1-5EBA-8948-BF2E-5B9E38D5A8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04000" y="2546713"/>
            <a:ext cx="5253400" cy="38517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2BB0D6E-75EE-DB4D-95F0-1E0A20F728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414" y="656115"/>
            <a:ext cx="1321445" cy="2681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D36CB97-8324-8440-AF83-FDCF5C83423C}"/>
              </a:ext>
            </a:extLst>
          </p:cNvPr>
          <p:cNvSpPr/>
          <p:nvPr userDrawn="1"/>
        </p:nvSpPr>
        <p:spPr>
          <a:xfrm>
            <a:off x="10210800" y="6119691"/>
            <a:ext cx="1752600" cy="6621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2695751-8148-D44C-819F-19AC107A8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121" y="2700534"/>
            <a:ext cx="8945879" cy="975360"/>
          </a:xfrm>
        </p:spPr>
        <p:txBody>
          <a:bodyPr/>
          <a:lstStyle>
            <a:lvl1pPr>
              <a:defRPr sz="4400"/>
            </a:lvl1pPr>
          </a:lstStyle>
          <a:p>
            <a:pPr>
              <a:lnSpc>
                <a:spcPct val="85000"/>
              </a:lnSpc>
            </a:pPr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32" name="Name, Title, Date">
            <a:extLst>
              <a:ext uri="{FF2B5EF4-FFF2-40B4-BE49-F238E27FC236}">
                <a16:creationId xmlns:a16="http://schemas.microsoft.com/office/drawing/2014/main" id="{2396738D-B05F-FC45-B1A8-82AA1CB933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79121" y="4490866"/>
            <a:ext cx="7417990" cy="1092607"/>
          </a:xfrm>
        </p:spPr>
        <p:txBody>
          <a:bodyPr wrap="square">
            <a:spAutoFit/>
          </a:bodyPr>
          <a:lstStyle>
            <a:lvl1pPr marL="0" indent="0" algn="l">
              <a:spcBef>
                <a:spcPts val="300"/>
              </a:spcBef>
              <a:buNone/>
              <a:defRPr lang="en-US" sz="2000" b="0" i="0" kern="1200" baseline="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Title</a:t>
            </a:r>
          </a:p>
          <a:p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27092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121" y="304800"/>
            <a:ext cx="7421878" cy="9753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79120" y="1733296"/>
            <a:ext cx="7421879" cy="37531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C16CF1-E2E6-48D5-A44C-7C8249C74C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0944" y="381000"/>
            <a:ext cx="1941690" cy="117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48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1" y="304800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3436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AD77-0876-4647-97DC-D93085BB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1" y="304800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0F2BAF-0E03-9146-9CEF-EF57A7048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824BE7-9859-7240-83D5-846AECA2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1" y="1470401"/>
            <a:ext cx="11033760" cy="4632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4962" indent="-234962">
              <a:buSzPct val="80000"/>
              <a:buFont typeface="Webdings" panose="05030102010509060703" pitchFamily="18" charset="2"/>
              <a:buChar char=""/>
              <a:defRPr lang="en-US" dirty="0" smtClean="0"/>
            </a:lvl1pPr>
            <a:lvl2pPr marL="452989" indent="-220144">
              <a:buSzPct val="80000"/>
              <a:buFont typeface="Wingdings 3" panose="05040102010807070707" pitchFamily="18" charset="2"/>
              <a:buChar char=""/>
              <a:defRPr sz="2000"/>
            </a:lvl2pPr>
            <a:lvl3pPr marL="685835" indent="-232845">
              <a:buSzPct val="80000"/>
              <a:buFont typeface="Wingdings 3" panose="05040102010807070707" pitchFamily="18" charset="2"/>
              <a:buChar char="¬"/>
              <a:defRPr sz="1600"/>
            </a:lvl3pPr>
            <a:lvl4pPr marL="916563" indent="-230729">
              <a:buSzPct val="80000"/>
              <a:buFont typeface="Wingdings 3" panose="05040102010807070707" pitchFamily="18" charset="2"/>
              <a:buChar char="¬"/>
              <a:defRPr/>
            </a:lvl4pPr>
            <a:lvl5pPr marL="1138824" indent="-222262">
              <a:buSzPct val="80000"/>
              <a:buFont typeface="Wingdings 3" panose="05040102010807070707" pitchFamily="18" charset="2"/>
              <a:buChar char="¬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953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1" y="304800"/>
            <a:ext cx="11033760" cy="975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120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1" y="1463041"/>
            <a:ext cx="5364480" cy="463296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A8B06E9-672B-49AA-8789-D576D5680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1" y="0"/>
            <a:ext cx="12192000" cy="85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343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E2AE14-D6F3-42D2-A4A3-74BBE239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0944" y="381000"/>
            <a:ext cx="1941690" cy="117729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1320318-DA78-471F-8076-1A95C52545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807" y="3124200"/>
            <a:ext cx="11093827" cy="701040"/>
          </a:xfrm>
        </p:spPr>
        <p:txBody>
          <a:bodyPr anchor="b">
            <a:noAutofit/>
          </a:bodyPr>
          <a:lstStyle>
            <a:lvl1pPr>
              <a:defRPr lang="en-US" sz="4201" b="1" i="0" kern="1200" dirty="0">
                <a:solidFill>
                  <a:schemeClr val="bg1"/>
                </a:solidFill>
                <a:latin typeface="Arial" charset="0"/>
                <a:ea typeface="+mj-ea"/>
                <a:cs typeface="Arial" charset="0"/>
              </a:defRPr>
            </a:lvl1pPr>
          </a:lstStyle>
          <a:p>
            <a:r>
              <a:rPr lang="en-US" dirty="0"/>
              <a:t>Simple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D42470-3AEB-A94C-96B8-18E2C7C25164}"/>
              </a:ext>
            </a:extLst>
          </p:cNvPr>
          <p:cNvSpPr/>
          <p:nvPr userDrawn="1"/>
        </p:nvSpPr>
        <p:spPr>
          <a:xfrm>
            <a:off x="10058400" y="6109945"/>
            <a:ext cx="1752600" cy="662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35D3FD-B992-1F41-849B-4E9534CAB9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856" y="6441000"/>
            <a:ext cx="975225" cy="197921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E052772-3EFC-D34C-AA1A-1135DE3C5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bg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with Pictur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E2AE14-D6F3-42D2-A4A3-74BBE239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80944" y="381000"/>
            <a:ext cx="1941690" cy="117729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512AD6E-7A81-4D46-A4DC-BC3429D8CF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807" y="3124200"/>
            <a:ext cx="5514793" cy="701040"/>
          </a:xfrm>
        </p:spPr>
        <p:txBody>
          <a:bodyPr anchor="b">
            <a:noAutofit/>
          </a:bodyPr>
          <a:lstStyle>
            <a:lvl1pPr>
              <a:defRPr lang="en-US" sz="4201" b="1" i="0" kern="1200" dirty="0">
                <a:solidFill>
                  <a:schemeClr val="bg1"/>
                </a:solidFill>
                <a:latin typeface="Arial" charset="0"/>
                <a:ea typeface="+mj-ea"/>
                <a:cs typeface="Arial" charset="0"/>
              </a:defRPr>
            </a:lvl1pPr>
          </a:lstStyle>
          <a:p>
            <a:r>
              <a:rPr lang="en-US" dirty="0"/>
              <a:t>Simple Statement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89EAEFDD-B284-E94B-8F1D-D7E1627370F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81768" y="1558290"/>
            <a:ext cx="4457700" cy="3741422"/>
          </a:xfrm>
          <a:prstGeom prst="rect">
            <a:avLst/>
          </a:prstGeom>
          <a:noFill/>
        </p:spPr>
        <p:txBody>
          <a:bodyPr vert="horz" lIns="91440" tIns="1371600" rIns="91440" bIns="0" rtlCol="0" anchor="ctr" anchorCtr="0">
            <a:noAutofit/>
          </a:bodyPr>
          <a:lstStyle>
            <a:lvl1pPr marL="309026" indent="-309026" algn="ctr">
              <a:buNone/>
              <a:defRPr lang="en-US" sz="1867" dirty="0">
                <a:solidFill>
                  <a:schemeClr val="bg1"/>
                </a:solidFill>
              </a:defRPr>
            </a:lvl1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ct val="100000"/>
              <a:tabLst/>
              <a:defRPr/>
            </a:pPr>
            <a:r>
              <a:rPr lang="en-US" dirty="0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E7C71-1267-7F46-A82A-631E19E556BC}"/>
              </a:ext>
            </a:extLst>
          </p:cNvPr>
          <p:cNvSpPr/>
          <p:nvPr userDrawn="1"/>
        </p:nvSpPr>
        <p:spPr>
          <a:xfrm>
            <a:off x="10058400" y="6109945"/>
            <a:ext cx="1752600" cy="662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667D16-E95F-F440-8D2D-18A462CF21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856" y="6441000"/>
            <a:ext cx="975225" cy="197921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B8CD8B4-2837-BA4D-9DA4-67F8481F1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bg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46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0434C-4CE7-42D1-965D-0265C29B04F3}"/>
              </a:ext>
            </a:extLst>
          </p:cNvPr>
          <p:cNvGrpSpPr/>
          <p:nvPr/>
        </p:nvGrpSpPr>
        <p:grpSpPr>
          <a:xfrm>
            <a:off x="640118" y="3425008"/>
            <a:ext cx="5608321" cy="1019992"/>
            <a:chOff x="480089" y="2568756"/>
            <a:chExt cx="4206240" cy="76499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88497C-C551-4465-9953-8BC43D9E0208}"/>
                </a:ext>
              </a:extLst>
            </p:cNvPr>
            <p:cNvSpPr/>
            <p:nvPr/>
          </p:nvSpPr>
          <p:spPr>
            <a:xfrm>
              <a:off x="480089" y="2841307"/>
              <a:ext cx="4206240" cy="4924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r>
                <a:rPr lang="en-US" sz="4800" b="1" spc="100" dirty="0">
                  <a:solidFill>
                    <a:schemeClr val="bg1"/>
                  </a:solidFill>
                </a:rPr>
                <a:t>Thank You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F6007A-E1A7-46F3-B830-C81E32C3CF47}"/>
                </a:ext>
              </a:extLst>
            </p:cNvPr>
            <p:cNvCxnSpPr>
              <a:cxnSpLocks/>
            </p:cNvCxnSpPr>
            <p:nvPr/>
          </p:nvCxnSpPr>
          <p:spPr>
            <a:xfrm>
              <a:off x="520059" y="2568756"/>
              <a:ext cx="825801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39F4C22-7CBE-4004-AC0C-D9091BDDF3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04000" y="2546713"/>
            <a:ext cx="5253400" cy="3851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35D3FD-B992-1F41-849B-4E9534CAB9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5480" y="2457303"/>
            <a:ext cx="2331726" cy="4732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2EA454-74F4-0847-8EA2-1E94A436814E}"/>
              </a:ext>
            </a:extLst>
          </p:cNvPr>
          <p:cNvSpPr/>
          <p:nvPr userDrawn="1"/>
        </p:nvSpPr>
        <p:spPr>
          <a:xfrm>
            <a:off x="10058400" y="6109945"/>
            <a:ext cx="1752600" cy="6621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05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ilinx Mission Statement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70BA53-DDA7-4989-871D-4C13A03CF2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39" b="656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2F0434C-4CE7-42D1-965D-0265C29B04F3}"/>
              </a:ext>
            </a:extLst>
          </p:cNvPr>
          <p:cNvGrpSpPr/>
          <p:nvPr/>
        </p:nvGrpSpPr>
        <p:grpSpPr>
          <a:xfrm>
            <a:off x="587021" y="3276599"/>
            <a:ext cx="8658579" cy="1305108"/>
            <a:chOff x="440266" y="2597168"/>
            <a:chExt cx="6493934" cy="97883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88497C-C551-4465-9953-8BC43D9E0208}"/>
                </a:ext>
              </a:extLst>
            </p:cNvPr>
            <p:cNvSpPr/>
            <p:nvPr/>
          </p:nvSpPr>
          <p:spPr>
            <a:xfrm>
              <a:off x="440266" y="3083556"/>
              <a:ext cx="6493934" cy="4924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>
                <a:spcAft>
                  <a:spcPts val="800"/>
                </a:spcAft>
              </a:pPr>
              <a:r>
                <a:rPr lang="en-US" sz="3801" b="1" spc="100" dirty="0">
                  <a:solidFill>
                    <a:schemeClr val="bg1"/>
                  </a:solidFill>
                </a:rPr>
                <a:t>Building</a:t>
              </a:r>
              <a:r>
                <a:rPr lang="en-US" sz="3801" b="1" spc="100" baseline="0" dirty="0">
                  <a:solidFill>
                    <a:schemeClr val="bg1"/>
                  </a:solidFill>
                </a:rPr>
                <a:t> the Adaptable,</a:t>
              </a:r>
            </a:p>
            <a:p>
              <a:pPr>
                <a:spcAft>
                  <a:spcPts val="800"/>
                </a:spcAft>
              </a:pPr>
              <a:r>
                <a:rPr lang="en-US" sz="3801" b="1" spc="100" baseline="0" dirty="0">
                  <a:solidFill>
                    <a:schemeClr val="accent1"/>
                  </a:solidFill>
                </a:rPr>
                <a:t>Intelligent World</a:t>
              </a:r>
              <a:endParaRPr lang="en-US" sz="3801" b="1" spc="100" dirty="0">
                <a:solidFill>
                  <a:schemeClr val="accent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F6007A-E1A7-46F3-B830-C81E32C3CF47}"/>
                </a:ext>
              </a:extLst>
            </p:cNvPr>
            <p:cNvCxnSpPr>
              <a:cxnSpLocks/>
            </p:cNvCxnSpPr>
            <p:nvPr/>
          </p:nvCxnSpPr>
          <p:spPr>
            <a:xfrm>
              <a:off x="520059" y="2597168"/>
              <a:ext cx="825801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E88497C-C551-4465-9953-8BC43D9E0208}"/>
              </a:ext>
            </a:extLst>
          </p:cNvPr>
          <p:cNvSpPr/>
          <p:nvPr userDrawn="1"/>
        </p:nvSpPr>
        <p:spPr>
          <a:xfrm>
            <a:off x="640118" y="2295751"/>
            <a:ext cx="6599179" cy="656591"/>
          </a:xfrm>
          <a:prstGeom prst="rect">
            <a:avLst/>
          </a:prstGeom>
        </p:spPr>
        <p:txBody>
          <a:bodyPr vert="horz" lIns="91464" tIns="45732" rIns="91464" bIns="45732" rtlCol="0" anchor="ctr">
            <a:noAutofit/>
          </a:bodyPr>
          <a:lstStyle/>
          <a:p>
            <a:pPr>
              <a:spcAft>
                <a:spcPts val="800"/>
              </a:spcAft>
            </a:pPr>
            <a:r>
              <a:rPr lang="en-US" sz="3801" b="1" spc="100" dirty="0">
                <a:solidFill>
                  <a:schemeClr val="bg1"/>
                </a:solidFill>
              </a:rPr>
              <a:t>Xilinx Mission</a:t>
            </a:r>
            <a:endParaRPr lang="en-US" sz="3801" b="1" spc="10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94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63040"/>
            <a:ext cx="10515600" cy="47594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tabLst>
                <a:tab pos="2627313" algn="l"/>
              </a:tabLs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&gt;&gt; </a:t>
            </a:r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524697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234696"/>
            <a:ext cx="11033760" cy="9753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79121" y="1463040"/>
            <a:ext cx="11032913" cy="463296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95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9121" y="234696"/>
            <a:ext cx="11033760" cy="97536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1" y="1470401"/>
            <a:ext cx="11033760" cy="4632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11B427-4F75-48FE-A5EE-29C3483DAA24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637520" y="6440992"/>
            <a:ext cx="975360" cy="197928"/>
          </a:xfrm>
          <a:prstGeom prst="rect">
            <a:avLst/>
          </a:prstGeom>
        </p:spPr>
      </p:pic>
      <p:sp>
        <p:nvSpPr>
          <p:cNvPr id="7" name="fc" descr="© Copyright 2020 Xilinx">
            <a:extLst>
              <a:ext uri="{FF2B5EF4-FFF2-40B4-BE49-F238E27FC236}">
                <a16:creationId xmlns:a16="http://schemas.microsoft.com/office/drawing/2014/main" id="{B7BEBD04-5696-47AC-AEA0-09A9EF3F000D}"/>
              </a:ext>
            </a:extLst>
          </p:cNvPr>
          <p:cNvSpPr txBox="1"/>
          <p:nvPr userDrawn="1"/>
        </p:nvSpPr>
        <p:spPr>
          <a:xfrm>
            <a:off x="0" y="651510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E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2020 Xilinx</a:t>
            </a:r>
          </a:p>
        </p:txBody>
      </p:sp>
    </p:spTree>
    <p:extLst>
      <p:ext uri="{BB962C8B-B14F-4D97-AF65-F5344CB8AC3E}">
        <p14:creationId xmlns:p14="http://schemas.microsoft.com/office/powerpoint/2010/main" val="386889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3" r:id="rId2"/>
    <p:sldLayoutId id="2147483979" r:id="rId3"/>
    <p:sldLayoutId id="2147483973" r:id="rId4"/>
    <p:sldLayoutId id="2147483938" r:id="rId5"/>
    <p:sldLayoutId id="2147483961" r:id="rId6"/>
    <p:sldLayoutId id="2147483982" r:id="rId7"/>
    <p:sldLayoutId id="2147483964" r:id="rId8"/>
    <p:sldLayoutId id="214748397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45" rtl="0" eaLnBrk="1" latinLnBrk="0" hangingPunct="1">
        <a:lnSpc>
          <a:spcPct val="90000"/>
        </a:lnSpc>
        <a:spcBef>
          <a:spcPct val="0"/>
        </a:spcBef>
        <a:buNone/>
        <a:defRPr lang="en-US" sz="3200" b="1" i="0" kern="1200" dirty="0" smtClean="0">
          <a:solidFill>
            <a:schemeClr val="tx1"/>
          </a:solidFill>
          <a:latin typeface="Arial" charset="0"/>
          <a:ea typeface="+mj-ea"/>
          <a:cs typeface="Arial" charset="0"/>
        </a:defRPr>
      </a:lvl1pPr>
    </p:titleStyle>
    <p:bodyStyle>
      <a:lvl1pPr marL="234962" indent="-234962" algn="l" defTabSz="1219261" rtl="0" eaLnBrk="1" latinLnBrk="0" hangingPunct="1">
        <a:lnSpc>
          <a:spcPct val="100000"/>
        </a:lnSpc>
        <a:spcBef>
          <a:spcPts val="1600"/>
        </a:spcBef>
        <a:buClr>
          <a:schemeClr val="accent1"/>
        </a:buClr>
        <a:buSzPct val="80000"/>
        <a:buFont typeface="Webdings" panose="05030102010509060703" pitchFamily="18" charset="2"/>
        <a:buChar char="4"/>
        <a:defRPr lang="en-US" sz="2400" b="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2989" indent="-220144" algn="l" defTabSz="914445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SzPct val="80000"/>
        <a:buFont typeface="Wingdings 3" panose="05040102010807070707" pitchFamily="18" charset="2"/>
        <a:buChar char="¬"/>
        <a:defRPr lang="en-US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5835" indent="-232845" algn="l" defTabSz="914445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80000"/>
        <a:buFont typeface="Wingdings 3" panose="05040102010807070707" pitchFamily="18" charset="2"/>
        <a:buChar char="¬"/>
        <a:defRPr lang="en-US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6563" indent="-230729" algn="l" defTabSz="914445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80000"/>
        <a:buFont typeface="Wingdings 3" panose="05040102010807070707" pitchFamily="18" charset="2"/>
        <a:buChar char="¬"/>
        <a:defRPr lang="en-US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38824" indent="-222262" algn="l" defTabSz="914445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80000"/>
        <a:buFont typeface="Wingdings 3" panose="05040102010807070707" pitchFamily="18" charset="2"/>
        <a:buChar char="¬"/>
        <a:tabLst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725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5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176" userDrawn="1">
          <p15:clr>
            <a:srgbClr val="F26B43"/>
          </p15:clr>
        </p15:guide>
        <p15:guide id="4" pos="448" userDrawn="1">
          <p15:clr>
            <a:srgbClr val="F26B43"/>
          </p15:clr>
        </p15:guide>
        <p15:guide id="5" pos="7232" userDrawn="1">
          <p15:clr>
            <a:srgbClr val="F26B43"/>
          </p15:clr>
        </p15:guide>
        <p15:guide id="6" orient="horz" pos="208" userDrawn="1">
          <p15:clr>
            <a:srgbClr val="F26B43"/>
          </p15:clr>
        </p15:guide>
        <p15:guide id="7" orient="horz" pos="9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9120" y="234696"/>
            <a:ext cx="11033760" cy="97536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11B427-4F75-48FE-A5EE-29C3483DAA24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51789" y="6440992"/>
            <a:ext cx="975360" cy="19792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0" y="1470401"/>
            <a:ext cx="11033760" cy="4632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c" descr="© Copyright 2020 Xilinx">
            <a:extLst>
              <a:ext uri="{FF2B5EF4-FFF2-40B4-BE49-F238E27FC236}">
                <a16:creationId xmlns:a16="http://schemas.microsoft.com/office/drawing/2014/main" id="{8D36CEF3-394C-45D9-824A-8B58015D4244}"/>
              </a:ext>
            </a:extLst>
          </p:cNvPr>
          <p:cNvSpPr txBox="1"/>
          <p:nvPr userDrawn="1"/>
        </p:nvSpPr>
        <p:spPr>
          <a:xfrm>
            <a:off x="0" y="651510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E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2020 Xilinx</a:t>
            </a:r>
          </a:p>
        </p:txBody>
      </p:sp>
    </p:spTree>
    <p:extLst>
      <p:ext uri="{BB962C8B-B14F-4D97-AF65-F5344CB8AC3E}">
        <p14:creationId xmlns:p14="http://schemas.microsoft.com/office/powerpoint/2010/main" val="323369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  <p:sldLayoutId id="2147483999" r:id="rId13"/>
    <p:sldLayoutId id="2147484000" r:id="rId14"/>
    <p:sldLayoutId id="2147484001" r:id="rId15"/>
    <p:sldLayoutId id="2147484002" r:id="rId16"/>
    <p:sldLayoutId id="2147484003" r:id="rId17"/>
    <p:sldLayoutId id="2147484004" r:id="rId18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en-US" sz="3200" b="1" i="0" kern="1200" dirty="0" smtClean="0">
          <a:solidFill>
            <a:schemeClr val="tx1"/>
          </a:solidFill>
          <a:latin typeface="Arial" charset="0"/>
          <a:ea typeface="+mj-ea"/>
          <a:cs typeface="Arial" charset="0"/>
        </a:defRPr>
      </a:lvl1pPr>
    </p:titleStyle>
    <p:bodyStyle>
      <a:lvl1pPr marL="234945" indent="-234945" algn="l" defTabSz="1219170" rtl="0" eaLnBrk="1" latinLnBrk="0" hangingPunct="1">
        <a:lnSpc>
          <a:spcPct val="100000"/>
        </a:lnSpc>
        <a:spcBef>
          <a:spcPts val="1600"/>
        </a:spcBef>
        <a:buClr>
          <a:schemeClr val="accent1"/>
        </a:buClr>
        <a:buSzPct val="100000"/>
        <a:buFont typeface="Calibri" panose="020F0502020204030204" pitchFamily="34" charset="0"/>
        <a:buChar char="›"/>
        <a:defRPr lang="en-US" sz="2400" b="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2955" indent="-220128" algn="l" defTabSz="914377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»"/>
        <a:defRPr lang="en-US" sz="2133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5783" indent="-232828" algn="l" defTabSz="914377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90000"/>
        <a:buFont typeface="Arial" panose="020B0604020202020204" pitchFamily="34" charset="0"/>
        <a:buChar char="–"/>
        <a:defRPr lang="en-US" sz="1867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6494" indent="-230712" algn="l" defTabSz="914377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90000"/>
        <a:buFont typeface="Wingdings" panose="05000000000000000000" pitchFamily="2" charset="2"/>
        <a:buChar char="§"/>
        <a:defRPr lang="en-US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38738" indent="-222245" algn="l" defTabSz="914377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orient="horz" pos="3132">
          <p15:clr>
            <a:srgbClr val="F26B43"/>
          </p15:clr>
        </p15:guide>
        <p15:guide id="4" pos="336">
          <p15:clr>
            <a:srgbClr val="F26B43"/>
          </p15:clr>
        </p15:guide>
        <p15:guide id="5" pos="5424">
          <p15:clr>
            <a:srgbClr val="F26B43"/>
          </p15:clr>
        </p15:guide>
        <p15:guide id="6" orient="horz" pos="156">
          <p15:clr>
            <a:srgbClr val="F26B43"/>
          </p15:clr>
        </p15:guide>
        <p15:guide id="7" orient="horz" pos="73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9121" y="234696"/>
            <a:ext cx="11033760" cy="97536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1" y="1470401"/>
            <a:ext cx="11033760" cy="4632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11B427-4F75-48FE-A5EE-29C3483DAA2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637520" y="6440992"/>
            <a:ext cx="975360" cy="197928"/>
          </a:xfrm>
          <a:prstGeom prst="rect">
            <a:avLst/>
          </a:prstGeom>
        </p:spPr>
      </p:pic>
      <p:sp>
        <p:nvSpPr>
          <p:cNvPr id="6" name="fc" descr="© Copyright 2020 Xilinx">
            <a:extLst>
              <a:ext uri="{FF2B5EF4-FFF2-40B4-BE49-F238E27FC236}">
                <a16:creationId xmlns:a16="http://schemas.microsoft.com/office/drawing/2014/main" id="{4E57C66C-AA2B-4BE8-962F-F267D2033DED}"/>
              </a:ext>
            </a:extLst>
          </p:cNvPr>
          <p:cNvSpPr txBox="1"/>
          <p:nvPr userDrawn="1"/>
        </p:nvSpPr>
        <p:spPr>
          <a:xfrm>
            <a:off x="0" y="651510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E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2020 Xilinx</a:t>
            </a:r>
          </a:p>
        </p:txBody>
      </p:sp>
    </p:spTree>
    <p:extLst>
      <p:ext uri="{BB962C8B-B14F-4D97-AF65-F5344CB8AC3E}">
        <p14:creationId xmlns:p14="http://schemas.microsoft.com/office/powerpoint/2010/main" val="413379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45" rtl="0" eaLnBrk="1" latinLnBrk="0" hangingPunct="1">
        <a:lnSpc>
          <a:spcPct val="90000"/>
        </a:lnSpc>
        <a:spcBef>
          <a:spcPct val="0"/>
        </a:spcBef>
        <a:buNone/>
        <a:defRPr lang="en-US" sz="3200" b="1" i="0" kern="1200" dirty="0" smtClean="0">
          <a:solidFill>
            <a:schemeClr val="tx1"/>
          </a:solidFill>
          <a:latin typeface="Arial" charset="0"/>
          <a:ea typeface="+mj-ea"/>
          <a:cs typeface="Arial" charset="0"/>
        </a:defRPr>
      </a:lvl1pPr>
    </p:titleStyle>
    <p:bodyStyle>
      <a:lvl1pPr marL="234962" indent="-234962" algn="l" defTabSz="1219261" rtl="0" eaLnBrk="1" latinLnBrk="0" hangingPunct="1">
        <a:lnSpc>
          <a:spcPct val="100000"/>
        </a:lnSpc>
        <a:spcBef>
          <a:spcPts val="1600"/>
        </a:spcBef>
        <a:buClr>
          <a:schemeClr val="accent1"/>
        </a:buClr>
        <a:buSzPct val="80000"/>
        <a:buFont typeface="Webdings" panose="05030102010509060703" pitchFamily="18" charset="2"/>
        <a:buChar char="4"/>
        <a:defRPr lang="en-US" sz="2400" b="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2989" indent="-220144" algn="l" defTabSz="914445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SzPct val="80000"/>
        <a:buFont typeface="Wingdings 3" panose="05040102010807070707" pitchFamily="18" charset="2"/>
        <a:buChar char="¬"/>
        <a:defRPr lang="en-US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5835" indent="-232845" algn="l" defTabSz="914445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80000"/>
        <a:buFont typeface="Wingdings 3" panose="05040102010807070707" pitchFamily="18" charset="2"/>
        <a:buChar char="¬"/>
        <a:defRPr lang="en-US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6563" indent="-230729" algn="l" defTabSz="914445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80000"/>
        <a:buFont typeface="Wingdings 3" panose="05040102010807070707" pitchFamily="18" charset="2"/>
        <a:buChar char="¬"/>
        <a:defRPr lang="en-US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38824" indent="-222262" algn="l" defTabSz="914445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80000"/>
        <a:buFont typeface="Wingdings 3" panose="05040102010807070707" pitchFamily="18" charset="2"/>
        <a:buChar char="¬"/>
        <a:tabLst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725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5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448">
          <p15:clr>
            <a:srgbClr val="F26B43"/>
          </p15:clr>
        </p15:guide>
        <p15:guide id="5" pos="7232">
          <p15:clr>
            <a:srgbClr val="F26B43"/>
          </p15:clr>
        </p15:guide>
        <p15:guide id="6" orient="horz" pos="208">
          <p15:clr>
            <a:srgbClr val="F26B43"/>
          </p15:clr>
        </p15:guide>
        <p15:guide id="7" orient="horz" pos="97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9121" y="234696"/>
            <a:ext cx="11033760" cy="97536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586646" y="6363709"/>
            <a:ext cx="97536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buFont typeface="Arial" panose="020B0604020202020204" pitchFamily="34" charset="0"/>
              <a:buNone/>
              <a:defRPr sz="1133" b="1">
                <a:solidFill>
                  <a:schemeClr val="tx1"/>
                </a:solidFill>
              </a:defRPr>
            </a:lvl1pPr>
          </a:lstStyle>
          <a:p>
            <a:fld id="{626C978B-826E-438C-909A-E9C381D3FF0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1" y="1470401"/>
            <a:ext cx="11033760" cy="46329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11B427-4F75-48FE-A5EE-29C3483DAA2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637520" y="6440992"/>
            <a:ext cx="975360" cy="197928"/>
          </a:xfrm>
          <a:prstGeom prst="rect">
            <a:avLst/>
          </a:prstGeom>
        </p:spPr>
      </p:pic>
      <p:sp>
        <p:nvSpPr>
          <p:cNvPr id="4" name="fc" descr="© Copyright 2020 Xilinx">
            <a:extLst>
              <a:ext uri="{FF2B5EF4-FFF2-40B4-BE49-F238E27FC236}">
                <a16:creationId xmlns:a16="http://schemas.microsoft.com/office/drawing/2014/main" id="{AD6660D4-7480-49FB-A9DC-BADA6EDC601C}"/>
              </a:ext>
            </a:extLst>
          </p:cNvPr>
          <p:cNvSpPr txBox="1"/>
          <p:nvPr userDrawn="1"/>
        </p:nvSpPr>
        <p:spPr>
          <a:xfrm>
            <a:off x="0" y="651510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E" sz="1000" b="0" i="0" u="none" baseline="0">
                <a:solidFill>
                  <a:srgbClr val="000000"/>
                </a:solidFill>
                <a:latin typeface="Arial" panose="020B0604020202020204" pitchFamily="34" charset="0"/>
              </a:rPr>
              <a:t>© Copyright 2020 Xilinx</a:t>
            </a:r>
          </a:p>
        </p:txBody>
      </p:sp>
    </p:spTree>
    <p:extLst>
      <p:ext uri="{BB962C8B-B14F-4D97-AF65-F5344CB8AC3E}">
        <p14:creationId xmlns:p14="http://schemas.microsoft.com/office/powerpoint/2010/main" val="950209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  <p:sldLayoutId id="214748402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45" rtl="0" eaLnBrk="1" latinLnBrk="0" hangingPunct="1">
        <a:lnSpc>
          <a:spcPct val="90000"/>
        </a:lnSpc>
        <a:spcBef>
          <a:spcPct val="0"/>
        </a:spcBef>
        <a:buNone/>
        <a:defRPr lang="en-US" sz="3200" b="1" i="0" kern="1200" dirty="0" smtClean="0">
          <a:solidFill>
            <a:schemeClr val="tx1"/>
          </a:solidFill>
          <a:latin typeface="Arial" charset="0"/>
          <a:ea typeface="+mj-ea"/>
          <a:cs typeface="Arial" charset="0"/>
        </a:defRPr>
      </a:lvl1pPr>
    </p:titleStyle>
    <p:bodyStyle>
      <a:lvl1pPr marL="234962" indent="-234962" algn="l" defTabSz="1219261" rtl="0" eaLnBrk="1" latinLnBrk="0" hangingPunct="1">
        <a:lnSpc>
          <a:spcPct val="100000"/>
        </a:lnSpc>
        <a:spcBef>
          <a:spcPts val="1600"/>
        </a:spcBef>
        <a:buClr>
          <a:schemeClr val="accent1"/>
        </a:buClr>
        <a:buSzPct val="80000"/>
        <a:buFont typeface="Webdings" panose="05030102010509060703" pitchFamily="18" charset="2"/>
        <a:buChar char="4"/>
        <a:defRPr lang="en-US" sz="2400" b="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2989" indent="-220144" algn="l" defTabSz="914445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SzPct val="80000"/>
        <a:buFont typeface="Wingdings 3" panose="05040102010807070707" pitchFamily="18" charset="2"/>
        <a:buChar char="¬"/>
        <a:defRPr lang="en-US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85835" indent="-232845" algn="l" defTabSz="914445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80000"/>
        <a:buFont typeface="Wingdings 3" panose="05040102010807070707" pitchFamily="18" charset="2"/>
        <a:buChar char="¬"/>
        <a:defRPr lang="en-US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16563" indent="-230729" algn="l" defTabSz="914445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80000"/>
        <a:buFont typeface="Wingdings 3" panose="05040102010807070707" pitchFamily="18" charset="2"/>
        <a:buChar char="¬"/>
        <a:defRPr lang="en-US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38824" indent="-222262" algn="l" defTabSz="914445" rtl="0" eaLnBrk="1" latinLnBrk="0" hangingPunct="1">
        <a:lnSpc>
          <a:spcPct val="95000"/>
        </a:lnSpc>
        <a:spcBef>
          <a:spcPts val="833"/>
        </a:spcBef>
        <a:buClr>
          <a:schemeClr val="tx1"/>
        </a:buClr>
        <a:buSzPct val="80000"/>
        <a:buFont typeface="Wingdings 3" panose="05040102010807070707" pitchFamily="18" charset="2"/>
        <a:buChar char="¬"/>
        <a:tabLst/>
        <a:defRPr lang="en-US" sz="1600" kern="120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725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91444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5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5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76">
          <p15:clr>
            <a:srgbClr val="F26B43"/>
          </p15:clr>
        </p15:guide>
        <p15:guide id="4" pos="448">
          <p15:clr>
            <a:srgbClr val="F26B43"/>
          </p15:clr>
        </p15:guide>
        <p15:guide id="5" pos="7232">
          <p15:clr>
            <a:srgbClr val="F26B43"/>
          </p15:clr>
        </p15:guide>
        <p15:guide id="6" orient="horz" pos="208">
          <p15:clr>
            <a:srgbClr val="F26B43"/>
          </p15:clr>
        </p15:guide>
        <p15:guide id="7" orient="horz" pos="9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10" Type="http://schemas.openxmlformats.org/officeDocument/2006/relationships/image" Target="../media/image26.tmp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91AA-4CEA-4167-A12D-30F870A1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1" y="2420888"/>
            <a:ext cx="8945879" cy="975360"/>
          </a:xfrm>
        </p:spPr>
        <p:txBody>
          <a:bodyPr/>
          <a:lstStyle/>
          <a:p>
            <a:r>
              <a:rPr lang="nb-NO" dirty="0"/>
              <a:t>PyTorch-to-FPGA for QNNs with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3ACAA-2E6F-4DC7-985C-AE9EBBDA4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121" y="4077072"/>
            <a:ext cx="7417990" cy="1438855"/>
          </a:xfrm>
        </p:spPr>
        <p:txBody>
          <a:bodyPr/>
          <a:lstStyle/>
          <a:p>
            <a:r>
              <a:rPr lang="nb-NO" i="1" dirty="0"/>
              <a:t>@ ONNX Community Virtual Meetup, 2020-04-09</a:t>
            </a:r>
          </a:p>
          <a:p>
            <a:endParaRPr lang="nb-NO" dirty="0"/>
          </a:p>
          <a:p>
            <a:r>
              <a:rPr lang="nb-NO" dirty="0"/>
              <a:t>Yaman Umuroglu</a:t>
            </a:r>
          </a:p>
          <a:p>
            <a:r>
              <a:rPr lang="nb-NO" dirty="0"/>
              <a:t>Xilinx Research Labs</a:t>
            </a:r>
            <a:endParaRPr lang="en-I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675650E-9362-493F-AAE2-6259BCB60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852936"/>
            <a:ext cx="2448272" cy="13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62AC1D3A-89D0-47FF-885C-D4187F22F0D0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2418F190-3EFF-405C-AE9C-0AF3270947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7582"/>
          <a:stretch>
            <a:fillRect/>
          </a:stretch>
        </p:blipFill>
        <p:spPr>
          <a:xfrm>
            <a:off x="0" y="15489"/>
            <a:ext cx="12191978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7BDBDE5-D8FD-4B94-949A-2B5E41567A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1065861"/>
            <a:ext cx="3313163" cy="4726277"/>
          </a:xfrm>
        </p:spPr>
        <p:txBody>
          <a:bodyPr anchor="ctr">
            <a:normAutofit/>
          </a:bodyPr>
          <a:lstStyle/>
          <a:p>
            <a:pPr lvl="0" algn="r"/>
            <a:r>
              <a:rPr lang="en-US" sz="4000" dirty="0">
                <a:solidFill>
                  <a:srgbClr val="FFFFFF"/>
                </a:solidFill>
                <a:latin typeface="Calibri Light"/>
              </a:rPr>
              <a:t>Xilinx Research,   Dublin</a:t>
            </a:r>
          </a:p>
        </p:txBody>
      </p:sp>
      <p:cxnSp>
        <p:nvCxnSpPr>
          <p:cNvPr id="5" name="Straight Connector 12">
            <a:extLst>
              <a:ext uri="{FF2B5EF4-FFF2-40B4-BE49-F238E27FC236}">
                <a16:creationId xmlns:a16="http://schemas.microsoft.com/office/drawing/2014/main" id="{5B2CD261-62C6-4B9E-84E4-77C4B741CF6C}"/>
              </a:ext>
            </a:extLst>
          </p:cNvPr>
          <p:cNvCxnSpPr>
            <a:cxnSpLocks noMove="1" noResize="1"/>
          </p:cNvCxnSpPr>
          <p:nvPr/>
        </p:nvCxnSpPr>
        <p:spPr>
          <a:xfrm>
            <a:off x="4653372" y="2286000"/>
            <a:ext cx="0" cy="2286000"/>
          </a:xfrm>
          <a:prstGeom prst="straightConnector1">
            <a:avLst/>
          </a:prstGeom>
          <a:noFill/>
          <a:ln w="15873" cap="flat">
            <a:solidFill>
              <a:srgbClr val="FFFFFF"/>
            </a:solidFill>
            <a:prstDash val="solid"/>
            <a:miter/>
          </a:ln>
        </p:spPr>
      </p:cxn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42FE734-0658-404C-BA8C-C239E6B6FDA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5378" y="1065861"/>
            <a:ext cx="5744681" cy="4726277"/>
          </a:xfrm>
        </p:spPr>
        <p:txBody>
          <a:bodyPr anchor="ctr">
            <a:normAutofit/>
          </a:bodyPr>
          <a:lstStyle/>
          <a:p>
            <a:pPr lvl="0">
              <a:lnSpc>
                <a:spcPct val="90000"/>
              </a:lnSpc>
              <a:buFont typeface="Arial" pitchFamily="34"/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</a:rPr>
              <a:t>Established over 14 years ago</a:t>
            </a:r>
          </a:p>
          <a:p>
            <a:pPr lvl="1" indent="-228600">
              <a:buFont typeface="Arial" pitchFamily="34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/>
              </a:rPr>
              <a:t>Slowly expanding and increasingly leveraging external funding (IDA, H2020)</a:t>
            </a:r>
          </a:p>
          <a:p>
            <a:pPr lvl="1" indent="-228600">
              <a:buFont typeface="Arial" pitchFamily="34"/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</a:rPr>
              <a:t>6 full-time researchers + interns</a:t>
            </a:r>
            <a:endParaRPr lang="en-US" sz="2000" dirty="0">
              <a:solidFill>
                <a:srgbClr val="FFFFFF"/>
              </a:solidFill>
              <a:latin typeface="Calibri"/>
            </a:endParaRPr>
          </a:p>
          <a:p>
            <a:pPr lvl="0">
              <a:lnSpc>
                <a:spcPct val="90000"/>
              </a:lnSpc>
              <a:buFont typeface="Arial" pitchFamily="34"/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</a:rPr>
              <a:t>Applications &amp; Architectures</a:t>
            </a:r>
          </a:p>
          <a:p>
            <a:pPr lvl="1" indent="-228600">
              <a:buFont typeface="Arial" pitchFamily="34"/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</a:rPr>
              <a:t>Quantifying the value proposition of Xilinx devices in machine learning</a:t>
            </a:r>
            <a:endParaRPr lang="en-US" sz="2000" dirty="0">
              <a:solidFill>
                <a:srgbClr val="FFFFFF"/>
              </a:solidFill>
              <a:latin typeface="Calibri"/>
            </a:endParaRPr>
          </a:p>
          <a:p>
            <a:pPr lvl="0">
              <a:lnSpc>
                <a:spcPct val="90000"/>
              </a:lnSpc>
              <a:buFont typeface="Arial" pitchFamily="34"/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</a:rPr>
              <a:t>In collaboration with Partners, Customers and Universities</a:t>
            </a:r>
          </a:p>
          <a:p>
            <a:pPr lvl="0">
              <a:lnSpc>
                <a:spcPct val="90000"/>
              </a:lnSpc>
              <a:buFont typeface="Arial" pitchFamily="34"/>
              <a:buChar char="•"/>
            </a:pPr>
            <a:endParaRPr lang="en-US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A24F647-A395-41AC-AF77-1919B217972C}"/>
              </a:ext>
            </a:extLst>
          </p:cNvPr>
          <p:cNvSpPr/>
          <p:nvPr/>
        </p:nvSpPr>
        <p:spPr>
          <a:xfrm>
            <a:off x="621290" y="5405774"/>
            <a:ext cx="10421078" cy="70788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E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Lucian Petrica, Giulio Gambardella, Alessandro Pappalardo,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IE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Ken O’Brien, Michaela Blott (leader), Nick Fraser, me </a:t>
            </a:r>
            <a:r>
              <a:rPr kumimoji="0" lang="en-I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(from left to right)</a:t>
            </a:r>
            <a:endParaRPr kumimoji="0" lang="en-IE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354F7F5D-EB0D-4DC5-BBEE-FE0E85A4437C}"/>
              </a:ext>
            </a:extLst>
          </p:cNvPr>
          <p:cNvGrpSpPr/>
          <p:nvPr/>
        </p:nvGrpSpPr>
        <p:grpSpPr>
          <a:xfrm>
            <a:off x="5635091" y="4997883"/>
            <a:ext cx="4246883" cy="519965"/>
            <a:chOff x="869689" y="2906538"/>
            <a:chExt cx="3185162" cy="389974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C03FEF4-C839-4148-AA0D-C574351830AE}"/>
                </a:ext>
              </a:extLst>
            </p:cNvPr>
            <p:cNvSpPr txBox="1"/>
            <p:nvPr/>
          </p:nvSpPr>
          <p:spPr>
            <a:xfrm>
              <a:off x="3398902" y="2919438"/>
              <a:ext cx="655949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/>
              <a:r>
                <a:rPr lang="en-IE" sz="2667" b="1" dirty="0">
                  <a:solidFill>
                    <a:srgbClr val="0C0C0C"/>
                  </a:solidFill>
                  <a:latin typeface="Arial" panose="020B0604020202020204"/>
                </a:rPr>
                <a:t>dog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FBAA0D5-EE0E-4693-8F90-56ACA86A1579}"/>
                </a:ext>
              </a:extLst>
            </p:cNvPr>
            <p:cNvSpPr txBox="1"/>
            <p:nvPr/>
          </p:nvSpPr>
          <p:spPr>
            <a:xfrm>
              <a:off x="1785203" y="2919438"/>
              <a:ext cx="55496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/>
              <a:r>
                <a:rPr lang="en-IE" sz="2667" b="1" dirty="0">
                  <a:solidFill>
                    <a:srgbClr val="0C0C0C"/>
                  </a:solidFill>
                  <a:latin typeface="Arial" panose="020B0604020202020204"/>
                </a:rPr>
                <a:t>cat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97B487E-99D1-404C-AC35-63A0879D61BF}"/>
                </a:ext>
              </a:extLst>
            </p:cNvPr>
            <p:cNvSpPr txBox="1"/>
            <p:nvPr/>
          </p:nvSpPr>
          <p:spPr>
            <a:xfrm>
              <a:off x="2599728" y="2919438"/>
              <a:ext cx="55496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/>
              <a:r>
                <a:rPr lang="en-IE" sz="2667" b="1" dirty="0">
                  <a:solidFill>
                    <a:srgbClr val="0C0C0C"/>
                  </a:solidFill>
                  <a:latin typeface="Arial" panose="020B0604020202020204"/>
                </a:rPr>
                <a:t>cat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F76688C-450A-45C0-ABC6-694CFB31391E}"/>
                </a:ext>
              </a:extLst>
            </p:cNvPr>
            <p:cNvSpPr txBox="1"/>
            <p:nvPr/>
          </p:nvSpPr>
          <p:spPr>
            <a:xfrm>
              <a:off x="869689" y="2906538"/>
              <a:ext cx="655949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377"/>
              <a:r>
                <a:rPr lang="en-IE" sz="2667" b="1" dirty="0">
                  <a:solidFill>
                    <a:srgbClr val="0C0C0C"/>
                  </a:solidFill>
                  <a:latin typeface="Arial" panose="020B0604020202020204"/>
                </a:rPr>
                <a:t>dog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243C822-65EB-4650-9B94-AD1E1D954054}"/>
              </a:ext>
            </a:extLst>
          </p:cNvPr>
          <p:cNvGrpSpPr/>
          <p:nvPr/>
        </p:nvGrpSpPr>
        <p:grpSpPr>
          <a:xfrm>
            <a:off x="1008727" y="4562729"/>
            <a:ext cx="4582583" cy="1405584"/>
            <a:chOff x="756545" y="3422047"/>
            <a:chExt cx="3436937" cy="1054188"/>
          </a:xfrm>
        </p:grpSpPr>
        <p:pic>
          <p:nvPicPr>
            <p:cNvPr id="68" name="Picture 67" descr="A black and brown dog sitting in front of a door&#10;&#10;Description generated with very high confidence">
              <a:extLst>
                <a:ext uri="{FF2B5EF4-FFF2-40B4-BE49-F238E27FC236}">
                  <a16:creationId xmlns:a16="http://schemas.microsoft.com/office/drawing/2014/main" id="{6B2D450A-EA51-4208-8D73-83FBF340B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3422047"/>
              <a:ext cx="840682" cy="1054188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C14A7C6B-A1FA-40D2-BFCA-DEA5B400A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0200" y="3422047"/>
              <a:ext cx="834050" cy="1054188"/>
            </a:xfrm>
            <a:prstGeom prst="rect">
              <a:avLst/>
            </a:prstGeom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B589161E-0459-4BE1-908A-123A7AE8D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69961" y="3422047"/>
              <a:ext cx="837310" cy="1054188"/>
            </a:xfrm>
            <a:prstGeom prst="rect">
              <a:avLst/>
            </a:prstGeom>
          </p:spPr>
        </p:pic>
        <p:pic>
          <p:nvPicPr>
            <p:cNvPr id="78" name="Picture 41">
              <a:extLst>
                <a:ext uri="{FF2B5EF4-FFF2-40B4-BE49-F238E27FC236}">
                  <a16:creationId xmlns:a16="http://schemas.microsoft.com/office/drawing/2014/main" id="{518E1BE9-7788-4B0B-984F-E09ECDFE5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13">
              <a:off x="624772" y="3553821"/>
              <a:ext cx="1054185" cy="790640"/>
            </a:xfrm>
            <a:prstGeom prst="rect">
              <a:avLst/>
            </a:prstGeom>
            <a:noFill/>
            <a:ln cap="flat">
              <a:noFill/>
            </a:ln>
            <a:effectLst/>
          </p:spPr>
        </p:pic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41CDF5E-AC74-4E95-A1D1-ED401F152DD7}"/>
              </a:ext>
            </a:extLst>
          </p:cNvPr>
          <p:cNvSpPr/>
          <p:nvPr/>
        </p:nvSpPr>
        <p:spPr>
          <a:xfrm>
            <a:off x="5666487" y="4159324"/>
            <a:ext cx="4696715" cy="24567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377"/>
            <a:endParaRPr lang="en-IE" sz="1351">
              <a:solidFill>
                <a:srgbClr val="0C0C0C"/>
              </a:solidFill>
              <a:latin typeface="Arial" panose="020B06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F1882-272F-4652-A747-A7194604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Exploring Custom Hardware + Algorithms for DNNs</a:t>
            </a:r>
            <a:br>
              <a:rPr lang="en-IE" dirty="0"/>
            </a:br>
            <a:endParaRPr lang="en-IE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E607E8-6C87-4C1F-A94F-AAC891C196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377"/>
            <a:fld id="{626C978B-826E-438C-909A-E9C381D3FF04}" type="slidenum">
              <a:rPr lang="en-US">
                <a:solidFill>
                  <a:srgbClr val="0C0C0C"/>
                </a:solidFill>
                <a:latin typeface="Arial" panose="020B0604020202020204"/>
              </a:rPr>
              <a:pPr defTabSz="914377"/>
              <a:t>3</a:t>
            </a:fld>
            <a:endParaRPr lang="en-US" dirty="0">
              <a:solidFill>
                <a:srgbClr val="0C0C0C"/>
              </a:solidFill>
              <a:latin typeface="Arial" panose="020B0604020202020204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2C44409-A854-466B-8804-4D575AC13F19}"/>
              </a:ext>
            </a:extLst>
          </p:cNvPr>
          <p:cNvSpPr/>
          <p:nvPr/>
        </p:nvSpPr>
        <p:spPr>
          <a:xfrm rot="5400000">
            <a:off x="7652260" y="3468984"/>
            <a:ext cx="406400" cy="812800"/>
          </a:xfrm>
          <a:prstGeom prst="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I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40A777-AB76-4E8F-B0C1-6E14B0873284}"/>
              </a:ext>
            </a:extLst>
          </p:cNvPr>
          <p:cNvSpPr txBox="1"/>
          <p:nvPr/>
        </p:nvSpPr>
        <p:spPr>
          <a:xfrm>
            <a:off x="7342228" y="5981404"/>
            <a:ext cx="1181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/>
            <a:r>
              <a:rPr lang="en-IE" sz="2800" b="1" dirty="0">
                <a:solidFill>
                  <a:srgbClr val="0C0C0C"/>
                </a:solidFill>
                <a:latin typeface="Arial" panose="020B0604020202020204"/>
              </a:rPr>
              <a:t>FPGA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378FD0-D5EF-4A0D-A0C1-F3C83542E1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0361" y="1475308"/>
            <a:ext cx="4472724" cy="20882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E9C04C1-5956-445A-A8AB-B02002C4CD87}"/>
              </a:ext>
            </a:extLst>
          </p:cNvPr>
          <p:cNvSpPr txBox="1"/>
          <p:nvPr/>
        </p:nvSpPr>
        <p:spPr>
          <a:xfrm>
            <a:off x="7404013" y="3076413"/>
            <a:ext cx="963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/>
            <a:r>
              <a:rPr lang="en-IE" sz="2800" b="1" dirty="0">
                <a:solidFill>
                  <a:srgbClr val="0C0C0C"/>
                </a:solidFill>
                <a:latin typeface="Arial" panose="020B0604020202020204"/>
              </a:rPr>
              <a:t>CNN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E995B8-29ED-4193-A6A7-646FCF0DF225}"/>
              </a:ext>
            </a:extLst>
          </p:cNvPr>
          <p:cNvSpPr/>
          <p:nvPr/>
        </p:nvSpPr>
        <p:spPr>
          <a:xfrm>
            <a:off x="5740360" y="2216810"/>
            <a:ext cx="406400" cy="4753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IE" sz="135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Rectangle 33">
            <a:extLst>
              <a:ext uri="{FF2B5EF4-FFF2-40B4-BE49-F238E27FC236}">
                <a16:creationId xmlns:a16="http://schemas.microsoft.com/office/drawing/2014/main" id="{74EADF55-E463-4374-A19A-E1A1BB365F95}"/>
              </a:ext>
            </a:extLst>
          </p:cNvPr>
          <p:cNvSpPr/>
          <p:nvPr/>
        </p:nvSpPr>
        <p:spPr>
          <a:xfrm>
            <a:off x="5740361" y="1468663"/>
            <a:ext cx="4472724" cy="2103699"/>
          </a:xfrm>
          <a:prstGeom prst="rect">
            <a:avLst/>
          </a:prstGeom>
          <a:noFill/>
          <a:ln>
            <a:solidFill>
              <a:srgbClr val="171C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IE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EAA1252-BD53-49DD-BDEF-48D1D36C0714}"/>
              </a:ext>
            </a:extLst>
          </p:cNvPr>
          <p:cNvGrpSpPr/>
          <p:nvPr/>
        </p:nvGrpSpPr>
        <p:grpSpPr>
          <a:xfrm>
            <a:off x="6179720" y="1468663"/>
            <a:ext cx="3458040" cy="2094893"/>
            <a:chOff x="4334140" y="1101497"/>
            <a:chExt cx="2593530" cy="157117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B2E3A81-DE53-4282-851F-BABD338B25CD}"/>
                </a:ext>
              </a:extLst>
            </p:cNvPr>
            <p:cNvSpPr/>
            <p:nvPr/>
          </p:nvSpPr>
          <p:spPr>
            <a:xfrm>
              <a:off x="4334140" y="1625170"/>
              <a:ext cx="337908" cy="1047497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34E5148-5311-4B9D-A001-E2246B317AF1}"/>
                </a:ext>
              </a:extLst>
            </p:cNvPr>
            <p:cNvSpPr/>
            <p:nvPr/>
          </p:nvSpPr>
          <p:spPr>
            <a:xfrm>
              <a:off x="4334141" y="1359546"/>
              <a:ext cx="337908" cy="219624"/>
            </a:xfrm>
            <a:prstGeom prst="roundRect">
              <a:avLst/>
            </a:prstGeom>
            <a:gradFill flip="none" rotWithShape="1">
              <a:gsLst>
                <a:gs pos="0">
                  <a:srgbClr val="7F7F7F">
                    <a:shade val="30000"/>
                    <a:satMod val="115000"/>
                  </a:srgbClr>
                </a:gs>
                <a:gs pos="50000">
                  <a:srgbClr val="7F7F7F">
                    <a:shade val="67500"/>
                    <a:satMod val="115000"/>
                  </a:srgbClr>
                </a:gs>
                <a:gs pos="100000">
                  <a:srgbClr val="7F7F7F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1CBAFE3-689B-40E3-84DD-6C71F57B8402}"/>
                </a:ext>
              </a:extLst>
            </p:cNvPr>
            <p:cNvSpPr/>
            <p:nvPr/>
          </p:nvSpPr>
          <p:spPr>
            <a:xfrm>
              <a:off x="4720777" y="1624176"/>
              <a:ext cx="337908" cy="774088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D62A7A6-5EB9-4D89-A464-C51BB60EE4A6}"/>
                </a:ext>
              </a:extLst>
            </p:cNvPr>
            <p:cNvSpPr/>
            <p:nvPr/>
          </p:nvSpPr>
          <p:spPr>
            <a:xfrm>
              <a:off x="4720778" y="1426679"/>
              <a:ext cx="337908" cy="151496"/>
            </a:xfrm>
            <a:prstGeom prst="roundRect">
              <a:avLst/>
            </a:prstGeom>
            <a:gradFill flip="none" rotWithShape="1">
              <a:gsLst>
                <a:gs pos="0">
                  <a:srgbClr val="7F7F7F">
                    <a:shade val="30000"/>
                    <a:satMod val="115000"/>
                  </a:srgbClr>
                </a:gs>
                <a:gs pos="50000">
                  <a:srgbClr val="7F7F7F">
                    <a:shade val="67500"/>
                    <a:satMod val="115000"/>
                  </a:srgbClr>
                </a:gs>
                <a:gs pos="100000">
                  <a:srgbClr val="7F7F7F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75C7621-E93F-4954-BEA0-24C5B8635DB1}"/>
                </a:ext>
              </a:extLst>
            </p:cNvPr>
            <p:cNvSpPr/>
            <p:nvPr/>
          </p:nvSpPr>
          <p:spPr>
            <a:xfrm>
              <a:off x="5095068" y="1623518"/>
              <a:ext cx="337908" cy="395608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81BFE5C-DD2D-4116-ABC0-A0A63BB05C4F}"/>
                </a:ext>
              </a:extLst>
            </p:cNvPr>
            <p:cNvSpPr/>
            <p:nvPr/>
          </p:nvSpPr>
          <p:spPr>
            <a:xfrm>
              <a:off x="5095069" y="1304793"/>
              <a:ext cx="337908" cy="281288"/>
            </a:xfrm>
            <a:prstGeom prst="roundRect">
              <a:avLst/>
            </a:prstGeom>
            <a:gradFill flip="none" rotWithShape="1">
              <a:gsLst>
                <a:gs pos="0">
                  <a:srgbClr val="7F7F7F">
                    <a:shade val="30000"/>
                    <a:satMod val="115000"/>
                  </a:srgbClr>
                </a:gs>
                <a:gs pos="50000">
                  <a:srgbClr val="7F7F7F">
                    <a:shade val="67500"/>
                    <a:satMod val="115000"/>
                  </a:srgbClr>
                </a:gs>
                <a:gs pos="100000">
                  <a:srgbClr val="7F7F7F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FDDF047-6C16-4168-A752-209AA75FA048}"/>
                </a:ext>
              </a:extLst>
            </p:cNvPr>
            <p:cNvSpPr/>
            <p:nvPr/>
          </p:nvSpPr>
          <p:spPr>
            <a:xfrm>
              <a:off x="5466186" y="1623518"/>
              <a:ext cx="337908" cy="293726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21E7651-1AB6-4F9D-9B64-317E3891728E}"/>
                </a:ext>
              </a:extLst>
            </p:cNvPr>
            <p:cNvSpPr/>
            <p:nvPr/>
          </p:nvSpPr>
          <p:spPr>
            <a:xfrm>
              <a:off x="5466187" y="1460545"/>
              <a:ext cx="337908" cy="125536"/>
            </a:xfrm>
            <a:prstGeom prst="roundRect">
              <a:avLst/>
            </a:prstGeom>
            <a:gradFill flip="none" rotWithShape="1">
              <a:gsLst>
                <a:gs pos="0">
                  <a:srgbClr val="7F7F7F">
                    <a:shade val="30000"/>
                    <a:satMod val="115000"/>
                  </a:srgbClr>
                </a:gs>
                <a:gs pos="50000">
                  <a:srgbClr val="7F7F7F">
                    <a:shade val="67500"/>
                    <a:satMod val="115000"/>
                  </a:srgbClr>
                </a:gs>
                <a:gs pos="100000">
                  <a:srgbClr val="7F7F7F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CFDD3E9-9BAD-4038-87F6-E1C2E7E57740}"/>
                </a:ext>
              </a:extLst>
            </p:cNvPr>
            <p:cNvSpPr/>
            <p:nvPr/>
          </p:nvSpPr>
          <p:spPr>
            <a:xfrm>
              <a:off x="5831235" y="1623518"/>
              <a:ext cx="337908" cy="551022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B137659-A07E-4F61-8120-BD6E6E3EF793}"/>
                </a:ext>
              </a:extLst>
            </p:cNvPr>
            <p:cNvSpPr/>
            <p:nvPr/>
          </p:nvSpPr>
          <p:spPr>
            <a:xfrm>
              <a:off x="5831236" y="1525959"/>
              <a:ext cx="337908" cy="60122"/>
            </a:xfrm>
            <a:prstGeom prst="roundRect">
              <a:avLst/>
            </a:prstGeom>
            <a:gradFill flip="none" rotWithShape="1">
              <a:gsLst>
                <a:gs pos="0">
                  <a:srgbClr val="7F7F7F">
                    <a:shade val="30000"/>
                    <a:satMod val="115000"/>
                  </a:srgbClr>
                </a:gs>
                <a:gs pos="50000">
                  <a:srgbClr val="7F7F7F">
                    <a:shade val="67500"/>
                    <a:satMod val="115000"/>
                  </a:srgbClr>
                </a:gs>
                <a:gs pos="100000">
                  <a:srgbClr val="7F7F7F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5B4EFF9-EB0D-45E0-8862-0E488DBA3EA8}"/>
                </a:ext>
              </a:extLst>
            </p:cNvPr>
            <p:cNvSpPr/>
            <p:nvPr/>
          </p:nvSpPr>
          <p:spPr>
            <a:xfrm>
              <a:off x="6215471" y="1623518"/>
              <a:ext cx="337908" cy="683792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56873C7-4BD8-4F8E-B171-12D8C37D41CA}"/>
                </a:ext>
              </a:extLst>
            </p:cNvPr>
            <p:cNvSpPr/>
            <p:nvPr/>
          </p:nvSpPr>
          <p:spPr>
            <a:xfrm>
              <a:off x="6215472" y="1460545"/>
              <a:ext cx="337908" cy="125536"/>
            </a:xfrm>
            <a:prstGeom prst="roundRect">
              <a:avLst/>
            </a:prstGeom>
            <a:gradFill flip="none" rotWithShape="1">
              <a:gsLst>
                <a:gs pos="0">
                  <a:srgbClr val="7F7F7F">
                    <a:shade val="30000"/>
                    <a:satMod val="115000"/>
                  </a:srgbClr>
                </a:gs>
                <a:gs pos="50000">
                  <a:srgbClr val="7F7F7F">
                    <a:shade val="67500"/>
                    <a:satMod val="115000"/>
                  </a:srgbClr>
                </a:gs>
                <a:gs pos="100000">
                  <a:srgbClr val="7F7F7F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277322A-7113-416C-A872-E12180B3241A}"/>
                </a:ext>
              </a:extLst>
            </p:cNvPr>
            <p:cNvSpPr/>
            <p:nvPr/>
          </p:nvSpPr>
          <p:spPr>
            <a:xfrm>
              <a:off x="6580521" y="1101497"/>
              <a:ext cx="337908" cy="484584"/>
            </a:xfrm>
            <a:prstGeom prst="roundRect">
              <a:avLst/>
            </a:prstGeom>
            <a:gradFill flip="none" rotWithShape="1">
              <a:gsLst>
                <a:gs pos="0">
                  <a:srgbClr val="7F7F7F">
                    <a:shade val="30000"/>
                    <a:satMod val="115000"/>
                  </a:srgbClr>
                </a:gs>
                <a:gs pos="50000">
                  <a:srgbClr val="7F7F7F">
                    <a:shade val="67500"/>
                    <a:satMod val="115000"/>
                  </a:srgbClr>
                </a:gs>
                <a:gs pos="100000">
                  <a:srgbClr val="7F7F7F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/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40892DE-9D34-47B7-ABC0-B14F06C9E032}"/>
                </a:ext>
              </a:extLst>
            </p:cNvPr>
            <p:cNvSpPr/>
            <p:nvPr/>
          </p:nvSpPr>
          <p:spPr>
            <a:xfrm>
              <a:off x="6589762" y="1623518"/>
              <a:ext cx="337908" cy="293726"/>
            </a:xfrm>
            <a:prstGeom prst="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en-IE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11B15D3D-F4F6-4B7C-AB19-A301812CE4CB}"/>
              </a:ext>
            </a:extLst>
          </p:cNvPr>
          <p:cNvSpPr/>
          <p:nvPr/>
        </p:nvSpPr>
        <p:spPr>
          <a:xfrm>
            <a:off x="9646467" y="2108200"/>
            <a:ext cx="525816" cy="527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I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1" name="TextBox 37">
            <a:extLst>
              <a:ext uri="{FF2B5EF4-FFF2-40B4-BE49-F238E27FC236}">
                <a16:creationId xmlns:a16="http://schemas.microsoft.com/office/drawing/2014/main" id="{45928640-049A-4783-99A5-EDC55D1F5FCD}"/>
              </a:ext>
            </a:extLst>
          </p:cNvPr>
          <p:cNvSpPr txBox="1"/>
          <p:nvPr/>
        </p:nvSpPr>
        <p:spPr>
          <a:xfrm>
            <a:off x="9341611" y="3353914"/>
            <a:ext cx="2545589" cy="95430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45720" rIns="91440" bIns="45720" anchor="t" anchorCtr="0" compatLnSpc="1">
            <a:spAutoFit/>
          </a:bodyPr>
          <a:lstStyle/>
          <a:p>
            <a:pPr algn="ctr" defTabSz="914377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67" kern="0" dirty="0">
                <a:solidFill>
                  <a:srgbClr val="000000"/>
                </a:solidFill>
                <a:latin typeface="Arial" panose="020B0604020202020204"/>
              </a:rPr>
              <a:t>allocated resource ~ compute requirement</a:t>
            </a:r>
          </a:p>
          <a:p>
            <a:pPr algn="ctr" defTabSz="914377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67" kern="0" dirty="0">
                <a:solidFill>
                  <a:srgbClr val="404040"/>
                </a:solidFill>
                <a:latin typeface="Arial" panose="020B0604020202020204"/>
                <a:cs typeface="Calibri" pitchFamily="34"/>
              </a:rPr>
              <a:t>per layer</a:t>
            </a:r>
            <a:endParaRPr lang="en-GB" sz="1200" kern="0" dirty="0">
              <a:solidFill>
                <a:srgbClr val="404040"/>
              </a:solidFill>
              <a:latin typeface="Arial" panose="020B0604020202020204"/>
              <a:cs typeface="Calibri" pitchFamily="34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980D24A-C844-483F-887D-D59373B731F6}"/>
              </a:ext>
            </a:extLst>
          </p:cNvPr>
          <p:cNvCxnSpPr>
            <a:endCxn id="61" idx="0"/>
          </p:cNvCxnSpPr>
          <p:nvPr/>
        </p:nvCxnSpPr>
        <p:spPr>
          <a:xfrm>
            <a:off x="8766536" y="2411118"/>
            <a:ext cx="1847870" cy="942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B582BF8-7C46-4128-9267-7A4FE417161C}"/>
              </a:ext>
            </a:extLst>
          </p:cNvPr>
          <p:cNvCxnSpPr>
            <a:stCxn id="61" idx="2"/>
          </p:cNvCxnSpPr>
          <p:nvPr/>
        </p:nvCxnSpPr>
        <p:spPr>
          <a:xfrm flipH="1">
            <a:off x="9043081" y="4308214"/>
            <a:ext cx="1571325" cy="11527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510737C9-3326-4CBA-8424-E73AED7039CB}"/>
              </a:ext>
            </a:extLst>
          </p:cNvPr>
          <p:cNvSpPr/>
          <p:nvPr/>
        </p:nvSpPr>
        <p:spPr>
          <a:xfrm>
            <a:off x="2273515" y="2074168"/>
            <a:ext cx="762000" cy="68580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1400" dirty="0"/>
              <a:t>sum</a:t>
            </a:r>
            <a:endParaRPr lang="en-IE" sz="14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CC461D-6B78-41C4-A72B-1E1479F56B90}"/>
              </a:ext>
            </a:extLst>
          </p:cNvPr>
          <p:cNvCxnSpPr>
            <a:cxnSpLocks/>
            <a:stCxn id="70" idx="3"/>
            <a:endCxn id="64" idx="1"/>
          </p:cNvCxnSpPr>
          <p:nvPr/>
        </p:nvCxnSpPr>
        <p:spPr>
          <a:xfrm>
            <a:off x="1440663" y="1807468"/>
            <a:ext cx="944444" cy="367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5B0C4C2-7EA9-46BB-8B2C-B8FFC501AD77}"/>
              </a:ext>
            </a:extLst>
          </p:cNvPr>
          <p:cNvCxnSpPr>
            <a:cxnSpLocks/>
            <a:stCxn id="71" idx="3"/>
            <a:endCxn id="64" idx="2"/>
          </p:cNvCxnSpPr>
          <p:nvPr/>
        </p:nvCxnSpPr>
        <p:spPr>
          <a:xfrm>
            <a:off x="1440663" y="2378968"/>
            <a:ext cx="832852" cy="38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6384C0E7-6E8C-443A-B580-1E9E68B19F82}"/>
              </a:ext>
            </a:extLst>
          </p:cNvPr>
          <p:cNvSpPr/>
          <p:nvPr/>
        </p:nvSpPr>
        <p:spPr>
          <a:xfrm>
            <a:off x="831063" y="1616968"/>
            <a:ext cx="609600" cy="3810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/>
              <a:t>+2</a:t>
            </a:r>
            <a:endParaRPr lang="en-IE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93E527E-9295-4D27-9B9D-AC4589371B8C}"/>
              </a:ext>
            </a:extLst>
          </p:cNvPr>
          <p:cNvSpPr/>
          <p:nvPr/>
        </p:nvSpPr>
        <p:spPr>
          <a:xfrm>
            <a:off x="831063" y="2188468"/>
            <a:ext cx="609600" cy="3810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/>
              <a:t>-4</a:t>
            </a:r>
            <a:endParaRPr lang="en-IE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0C18668-625D-4AF6-BDE7-6DD4B76CC717}"/>
              </a:ext>
            </a:extLst>
          </p:cNvPr>
          <p:cNvSpPr/>
          <p:nvPr/>
        </p:nvSpPr>
        <p:spPr>
          <a:xfrm>
            <a:off x="831063" y="2759968"/>
            <a:ext cx="609600" cy="3810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/>
              <a:t>+1</a:t>
            </a:r>
            <a:endParaRPr lang="en-IE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F67AB75-4465-4D78-A676-587ABACB7499}"/>
              </a:ext>
            </a:extLst>
          </p:cNvPr>
          <p:cNvCxnSpPr>
            <a:cxnSpLocks/>
            <a:stCxn id="72" idx="3"/>
            <a:endCxn id="64" idx="3"/>
          </p:cNvCxnSpPr>
          <p:nvPr/>
        </p:nvCxnSpPr>
        <p:spPr>
          <a:xfrm flipV="1">
            <a:off x="1440663" y="2659535"/>
            <a:ext cx="944444" cy="290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48D4B53D-2E84-4CAC-A5CB-142144B6822C}"/>
              </a:ext>
            </a:extLst>
          </p:cNvPr>
          <p:cNvSpPr/>
          <p:nvPr/>
        </p:nvSpPr>
        <p:spPr>
          <a:xfrm>
            <a:off x="3305565" y="2074168"/>
            <a:ext cx="878298" cy="685800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1400" dirty="0"/>
              <a:t>act.</a:t>
            </a:r>
            <a:endParaRPr lang="en-IE" sz="1400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CF043E3-1E47-4DFE-8154-7D51AC35A779}"/>
              </a:ext>
            </a:extLst>
          </p:cNvPr>
          <p:cNvCxnSpPr>
            <a:cxnSpLocks/>
            <a:stCxn id="64" idx="6"/>
            <a:endCxn id="82" idx="2"/>
          </p:cNvCxnSpPr>
          <p:nvPr/>
        </p:nvCxnSpPr>
        <p:spPr>
          <a:xfrm>
            <a:off x="3035515" y="2417068"/>
            <a:ext cx="270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78B65B7-D196-46EB-8127-5151C88B1977}"/>
              </a:ext>
            </a:extLst>
          </p:cNvPr>
          <p:cNvSpPr txBox="1"/>
          <p:nvPr/>
        </p:nvSpPr>
        <p:spPr>
          <a:xfrm>
            <a:off x="1654080" y="1693073"/>
            <a:ext cx="49725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* +1</a:t>
            </a:r>
            <a:endParaRPr lang="en-IE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96F5F6-FE26-4BF1-ADDD-58C8744D9647}"/>
              </a:ext>
            </a:extLst>
          </p:cNvPr>
          <p:cNvSpPr txBox="1"/>
          <p:nvPr/>
        </p:nvSpPr>
        <p:spPr>
          <a:xfrm>
            <a:off x="1541778" y="2138955"/>
            <a:ext cx="4539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* -1</a:t>
            </a:r>
            <a:endParaRPr lang="en-IE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CFAE2D4-5EBB-4235-9346-D94B661A8E9C}"/>
              </a:ext>
            </a:extLst>
          </p:cNvPr>
          <p:cNvSpPr txBox="1"/>
          <p:nvPr/>
        </p:nvSpPr>
        <p:spPr>
          <a:xfrm>
            <a:off x="1548350" y="2555601"/>
            <a:ext cx="4539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* -1</a:t>
            </a:r>
            <a:endParaRPr lang="en-IE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E0256B-FB38-4577-B9F7-B948658EFA99}"/>
              </a:ext>
            </a:extLst>
          </p:cNvPr>
          <p:cNvCxnSpPr>
            <a:cxnSpLocks/>
            <a:stCxn id="82" idx="6"/>
            <a:endCxn id="88" idx="1"/>
          </p:cNvCxnSpPr>
          <p:nvPr/>
        </p:nvCxnSpPr>
        <p:spPr>
          <a:xfrm>
            <a:off x="4183863" y="2417068"/>
            <a:ext cx="294425" cy="1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79FD2D99-925E-4267-8465-3590C5583141}"/>
              </a:ext>
            </a:extLst>
          </p:cNvPr>
          <p:cNvSpPr/>
          <p:nvPr/>
        </p:nvSpPr>
        <p:spPr>
          <a:xfrm>
            <a:off x="4478288" y="2228286"/>
            <a:ext cx="609600" cy="38100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dirty="0"/>
              <a:t>+1</a:t>
            </a:r>
            <a:endParaRPr lang="en-I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EE944-8802-4BC1-B6A9-35FC9DB23337}"/>
              </a:ext>
            </a:extLst>
          </p:cNvPr>
          <p:cNvSpPr/>
          <p:nvPr/>
        </p:nvSpPr>
        <p:spPr>
          <a:xfrm>
            <a:off x="695400" y="1475308"/>
            <a:ext cx="4710571" cy="180967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2" name="TextBox 37">
            <a:extLst>
              <a:ext uri="{FF2B5EF4-FFF2-40B4-BE49-F238E27FC236}">
                <a16:creationId xmlns:a16="http://schemas.microsoft.com/office/drawing/2014/main" id="{68E63B8C-726E-49FA-9510-9BBFE242FC82}"/>
              </a:ext>
            </a:extLst>
          </p:cNvPr>
          <p:cNvSpPr txBox="1"/>
          <p:nvPr/>
        </p:nvSpPr>
        <p:spPr>
          <a:xfrm>
            <a:off x="2687010" y="3004534"/>
            <a:ext cx="2545589" cy="1241622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45720" rIns="91440" bIns="45720" anchor="t" anchorCtr="0" compatLnSpc="1">
            <a:spAutoFit/>
          </a:bodyPr>
          <a:lstStyle/>
          <a:p>
            <a:pPr algn="ctr" defTabSz="914377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67" kern="0" dirty="0">
                <a:solidFill>
                  <a:srgbClr val="000000"/>
                </a:solidFill>
                <a:latin typeface="Arial" panose="020B0604020202020204"/>
              </a:rPr>
              <a:t>k-bit weights and activations, k &lt;= 4</a:t>
            </a:r>
          </a:p>
          <a:p>
            <a:pPr algn="ctr" defTabSz="914377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nb-NO" sz="1867" kern="0" dirty="0">
              <a:solidFill>
                <a:srgbClr val="000000"/>
              </a:solidFill>
              <a:latin typeface="Arial" panose="020B0604020202020204"/>
              <a:cs typeface="Calibri" pitchFamily="34"/>
            </a:endParaRPr>
          </a:p>
          <a:p>
            <a:pPr algn="ctr" defTabSz="914377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nb-NO" sz="1867" kern="0" dirty="0">
                <a:solidFill>
                  <a:srgbClr val="000000"/>
                </a:solidFill>
                <a:latin typeface="Arial" panose="020B0604020202020204"/>
                <a:cs typeface="Calibri" pitchFamily="34"/>
              </a:rPr>
              <a:t>keep all on-chip!</a:t>
            </a:r>
            <a:endParaRPr lang="en-GB" sz="1200" kern="0" dirty="0">
              <a:solidFill>
                <a:srgbClr val="404040"/>
              </a:solidFill>
              <a:latin typeface="Arial" panose="020B0604020202020204"/>
              <a:cs typeface="Calibri" pitchFamily="34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312D13-C7E1-4D00-92FA-21069C383E0F}"/>
              </a:ext>
            </a:extLst>
          </p:cNvPr>
          <p:cNvCxnSpPr>
            <a:cxnSpLocks/>
          </p:cNvCxnSpPr>
          <p:nvPr/>
        </p:nvCxnSpPr>
        <p:spPr>
          <a:xfrm>
            <a:off x="5405971" y="1475308"/>
            <a:ext cx="773749" cy="354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B5764D2-97DD-4FFC-B3EF-1E5AFFD5825A}"/>
              </a:ext>
            </a:extLst>
          </p:cNvPr>
          <p:cNvCxnSpPr>
            <a:cxnSpLocks/>
          </p:cNvCxnSpPr>
          <p:nvPr/>
        </p:nvCxnSpPr>
        <p:spPr>
          <a:xfrm flipV="1">
            <a:off x="5405970" y="2101274"/>
            <a:ext cx="801936" cy="1183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70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69136E-6 L 0.00174 0.3990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199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23457E-6 L 0.38524 0.0030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53" y="15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83951E-6 L 0.40539 -0.0015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60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4" grpId="0" animBg="1"/>
      <p:bldP spid="70" grpId="0" animBg="1"/>
      <p:bldP spid="71" grpId="0" animBg="1"/>
      <p:bldP spid="72" grpId="0" animBg="1"/>
      <p:bldP spid="82" grpId="0" animBg="1"/>
      <p:bldP spid="84" grpId="0"/>
      <p:bldP spid="85" grpId="0"/>
      <p:bldP spid="86" grpId="0"/>
      <p:bldP spid="88" grpId="0" animBg="1"/>
      <p:bldP spid="8" grpId="0" animBg="1"/>
      <p:bldP spid="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multilayer perceptron">
            <a:extLst>
              <a:ext uri="{FF2B5EF4-FFF2-40B4-BE49-F238E27FC236}">
                <a16:creationId xmlns:a16="http://schemas.microsoft.com/office/drawing/2014/main" id="{6247BF61-E658-4AC6-A486-DDE0B09412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9" t="5280" r="19329" b="25155"/>
          <a:stretch/>
        </p:blipFill>
        <p:spPr bwMode="auto">
          <a:xfrm>
            <a:off x="1713247" y="3277610"/>
            <a:ext cx="1596160" cy="93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5DFEFF-830C-4104-89AB-BA8842B40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3226" y="1980283"/>
            <a:ext cx="1454773" cy="2704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4167B2-A0E9-43B6-A091-0BCC93371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Few-bit QNNs + FPGA Dataflow: Showcases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003706-1C39-4A05-816B-5F425F228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645" y="6363708"/>
            <a:ext cx="975360" cy="365125"/>
          </a:xfrm>
        </p:spPr>
        <p:txBody>
          <a:bodyPr/>
          <a:lstStyle/>
          <a:p>
            <a:pPr defTabSz="914377"/>
            <a:fld id="{626C978B-826E-438C-909A-E9C381D3FF04}" type="slidenum">
              <a:rPr lang="en-US">
                <a:solidFill>
                  <a:srgbClr val="0C0C0C"/>
                </a:solidFill>
                <a:latin typeface="Arial" panose="020B0604020202020204"/>
              </a:rPr>
              <a:pPr defTabSz="914377"/>
              <a:t>4</a:t>
            </a:fld>
            <a:endParaRPr lang="en-US" dirty="0">
              <a:solidFill>
                <a:srgbClr val="0C0C0C"/>
              </a:solidFill>
              <a:latin typeface="Arial" panose="020B0604020202020204"/>
            </a:endParaRPr>
          </a:p>
        </p:txBody>
      </p:sp>
      <p:pic>
        <p:nvPicPr>
          <p:cNvPr id="4" name="Picture 2" descr="Image result for alveo u250">
            <a:extLst>
              <a:ext uri="{FF2B5EF4-FFF2-40B4-BE49-F238E27FC236}">
                <a16:creationId xmlns:a16="http://schemas.microsoft.com/office/drawing/2014/main" id="{3053DC13-BDCA-4018-BEC1-B258CE8EC3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4" t="14028" r="8819" b="8819"/>
          <a:stretch/>
        </p:blipFill>
        <p:spPr bwMode="auto">
          <a:xfrm>
            <a:off x="9669226" y="4342609"/>
            <a:ext cx="1219201" cy="111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EE08E0-3151-4F4B-A4DE-80083797FE17}"/>
              </a:ext>
            </a:extLst>
          </p:cNvPr>
          <p:cNvSpPr txBox="1"/>
          <p:nvPr/>
        </p:nvSpPr>
        <p:spPr>
          <a:xfrm>
            <a:off x="8212373" y="5480613"/>
            <a:ext cx="2913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nb-NO" dirty="0">
                <a:solidFill>
                  <a:srgbClr val="0C0C0C"/>
                </a:solidFill>
                <a:latin typeface="Arial" panose="020B0604020202020204"/>
              </a:rPr>
              <a:t>ResNet-50 on Alveo U250</a:t>
            </a:r>
          </a:p>
          <a:p>
            <a:pPr algn="ctr" defTabSz="914377"/>
            <a:r>
              <a:rPr lang="nb-NO" b="1" dirty="0">
                <a:solidFill>
                  <a:srgbClr val="FF0000"/>
                </a:solidFill>
                <a:latin typeface="Arial" panose="020B0604020202020204"/>
              </a:rPr>
              <a:t>2 ms</a:t>
            </a:r>
            <a:r>
              <a:rPr lang="nb-NO" dirty="0">
                <a:solidFill>
                  <a:srgbClr val="0C0C0C"/>
                </a:solidFill>
                <a:latin typeface="Arial" panose="020B0604020202020204"/>
              </a:rPr>
              <a:t> latency</a:t>
            </a:r>
          </a:p>
          <a:p>
            <a:pPr algn="ctr" defTabSz="914377"/>
            <a:r>
              <a:rPr lang="en-IE" b="1" dirty="0">
                <a:solidFill>
                  <a:srgbClr val="FF0000"/>
                </a:solidFill>
                <a:latin typeface="Arial" panose="020B0604020202020204"/>
              </a:rPr>
              <a:t>2000 FPS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B69F58-79C5-431C-8745-7ABA7BCDC96D}"/>
              </a:ext>
            </a:extLst>
          </p:cNvPr>
          <p:cNvSpPr txBox="1"/>
          <p:nvPr/>
        </p:nvSpPr>
        <p:spPr>
          <a:xfrm>
            <a:off x="8628487" y="954421"/>
            <a:ext cx="1398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nb-NO" b="1" dirty="0">
                <a:solidFill>
                  <a:srgbClr val="0C0C0C"/>
                </a:solidFill>
                <a:latin typeface="Arial" panose="020B0604020202020204"/>
              </a:rPr>
              <a:t>Complex</a:t>
            </a:r>
          </a:p>
          <a:p>
            <a:pPr algn="ctr" defTabSz="914377"/>
            <a:r>
              <a:rPr lang="nb-NO" b="1" dirty="0">
                <a:solidFill>
                  <a:srgbClr val="0C0C0C"/>
                </a:solidFill>
                <a:latin typeface="Arial" panose="020B0604020202020204"/>
              </a:rPr>
              <a:t>Topologies</a:t>
            </a:r>
            <a:endParaRPr lang="en-IE" b="1" dirty="0">
              <a:solidFill>
                <a:srgbClr val="0C0C0C"/>
              </a:solidFill>
              <a:latin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A8E38-583C-4F13-BA38-7255656EA85D}"/>
              </a:ext>
            </a:extLst>
          </p:cNvPr>
          <p:cNvSpPr txBox="1"/>
          <p:nvPr/>
        </p:nvSpPr>
        <p:spPr>
          <a:xfrm>
            <a:off x="1334352" y="954419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nb-NO" b="1" dirty="0">
                <a:solidFill>
                  <a:srgbClr val="0C0C0C"/>
                </a:solidFill>
                <a:latin typeface="Arial" panose="020B0604020202020204"/>
              </a:rPr>
              <a:t>High Throughput</a:t>
            </a:r>
          </a:p>
          <a:p>
            <a:pPr algn="ctr" defTabSz="914377"/>
            <a:r>
              <a:rPr lang="nb-NO" b="1" dirty="0">
                <a:solidFill>
                  <a:srgbClr val="0C0C0C"/>
                </a:solidFill>
                <a:latin typeface="Arial" panose="020B0604020202020204"/>
              </a:rPr>
              <a:t>&amp; Low Latency</a:t>
            </a:r>
            <a:endParaRPr lang="en-IE" b="1" dirty="0">
              <a:solidFill>
                <a:srgbClr val="0C0C0C"/>
              </a:solidFill>
              <a:latin typeface="Arial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2C306-B734-41FE-8AFD-7F1D7259A23C}"/>
              </a:ext>
            </a:extLst>
          </p:cNvPr>
          <p:cNvSpPr txBox="1"/>
          <p:nvPr/>
        </p:nvSpPr>
        <p:spPr>
          <a:xfrm>
            <a:off x="905985" y="5460209"/>
            <a:ext cx="2913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nb-NO" dirty="0">
                <a:solidFill>
                  <a:srgbClr val="0C0C0C"/>
                </a:solidFill>
                <a:latin typeface="Arial" panose="020B0604020202020204"/>
              </a:rPr>
              <a:t>MNIST MLP on ZC706</a:t>
            </a:r>
          </a:p>
          <a:p>
            <a:pPr algn="ctr" defTabSz="914377"/>
            <a:r>
              <a:rPr lang="nb-NO" b="1" dirty="0">
                <a:solidFill>
                  <a:srgbClr val="FF0000"/>
                </a:solidFill>
                <a:latin typeface="Arial" panose="020B0604020202020204"/>
              </a:rPr>
              <a:t>12.3 M</a:t>
            </a:r>
            <a:r>
              <a:rPr lang="nb-NO" dirty="0">
                <a:solidFill>
                  <a:srgbClr val="0C0C0C"/>
                </a:solidFill>
                <a:latin typeface="Arial" panose="020B0604020202020204"/>
              </a:rPr>
              <a:t> FPS</a:t>
            </a:r>
          </a:p>
          <a:p>
            <a:pPr algn="ctr" defTabSz="914377"/>
            <a:r>
              <a:rPr lang="nb-NO" b="1" dirty="0">
                <a:solidFill>
                  <a:srgbClr val="FF0000"/>
                </a:solidFill>
                <a:latin typeface="Arial" panose="020B0604020202020204"/>
              </a:rPr>
              <a:t>310 ns</a:t>
            </a:r>
            <a:r>
              <a:rPr lang="nb-NO" dirty="0">
                <a:solidFill>
                  <a:srgbClr val="0C0C0C"/>
                </a:solidFill>
                <a:latin typeface="Arial" panose="020B0604020202020204"/>
              </a:rPr>
              <a:t> latency</a:t>
            </a:r>
          </a:p>
          <a:p>
            <a:pPr algn="ctr" defTabSz="914377"/>
            <a:endParaRPr lang="en-IE" dirty="0">
              <a:solidFill>
                <a:srgbClr val="0C0C0C"/>
              </a:solidFill>
              <a:latin typeface="Arial" panose="020B0604020202020204"/>
            </a:endParaRPr>
          </a:p>
        </p:txBody>
      </p:sp>
      <p:pic>
        <p:nvPicPr>
          <p:cNvPr id="1026" name="Picture 2" descr="Image result for zc706">
            <a:extLst>
              <a:ext uri="{FF2B5EF4-FFF2-40B4-BE49-F238E27FC236}">
                <a16:creationId xmlns:a16="http://schemas.microsoft.com/office/drawing/2014/main" id="{A53C6720-25FE-470C-B5A9-B21B58DE09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9" t="32223" r="18001" b="28666"/>
          <a:stretch/>
        </p:blipFill>
        <p:spPr bwMode="auto">
          <a:xfrm rot="7149509">
            <a:off x="2534420" y="4344039"/>
            <a:ext cx="1114665" cy="681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382;p42">
            <a:extLst>
              <a:ext uri="{FF2B5EF4-FFF2-40B4-BE49-F238E27FC236}">
                <a16:creationId xmlns:a16="http://schemas.microsoft.com/office/drawing/2014/main" id="{DBADCB10-6140-49B3-95C7-A48E3C31D07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49670" b="58421"/>
          <a:stretch/>
        </p:blipFill>
        <p:spPr>
          <a:xfrm>
            <a:off x="1447237" y="1956548"/>
            <a:ext cx="1831200" cy="11344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9881E7-4DCC-4FD3-AD85-00D69CFEAC00}"/>
              </a:ext>
            </a:extLst>
          </p:cNvPr>
          <p:cNvSpPr txBox="1"/>
          <p:nvPr/>
        </p:nvSpPr>
        <p:spPr>
          <a:xfrm>
            <a:off x="4694933" y="954418"/>
            <a:ext cx="2629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nb-NO" b="1" dirty="0">
                <a:solidFill>
                  <a:srgbClr val="0C0C0C"/>
                </a:solidFill>
                <a:latin typeface="Arial" panose="020B0604020202020204"/>
              </a:rPr>
              <a:t>Low-Power, Real-Time</a:t>
            </a:r>
          </a:p>
          <a:p>
            <a:pPr algn="ctr" defTabSz="914377"/>
            <a:r>
              <a:rPr lang="nb-NO" b="1" dirty="0">
                <a:solidFill>
                  <a:srgbClr val="0C0C0C"/>
                </a:solidFill>
                <a:latin typeface="Arial" panose="020B0604020202020204"/>
              </a:rPr>
              <a:t>Object Detection</a:t>
            </a:r>
            <a:endParaRPr lang="en-IE" b="1" dirty="0">
              <a:solidFill>
                <a:srgbClr val="0C0C0C"/>
              </a:solidFill>
              <a:latin typeface="Arial" panose="020B0604020202020204"/>
            </a:endParaRPr>
          </a:p>
        </p:txBody>
      </p:sp>
      <p:pic>
        <p:nvPicPr>
          <p:cNvPr id="1030" name="Picture 6" descr="Image result for ultra96">
            <a:extLst>
              <a:ext uri="{FF2B5EF4-FFF2-40B4-BE49-F238E27FC236}">
                <a16:creationId xmlns:a16="http://schemas.microsoft.com/office/drawing/2014/main" id="{D654F8EB-991E-4AB6-AFF7-DCA117095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105899">
            <a:off x="6515727" y="4690726"/>
            <a:ext cx="627469" cy="421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5709A45-D8C3-4BBE-A8D7-C7362E5C1323}"/>
              </a:ext>
            </a:extLst>
          </p:cNvPr>
          <p:cNvSpPr txBox="1"/>
          <p:nvPr/>
        </p:nvSpPr>
        <p:spPr>
          <a:xfrm>
            <a:off x="4553051" y="5460209"/>
            <a:ext cx="2913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nb-NO" dirty="0">
                <a:solidFill>
                  <a:srgbClr val="0C0C0C"/>
                </a:solidFill>
                <a:latin typeface="Arial" panose="020B0604020202020204"/>
              </a:rPr>
              <a:t>Tincy-YOLO on Ultra96</a:t>
            </a:r>
          </a:p>
          <a:p>
            <a:pPr algn="ctr" defTabSz="914377"/>
            <a:r>
              <a:rPr lang="nb-NO" b="1" dirty="0">
                <a:solidFill>
                  <a:srgbClr val="FF0000"/>
                </a:solidFill>
                <a:latin typeface="Arial" panose="020B0604020202020204"/>
              </a:rPr>
              <a:t>55 FPS @ 10 W</a:t>
            </a:r>
          </a:p>
          <a:p>
            <a:pPr algn="ctr" defTabSz="914377"/>
            <a:endParaRPr lang="en-IE" dirty="0">
              <a:solidFill>
                <a:srgbClr val="0C0C0C"/>
              </a:solidFill>
              <a:latin typeface="Arial" panose="020B0604020202020204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2EFE66F-F9AB-4235-B8F0-7E617CE53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150" y="1956548"/>
            <a:ext cx="2225700" cy="166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Screen Clipping">
            <a:extLst>
              <a:ext uri="{FF2B5EF4-FFF2-40B4-BE49-F238E27FC236}">
                <a16:creationId xmlns:a16="http://schemas.microsoft.com/office/drawing/2014/main" id="{809252FC-E723-45F5-A763-AFC443E415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674" y="4031981"/>
            <a:ext cx="1017543" cy="87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4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57A14E83-3E7E-47A1-A7C2-538E4542DF66}"/>
              </a:ext>
            </a:extLst>
          </p:cNvPr>
          <p:cNvSpPr/>
          <p:nvPr/>
        </p:nvSpPr>
        <p:spPr>
          <a:xfrm>
            <a:off x="3410590" y="5411778"/>
            <a:ext cx="5201788" cy="1378047"/>
          </a:xfrm>
          <a:prstGeom prst="leftRightArrow">
            <a:avLst>
              <a:gd name="adj1" fmla="val 50000"/>
              <a:gd name="adj2" fmla="val 26287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End-to-end flow to lower adoption barrier</a:t>
            </a:r>
            <a:endParaRPr kumimoji="0" lang="en-IE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6BC32A-32D6-4A16-B51A-9D89972A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FINN Project: Mission</a:t>
            </a:r>
            <a:br>
              <a:rPr lang="en-US" dirty="0">
                <a:solidFill>
                  <a:schemeClr val="tx1"/>
                </a:solidFill>
              </a:rPr>
            </a:b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F32F1D-D7B8-431B-9211-25E4E145E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56F9A-43FA-4FA7-9EA2-71D3E041249E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2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08D789-2985-4BC9-829B-D3DEECB74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0" name="Circle: Hollow 89">
            <a:extLst>
              <a:ext uri="{FF2B5EF4-FFF2-40B4-BE49-F238E27FC236}">
                <a16:creationId xmlns:a16="http://schemas.microsoft.com/office/drawing/2014/main" id="{75A1072F-EE7B-474D-A808-28A683D467E5}"/>
              </a:ext>
            </a:extLst>
          </p:cNvPr>
          <p:cNvSpPr/>
          <p:nvPr/>
        </p:nvSpPr>
        <p:spPr>
          <a:xfrm>
            <a:off x="2336800" y="1778924"/>
            <a:ext cx="4502595" cy="3680833"/>
          </a:xfrm>
          <a:prstGeom prst="donut">
            <a:avLst>
              <a:gd name="adj" fmla="val 6338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2000" b="1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" name="Circle: Hollow 90">
            <a:extLst>
              <a:ext uri="{FF2B5EF4-FFF2-40B4-BE49-F238E27FC236}">
                <a16:creationId xmlns:a16="http://schemas.microsoft.com/office/drawing/2014/main" id="{4477C456-3093-44E3-8215-0234F7DF6DA6}"/>
              </a:ext>
            </a:extLst>
          </p:cNvPr>
          <p:cNvSpPr/>
          <p:nvPr/>
        </p:nvSpPr>
        <p:spPr>
          <a:xfrm>
            <a:off x="4946077" y="1778923"/>
            <a:ext cx="4502596" cy="3680832"/>
          </a:xfrm>
          <a:prstGeom prst="donut">
            <a:avLst>
              <a:gd name="adj" fmla="val 6220"/>
            </a:avLst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2000" b="1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437BD-1308-408E-A75F-F799AABCA419}"/>
              </a:ext>
            </a:extLst>
          </p:cNvPr>
          <p:cNvSpPr txBox="1"/>
          <p:nvPr/>
        </p:nvSpPr>
        <p:spPr>
          <a:xfrm>
            <a:off x="5130205" y="3391001"/>
            <a:ext cx="1428596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Codesign</a:t>
            </a:r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4444AAAF-1082-40E7-8674-E4000F19B1C8}"/>
              </a:ext>
            </a:extLst>
          </p:cNvPr>
          <p:cNvSpPr/>
          <p:nvPr/>
        </p:nvSpPr>
        <p:spPr>
          <a:xfrm>
            <a:off x="8382367" y="1068186"/>
            <a:ext cx="3530996" cy="1421476"/>
          </a:xfrm>
          <a:prstGeom prst="borderCallout1">
            <a:avLst>
              <a:gd name="adj1" fmla="val 48434"/>
              <a:gd name="adj2" fmla="val 548"/>
              <a:gd name="adj3" fmla="val 79518"/>
              <a:gd name="adj4" fmla="val -2057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Support hardware architecture exploration around dataflow execution</a:t>
            </a:r>
          </a:p>
        </p:txBody>
      </p:sp>
      <p:sp>
        <p:nvSpPr>
          <p:cNvPr id="95" name="Callout: Line 94">
            <a:extLst>
              <a:ext uri="{FF2B5EF4-FFF2-40B4-BE49-F238E27FC236}">
                <a16:creationId xmlns:a16="http://schemas.microsoft.com/office/drawing/2014/main" id="{52AEDB67-3D5F-46D3-AD5B-BBC559DEC8EA}"/>
              </a:ext>
            </a:extLst>
          </p:cNvPr>
          <p:cNvSpPr/>
          <p:nvPr/>
        </p:nvSpPr>
        <p:spPr>
          <a:xfrm>
            <a:off x="373511" y="1068186"/>
            <a:ext cx="3020061" cy="1421476"/>
          </a:xfrm>
          <a:prstGeom prst="borderCallout1">
            <a:avLst>
              <a:gd name="adj1" fmla="val 46680"/>
              <a:gd name="adj2" fmla="val 99896"/>
              <a:gd name="adj3" fmla="val 78348"/>
              <a:gd name="adj4" fmla="val 1115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Support customizing the algorithms with precision, layer types, topologies</a:t>
            </a:r>
          </a:p>
        </p:txBody>
      </p:sp>
      <p:sp>
        <p:nvSpPr>
          <p:cNvPr id="96" name="Callout: Line 95">
            <a:extLst>
              <a:ext uri="{FF2B5EF4-FFF2-40B4-BE49-F238E27FC236}">
                <a16:creationId xmlns:a16="http://schemas.microsoft.com/office/drawing/2014/main" id="{C21977CA-01A5-4598-9042-DF20A5E114B2}"/>
              </a:ext>
            </a:extLst>
          </p:cNvPr>
          <p:cNvSpPr/>
          <p:nvPr/>
        </p:nvSpPr>
        <p:spPr>
          <a:xfrm>
            <a:off x="8954127" y="4675975"/>
            <a:ext cx="2984636" cy="1378047"/>
          </a:xfrm>
          <a:prstGeom prst="borderCallout1">
            <a:avLst>
              <a:gd name="adj1" fmla="val 48434"/>
              <a:gd name="adj2" fmla="val 548"/>
              <a:gd name="adj3" fmla="val 79518"/>
              <a:gd name="adj4" fmla="val -2057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b-NO" sz="2133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Open source from the ground-up to encourage community contributions</a:t>
            </a:r>
          </a:p>
        </p:txBody>
      </p:sp>
      <p:sp>
        <p:nvSpPr>
          <p:cNvPr id="97" name="Callout: Line 96">
            <a:extLst>
              <a:ext uri="{FF2B5EF4-FFF2-40B4-BE49-F238E27FC236}">
                <a16:creationId xmlns:a16="http://schemas.microsoft.com/office/drawing/2014/main" id="{2C51FD9C-0676-4391-A88D-5B4FE4743CFD}"/>
              </a:ext>
            </a:extLst>
          </p:cNvPr>
          <p:cNvSpPr/>
          <p:nvPr/>
        </p:nvSpPr>
        <p:spPr>
          <a:xfrm>
            <a:off x="206377" y="4526123"/>
            <a:ext cx="3305807" cy="1386211"/>
          </a:xfrm>
          <a:prstGeom prst="borderCallout1">
            <a:avLst>
              <a:gd name="adj1" fmla="val 48434"/>
              <a:gd name="adj2" fmla="val 99425"/>
              <a:gd name="adj3" fmla="val 104188"/>
              <a:gd name="adj4" fmla="val 12209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Transparency and flexibility through open source (if not supported, add your own!)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B92F74E-86F4-4B1C-AF64-60EDC05415F3}"/>
              </a:ext>
            </a:extLst>
          </p:cNvPr>
          <p:cNvSpPr txBox="1"/>
          <p:nvPr/>
        </p:nvSpPr>
        <p:spPr>
          <a:xfrm>
            <a:off x="3215281" y="3223499"/>
            <a:ext cx="1625765" cy="10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Flexibility</a:t>
            </a:r>
          </a:p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 </a:t>
            </a:r>
          </a:p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Algorithms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826A4A0-58B9-461B-8E6F-F85ACBE3E22C}"/>
              </a:ext>
            </a:extLst>
          </p:cNvPr>
          <p:cNvSpPr txBox="1"/>
          <p:nvPr/>
        </p:nvSpPr>
        <p:spPr>
          <a:xfrm>
            <a:off x="6918780" y="3234295"/>
            <a:ext cx="1946367" cy="107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Flexibility</a:t>
            </a:r>
          </a:p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 </a:t>
            </a:r>
          </a:p>
          <a:p>
            <a:pPr marL="0" marR="0" lvl="0" indent="0" algn="ctr" defTabSz="9142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133" b="1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Architectures</a:t>
            </a:r>
            <a:endParaRPr kumimoji="0" lang="en-IE" sz="2133" b="1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3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5" grpId="0" animBg="1"/>
      <p:bldP spid="96" grpId="0" animBg="1"/>
      <p:bldP spid="9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7DD2C-6A04-4DA0-A832-571D08E0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solidFill>
                  <a:schemeClr val="tx1"/>
                </a:solidFill>
              </a:rPr>
              <a:t>The FINN Project: Components of the Stack</a:t>
            </a:r>
            <a:br>
              <a:rPr lang="nb-NO" dirty="0">
                <a:solidFill>
                  <a:schemeClr val="tx1"/>
                </a:solidFill>
              </a:rPr>
            </a:br>
            <a:r>
              <a:rPr lang="nb-NO" sz="2800" i="1" dirty="0"/>
              <a:t>From PyTorch to FPGA</a:t>
            </a:r>
            <a:endParaRPr lang="nb-NO" i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F36A8-F605-4BF4-BF0B-EE437E759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6C978B-826E-438C-909A-E9C381D3FF04}" type="slidenum">
              <a:rPr kumimoji="0" lang="en-US" sz="1133" b="1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C0C0C">
                  <a:tint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F16A68-C8B4-4A32-B61C-DF85BECCD41A}"/>
              </a:ext>
            </a:extLst>
          </p:cNvPr>
          <p:cNvGrpSpPr/>
          <p:nvPr/>
        </p:nvGrpSpPr>
        <p:grpSpPr>
          <a:xfrm>
            <a:off x="4351391" y="1245128"/>
            <a:ext cx="3273087" cy="4931229"/>
            <a:chOff x="3263543" y="933846"/>
            <a:chExt cx="2454815" cy="3698422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A6FD84EE-A52D-48ED-8F09-9D81DF9B9B92}"/>
                </a:ext>
              </a:extLst>
            </p:cNvPr>
            <p:cNvSpPr/>
            <p:nvPr/>
          </p:nvSpPr>
          <p:spPr>
            <a:xfrm>
              <a:off x="4300549" y="933846"/>
              <a:ext cx="381719" cy="3698422"/>
            </a:xfrm>
            <a:prstGeom prst="downArrow">
              <a:avLst>
                <a:gd name="adj1" fmla="val 50000"/>
                <a:gd name="adj2" fmla="val 24576"/>
              </a:avLst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E" sz="1351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869540-940C-407F-967A-17C7A11C0104}"/>
                </a:ext>
              </a:extLst>
            </p:cNvPr>
            <p:cNvSpPr/>
            <p:nvPr/>
          </p:nvSpPr>
          <p:spPr>
            <a:xfrm>
              <a:off x="3263544" y="1136041"/>
              <a:ext cx="2454814" cy="1114302"/>
            </a:xfrm>
            <a:prstGeom prst="rect">
              <a:avLst/>
            </a:prstGeom>
            <a:solidFill>
              <a:schemeClr val="accent2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QNN training in PyTorch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Brevitas</a:t>
              </a:r>
              <a:endParaRPr kumimoji="0" lang="en-IE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27B954-0C0D-4BE2-A6C2-4E87ECF758DA}"/>
                </a:ext>
              </a:extLst>
            </p:cNvPr>
            <p:cNvSpPr/>
            <p:nvPr/>
          </p:nvSpPr>
          <p:spPr>
            <a:xfrm>
              <a:off x="3263544" y="2373648"/>
              <a:ext cx="2454814" cy="1419777"/>
            </a:xfrm>
            <a:prstGeom prst="rect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Frontends, Transformation, Dataflow Backend</a:t>
              </a: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b-NO" sz="1351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FINN Compiler</a:t>
              </a:r>
              <a:endParaRPr kumimoji="0" lang="en-IE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A77857-5DA1-456B-ABD4-AE1CC4AC185D}"/>
                </a:ext>
              </a:extLst>
            </p:cNvPr>
            <p:cNvSpPr/>
            <p:nvPr/>
          </p:nvSpPr>
          <p:spPr>
            <a:xfrm>
              <a:off x="3263543" y="3916731"/>
              <a:ext cx="2454814" cy="545039"/>
            </a:xfrm>
            <a:prstGeom prst="rect">
              <a:avLst/>
            </a:prstGeom>
            <a:solidFill>
              <a:schemeClr val="accent3"/>
            </a:solidFill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-NO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Deployment with </a:t>
              </a:r>
              <a:endParaRPr kumimoji="0" lang="en-IE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1E34E68-4231-4929-ADAD-372A67334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tretch>
              <a:fillRect/>
            </a:stretch>
          </p:blipFill>
          <p:spPr bwMode="auto">
            <a:xfrm>
              <a:off x="4735140" y="4019550"/>
              <a:ext cx="827460" cy="259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1454E63-9C36-4B0B-A76F-AE751FC1FD07}"/>
              </a:ext>
            </a:extLst>
          </p:cNvPr>
          <p:cNvSpPr txBox="1"/>
          <p:nvPr/>
        </p:nvSpPr>
        <p:spPr>
          <a:xfrm>
            <a:off x="2382888" y="2164613"/>
            <a:ext cx="1329210" cy="508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Customization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Algorithm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23F0DE-6D87-4076-AE94-D706415BCA04}"/>
              </a:ext>
            </a:extLst>
          </p:cNvPr>
          <p:cNvSpPr txBox="1"/>
          <p:nvPr/>
        </p:nvSpPr>
        <p:spPr>
          <a:xfrm>
            <a:off x="2382888" y="4241257"/>
            <a:ext cx="1329210" cy="715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Customization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Hardware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0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Architecture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C9E6B3-C1EE-49E9-A644-FF58B09FFB7D}"/>
              </a:ext>
            </a:extLst>
          </p:cNvPr>
          <p:cNvSpPr/>
          <p:nvPr/>
        </p:nvSpPr>
        <p:spPr>
          <a:xfrm>
            <a:off x="2574951" y="2948027"/>
            <a:ext cx="797357" cy="768096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B9566C-B3C6-4CAB-A682-6F415BEE6048}"/>
              </a:ext>
            </a:extLst>
          </p:cNvPr>
          <p:cNvSpPr/>
          <p:nvPr/>
        </p:nvSpPr>
        <p:spPr>
          <a:xfrm>
            <a:off x="2574950" y="3408275"/>
            <a:ext cx="797357" cy="768096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30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A849-E29A-4F0A-9048-504E39F4B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An</a:t>
            </a:r>
            <a:r>
              <a:rPr lang="nb-NO" dirty="0"/>
              <a:t> Overview of the FINN Compiler</a:t>
            </a:r>
            <a:endParaRPr lang="en-I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7563B8-D3C9-40A0-8362-77EC240A4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26C978B-826E-438C-909A-E9C381D3FF04}" type="slidenum">
              <a:rPr kumimoji="0" lang="en-US" sz="1133" b="1" i="0" u="none" strike="noStrike" kern="1200" cap="none" spc="0" normalizeH="0" baseline="0" noProof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</a:t>
            </a:fld>
            <a:endParaRPr kumimoji="0" lang="en-US" sz="1133" b="1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BDA8EE-3989-40FC-A0FE-E66C5FA7B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625" y="991206"/>
            <a:ext cx="6364998" cy="2118991"/>
          </a:xfrm>
        </p:spPr>
        <p:txBody>
          <a:bodyPr/>
          <a:lstStyle/>
          <a:p>
            <a:r>
              <a:rPr lang="nb-NO" dirty="0"/>
              <a:t>Python library of graph transformations</a:t>
            </a:r>
          </a:p>
          <a:p>
            <a:pPr lvl="1"/>
            <a:r>
              <a:rPr lang="nb-NO" dirty="0"/>
              <a:t>Each consumes and produces an ONNX graph</a:t>
            </a:r>
          </a:p>
          <a:p>
            <a:r>
              <a:rPr lang="nb-NO" dirty="0"/>
              <a:t>User calls sequence of transformations to create their own flow</a:t>
            </a:r>
          </a:p>
          <a:p>
            <a:pPr lvl="1"/>
            <a:r>
              <a:rPr lang="nb-NO" dirty="0"/>
              <a:t>Example end-to-end flows to get started </a:t>
            </a:r>
          </a:p>
          <a:p>
            <a:r>
              <a:rPr lang="nb-NO" dirty="0"/>
              <a:t>Primary backend target is our own Vivado HLS library</a:t>
            </a:r>
          </a:p>
          <a:p>
            <a:pPr lvl="1"/>
            <a:r>
              <a:rPr lang="nb-NO" dirty="0"/>
              <a:t>Templated datatypes, configurable parallelism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6D8577A1-5235-4966-BF57-CF0F070A92CA}"/>
              </a:ext>
            </a:extLst>
          </p:cNvPr>
          <p:cNvSpPr/>
          <p:nvPr/>
        </p:nvSpPr>
        <p:spPr>
          <a:xfrm>
            <a:off x="10540895" y="1137757"/>
            <a:ext cx="367180" cy="4494155"/>
          </a:xfrm>
          <a:prstGeom prst="downArrow">
            <a:avLst>
              <a:gd name="adj1" fmla="val 70000"/>
              <a:gd name="adj2" fmla="val 14167"/>
            </a:avLst>
          </a:prstGeom>
          <a:solidFill>
            <a:srgbClr val="A21820"/>
          </a:solidFill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351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910E0B8-EB27-4F24-A29E-455CCD5E7BDE}"/>
              </a:ext>
            </a:extLst>
          </p:cNvPr>
          <p:cNvSpPr/>
          <p:nvPr/>
        </p:nvSpPr>
        <p:spPr>
          <a:xfrm>
            <a:off x="9644112" y="3121159"/>
            <a:ext cx="2145816" cy="3239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Code Generator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96E2CB1-3859-4355-9AE1-2081ED6A7F9E}"/>
              </a:ext>
            </a:extLst>
          </p:cNvPr>
          <p:cNvSpPr/>
          <p:nvPr/>
        </p:nvSpPr>
        <p:spPr>
          <a:xfrm>
            <a:off x="9632411" y="1261585"/>
            <a:ext cx="2145816" cy="37569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Import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3931CEB-60BC-4D60-A526-0D5EF3715A34}"/>
              </a:ext>
            </a:extLst>
          </p:cNvPr>
          <p:cNvSpPr/>
          <p:nvPr/>
        </p:nvSpPr>
        <p:spPr>
          <a:xfrm>
            <a:off x="7131205" y="3028446"/>
            <a:ext cx="2306879" cy="521312"/>
          </a:xfrm>
          <a:prstGeom prst="roundRect">
            <a:avLst/>
          </a:prstGeom>
          <a:solidFill>
            <a:schemeClr val="bg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FINN HLS Library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1B1F0F8-B2DB-4AAA-9E46-0775085F9DB0}"/>
              </a:ext>
            </a:extLst>
          </p:cNvPr>
          <p:cNvSpPr/>
          <p:nvPr/>
        </p:nvSpPr>
        <p:spPr>
          <a:xfrm>
            <a:off x="9674334" y="3543086"/>
            <a:ext cx="2145816" cy="502920"/>
          </a:xfrm>
          <a:prstGeom prst="round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Synthesizable description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C6495D4-919F-427F-B7F6-A068D45993ED}"/>
              </a:ext>
            </a:extLst>
          </p:cNvPr>
          <p:cNvSpPr/>
          <p:nvPr/>
        </p:nvSpPr>
        <p:spPr>
          <a:xfrm>
            <a:off x="7114491" y="2083530"/>
            <a:ext cx="2306879" cy="521312"/>
          </a:xfrm>
          <a:prstGeom prst="roundRect">
            <a:avLst/>
          </a:prstGeom>
          <a:solidFill>
            <a:schemeClr val="bg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Hardware Cost Model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B6576C9-799C-4AEC-9C10-51FECA2D68F9}"/>
              </a:ext>
            </a:extLst>
          </p:cNvPr>
          <p:cNvSpPr/>
          <p:nvPr/>
        </p:nvSpPr>
        <p:spPr>
          <a:xfrm>
            <a:off x="9681887" y="4177233"/>
            <a:ext cx="2145816" cy="114830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 err="1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Vivado</a:t>
            </a:r>
            <a:endParaRPr kumimoji="0" lang="en-IE" sz="1351" b="1" i="0" u="none" strike="noStrike" kern="1200" cap="none" spc="0" normalizeH="0" baseline="0" noProof="0" dirty="0">
              <a:ln>
                <a:noFill/>
              </a:ln>
              <a:solidFill>
                <a:srgbClr val="0C0C0C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Synthesis, PAR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FE62D2B-A723-4657-B77F-357FAE9494E5}"/>
              </a:ext>
            </a:extLst>
          </p:cNvPr>
          <p:cNvSpPr/>
          <p:nvPr/>
        </p:nvSpPr>
        <p:spPr>
          <a:xfrm>
            <a:off x="7104112" y="5029898"/>
            <a:ext cx="2306879" cy="521312"/>
          </a:xfrm>
          <a:prstGeom prst="roundRect">
            <a:avLst/>
          </a:prstGeom>
          <a:solidFill>
            <a:schemeClr val="bg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Software Library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EFFBA47-9F77-40E9-A7FF-A8B726BF7168}"/>
              </a:ext>
            </a:extLst>
          </p:cNvPr>
          <p:cNvSpPr/>
          <p:nvPr/>
        </p:nvSpPr>
        <p:spPr>
          <a:xfrm>
            <a:off x="7118161" y="5645042"/>
            <a:ext cx="2306879" cy="521312"/>
          </a:xfrm>
          <a:prstGeom prst="roundRect">
            <a:avLst/>
          </a:prstGeom>
          <a:solidFill>
            <a:schemeClr val="bg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Host Run-time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A4A8C39-F04D-4A3D-A709-9EE31DB1BED8}"/>
              </a:ext>
            </a:extLst>
          </p:cNvPr>
          <p:cNvSpPr/>
          <p:nvPr/>
        </p:nvSpPr>
        <p:spPr>
          <a:xfrm>
            <a:off x="9674334" y="5637882"/>
            <a:ext cx="2145816" cy="521312"/>
          </a:xfrm>
          <a:prstGeom prst="roundRect">
            <a:avLst/>
          </a:prstGeom>
          <a:solidFill>
            <a:schemeClr val="bg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FPGA Platform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F59EB04-02DA-4C7F-9AC0-3285C10E195D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9421369" y="2344186"/>
            <a:ext cx="2302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CA83DB5-8234-4233-880F-6C40C02DD341}"/>
              </a:ext>
            </a:extLst>
          </p:cNvPr>
          <p:cNvCxnSpPr>
            <a:cxnSpLocks/>
            <a:stCxn id="27" idx="3"/>
            <a:endCxn id="24" idx="1"/>
          </p:cNvCxnSpPr>
          <p:nvPr/>
        </p:nvCxnSpPr>
        <p:spPr>
          <a:xfrm flipV="1">
            <a:off x="9438084" y="3283131"/>
            <a:ext cx="206028" cy="59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026D94-9CAF-467C-9D66-C8F2BFB0D892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V="1">
            <a:off x="9425040" y="5898538"/>
            <a:ext cx="249293" cy="71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FE7F981B-B43F-4B4E-AD1F-FB804B255EBE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9410991" y="5290555"/>
            <a:ext cx="263343" cy="60798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0082C96-8CA2-4621-B8C1-688243974E71}"/>
              </a:ext>
            </a:extLst>
          </p:cNvPr>
          <p:cNvSpPr/>
          <p:nvPr/>
        </p:nvSpPr>
        <p:spPr>
          <a:xfrm>
            <a:off x="9632410" y="691646"/>
            <a:ext cx="2145817" cy="521312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ONNX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ED41C6A-673F-4B01-A78D-90E7364B08DE}"/>
              </a:ext>
            </a:extLst>
          </p:cNvPr>
          <p:cNvSpPr/>
          <p:nvPr/>
        </p:nvSpPr>
        <p:spPr>
          <a:xfrm>
            <a:off x="9632410" y="1675010"/>
            <a:ext cx="2145816" cy="37569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Streamlining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4349415-9EC8-4588-A33C-6D8E45B270DA}"/>
              </a:ext>
            </a:extLst>
          </p:cNvPr>
          <p:cNvSpPr/>
          <p:nvPr/>
        </p:nvSpPr>
        <p:spPr>
          <a:xfrm>
            <a:off x="9644112" y="2088091"/>
            <a:ext cx="2145816" cy="37569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Hardware Mapping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2F32F00-316A-41A7-917F-DB812ED2F5B1}"/>
              </a:ext>
            </a:extLst>
          </p:cNvPr>
          <p:cNvSpPr/>
          <p:nvPr/>
        </p:nvSpPr>
        <p:spPr>
          <a:xfrm>
            <a:off x="9644112" y="2510018"/>
            <a:ext cx="2145816" cy="37569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1351" b="1" i="0" u="none" strike="noStrike" kern="1200" cap="none" spc="0" normalizeH="0" baseline="0" noProof="0" dirty="0">
                <a:ln>
                  <a:noFill/>
                </a:ln>
                <a:solidFill>
                  <a:srgbClr val="0C0C0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Resource Allocation</a:t>
            </a:r>
          </a:p>
        </p:txBody>
      </p:sp>
    </p:spTree>
    <p:extLst>
      <p:ext uri="{BB962C8B-B14F-4D97-AF65-F5344CB8AC3E}">
        <p14:creationId xmlns:p14="http://schemas.microsoft.com/office/powerpoint/2010/main" val="225057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5B20-C037-4428-ACBD-6E43297E2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How We Use ONNX in the FINN Compiler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6B37DE-D5DF-457F-BEFA-2CB1D1FE2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978B-826E-438C-909A-E9C381D3FF0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6D354A-11B4-4DF6-B9B4-55B4CC5093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015"/>
          <a:stretch/>
        </p:blipFill>
        <p:spPr>
          <a:xfrm>
            <a:off x="911424" y="1210056"/>
            <a:ext cx="2438400" cy="2392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E15F73-B373-493D-A3CF-605DF2EB4A5D}"/>
              </a:ext>
            </a:extLst>
          </p:cNvPr>
          <p:cNvSpPr txBox="1"/>
          <p:nvPr/>
        </p:nvSpPr>
        <p:spPr>
          <a:xfrm>
            <a:off x="210868" y="3789040"/>
            <a:ext cx="38395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b="1" dirty="0"/>
              <a:t>Custom quantization annotations</a:t>
            </a:r>
          </a:p>
          <a:p>
            <a:pPr algn="ctr"/>
            <a:r>
              <a:rPr lang="nb-NO" b="1" dirty="0"/>
              <a:t>for few-bit types</a:t>
            </a:r>
          </a:p>
          <a:p>
            <a:pPr algn="ctr"/>
            <a:endParaRPr lang="nb-NO" b="1" dirty="0"/>
          </a:p>
          <a:p>
            <a:pPr algn="ctr"/>
            <a:r>
              <a:rPr lang="nb-NO" i="1" dirty="0"/>
              <a:t>Use </a:t>
            </a:r>
            <a:r>
              <a:rPr lang="nb-NO" i="1" dirty="0">
                <a:latin typeface="Courier New" panose="02070309020205020404" pitchFamily="49" charset="0"/>
                <a:cs typeface="Courier New" panose="02070309020205020404" pitchFamily="49" charset="0"/>
              </a:rPr>
              <a:t>quantization_annotation</a:t>
            </a:r>
            <a:endParaRPr lang="nb-NO" i="1" dirty="0"/>
          </a:p>
          <a:p>
            <a:pPr algn="ctr"/>
            <a:endParaRPr lang="nb-NO" b="1" dirty="0"/>
          </a:p>
          <a:p>
            <a:pPr algn="ctr"/>
            <a:r>
              <a:rPr lang="nb-NO" i="1" dirty="0"/>
              <a:t>ONNX float32 tensor as container, </a:t>
            </a:r>
          </a:p>
          <a:p>
            <a:pPr algn="ctr"/>
            <a:r>
              <a:rPr lang="nb-NO" i="1" dirty="0"/>
              <a:t>values restricted to few-bit types</a:t>
            </a:r>
          </a:p>
          <a:p>
            <a:pPr algn="ctr"/>
            <a:r>
              <a:rPr lang="nb-NO" i="1" dirty="0"/>
              <a:t>indicated by type name (string)</a:t>
            </a:r>
            <a:endParaRPr lang="en-IE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7152E-9A0A-4979-991E-9C17DDC310C2}"/>
              </a:ext>
            </a:extLst>
          </p:cNvPr>
          <p:cNvSpPr txBox="1"/>
          <p:nvPr/>
        </p:nvSpPr>
        <p:spPr>
          <a:xfrm>
            <a:off x="8752508" y="3789039"/>
            <a:ext cx="32197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b="1" dirty="0"/>
              <a:t>Hybrid runtime to</a:t>
            </a:r>
          </a:p>
          <a:p>
            <a:pPr algn="ctr"/>
            <a:r>
              <a:rPr lang="nb-NO" b="1" dirty="0"/>
              <a:t>verify model correctness</a:t>
            </a:r>
          </a:p>
          <a:p>
            <a:pPr algn="ctr"/>
            <a:endParaRPr lang="nb-NO" b="1" dirty="0"/>
          </a:p>
          <a:p>
            <a:pPr algn="ctr"/>
            <a:r>
              <a:rPr lang="nb-NO" i="1" dirty="0"/>
              <a:t>Mix onnxruntime, Vivado HLS</a:t>
            </a:r>
          </a:p>
          <a:p>
            <a:pPr algn="ctr"/>
            <a:r>
              <a:rPr lang="nb-NO" i="1" dirty="0"/>
              <a:t>C++ and RTL (PyVerilator)</a:t>
            </a:r>
          </a:p>
          <a:p>
            <a:pPr algn="ctr"/>
            <a:endParaRPr lang="nb-NO" i="1" dirty="0"/>
          </a:p>
          <a:p>
            <a:pPr algn="ctr"/>
            <a:r>
              <a:rPr lang="nb-NO" i="1" dirty="0"/>
              <a:t>Not performance-oriented</a:t>
            </a:r>
            <a:endParaRPr lang="en-IE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16D3B-2FDD-4461-BE5A-DEE76161B13B}"/>
              </a:ext>
            </a:extLst>
          </p:cNvPr>
          <p:cNvSpPr txBox="1"/>
          <p:nvPr/>
        </p:nvSpPr>
        <p:spPr>
          <a:xfrm>
            <a:off x="4405775" y="3789039"/>
            <a:ext cx="389080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b="1" dirty="0"/>
              <a:t>Custom op_types</a:t>
            </a:r>
          </a:p>
          <a:p>
            <a:pPr algn="ctr"/>
            <a:r>
              <a:rPr lang="nb-NO" b="1" dirty="0"/>
              <a:t>at different abstraction levels</a:t>
            </a:r>
          </a:p>
          <a:p>
            <a:pPr algn="ctr"/>
            <a:endParaRPr lang="nb-NO" b="1" dirty="0"/>
          </a:p>
          <a:p>
            <a:pPr algn="ctr"/>
            <a:r>
              <a:rPr lang="nb-NO" i="1" dirty="0"/>
              <a:t>Identified by </a:t>
            </a:r>
            <a:r>
              <a:rPr lang="nb-NO" i="1" dirty="0">
                <a:latin typeface="Courier New" panose="02070309020205020404" pitchFamily="49" charset="0"/>
                <a:cs typeface="Courier New" panose="02070309020205020404" pitchFamily="49" charset="0"/>
              </a:rPr>
              <a:t>op_type</a:t>
            </a:r>
            <a:r>
              <a:rPr lang="nb-NO" i="1" dirty="0"/>
              <a:t> and </a:t>
            </a:r>
            <a:r>
              <a:rPr lang="nb-NO" i="1" dirty="0">
                <a:latin typeface="Courier New" panose="02070309020205020404" pitchFamily="49" charset="0"/>
                <a:cs typeface="Courier New" panose="02070309020205020404" pitchFamily="49" charset="0"/>
              </a:rPr>
              <a:t>domain</a:t>
            </a:r>
          </a:p>
          <a:p>
            <a:pPr algn="ctr"/>
            <a:endParaRPr lang="nb-NO" i="1" dirty="0"/>
          </a:p>
          <a:p>
            <a:pPr algn="ctr"/>
            <a:r>
              <a:rPr lang="nb-NO" i="1" dirty="0"/>
              <a:t>Python wrappers to provide</a:t>
            </a:r>
          </a:p>
          <a:p>
            <a:pPr algn="ctr"/>
            <a:r>
              <a:rPr lang="nb-NO" i="1" dirty="0"/>
              <a:t>implementations for exec, codegen..</a:t>
            </a:r>
            <a:endParaRPr lang="en-IE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D694A9-80EA-4A4A-9AC6-07FF786D8E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369"/>
          <a:stretch/>
        </p:blipFill>
        <p:spPr>
          <a:xfrm>
            <a:off x="5015880" y="1052736"/>
            <a:ext cx="2619375" cy="2578983"/>
          </a:xfrm>
          <a:prstGeom prst="rect">
            <a:avLst/>
          </a:prstGeom>
        </p:spPr>
      </p:pic>
      <p:pic>
        <p:nvPicPr>
          <p:cNvPr id="1026" name="Picture 2" descr="Verilator logo.png">
            <a:extLst>
              <a:ext uri="{FF2B5EF4-FFF2-40B4-BE49-F238E27FC236}">
                <a16:creationId xmlns:a16="http://schemas.microsoft.com/office/drawing/2014/main" id="{157D28AA-3480-442D-927B-46A92960B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472" y="2656258"/>
            <a:ext cx="1055751" cy="82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NNX Runtime | Home">
            <a:extLst>
              <a:ext uri="{FF2B5EF4-FFF2-40B4-BE49-F238E27FC236}">
                <a16:creationId xmlns:a16="http://schemas.microsoft.com/office/drawing/2014/main" id="{1CE6AC94-4A95-466C-832E-6FA372577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715" y="1162645"/>
            <a:ext cx="2619376" cy="891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igh Performance Implementation of Microtubule Modeling on FPGA ...">
            <a:extLst>
              <a:ext uri="{FF2B5EF4-FFF2-40B4-BE49-F238E27FC236}">
                <a16:creationId xmlns:a16="http://schemas.microsoft.com/office/drawing/2014/main" id="{209EDFA7-CB25-4C9B-9C62-B1A0288BB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1464" y="2656457"/>
            <a:ext cx="825206" cy="825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5027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5B20-C037-4428-ACBD-6E43297E2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How We Use ONNX in the FINN Compiler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6B37DE-D5DF-457F-BEFA-2CB1D1FE21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6C978B-826E-438C-909A-E9C381D3FF0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15F73-B373-493D-A3CF-605DF2EB4A5D}"/>
              </a:ext>
            </a:extLst>
          </p:cNvPr>
          <p:cNvSpPr txBox="1"/>
          <p:nvPr/>
        </p:nvSpPr>
        <p:spPr>
          <a:xfrm>
            <a:off x="287816" y="3789040"/>
            <a:ext cx="368562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b="1" dirty="0"/>
              <a:t>Library of Python</a:t>
            </a:r>
          </a:p>
          <a:p>
            <a:pPr algn="ctr"/>
            <a:r>
              <a:rPr lang="nb-NO" b="1" dirty="0"/>
              <a:t>graph transformations</a:t>
            </a:r>
          </a:p>
          <a:p>
            <a:pPr algn="ctr"/>
            <a:endParaRPr lang="nb-NO" b="1" dirty="0"/>
          </a:p>
          <a:p>
            <a:pPr algn="ctr"/>
            <a:r>
              <a:rPr lang="nb-NO" i="1" dirty="0"/>
              <a:t>Operating directly on ONNX</a:t>
            </a:r>
          </a:p>
          <a:p>
            <a:pPr algn="ctr"/>
            <a:r>
              <a:rPr lang="nb-NO" i="1" dirty="0"/>
              <a:t>representation</a:t>
            </a:r>
          </a:p>
          <a:p>
            <a:pPr algn="ctr"/>
            <a:endParaRPr lang="nb-NO" i="1" dirty="0"/>
          </a:p>
          <a:p>
            <a:pPr algn="ctr"/>
            <a:r>
              <a:rPr lang="nb-NO" i="1" dirty="0"/>
              <a:t>I</a:t>
            </a:r>
            <a:r>
              <a:rPr lang="en-IE" i="1" dirty="0" err="1"/>
              <a:t>ncluding</a:t>
            </a:r>
            <a:r>
              <a:rPr lang="en-IE" i="1" dirty="0"/>
              <a:t> constant folding, shape</a:t>
            </a:r>
          </a:p>
          <a:p>
            <a:pPr algn="ctr"/>
            <a:r>
              <a:rPr lang="en-IE" i="1" dirty="0"/>
              <a:t>inference, convolution lowering ++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7152E-9A0A-4979-991E-9C17DDC310C2}"/>
              </a:ext>
            </a:extLst>
          </p:cNvPr>
          <p:cNvSpPr txBox="1"/>
          <p:nvPr/>
        </p:nvSpPr>
        <p:spPr>
          <a:xfrm>
            <a:off x="4611583" y="3789288"/>
            <a:ext cx="336502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b="1" dirty="0"/>
              <a:t>Tensors with custom</a:t>
            </a:r>
          </a:p>
          <a:p>
            <a:pPr algn="ctr"/>
            <a:r>
              <a:rPr lang="nb-NO" b="1" dirty="0"/>
              <a:t>data layout and packing</a:t>
            </a:r>
          </a:p>
          <a:p>
            <a:pPr algn="ctr"/>
            <a:endParaRPr lang="nb-NO" b="1" dirty="0"/>
          </a:p>
          <a:p>
            <a:pPr algn="ctr"/>
            <a:r>
              <a:rPr lang="nb-NO" i="1" dirty="0"/>
              <a:t>e.g. pack 8x1-bit as 1x8-bit</a:t>
            </a:r>
          </a:p>
          <a:p>
            <a:pPr algn="ctr"/>
            <a:endParaRPr lang="nb-NO" i="1" dirty="0"/>
          </a:p>
          <a:p>
            <a:pPr algn="ctr"/>
            <a:r>
              <a:rPr lang="nb-NO" i="1" dirty="0"/>
              <a:t>Utility functions to convert back</a:t>
            </a:r>
          </a:p>
          <a:p>
            <a:pPr algn="ctr"/>
            <a:r>
              <a:rPr lang="nb-NO" i="1" dirty="0"/>
              <a:t>and forth</a:t>
            </a:r>
            <a:endParaRPr lang="en-IE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16D3B-2FDD-4461-BE5A-DEE76161B13B}"/>
              </a:ext>
            </a:extLst>
          </p:cNvPr>
          <p:cNvSpPr txBox="1"/>
          <p:nvPr/>
        </p:nvSpPr>
        <p:spPr>
          <a:xfrm>
            <a:off x="8084704" y="3789039"/>
            <a:ext cx="38353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b="1" dirty="0"/>
              <a:t>Use Netron for debugging</a:t>
            </a:r>
          </a:p>
          <a:p>
            <a:pPr algn="ctr"/>
            <a:endParaRPr lang="nb-NO" b="1" dirty="0"/>
          </a:p>
          <a:p>
            <a:pPr algn="ctr"/>
            <a:endParaRPr lang="nb-NO" b="1" dirty="0"/>
          </a:p>
          <a:p>
            <a:pPr algn="ctr"/>
            <a:r>
              <a:rPr lang="nb-NO" i="1" dirty="0"/>
              <a:t>Visually inspect transformed graphs</a:t>
            </a:r>
          </a:p>
          <a:p>
            <a:pPr algn="ctr"/>
            <a:endParaRPr lang="nb-NO" i="1" dirty="0"/>
          </a:p>
          <a:p>
            <a:pPr algn="ctr"/>
            <a:r>
              <a:rPr lang="nb-NO" i="1" dirty="0"/>
              <a:t>Check node attributes, initializers</a:t>
            </a:r>
            <a:endParaRPr lang="en-IE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989D9E-0BDF-4061-AED7-2EB155218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10" y="1236486"/>
            <a:ext cx="3309236" cy="1976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20F458-4FEE-412D-9727-DE35CA2DD2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92" b="7678"/>
          <a:stretch/>
        </p:blipFill>
        <p:spPr>
          <a:xfrm>
            <a:off x="8987520" y="947758"/>
            <a:ext cx="2029710" cy="25539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19C0E6-846D-42FE-A8DF-0D41EDC5F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044" y="1412776"/>
            <a:ext cx="30861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0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D30BAB2-4794-4784-BE28-56CF4B4BC2A5}"/>
              </a:ext>
            </a:extLst>
          </p:cNvPr>
          <p:cNvSpPr/>
          <p:nvPr/>
        </p:nvSpPr>
        <p:spPr>
          <a:xfrm>
            <a:off x="6087259" y="1016803"/>
            <a:ext cx="5714447" cy="27477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IE" sz="135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BC0E2D-A8E0-4A39-9C41-F2697D6B5B38}"/>
              </a:ext>
            </a:extLst>
          </p:cNvPr>
          <p:cNvSpPr/>
          <p:nvPr/>
        </p:nvSpPr>
        <p:spPr>
          <a:xfrm>
            <a:off x="5709668" y="3713891"/>
            <a:ext cx="4327256" cy="26528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IE" sz="135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97C118-15AC-43F5-98B6-066831AEE473}"/>
              </a:ext>
            </a:extLst>
          </p:cNvPr>
          <p:cNvSpPr/>
          <p:nvPr/>
        </p:nvSpPr>
        <p:spPr>
          <a:xfrm>
            <a:off x="390295" y="2854139"/>
            <a:ext cx="5194396" cy="31671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en-IE" sz="135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6DB25-FEFC-4F6E-8CF9-78ECA489A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>
                <a:solidFill>
                  <a:schemeClr val="tx1"/>
                </a:solidFill>
              </a:rPr>
              <a:t>Join our Growing Open-Source Community!</a:t>
            </a:r>
            <a:endParaRPr lang="en-IE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DD314-757B-40E0-B889-A8E319E94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377"/>
            <a:fld id="{626C978B-826E-438C-909A-E9C381D3FF04}" type="slidenum">
              <a:rPr lang="en-US">
                <a:solidFill>
                  <a:srgbClr val="0C0C0C"/>
                </a:solidFill>
                <a:latin typeface="Arial" panose="020B0604020202020204"/>
              </a:rPr>
              <a:pPr defTabSz="914377"/>
              <a:t>10</a:t>
            </a:fld>
            <a:endParaRPr lang="en-US" dirty="0">
              <a:solidFill>
                <a:srgbClr val="0C0C0C"/>
              </a:solidFill>
              <a:latin typeface="Arial" panose="020B0604020202020204"/>
            </a:endParaRPr>
          </a:p>
        </p:txBody>
      </p:sp>
      <p:pic>
        <p:nvPicPr>
          <p:cNvPr id="1026" name="Picture 2" descr="_images/software-overview.png">
            <a:extLst>
              <a:ext uri="{FF2B5EF4-FFF2-40B4-BE49-F238E27FC236}">
                <a16:creationId xmlns:a16="http://schemas.microsoft.com/office/drawing/2014/main" id="{4EBE7225-9BB1-4996-8CD4-F45A33EA3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057" y="1160404"/>
            <a:ext cx="2645335" cy="19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5FE2AD-0FFF-4645-ACAC-C357375BFCAA}"/>
              </a:ext>
            </a:extLst>
          </p:cNvPr>
          <p:cNvSpPr txBox="1"/>
          <p:nvPr/>
        </p:nvSpPr>
        <p:spPr>
          <a:xfrm>
            <a:off x="6211074" y="3144404"/>
            <a:ext cx="4273991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/>
            <a:r>
              <a:rPr lang="nb-NO" sz="1351" dirty="0">
                <a:solidFill>
                  <a:srgbClr val="0C0C0C"/>
                </a:solidFill>
                <a:latin typeface="Arial" panose="020B0604020202020204"/>
              </a:rPr>
              <a:t>Japanese documentation effort + «cucumber sorting»</a:t>
            </a:r>
            <a:endParaRPr lang="en-IE" sz="1351" dirty="0">
              <a:solidFill>
                <a:srgbClr val="0C0C0C"/>
              </a:solidFill>
              <a:latin typeface="Arial" panose="020B0604020202020204"/>
            </a:endParaRPr>
          </a:p>
        </p:txBody>
      </p:sp>
      <p:pic>
        <p:nvPicPr>
          <p:cNvPr id="1028" name="Picture 4" descr="prototype-1.jpeg">
            <a:extLst>
              <a:ext uri="{FF2B5EF4-FFF2-40B4-BE49-F238E27FC236}">
                <a16:creationId xmlns:a16="http://schemas.microsoft.com/office/drawing/2014/main" id="{6DFCAECC-D45C-4FE8-A01F-5E3FB99AB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6375" y="1209507"/>
            <a:ext cx="2451901" cy="187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CA4288-A5F8-4983-A19D-31053FAB591E}"/>
              </a:ext>
            </a:extLst>
          </p:cNvPr>
          <p:cNvSpPr txBox="1"/>
          <p:nvPr/>
        </p:nvSpPr>
        <p:spPr>
          <a:xfrm>
            <a:off x="863062" y="5277994"/>
            <a:ext cx="4197927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nb-NO" sz="1351" dirty="0">
                <a:solidFill>
                  <a:srgbClr val="0C0C0C"/>
                </a:solidFill>
                <a:latin typeface="Arial" panose="020B0604020202020204"/>
              </a:rPr>
              <a:t>University courses, student/hobbyist projects</a:t>
            </a:r>
            <a:endParaRPr lang="en-IE" sz="1351" dirty="0">
              <a:solidFill>
                <a:srgbClr val="0C0C0C"/>
              </a:solidFill>
              <a:latin typeface="Arial" panose="020B0604020202020204"/>
            </a:endParaRPr>
          </a:p>
        </p:txBody>
      </p:sp>
      <p:pic>
        <p:nvPicPr>
          <p:cNvPr id="1030" name="Picture 6" descr="https://www.animationcareerreview.com/files/styles/large/public/images/articles/unc-charlotte.jpg">
            <a:extLst>
              <a:ext uri="{FF2B5EF4-FFF2-40B4-BE49-F238E27FC236}">
                <a16:creationId xmlns:a16="http://schemas.microsoft.com/office/drawing/2014/main" id="{B654D1A7-4DCA-48D0-B41C-260DE967E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061" y="3170218"/>
            <a:ext cx="1341641" cy="753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ntnu">
            <a:extLst>
              <a:ext uri="{FF2B5EF4-FFF2-40B4-BE49-F238E27FC236}">
                <a16:creationId xmlns:a16="http://schemas.microsoft.com/office/drawing/2014/main" id="{D7289FFD-5518-4525-8005-E9B2E5197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351" y="4267400"/>
            <a:ext cx="2024063" cy="56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stanford university logo">
            <a:extLst>
              <a:ext uri="{FF2B5EF4-FFF2-40B4-BE49-F238E27FC236}">
                <a16:creationId xmlns:a16="http://schemas.microsoft.com/office/drawing/2014/main" id="{2F7C3084-0556-4D97-BDEC-D26F87F38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53" y="3118362"/>
            <a:ext cx="1763019" cy="59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abric GSM Determination Using Ultra96 + PYNQ">
            <a:extLst>
              <a:ext uri="{FF2B5EF4-FFF2-40B4-BE49-F238E27FC236}">
                <a16:creationId xmlns:a16="http://schemas.microsoft.com/office/drawing/2014/main" id="{E652F6ED-E620-4B33-9A43-F6FDC944A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60" y="3986616"/>
            <a:ext cx="1249073" cy="93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ackster.io – Learning Hardware Community">
            <a:extLst>
              <a:ext uri="{FF2B5EF4-FFF2-40B4-BE49-F238E27FC236}">
                <a16:creationId xmlns:a16="http://schemas.microsoft.com/office/drawing/2014/main" id="{E843C94D-F619-48FB-B505-9D45A38FE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15349" y="4327093"/>
            <a:ext cx="1092835" cy="29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web.xilinx.com/crossroads/articles/2018/hl-scotland-science/pynq%20demo.jpg">
            <a:extLst>
              <a:ext uri="{FF2B5EF4-FFF2-40B4-BE49-F238E27FC236}">
                <a16:creationId xmlns:a16="http://schemas.microsoft.com/office/drawing/2014/main" id="{5CE9158D-43C1-48AE-A0EF-DB8C37C5A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885" y="3889871"/>
            <a:ext cx="2554527" cy="191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E43A06-8025-49F6-BD09-40DD28793B29}"/>
              </a:ext>
            </a:extLst>
          </p:cNvPr>
          <p:cNvSpPr txBox="1"/>
          <p:nvPr/>
        </p:nvSpPr>
        <p:spPr>
          <a:xfrm>
            <a:off x="5979403" y="5870640"/>
            <a:ext cx="3089307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/>
            <a:r>
              <a:rPr lang="nb-NO" sz="1351" dirty="0">
                <a:solidFill>
                  <a:srgbClr val="0C0C0C"/>
                </a:solidFill>
                <a:latin typeface="Arial" panose="020B0604020202020204"/>
              </a:rPr>
              <a:t>Sketch Recognition (Xilinx Edinburgh)</a:t>
            </a:r>
            <a:endParaRPr lang="en-IE" sz="1351" dirty="0">
              <a:solidFill>
                <a:srgbClr val="0C0C0C"/>
              </a:solidFill>
              <a:latin typeface="Arial" panose="020B0604020202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1BB95-E805-4CBC-B1D5-48F8D8A8EF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3472" y="1019736"/>
            <a:ext cx="3160772" cy="147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9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AB47D0-16E2-4ABE-8D9D-389D5E40B4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64288"/>
            <a:ext cx="974725" cy="365125"/>
          </a:xfrm>
        </p:spPr>
        <p:txBody>
          <a:bodyPr/>
          <a:lstStyle/>
          <a:p>
            <a:fld id="{626C978B-826E-438C-909A-E9C381D3FF0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84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Xilinx-5">
  <a:themeElements>
    <a:clrScheme name="Custom 1">
      <a:dk1>
        <a:srgbClr val="0C0C0C"/>
      </a:dk1>
      <a:lt1>
        <a:srgbClr val="FFFFFF"/>
      </a:lt1>
      <a:dk2>
        <a:srgbClr val="161C2E"/>
      </a:dk2>
      <a:lt2>
        <a:srgbClr val="5F5F5F"/>
      </a:lt2>
      <a:accent1>
        <a:srgbClr val="E20000"/>
      </a:accent1>
      <a:accent2>
        <a:srgbClr val="282D3F"/>
      </a:accent2>
      <a:accent3>
        <a:srgbClr val="8D919A"/>
      </a:accent3>
      <a:accent4>
        <a:srgbClr val="055C99"/>
      </a:accent4>
      <a:accent5>
        <a:srgbClr val="0D9079"/>
      </a:accent5>
      <a:accent6>
        <a:srgbClr val="00B2BA"/>
      </a:accent6>
      <a:hlink>
        <a:srgbClr val="055C99"/>
      </a:hlink>
      <a:folHlink>
        <a:srgbClr val="5F5F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Xilinx_Corporate-PPT Template-2019_FINAL_IT_Update.pptx" id="{B6AE916F-13E4-4F08-9A1F-7F07C9E5658A}" vid="{3983F530-7CFE-4EA1-8898-6D143BCF6453}"/>
    </a:ext>
  </a:extLst>
</a:theme>
</file>

<file path=ppt/theme/theme2.xml><?xml version="1.0" encoding="utf-8"?>
<a:theme xmlns:a="http://schemas.openxmlformats.org/drawingml/2006/main" name="1_Xilinx-5">
  <a:themeElements>
    <a:clrScheme name="Custom 60">
      <a:dk1>
        <a:srgbClr val="0C0C0C"/>
      </a:dk1>
      <a:lt1>
        <a:srgbClr val="FFFFFF"/>
      </a:lt1>
      <a:dk2>
        <a:srgbClr val="161C2E"/>
      </a:dk2>
      <a:lt2>
        <a:srgbClr val="7F7F7F"/>
      </a:lt2>
      <a:accent1>
        <a:srgbClr val="EB1C23"/>
      </a:accent1>
      <a:accent2>
        <a:srgbClr val="055C99"/>
      </a:accent2>
      <a:accent3>
        <a:srgbClr val="F5811E"/>
      </a:accent3>
      <a:accent4>
        <a:srgbClr val="00B2BA"/>
      </a:accent4>
      <a:accent5>
        <a:srgbClr val="A21820"/>
      </a:accent5>
      <a:accent6>
        <a:srgbClr val="1E640E"/>
      </a:accent6>
      <a:hlink>
        <a:srgbClr val="055C99"/>
      </a:hlink>
      <a:folHlink>
        <a:srgbClr val="5F5F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19XIL003-XDF-Event-PPT Template-FINAL2-070919" id="{DF7B1D2B-A495-4B2C-BB31-2D9C7C8ADA64}" vid="{BE402237-9A31-4D85-9FF0-CBC44069E276}"/>
    </a:ext>
  </a:extLst>
</a:theme>
</file>

<file path=ppt/theme/theme3.xml><?xml version="1.0" encoding="utf-8"?>
<a:theme xmlns:a="http://schemas.openxmlformats.org/drawingml/2006/main" name="2_Xilinx-5">
  <a:themeElements>
    <a:clrScheme name="Custom 1">
      <a:dk1>
        <a:srgbClr val="0C0C0C"/>
      </a:dk1>
      <a:lt1>
        <a:srgbClr val="FFFFFF"/>
      </a:lt1>
      <a:dk2>
        <a:srgbClr val="161C2E"/>
      </a:dk2>
      <a:lt2>
        <a:srgbClr val="5F5F5F"/>
      </a:lt2>
      <a:accent1>
        <a:srgbClr val="E20000"/>
      </a:accent1>
      <a:accent2>
        <a:srgbClr val="282D3F"/>
      </a:accent2>
      <a:accent3>
        <a:srgbClr val="8D919A"/>
      </a:accent3>
      <a:accent4>
        <a:srgbClr val="055C99"/>
      </a:accent4>
      <a:accent5>
        <a:srgbClr val="0D9079"/>
      </a:accent5>
      <a:accent6>
        <a:srgbClr val="00B2BA"/>
      </a:accent6>
      <a:hlink>
        <a:srgbClr val="055C99"/>
      </a:hlink>
      <a:folHlink>
        <a:srgbClr val="5F5F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Xilinx_Corporate-PPT Template-2019_FINAL_IT_Update.pptx" id="{B6AE916F-13E4-4F08-9A1F-7F07C9E5658A}" vid="{3983F530-7CFE-4EA1-8898-6D143BCF6453}"/>
    </a:ext>
  </a:extLst>
</a:theme>
</file>

<file path=ppt/theme/theme4.xml><?xml version="1.0" encoding="utf-8"?>
<a:theme xmlns:a="http://schemas.openxmlformats.org/drawingml/2006/main" name="3_Xilinx-5">
  <a:themeElements>
    <a:clrScheme name="Custom 1">
      <a:dk1>
        <a:srgbClr val="0C0C0C"/>
      </a:dk1>
      <a:lt1>
        <a:srgbClr val="FFFFFF"/>
      </a:lt1>
      <a:dk2>
        <a:srgbClr val="161C2E"/>
      </a:dk2>
      <a:lt2>
        <a:srgbClr val="5F5F5F"/>
      </a:lt2>
      <a:accent1>
        <a:srgbClr val="E20000"/>
      </a:accent1>
      <a:accent2>
        <a:srgbClr val="282D3F"/>
      </a:accent2>
      <a:accent3>
        <a:srgbClr val="8D919A"/>
      </a:accent3>
      <a:accent4>
        <a:srgbClr val="055C99"/>
      </a:accent4>
      <a:accent5>
        <a:srgbClr val="0D9079"/>
      </a:accent5>
      <a:accent6>
        <a:srgbClr val="00B2BA"/>
      </a:accent6>
      <a:hlink>
        <a:srgbClr val="055C99"/>
      </a:hlink>
      <a:folHlink>
        <a:srgbClr val="5F5F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Xilinx_Corporate-PPT Template-2019_FINAL_IT_Update.pptx" id="{B6AE916F-13E4-4F08-9A1F-7F07C9E5658A}" vid="{3983F530-7CFE-4EA1-8898-6D143BCF645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3AA4F4-3B34-2743-ACD6-F6D573A82AF7}">
  <we:reference id="f9ac8e4d-ed29-46df-aca6-61a4f7a9a1d6" version="1.0.0.1" store="developer" storeType="Registry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6B37FA43543848A1392F720DAB8DF3" ma:contentTypeVersion="7" ma:contentTypeDescription="Create a new document." ma:contentTypeScope="" ma:versionID="dd410d198cf2f5023641eeb5e65e6f8f">
  <xsd:schema xmlns:xsd="http://www.w3.org/2001/XMLSchema" xmlns:xs="http://www.w3.org/2001/XMLSchema" xmlns:p="http://schemas.microsoft.com/office/2006/metadata/properties" xmlns:ns3="cb21ee11-b491-4c7a-a577-a95671055238" xmlns:ns4="cb35b90f-2172-463b-a28b-5ecc8e6d0938" targetNamespace="http://schemas.microsoft.com/office/2006/metadata/properties" ma:root="true" ma:fieldsID="8ff1c06ca699684dc3477201715e0f9d" ns3:_="" ns4:_="">
    <xsd:import namespace="cb21ee11-b491-4c7a-a577-a95671055238"/>
    <xsd:import namespace="cb35b90f-2172-463b-a28b-5ecc8e6d093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21ee11-b491-4c7a-a577-a956710552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35b90f-2172-463b-a28b-5ecc8e6d093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8C6BC4-120B-45C5-8FC5-ACBF1022D61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AE8C60-3F0F-43EB-AF79-5C302B1662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21ee11-b491-4c7a-a577-a95671055238"/>
    <ds:schemaRef ds:uri="cb35b90f-2172-463b-a28b-5ecc8e6d093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9A429E-3CE0-4E87-B5FA-707C5F9F8717}">
  <ds:schemaRefs>
    <ds:schemaRef ds:uri="cb35b90f-2172-463b-a28b-5ecc8e6d0938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cb21ee11-b491-4c7a-a577-a9567105523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721</Words>
  <Application>Microsoft Office PowerPoint</Application>
  <PresentationFormat>Widescreen</PresentationFormat>
  <Paragraphs>186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Webdings</vt:lpstr>
      <vt:lpstr>Wingdings</vt:lpstr>
      <vt:lpstr>Wingdings 3</vt:lpstr>
      <vt:lpstr>Xilinx-5</vt:lpstr>
      <vt:lpstr>1_Xilinx-5</vt:lpstr>
      <vt:lpstr>2_Xilinx-5</vt:lpstr>
      <vt:lpstr>3_Xilinx-5</vt:lpstr>
      <vt:lpstr>PyTorch-to-FPGA for QNNs with</vt:lpstr>
      <vt:lpstr>Xilinx Research,   Dublin</vt:lpstr>
      <vt:lpstr>Exploring Custom Hardware + Algorithms for DNNs </vt:lpstr>
      <vt:lpstr>Few-bit QNNs + FPGA Dataflow: Showcases</vt:lpstr>
      <vt:lpstr>The FINN Project: Mission </vt:lpstr>
      <vt:lpstr>The FINN Project: Components of the Stack From PyTorch to FPGA</vt:lpstr>
      <vt:lpstr>An Overview of the FINN Compiler</vt:lpstr>
      <vt:lpstr>How We Use ONNX in the FINN Compiler</vt:lpstr>
      <vt:lpstr>How We Use ONNX in the FINN Compiler</vt:lpstr>
      <vt:lpstr>Join our Growing Open-Source Community!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>Public, , , , , , , , ,</cp:keywords>
  <dc:description/>
  <cp:lastModifiedBy/>
  <cp:revision>1</cp:revision>
  <dcterms:created xsi:type="dcterms:W3CDTF">2020-04-07T09:55:31Z</dcterms:created>
  <dcterms:modified xsi:type="dcterms:W3CDTF">2020-04-08T08:55:35Z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1f377b2c-3457-42dd-95e8-a7ef721389e7</vt:lpwstr>
  </property>
  <property fmtid="{D5CDD505-2E9C-101B-9397-08002B2CF9AE}" pid="3" name="XilinxPublication Year">
    <vt:lpwstr>2020</vt:lpwstr>
  </property>
  <property fmtid="{D5CDD505-2E9C-101B-9397-08002B2CF9AE}" pid="4" name="XilinxVisual Markings">
    <vt:lpwstr>Yes</vt:lpwstr>
  </property>
  <property fmtid="{D5CDD505-2E9C-101B-9397-08002B2CF9AE}" pid="5" name="XilinxAdditional Classifications">
    <vt:lpwstr/>
  </property>
  <property fmtid="{D5CDD505-2E9C-101B-9397-08002B2CF9AE}" pid="6" name="XilinxDevelopment Projects">
    <vt:lpwstr/>
  </property>
  <property fmtid="{D5CDD505-2E9C-101B-9397-08002B2CF9AE}" pid="7" name="XilinxThird Party">
    <vt:lpwstr/>
  </property>
  <property fmtid="{D5CDD505-2E9C-101B-9397-08002B2CF9AE}" pid="8" name="XilinxExport Control">
    <vt:lpwstr/>
  </property>
  <property fmtid="{D5CDD505-2E9C-101B-9397-08002B2CF9AE}" pid="9" name="XilinxNote (Line 2)">
    <vt:lpwstr/>
  </property>
  <property fmtid="{D5CDD505-2E9C-101B-9397-08002B2CF9AE}" pid="10" name="PublicationYear">
    <vt:lpwstr>2020</vt:lpwstr>
  </property>
  <property fmtid="{D5CDD505-2E9C-101B-9397-08002B2CF9AE}" pid="11" name="XilinxClassification">
    <vt:lpwstr>Public</vt:lpwstr>
  </property>
  <property fmtid="{D5CDD505-2E9C-101B-9397-08002B2CF9AE}" pid="12" name="VisualMarkings">
    <vt:lpwstr>Yes</vt:lpwstr>
  </property>
  <property fmtid="{D5CDD505-2E9C-101B-9397-08002B2CF9AE}" pid="13" name="ContentTypeId">
    <vt:lpwstr>0x010100546B37FA43543848A1392F720DAB8DF3</vt:lpwstr>
  </property>
</Properties>
</file>