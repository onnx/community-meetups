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9e11d0db29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9e11d0db2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9e11d0db2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9e11d0db2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9e11d0db29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9e11d0db2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9b7a2890e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9b7a2890e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9e11d0db2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9e11d0db2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9e11d0db2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9e11d0db2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9e11d0db29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9e11d0db2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9b7a2890e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9b7a2890e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9b7a2890e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9b7a2890e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9e11d0db29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9e11d0db2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9e11d0db29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9e11d0db2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9b7a2890e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9b7a2890e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Oneflow-Inc/DLPerf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Oneflow-Inc" TargetMode="Externa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ONNX at OneFlow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450" y="3109625"/>
            <a:ext cx="2047800" cy="10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Jianhao Zhang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OneFlow Inc.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About me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GitHub: daquexian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 developer at OneFlow Inc.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An active contributor from ONNX community, a member of operator SIG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ONNX-related work: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ONNX &lt;-&gt; OneFlow conversion (today’s presentation)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onnx-simplifier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onnx/optimizer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/>
              <a:t>resize and softmax op spec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Also a presenter at ONNX workshop in Shanghai last year (about one of my previous work, integration of Android NNAPI and ONNX Runtime)</a:t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4850" y="2064825"/>
            <a:ext cx="1013850" cy="10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OneFlow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</a:rPr>
              <a:t>Oneflow is a brand-new open-source training framework focusing on distributed training. </a:t>
            </a:r>
            <a:r>
              <a:rPr lang="en-GB" sz="1500">
                <a:solidFill>
                  <a:srgbClr val="000000"/>
                </a:solidFill>
                <a:highlight>
                  <a:srgbClr val="FFFFFF"/>
                </a:highlight>
              </a:rPr>
              <a:t>It makes distributed training on multi-machines and multi-devices as simple as on single device.</a:t>
            </a:r>
            <a:endParaRPr sz="15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11150" lvl="0" marL="736600" rtl="0" algn="l">
              <a:spcBef>
                <a:spcPts val="2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lang="en-GB">
                <a:solidFill>
                  <a:srgbClr val="000000"/>
                </a:solidFill>
                <a:highlight>
                  <a:srgbClr val="FFFFFF"/>
                </a:highlight>
              </a:rPr>
              <a:t>Perfectly support container platforms(k8s &amp; docker)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11150" lvl="0" marL="736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lang="en-GB">
                <a:solidFill>
                  <a:srgbClr val="000000"/>
                </a:solidFill>
                <a:highlight>
                  <a:srgbClr val="FFFFFF"/>
                </a:highlight>
              </a:rPr>
              <a:t>Handle large models easily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11150" lvl="0" marL="736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lang="en-GB">
                <a:solidFill>
                  <a:srgbClr val="000000"/>
                </a:solidFill>
                <a:highlight>
                  <a:srgbClr val="FFFFFF"/>
                </a:highlight>
              </a:rPr>
              <a:t>Almost zero runtime overhead &amp; linear speedup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11150" lvl="0" marL="736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lang="en-GB">
                <a:solidFill>
                  <a:srgbClr val="000000"/>
                </a:solidFill>
                <a:highlight>
                  <a:srgbClr val="FFFFFF"/>
                </a:highlight>
              </a:rPr>
              <a:t>Support multiple deep learning compilers (XLA, TensorRT etc)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11150" lvl="0" marL="736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lang="en-GB">
                <a:solidFill>
                  <a:srgbClr val="000000"/>
                </a:solidFill>
                <a:highlight>
                  <a:srgbClr val="FFFFFF"/>
                </a:highlight>
              </a:rPr>
              <a:t>Support automatic mixed precision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1075" y="2794275"/>
            <a:ext cx="1545700" cy="154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OneFlow Benchmark</a:t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825" y="2055000"/>
            <a:ext cx="3893926" cy="244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OneFlow Benchmark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5074800" y="2629620"/>
            <a:ext cx="35313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/>
              <a:t>The  detailed benchmark report is public at </a:t>
            </a:r>
            <a:r>
              <a:rPr lang="en-GB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https://github.com/Oneflow-Inc/DLPerf</a:t>
            </a:r>
            <a:r>
              <a:rPr lang="en-GB"/>
              <a:t>!</a:t>
            </a:r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825" y="2055000"/>
            <a:ext cx="3893926" cy="244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“Sounds Great, but..”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4827425" y="2078875"/>
            <a:ext cx="3590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Most DL researchers/developers are familiar with TensorFlow/PyTorch/MXNet.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Even though OneFlow is faster, there is a cost to migrate their codecase (mostly the model) to OneFlow.</a:t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011875"/>
            <a:ext cx="3952325" cy="274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729450" y="1318650"/>
            <a:ext cx="8220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Solution: Convert TF/PT/MXNet to OneFlow via ONNX</a:t>
            </a:r>
            <a:endParaRPr sz="2400"/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968573"/>
            <a:ext cx="1819349" cy="103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7950" y="2810825"/>
            <a:ext cx="1485175" cy="103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6535" y="4045950"/>
            <a:ext cx="1485175" cy="589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19"/>
          <p:cNvCxnSpPr/>
          <p:nvPr/>
        </p:nvCxnSpPr>
        <p:spPr>
          <a:xfrm>
            <a:off x="2660325" y="3405075"/>
            <a:ext cx="66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1" name="Google Shape;13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96600" y="3070700"/>
            <a:ext cx="1819350" cy="6687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19"/>
          <p:cNvCxnSpPr/>
          <p:nvPr/>
        </p:nvCxnSpPr>
        <p:spPr>
          <a:xfrm>
            <a:off x="5574525" y="3419425"/>
            <a:ext cx="67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3" name="Google Shape;13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99425" y="2646575"/>
            <a:ext cx="1545700" cy="154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to Model Conversion</a:t>
            </a:r>
            <a:endParaRPr/>
          </a:p>
        </p:txBody>
      </p:sp>
      <p:sp>
        <p:nvSpPr>
          <p:cNvPr id="139" name="Google Shape;139;p20"/>
          <p:cNvSpPr txBox="1"/>
          <p:nvPr/>
        </p:nvSpPr>
        <p:spPr>
          <a:xfrm>
            <a:off x="720000" y="2016000"/>
            <a:ext cx="78174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torchvision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tv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oneflow </a:t>
            </a: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flow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oneflow.typing </a:t>
            </a: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tp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pytorch_resnet18 = tv.models.resnet18()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@flow.global_function(</a:t>
            </a:r>
            <a:r>
              <a:rPr lang="en-GB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"train"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job(x: tp.Numpy.Placeholder(bs,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224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224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 -&gt; tp.Numpy: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y = flow.from_pytorch(pytorch_resnet18, x)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lr_scheduler = flow.optimizer.CosineScheduler(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0.01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90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flow.optimizer.SGD(lr_scheduler).minimize(y)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y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to Model Conversion</a:t>
            </a:r>
            <a:endParaRPr/>
          </a:p>
        </p:txBody>
      </p:sp>
      <p:sp>
        <p:nvSpPr>
          <p:cNvPr id="145" name="Google Shape;145;p21"/>
          <p:cNvSpPr txBox="1"/>
          <p:nvPr/>
        </p:nvSpPr>
        <p:spPr>
          <a:xfrm>
            <a:off x="720000" y="2016000"/>
            <a:ext cx="68682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torchvision </a:t>
            </a: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tv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oneflow </a:t>
            </a: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flow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oneflow.typing </a:t>
            </a: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tp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highlight>
                  <a:srgbClr val="E0E0E0"/>
                </a:highlight>
                <a:latin typeface="Roboto Mono"/>
                <a:ea typeface="Roboto Mono"/>
                <a:cs typeface="Roboto Mono"/>
                <a:sym typeface="Roboto Mono"/>
              </a:rPr>
              <a:t>pytorch_resnet18 = tv.models.resnet18()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@flow.global_function(</a:t>
            </a:r>
            <a:r>
              <a:rPr lang="en-GB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"train"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job(x: tp.Numpy.Placeholder(bs,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224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224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 -&gt; tp.Numpy: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y = flow.from_pytorch(pytorch_resnet18, x)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lr_scheduler = flow.optimizer.CosineScheduler(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0.01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90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flow.optimizer.SGD(lr_scheduler).minimize(y)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y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to Model Conversion</a:t>
            </a:r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720000" y="2016000"/>
            <a:ext cx="7256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torchvision </a:t>
            </a: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tv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oneflow </a:t>
            </a: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flow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oneflow.typing </a:t>
            </a: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tp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pytorch_resnet18 = tv.models.resnet18()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@flow.global_function(</a:t>
            </a:r>
            <a:r>
              <a:rPr lang="en-GB">
                <a:solidFill>
                  <a:srgbClr val="9C27B0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GB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"train"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job(x: tp.Numpy.Placeholder(bs,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224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224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)) -&gt; tp.Numpy: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>
                <a:solidFill>
                  <a:srgbClr val="37474F"/>
                </a:solidFill>
                <a:highlight>
                  <a:srgbClr val="E0E0E0"/>
                </a:highlight>
                <a:latin typeface="Roboto Mono"/>
                <a:ea typeface="Roboto Mono"/>
                <a:cs typeface="Roboto Mono"/>
                <a:sym typeface="Roboto Mono"/>
              </a:rPr>
              <a:t>y = flow.from_pytorch(pytorch_resnet18, x)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lr_scheduler = flow.optimizer.CosineScheduler(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0.01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90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flow.optimizer.SGD(lr_scheduler).minimize(y)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y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 to Code conversion (WIP)</a:t>
            </a:r>
            <a:endParaRPr/>
          </a:p>
        </p:txBody>
      </p:sp>
      <p:cxnSp>
        <p:nvCxnSpPr>
          <p:cNvPr id="157" name="Google Shape;157;p23"/>
          <p:cNvCxnSpPr/>
          <p:nvPr/>
        </p:nvCxnSpPr>
        <p:spPr>
          <a:xfrm>
            <a:off x="3347475" y="3033250"/>
            <a:ext cx="79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" name="Google Shape;158;p23"/>
          <p:cNvSpPr txBox="1"/>
          <p:nvPr/>
        </p:nvSpPr>
        <p:spPr>
          <a:xfrm>
            <a:off x="4245450" y="2313750"/>
            <a:ext cx="5000700" cy="17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OneFlow code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x2=flow.layers.conv2d(x1, filters=</a:t>
            </a:r>
            <a:r>
              <a:rPr lang="en-GB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64</a:t>
            </a:r>
            <a:r>
              <a:rPr lang="en-GB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kernel_size=</a:t>
            </a:r>
            <a:r>
              <a:rPr lang="en-GB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7</a:t>
            </a:r>
            <a:r>
              <a:rPr lang="en-GB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strides=</a:t>
            </a:r>
            <a:r>
              <a:rPr lang="en-GB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GB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padding=</a:t>
            </a:r>
            <a:r>
              <a:rPr lang="en-GB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GB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x3=flow.layer.batch_normalization(x2)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x4=flow.nn.relu(x3)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x5=flow.nn.max_pool2d(x4, ksize=</a:t>
            </a:r>
            <a:r>
              <a:rPr lang="en-GB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GB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strides=</a:t>
            </a:r>
            <a:r>
              <a:rPr lang="en-GB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GB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padding=</a:t>
            </a:r>
            <a:r>
              <a:rPr lang="en-GB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x6=flow.layers.conv2d(x5, filters=</a:t>
            </a:r>
            <a:r>
              <a:rPr lang="en-GB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64</a:t>
            </a:r>
            <a:r>
              <a:rPr lang="en-GB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kernel_size=</a:t>
            </a:r>
            <a:r>
              <a:rPr lang="en-GB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GB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padding=</a:t>
            </a:r>
            <a:r>
              <a:rPr lang="en-GB" sz="105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.....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796200" y="2676100"/>
            <a:ext cx="2449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D81B60"/>
                </a:solidFill>
                <a:latin typeface="Roboto Mono"/>
                <a:ea typeface="Roboto Mono"/>
                <a:cs typeface="Roboto Mono"/>
                <a:sym typeface="Roboto Mono"/>
              </a:rPr>
              <a:t># PyTorch code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-GB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torchvision </a:t>
            </a:r>
            <a:r>
              <a:rPr lang="en-GB" sz="105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-GB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tv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model = tv.models.resnet18()</a:t>
            </a:r>
            <a:endParaRPr sz="105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Also, ONNX Helps us Deploy Models on Mobile</a:t>
            </a:r>
            <a:endParaRPr/>
          </a:p>
        </p:txBody>
      </p:sp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729450" y="2078875"/>
            <a:ext cx="31485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 a startup team, we do not have the bandwidth to implement our own mobile inference framework.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/>
              <a:t>Again, ONNX helps us a lot. We convert our model to the existing mobile inference frameworks, like ncnn from Tencent, via ONNX.</a:t>
            </a:r>
            <a:endParaRPr/>
          </a:p>
        </p:txBody>
      </p:sp>
      <p:pic>
        <p:nvPicPr>
          <p:cNvPr id="166" name="Google Shape;16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5475" y="2513925"/>
            <a:ext cx="1183150" cy="118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5925" y="2623750"/>
            <a:ext cx="963501" cy="96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24"/>
          <p:cNvCxnSpPr/>
          <p:nvPr/>
        </p:nvCxnSpPr>
        <p:spPr>
          <a:xfrm>
            <a:off x="5643575" y="3133050"/>
            <a:ext cx="134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9" name="Google Shape;16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6135" y="2279498"/>
            <a:ext cx="721875" cy="7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/>
        </p:nvSpPr>
        <p:spPr>
          <a:xfrm>
            <a:off x="3214675" y="1967200"/>
            <a:ext cx="24183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latin typeface="Lato"/>
                <a:ea typeface="Lato"/>
                <a:cs typeface="Lato"/>
                <a:sym typeface="Lato"/>
              </a:rPr>
              <a:t>Thanks!</a:t>
            </a:r>
            <a:endParaRPr sz="4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2760600" y="2765625"/>
            <a:ext cx="3622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Our GitHub: </a:t>
            </a:r>
            <a:r>
              <a:rPr lang="en-GB" sz="1300" u="sng">
                <a:solidFill>
                  <a:schemeClr val="hlink"/>
                </a:solidFill>
                <a:hlinkClick r:id="rId3"/>
              </a:rPr>
              <a:t>https://github.com/Oneflow-Inc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6" name="Google Shape;17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5175" y="2862363"/>
            <a:ext cx="245425" cy="2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