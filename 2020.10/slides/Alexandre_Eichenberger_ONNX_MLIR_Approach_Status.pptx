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89" r:id="rId3"/>
    <p:sldId id="285" r:id="rId4"/>
    <p:sldId id="269" r:id="rId5"/>
    <p:sldId id="270" r:id="rId6"/>
    <p:sldId id="287" r:id="rId7"/>
    <p:sldId id="272" r:id="rId8"/>
    <p:sldId id="282" r:id="rId9"/>
    <p:sldId id="288" r:id="rId10"/>
    <p:sldId id="27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1ADB78-F640-2D48-BA1E-831BAF7220C9}">
          <p14:sldIdLst>
            <p14:sldId id="256"/>
            <p14:sldId id="289"/>
            <p14:sldId id="285"/>
            <p14:sldId id="269"/>
            <p14:sldId id="270"/>
            <p14:sldId id="287"/>
            <p14:sldId id="272"/>
            <p14:sldId id="282"/>
            <p14:sldId id="28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ED7D31"/>
    <a:srgbClr val="EBC382"/>
    <a:srgbClr val="FFD2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4"/>
    <p:restoredTop sz="88790"/>
  </p:normalViewPr>
  <p:slideViewPr>
    <p:cSldViewPr snapToGrid="0" snapToObjects="1">
      <p:cViewPr varScale="1">
        <p:scale>
          <a:sx n="121" d="100"/>
          <a:sy n="121" d="100"/>
        </p:scale>
        <p:origin x="192" y="4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9D55D-A146-424F-86F1-402AA766AB74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30B60-54D3-F641-8B43-20D29F0B8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4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30B60-54D3-F641-8B43-20D29F0B8B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65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30B60-54D3-F641-8B43-20D29F0B8B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3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1D30-5734-464E-9421-47E04D348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03C1F-8DE3-6948-9C61-C2DC6290FC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7560B-E99E-1843-94E4-73544658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F533A-30AE-6448-9E19-21C8FCC7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7F8BB-EC87-4646-99F2-BCEECE6B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1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24D1D-2CA5-F542-880A-277BA548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74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E092-94D7-9A4C-A41C-AD12B04C1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743"/>
            <a:ext cx="10515600" cy="469322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FC8FA-BD63-F744-9CF8-4FB3AC79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22ED3-1526-E14E-8292-C809DED8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362DC-2502-B84F-AD06-D2DE4998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4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D2E0-511E-9140-BB5B-94075E3A4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B92E1-7079-3542-ABFD-5DF44F6D0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BC79C-61E9-9447-94C9-DC5D36EFF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19C2-AF6C-024B-9469-2EDA0BA72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389ED-3569-F54A-9195-F13C33B1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9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47C9-B796-9A41-9FCF-71980A14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008EB-C13E-5346-9A8E-1FB07C2C5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3D90C-0408-6949-82FE-791BB0983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66364-ECA2-5243-B137-8B6C1989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DFAB3-F525-494D-9617-E6AA38B01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F67AA-AD07-C149-8FE1-D9F5ED1C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0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2803-C115-3748-8453-6279FC69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A63D1-271D-5247-A272-13E2E2E2C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72E41-5347-1147-96F3-0558AD4FD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9D860-E70C-644A-B190-D094CBC98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230FC-5A54-024D-A817-871F14D27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ACA56-C73E-C74B-A8DC-55B2FDE2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856A9-834E-9240-997E-3D161FBF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447FD6-539E-8E46-97D8-C86EA9A0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6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16FEA-480D-E14A-BBF4-68EB8AE0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56534-E4DF-5B48-9E7E-8B1809C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1EB36-8C15-F24B-AAA0-89235474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A1FBD-DC50-414E-88C4-405FF683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38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5B6C5-2B0A-844D-B26C-C9BC5245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449DD-C5B4-5A45-8A6E-C656B202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98F4F-2611-B843-8E24-D5636713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8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DF29-1E11-B34A-A76A-E55782A6E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D316D-8620-C349-B655-CC9EFE1BF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A2B27-E2DE-DF41-A14D-B1F9A370C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C7D8F-423D-DE40-A49D-F421BCE4F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CA221-427C-AA4A-9B2D-EA14DA6E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6B97F-A1F9-A34A-8BC4-7973A592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05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3C96-FAE9-EE4E-8B6F-ABDD3603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CC5B55-0694-C543-AE15-7E4D52ECC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1322C-A414-3843-B61A-7BCB8AED8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FF80E-D563-AD4F-ACB2-02E08360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68CEA-62E1-714C-9452-2A7BF57E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A8662-875A-EB4E-A341-4B4A03CF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72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41DB-6CC1-3D4E-AC3D-73088041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DE572-2563-D545-A9A0-7C4A56361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6801C-DAED-8647-A842-AA7E102AF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371C-A1E2-1B4E-9020-56F0C9220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3CB1-BEFD-564C-9715-F51915D1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6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483580-F110-7841-A7E7-7B24B24DC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6CDCB-2C4C-474C-A45A-50699CF70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4D0E3-A76D-E44E-BFB2-229C5402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892D4-5480-A844-A709-062D08572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811F3-DE3E-5C40-9367-01BE9932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2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62EB45-D435-024C-921A-7C13B21F6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74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B8BFA-54A5-C94B-A54B-EF67181D2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83743"/>
            <a:ext cx="10515600" cy="469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BCE1A-39D5-FB48-8625-04D32C03B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D42E3-364C-4448-B4CB-22E03F41DA6B}" type="datetimeFigureOut">
              <a:rPr lang="en-US" smtClean="0"/>
              <a:t>10/12/20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5E552-BF67-AB4E-AE14-E385A2BE1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40E9-9717-5D45-8E09-189F9FBD8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69444-9B8F-FE4A-B342-0DF10055F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onnx.ai/onnx-mlir" TargetMode="External"/><Relationship Id="rId2" Type="http://schemas.openxmlformats.org/officeDocument/2006/relationships/hyperlink" Target="https://github.com/onnx/onnx-mli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C1DD-0200-1B42-AC3A-0771CD78F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83" y="1122363"/>
            <a:ext cx="12107917" cy="2387600"/>
          </a:xfrm>
        </p:spPr>
        <p:txBody>
          <a:bodyPr>
            <a:normAutofit/>
          </a:bodyPr>
          <a:lstStyle/>
          <a:p>
            <a:r>
              <a:rPr lang="en-US" b="1" dirty="0"/>
              <a:t>ONNX Support in the MLIR Compiler</a:t>
            </a:r>
            <a:br>
              <a:rPr lang="en-US" b="1" dirty="0"/>
            </a:br>
            <a:r>
              <a:rPr lang="en-US" sz="1400" b="1" dirty="0"/>
              <a:t> </a:t>
            </a:r>
            <a:br>
              <a:rPr lang="en-US" b="1" dirty="0"/>
            </a:br>
            <a:r>
              <a:rPr lang="en-US" b="1" dirty="0"/>
              <a:t> Approach and Status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79D1A-D63A-2D48-B4E9-EB8EE2544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2960"/>
            <a:ext cx="9144000" cy="2493963"/>
          </a:xfrm>
        </p:spPr>
        <p:txBody>
          <a:bodyPr>
            <a:normAutofit/>
          </a:bodyPr>
          <a:lstStyle/>
          <a:p>
            <a:r>
              <a:rPr lang="en-US" altLang="zh-CN" dirty="0"/>
              <a:t>Alexandre Eichenberger</a:t>
            </a:r>
          </a:p>
          <a:p>
            <a:r>
              <a:rPr lang="en-US" altLang="zh-CN" sz="1400" dirty="0"/>
              <a:t> </a:t>
            </a:r>
          </a:p>
          <a:p>
            <a:r>
              <a:rPr lang="en-US" altLang="zh-CN" dirty="0"/>
              <a:t>Collaborative effort from</a:t>
            </a:r>
          </a:p>
          <a:p>
            <a:r>
              <a:rPr lang="en-US" altLang="zh-CN" dirty="0"/>
              <a:t>IBM Watson/Tokyo Research Labs</a:t>
            </a:r>
          </a:p>
          <a:p>
            <a:r>
              <a:rPr lang="en-US" dirty="0"/>
              <a:t>and a growing number of external contributors.</a:t>
            </a:r>
          </a:p>
        </p:txBody>
      </p:sp>
    </p:spTree>
    <p:extLst>
      <p:ext uri="{BB962C8B-B14F-4D97-AF65-F5344CB8AC3E}">
        <p14:creationId xmlns:p14="http://schemas.microsoft.com/office/powerpoint/2010/main" val="194376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AFF740-4508-FD45-B809-F7C0E2DE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Presenter</a:t>
            </a:r>
          </a:p>
        </p:txBody>
      </p:sp>
      <p:pic>
        <p:nvPicPr>
          <p:cNvPr id="5" name="Content Placeholder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F26135E8-EDFF-754F-848B-80FD4BB9C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02590"/>
            <a:ext cx="2748077" cy="274084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EE5D5B-CB70-4348-9C85-89B2BE912B59}"/>
              </a:ext>
            </a:extLst>
          </p:cNvPr>
          <p:cNvSpPr txBox="1"/>
          <p:nvPr/>
        </p:nvSpPr>
        <p:spPr>
          <a:xfrm>
            <a:off x="4025462" y="1180655"/>
            <a:ext cx="7328338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Alexandre Eichenberger</a:t>
            </a:r>
          </a:p>
          <a:p>
            <a:r>
              <a:rPr lang="en-US" dirty="0"/>
              <a:t>Principal Research Staff Member</a:t>
            </a:r>
          </a:p>
          <a:p>
            <a:r>
              <a:rPr lang="en-US" dirty="0"/>
              <a:t>IBM T.J. Watson Research Center</a:t>
            </a:r>
          </a:p>
          <a:p>
            <a:r>
              <a:rPr lang="en-US" dirty="0"/>
              <a:t>alexe@us.ibm.com</a:t>
            </a:r>
          </a:p>
          <a:p>
            <a:endParaRPr lang="en-US" dirty="0"/>
          </a:p>
          <a:p>
            <a:r>
              <a:rPr lang="en-US" dirty="0"/>
              <a:t>Hired in 2001 to help program the IBM/Sony/Toshiba PlayStation 3, I have enjoyed doing research at IBM in Instruction-Level Parallelism, SIMD &amp; thread level parallelism. The last few years, I have worked on supporting OpenMP on our supercomputers, from BG/Q to Coral machines. More recently, I am looking into supporting Deep Neural Networks on a wide range of machines. Just like OpenMP is a great standard to exploit parallelism for a wide range of supercomputers, ONNX is a great standard to support a wide range of frameworks for Deep Neural Networks and related AI tasks.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7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56EC-4235-FF4D-BB58-38EB6AA6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Multi-Level Intermediate Representation (MLIR)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E8C81-6D1E-F94F-9B8E-8C3DBDB5C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Goals of MLIR.</a:t>
            </a:r>
          </a:p>
          <a:p>
            <a:pPr lvl="1"/>
            <a:r>
              <a:rPr lang="en-US" dirty="0"/>
              <a:t>Significantly reduce the cost of building domain specific compilers.</a:t>
            </a:r>
          </a:p>
          <a:p>
            <a:pPr lvl="1"/>
            <a:r>
              <a:rPr lang="en-US" dirty="0"/>
              <a:t>Connect existing compilers together through a shared infrastructure.</a:t>
            </a:r>
          </a:p>
          <a:p>
            <a:pPr lvl="1"/>
            <a:r>
              <a:rPr lang="en-US" dirty="0"/>
              <a:t>Part of LLVM compiler &amp; governance.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AFCB331-161D-6544-9FE3-7358CEE4378B}"/>
              </a:ext>
            </a:extLst>
          </p:cNvPr>
          <p:cNvGrpSpPr/>
          <p:nvPr/>
        </p:nvGrpSpPr>
        <p:grpSpPr>
          <a:xfrm>
            <a:off x="3591369" y="3492119"/>
            <a:ext cx="3572697" cy="2142223"/>
            <a:chOff x="4327430" y="3892734"/>
            <a:chExt cx="3572697" cy="2142223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062D578-EFD0-9245-8DC8-E1E7FDEBA4AF}"/>
                </a:ext>
              </a:extLst>
            </p:cNvPr>
            <p:cNvGrpSpPr/>
            <p:nvPr/>
          </p:nvGrpSpPr>
          <p:grpSpPr>
            <a:xfrm>
              <a:off x="4619246" y="4375616"/>
              <a:ext cx="879632" cy="1659341"/>
              <a:chOff x="4269009" y="4402776"/>
              <a:chExt cx="879632" cy="1659341"/>
            </a:xfrm>
          </p:grpSpPr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5BE8D8DB-26FD-0648-AC6E-8A79071234D3}"/>
                  </a:ext>
                </a:extLst>
              </p:cNvPr>
              <p:cNvSpPr/>
              <p:nvPr/>
            </p:nvSpPr>
            <p:spPr>
              <a:xfrm>
                <a:off x="4437180" y="4404334"/>
                <a:ext cx="711461" cy="1650733"/>
              </a:xfrm>
              <a:custGeom>
                <a:avLst/>
                <a:gdLst>
                  <a:gd name="connsiteX0" fmla="*/ 0 w 706582"/>
                  <a:gd name="connsiteY0" fmla="*/ 0 h 1676400"/>
                  <a:gd name="connsiteX1" fmla="*/ 697346 w 706582"/>
                  <a:gd name="connsiteY1" fmla="*/ 558800 h 1676400"/>
                  <a:gd name="connsiteX2" fmla="*/ 706582 w 706582"/>
                  <a:gd name="connsiteY2" fmla="*/ 1122218 h 1676400"/>
                  <a:gd name="connsiteX3" fmla="*/ 9237 w 706582"/>
                  <a:gd name="connsiteY3" fmla="*/ 1676400 h 1676400"/>
                  <a:gd name="connsiteX4" fmla="*/ 0 w 706582"/>
                  <a:gd name="connsiteY4" fmla="*/ 0 h 1676400"/>
                  <a:gd name="connsiteX0" fmla="*/ 0 w 706582"/>
                  <a:gd name="connsiteY0" fmla="*/ 0 h 1653941"/>
                  <a:gd name="connsiteX1" fmla="*/ 697346 w 706582"/>
                  <a:gd name="connsiteY1" fmla="*/ 558800 h 1653941"/>
                  <a:gd name="connsiteX2" fmla="*/ 706582 w 706582"/>
                  <a:gd name="connsiteY2" fmla="*/ 1122218 h 1653941"/>
                  <a:gd name="connsiteX3" fmla="*/ 9237 w 706582"/>
                  <a:gd name="connsiteY3" fmla="*/ 1653941 h 1653941"/>
                  <a:gd name="connsiteX4" fmla="*/ 0 w 706582"/>
                  <a:gd name="connsiteY4" fmla="*/ 0 h 1653941"/>
                  <a:gd name="connsiteX0" fmla="*/ 0 w 719805"/>
                  <a:gd name="connsiteY0" fmla="*/ 0 h 1653941"/>
                  <a:gd name="connsiteX1" fmla="*/ 719805 w 719805"/>
                  <a:gd name="connsiteY1" fmla="*/ 565217 h 1653941"/>
                  <a:gd name="connsiteX2" fmla="*/ 706582 w 719805"/>
                  <a:gd name="connsiteY2" fmla="*/ 1122218 h 1653941"/>
                  <a:gd name="connsiteX3" fmla="*/ 9237 w 719805"/>
                  <a:gd name="connsiteY3" fmla="*/ 1653941 h 1653941"/>
                  <a:gd name="connsiteX4" fmla="*/ 0 w 719805"/>
                  <a:gd name="connsiteY4" fmla="*/ 0 h 1653941"/>
                  <a:gd name="connsiteX0" fmla="*/ 0 w 719805"/>
                  <a:gd name="connsiteY0" fmla="*/ 0 h 1653941"/>
                  <a:gd name="connsiteX1" fmla="*/ 719805 w 719805"/>
                  <a:gd name="connsiteY1" fmla="*/ 565217 h 1653941"/>
                  <a:gd name="connsiteX2" fmla="*/ 709791 w 719805"/>
                  <a:gd name="connsiteY2" fmla="*/ 1109384 h 1653941"/>
                  <a:gd name="connsiteX3" fmla="*/ 9237 w 719805"/>
                  <a:gd name="connsiteY3" fmla="*/ 1653941 h 1653941"/>
                  <a:gd name="connsiteX4" fmla="*/ 0 w 719805"/>
                  <a:gd name="connsiteY4" fmla="*/ 0 h 1653941"/>
                  <a:gd name="connsiteX0" fmla="*/ 0 w 719805"/>
                  <a:gd name="connsiteY0" fmla="*/ 0 h 1644316"/>
                  <a:gd name="connsiteX1" fmla="*/ 719805 w 719805"/>
                  <a:gd name="connsiteY1" fmla="*/ 555592 h 1644316"/>
                  <a:gd name="connsiteX2" fmla="*/ 709791 w 719805"/>
                  <a:gd name="connsiteY2" fmla="*/ 1099759 h 1644316"/>
                  <a:gd name="connsiteX3" fmla="*/ 9237 w 719805"/>
                  <a:gd name="connsiteY3" fmla="*/ 1644316 h 1644316"/>
                  <a:gd name="connsiteX4" fmla="*/ 0 w 719805"/>
                  <a:gd name="connsiteY4" fmla="*/ 0 h 1644316"/>
                  <a:gd name="connsiteX0" fmla="*/ 0 w 719805"/>
                  <a:gd name="connsiteY0" fmla="*/ 0 h 1657150"/>
                  <a:gd name="connsiteX1" fmla="*/ 719805 w 719805"/>
                  <a:gd name="connsiteY1" fmla="*/ 568426 h 1657150"/>
                  <a:gd name="connsiteX2" fmla="*/ 709791 w 719805"/>
                  <a:gd name="connsiteY2" fmla="*/ 1112593 h 1657150"/>
                  <a:gd name="connsiteX3" fmla="*/ 9237 w 719805"/>
                  <a:gd name="connsiteY3" fmla="*/ 1657150 h 1657150"/>
                  <a:gd name="connsiteX4" fmla="*/ 0 w 719805"/>
                  <a:gd name="connsiteY4" fmla="*/ 0 h 1657150"/>
                  <a:gd name="connsiteX0" fmla="*/ 0 w 723013"/>
                  <a:gd name="connsiteY0" fmla="*/ 0 h 1647524"/>
                  <a:gd name="connsiteX1" fmla="*/ 723013 w 723013"/>
                  <a:gd name="connsiteY1" fmla="*/ 558800 h 1647524"/>
                  <a:gd name="connsiteX2" fmla="*/ 712999 w 723013"/>
                  <a:gd name="connsiteY2" fmla="*/ 1102967 h 1647524"/>
                  <a:gd name="connsiteX3" fmla="*/ 12445 w 723013"/>
                  <a:gd name="connsiteY3" fmla="*/ 1647524 h 1647524"/>
                  <a:gd name="connsiteX4" fmla="*/ 0 w 723013"/>
                  <a:gd name="connsiteY4" fmla="*/ 0 h 1647524"/>
                  <a:gd name="connsiteX0" fmla="*/ 4490 w 711461"/>
                  <a:gd name="connsiteY0" fmla="*/ 0 h 1650733"/>
                  <a:gd name="connsiteX1" fmla="*/ 711461 w 711461"/>
                  <a:gd name="connsiteY1" fmla="*/ 562009 h 1650733"/>
                  <a:gd name="connsiteX2" fmla="*/ 701447 w 711461"/>
                  <a:gd name="connsiteY2" fmla="*/ 1106176 h 1650733"/>
                  <a:gd name="connsiteX3" fmla="*/ 893 w 711461"/>
                  <a:gd name="connsiteY3" fmla="*/ 1650733 h 1650733"/>
                  <a:gd name="connsiteX4" fmla="*/ 4490 w 711461"/>
                  <a:gd name="connsiteY4" fmla="*/ 0 h 1650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1461" h="1650733">
                    <a:moveTo>
                      <a:pt x="4490" y="0"/>
                    </a:moveTo>
                    <a:lnTo>
                      <a:pt x="711461" y="562009"/>
                    </a:lnTo>
                    <a:lnTo>
                      <a:pt x="701447" y="1106176"/>
                    </a:lnTo>
                    <a:lnTo>
                      <a:pt x="893" y="1650733"/>
                    </a:lnTo>
                    <a:cubicBezTo>
                      <a:pt x="-3255" y="1101558"/>
                      <a:pt x="8638" y="549175"/>
                      <a:pt x="4490" y="0"/>
                    </a:cubicBezTo>
                    <a:close/>
                  </a:path>
                </a:pathLst>
              </a:custGeom>
              <a:gradFill flip="none" rotWithShape="1">
                <a:gsLst>
                  <a:gs pos="41000">
                    <a:srgbClr val="DAE3F3"/>
                  </a:gs>
                  <a:gs pos="0">
                    <a:schemeClr val="accent1"/>
                  </a:gs>
                  <a:gs pos="58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2813FCD-7672-8F48-9799-DC558A7C855D}"/>
                  </a:ext>
                </a:extLst>
              </p:cNvPr>
              <p:cNvSpPr/>
              <p:nvPr/>
            </p:nvSpPr>
            <p:spPr>
              <a:xfrm>
                <a:off x="4269009" y="4402776"/>
                <a:ext cx="301924" cy="165934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2883FFD-0BF9-CC48-A54F-65D45500C9EF}"/>
                </a:ext>
              </a:extLst>
            </p:cNvPr>
            <p:cNvGrpSpPr/>
            <p:nvPr/>
          </p:nvGrpSpPr>
          <p:grpSpPr>
            <a:xfrm flipH="1">
              <a:off x="6721735" y="4368566"/>
              <a:ext cx="879632" cy="1659341"/>
              <a:chOff x="4269009" y="4402776"/>
              <a:chExt cx="879632" cy="1659341"/>
            </a:xfrm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3835D9AC-D07E-CB44-8C2B-5904345C1733}"/>
                  </a:ext>
                </a:extLst>
              </p:cNvPr>
              <p:cNvSpPr/>
              <p:nvPr/>
            </p:nvSpPr>
            <p:spPr>
              <a:xfrm>
                <a:off x="4437180" y="4404334"/>
                <a:ext cx="711461" cy="1650733"/>
              </a:xfrm>
              <a:custGeom>
                <a:avLst/>
                <a:gdLst>
                  <a:gd name="connsiteX0" fmla="*/ 0 w 706582"/>
                  <a:gd name="connsiteY0" fmla="*/ 0 h 1676400"/>
                  <a:gd name="connsiteX1" fmla="*/ 697346 w 706582"/>
                  <a:gd name="connsiteY1" fmla="*/ 558800 h 1676400"/>
                  <a:gd name="connsiteX2" fmla="*/ 706582 w 706582"/>
                  <a:gd name="connsiteY2" fmla="*/ 1122218 h 1676400"/>
                  <a:gd name="connsiteX3" fmla="*/ 9237 w 706582"/>
                  <a:gd name="connsiteY3" fmla="*/ 1676400 h 1676400"/>
                  <a:gd name="connsiteX4" fmla="*/ 0 w 706582"/>
                  <a:gd name="connsiteY4" fmla="*/ 0 h 1676400"/>
                  <a:gd name="connsiteX0" fmla="*/ 0 w 706582"/>
                  <a:gd name="connsiteY0" fmla="*/ 0 h 1653941"/>
                  <a:gd name="connsiteX1" fmla="*/ 697346 w 706582"/>
                  <a:gd name="connsiteY1" fmla="*/ 558800 h 1653941"/>
                  <a:gd name="connsiteX2" fmla="*/ 706582 w 706582"/>
                  <a:gd name="connsiteY2" fmla="*/ 1122218 h 1653941"/>
                  <a:gd name="connsiteX3" fmla="*/ 9237 w 706582"/>
                  <a:gd name="connsiteY3" fmla="*/ 1653941 h 1653941"/>
                  <a:gd name="connsiteX4" fmla="*/ 0 w 706582"/>
                  <a:gd name="connsiteY4" fmla="*/ 0 h 1653941"/>
                  <a:gd name="connsiteX0" fmla="*/ 0 w 719805"/>
                  <a:gd name="connsiteY0" fmla="*/ 0 h 1653941"/>
                  <a:gd name="connsiteX1" fmla="*/ 719805 w 719805"/>
                  <a:gd name="connsiteY1" fmla="*/ 565217 h 1653941"/>
                  <a:gd name="connsiteX2" fmla="*/ 706582 w 719805"/>
                  <a:gd name="connsiteY2" fmla="*/ 1122218 h 1653941"/>
                  <a:gd name="connsiteX3" fmla="*/ 9237 w 719805"/>
                  <a:gd name="connsiteY3" fmla="*/ 1653941 h 1653941"/>
                  <a:gd name="connsiteX4" fmla="*/ 0 w 719805"/>
                  <a:gd name="connsiteY4" fmla="*/ 0 h 1653941"/>
                  <a:gd name="connsiteX0" fmla="*/ 0 w 719805"/>
                  <a:gd name="connsiteY0" fmla="*/ 0 h 1653941"/>
                  <a:gd name="connsiteX1" fmla="*/ 719805 w 719805"/>
                  <a:gd name="connsiteY1" fmla="*/ 565217 h 1653941"/>
                  <a:gd name="connsiteX2" fmla="*/ 709791 w 719805"/>
                  <a:gd name="connsiteY2" fmla="*/ 1109384 h 1653941"/>
                  <a:gd name="connsiteX3" fmla="*/ 9237 w 719805"/>
                  <a:gd name="connsiteY3" fmla="*/ 1653941 h 1653941"/>
                  <a:gd name="connsiteX4" fmla="*/ 0 w 719805"/>
                  <a:gd name="connsiteY4" fmla="*/ 0 h 1653941"/>
                  <a:gd name="connsiteX0" fmla="*/ 0 w 719805"/>
                  <a:gd name="connsiteY0" fmla="*/ 0 h 1644316"/>
                  <a:gd name="connsiteX1" fmla="*/ 719805 w 719805"/>
                  <a:gd name="connsiteY1" fmla="*/ 555592 h 1644316"/>
                  <a:gd name="connsiteX2" fmla="*/ 709791 w 719805"/>
                  <a:gd name="connsiteY2" fmla="*/ 1099759 h 1644316"/>
                  <a:gd name="connsiteX3" fmla="*/ 9237 w 719805"/>
                  <a:gd name="connsiteY3" fmla="*/ 1644316 h 1644316"/>
                  <a:gd name="connsiteX4" fmla="*/ 0 w 719805"/>
                  <a:gd name="connsiteY4" fmla="*/ 0 h 1644316"/>
                  <a:gd name="connsiteX0" fmla="*/ 0 w 719805"/>
                  <a:gd name="connsiteY0" fmla="*/ 0 h 1657150"/>
                  <a:gd name="connsiteX1" fmla="*/ 719805 w 719805"/>
                  <a:gd name="connsiteY1" fmla="*/ 568426 h 1657150"/>
                  <a:gd name="connsiteX2" fmla="*/ 709791 w 719805"/>
                  <a:gd name="connsiteY2" fmla="*/ 1112593 h 1657150"/>
                  <a:gd name="connsiteX3" fmla="*/ 9237 w 719805"/>
                  <a:gd name="connsiteY3" fmla="*/ 1657150 h 1657150"/>
                  <a:gd name="connsiteX4" fmla="*/ 0 w 719805"/>
                  <a:gd name="connsiteY4" fmla="*/ 0 h 1657150"/>
                  <a:gd name="connsiteX0" fmla="*/ 0 w 723013"/>
                  <a:gd name="connsiteY0" fmla="*/ 0 h 1647524"/>
                  <a:gd name="connsiteX1" fmla="*/ 723013 w 723013"/>
                  <a:gd name="connsiteY1" fmla="*/ 558800 h 1647524"/>
                  <a:gd name="connsiteX2" fmla="*/ 712999 w 723013"/>
                  <a:gd name="connsiteY2" fmla="*/ 1102967 h 1647524"/>
                  <a:gd name="connsiteX3" fmla="*/ 12445 w 723013"/>
                  <a:gd name="connsiteY3" fmla="*/ 1647524 h 1647524"/>
                  <a:gd name="connsiteX4" fmla="*/ 0 w 723013"/>
                  <a:gd name="connsiteY4" fmla="*/ 0 h 1647524"/>
                  <a:gd name="connsiteX0" fmla="*/ 4490 w 711461"/>
                  <a:gd name="connsiteY0" fmla="*/ 0 h 1650733"/>
                  <a:gd name="connsiteX1" fmla="*/ 711461 w 711461"/>
                  <a:gd name="connsiteY1" fmla="*/ 562009 h 1650733"/>
                  <a:gd name="connsiteX2" fmla="*/ 701447 w 711461"/>
                  <a:gd name="connsiteY2" fmla="*/ 1106176 h 1650733"/>
                  <a:gd name="connsiteX3" fmla="*/ 893 w 711461"/>
                  <a:gd name="connsiteY3" fmla="*/ 1650733 h 1650733"/>
                  <a:gd name="connsiteX4" fmla="*/ 4490 w 711461"/>
                  <a:gd name="connsiteY4" fmla="*/ 0 h 1650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1461" h="1650733">
                    <a:moveTo>
                      <a:pt x="4490" y="0"/>
                    </a:moveTo>
                    <a:lnTo>
                      <a:pt x="711461" y="562009"/>
                    </a:lnTo>
                    <a:lnTo>
                      <a:pt x="701447" y="1106176"/>
                    </a:lnTo>
                    <a:lnTo>
                      <a:pt x="893" y="1650733"/>
                    </a:lnTo>
                    <a:cubicBezTo>
                      <a:pt x="-3255" y="1101558"/>
                      <a:pt x="8638" y="549175"/>
                      <a:pt x="4490" y="0"/>
                    </a:cubicBezTo>
                    <a:close/>
                  </a:path>
                </a:pathLst>
              </a:custGeom>
              <a:gradFill flip="none" rotWithShape="1">
                <a:gsLst>
                  <a:gs pos="41000">
                    <a:srgbClr val="DAE3F3"/>
                  </a:gs>
                  <a:gs pos="0">
                    <a:schemeClr val="accent1"/>
                  </a:gs>
                  <a:gs pos="58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FC197FD-A624-D544-84F0-95BBD523677F}"/>
                  </a:ext>
                </a:extLst>
              </p:cNvPr>
              <p:cNvSpPr/>
              <p:nvPr/>
            </p:nvSpPr>
            <p:spPr>
              <a:xfrm>
                <a:off x="4269009" y="4402776"/>
                <a:ext cx="301924" cy="165934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7DF8D8E-81BB-4E46-9932-FD96D07A3A78}"/>
                </a:ext>
              </a:extLst>
            </p:cNvPr>
            <p:cNvSpPr/>
            <p:nvPr/>
          </p:nvSpPr>
          <p:spPr>
            <a:xfrm>
              <a:off x="5720745" y="4971976"/>
              <a:ext cx="809161" cy="3512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Affine</a:t>
              </a:r>
              <a:endParaRPr lang="en-US" sz="125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515F021-FEB5-AC4E-9AB6-5CEBCA9BAAC9}"/>
                </a:ext>
              </a:extLst>
            </p:cNvPr>
            <p:cNvSpPr/>
            <p:nvPr/>
          </p:nvSpPr>
          <p:spPr>
            <a:xfrm>
              <a:off x="5720745" y="4458994"/>
              <a:ext cx="809161" cy="3512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LinAlg</a:t>
              </a:r>
              <a:endParaRPr lang="en-US" sz="125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F453E8-A95F-454A-A871-0A7EFF10A803}"/>
                </a:ext>
              </a:extLst>
            </p:cNvPr>
            <p:cNvSpPr/>
            <p:nvPr/>
          </p:nvSpPr>
          <p:spPr>
            <a:xfrm>
              <a:off x="5720745" y="5462307"/>
              <a:ext cx="809161" cy="35123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Standard</a:t>
              </a:r>
              <a:endParaRPr lang="en-US" sz="1250" dirty="0"/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89CC5E5-5204-204C-B8CF-99C5289E2D0E}"/>
                </a:ext>
              </a:extLst>
            </p:cNvPr>
            <p:cNvGrpSpPr/>
            <p:nvPr/>
          </p:nvGrpSpPr>
          <p:grpSpPr>
            <a:xfrm>
              <a:off x="4327430" y="4404983"/>
              <a:ext cx="504111" cy="1582198"/>
              <a:chOff x="4151541" y="4432143"/>
              <a:chExt cx="504111" cy="158219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0CA18C1B-3864-E64F-ABCD-80B72753D12B}"/>
                  </a:ext>
                </a:extLst>
              </p:cNvPr>
              <p:cNvSpPr/>
              <p:nvPr/>
            </p:nvSpPr>
            <p:spPr>
              <a:xfrm>
                <a:off x="4151541" y="4432143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5E24BD7-4A5A-9D44-A15A-4539D1EEDE97}"/>
                  </a:ext>
                </a:extLst>
              </p:cNvPr>
              <p:cNvSpPr/>
              <p:nvPr/>
            </p:nvSpPr>
            <p:spPr>
              <a:xfrm>
                <a:off x="4231061" y="4893265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341E29C-FECC-6E41-B62E-654A4ED11C5F}"/>
                  </a:ext>
                </a:extLst>
              </p:cNvPr>
              <p:cNvSpPr/>
              <p:nvPr/>
            </p:nvSpPr>
            <p:spPr>
              <a:xfrm>
                <a:off x="4231061" y="5354387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290F81D-EE54-6C44-80FD-96CEC5130B76}"/>
                  </a:ext>
                </a:extLst>
              </p:cNvPr>
              <p:cNvSpPr/>
              <p:nvPr/>
            </p:nvSpPr>
            <p:spPr>
              <a:xfrm>
                <a:off x="4151541" y="5815508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A52BE9-A2FC-5A4B-971A-EA77210B4898}"/>
                </a:ext>
              </a:extLst>
            </p:cNvPr>
            <p:cNvSpPr txBox="1"/>
            <p:nvPr/>
          </p:nvSpPr>
          <p:spPr>
            <a:xfrm>
              <a:off x="5673920" y="3892734"/>
              <a:ext cx="9028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dialects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90E8424-9B71-2D4B-A1A4-978C7903684C}"/>
                </a:ext>
              </a:extLst>
            </p:cNvPr>
            <p:cNvCxnSpPr>
              <a:cxnSpLocks/>
              <a:stCxn id="56" idx="3"/>
              <a:endCxn id="83" idx="0"/>
            </p:cNvCxnSpPr>
            <p:nvPr/>
          </p:nvCxnSpPr>
          <p:spPr>
            <a:xfrm>
              <a:off x="6576731" y="4077400"/>
              <a:ext cx="1111100" cy="3269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C5EDA75-A3ED-AB4D-9F24-12BE9C98404C}"/>
                </a:ext>
              </a:extLst>
            </p:cNvPr>
            <p:cNvCxnSpPr>
              <a:cxnSpLocks/>
              <a:stCxn id="56" idx="1"/>
              <a:endCxn id="43" idx="0"/>
            </p:cNvCxnSpPr>
            <p:nvPr/>
          </p:nvCxnSpPr>
          <p:spPr>
            <a:xfrm flipH="1">
              <a:off x="4539726" y="4077400"/>
              <a:ext cx="1134194" cy="3275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A0088641-1B98-004C-B8CC-D68B3E8FBAE5}"/>
                </a:ext>
              </a:extLst>
            </p:cNvPr>
            <p:cNvCxnSpPr>
              <a:cxnSpLocks/>
              <a:stCxn id="56" idx="2"/>
              <a:endCxn id="41" idx="0"/>
            </p:cNvCxnSpPr>
            <p:nvPr/>
          </p:nvCxnSpPr>
          <p:spPr>
            <a:xfrm>
              <a:off x="6125326" y="4262066"/>
              <a:ext cx="0" cy="1969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76954E56-9E04-F340-A32B-03079ED31D0D}"/>
                </a:ext>
              </a:extLst>
            </p:cNvPr>
            <p:cNvGrpSpPr/>
            <p:nvPr/>
          </p:nvGrpSpPr>
          <p:grpSpPr>
            <a:xfrm flipH="1">
              <a:off x="7396016" y="4404391"/>
              <a:ext cx="504111" cy="1582198"/>
              <a:chOff x="4151541" y="4432143"/>
              <a:chExt cx="504111" cy="158219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93D89BB6-AABF-0D4F-B002-AF5D5F53A73E}"/>
                  </a:ext>
                </a:extLst>
              </p:cNvPr>
              <p:cNvSpPr/>
              <p:nvPr/>
            </p:nvSpPr>
            <p:spPr>
              <a:xfrm>
                <a:off x="4151541" y="4432143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327D7D5-EEB2-F64C-A36E-53598B22C8A3}"/>
                  </a:ext>
                </a:extLst>
              </p:cNvPr>
              <p:cNvSpPr/>
              <p:nvPr/>
            </p:nvSpPr>
            <p:spPr>
              <a:xfrm>
                <a:off x="4231061" y="4893265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CECD721-F876-2344-A37E-FF400604584C}"/>
                  </a:ext>
                </a:extLst>
              </p:cNvPr>
              <p:cNvSpPr/>
              <p:nvPr/>
            </p:nvSpPr>
            <p:spPr>
              <a:xfrm>
                <a:off x="4231061" y="5354387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EA92591-1145-554F-8CB3-48F6C79C2BB5}"/>
                  </a:ext>
                </a:extLst>
              </p:cNvPr>
              <p:cNvSpPr/>
              <p:nvPr/>
            </p:nvSpPr>
            <p:spPr>
              <a:xfrm>
                <a:off x="4151541" y="5815508"/>
                <a:ext cx="424591" cy="19883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50" dirty="0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3B36500-2155-B949-A3A1-606801D02717}"/>
              </a:ext>
            </a:extLst>
          </p:cNvPr>
          <p:cNvGrpSpPr/>
          <p:nvPr/>
        </p:nvGrpSpPr>
        <p:grpSpPr>
          <a:xfrm>
            <a:off x="607183" y="3429000"/>
            <a:ext cx="10977633" cy="2854577"/>
            <a:chOff x="838200" y="3813314"/>
            <a:chExt cx="10977633" cy="28545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8F7FDC-5450-F043-8475-4DF5D896F6F7}"/>
                </a:ext>
              </a:extLst>
            </p:cNvPr>
            <p:cNvSpPr/>
            <p:nvPr/>
          </p:nvSpPr>
          <p:spPr>
            <a:xfrm>
              <a:off x="848749" y="4650205"/>
              <a:ext cx="216460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FLANG </a:t>
              </a:r>
            </a:p>
            <a:p>
              <a:pPr algn="ctr"/>
              <a:r>
                <a:rPr lang="en-US" altLang="zh-CN" sz="1250" dirty="0"/>
                <a:t>(LLVM Fortran)</a:t>
              </a:r>
              <a:endParaRPr lang="en-US" sz="125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330DED-6BC9-F74A-B2A1-0758A2B4A180}"/>
                </a:ext>
              </a:extLst>
            </p:cNvPr>
            <p:cNvSpPr/>
            <p:nvPr/>
          </p:nvSpPr>
          <p:spPr>
            <a:xfrm>
              <a:off x="848749" y="5324556"/>
              <a:ext cx="216460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 err="1"/>
                <a:t>NPComp</a:t>
              </a:r>
              <a:r>
                <a:rPr lang="en-US" altLang="zh-CN" sz="1250" dirty="0"/>
                <a:t> </a:t>
              </a:r>
            </a:p>
            <a:p>
              <a:pPr algn="ctr"/>
              <a:r>
                <a:rPr lang="en-US" altLang="zh-CN" sz="1250" dirty="0"/>
                <a:t>(Numerical Python Compiler) </a:t>
              </a:r>
              <a:endParaRPr lang="en-US" sz="1250" dirty="0"/>
            </a:p>
          </p:txBody>
        </p:sp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54101BA4-364C-3141-811F-3D2F6512F855}"/>
                </a:ext>
              </a:extLst>
            </p:cNvPr>
            <p:cNvSpPr/>
            <p:nvPr/>
          </p:nvSpPr>
          <p:spPr>
            <a:xfrm>
              <a:off x="3161122" y="3988332"/>
              <a:ext cx="510067" cy="2504543"/>
            </a:xfrm>
            <a:prstGeom prst="rightBrac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1AD253FA-37EE-D540-BCA4-182A646A0214}"/>
                </a:ext>
              </a:extLst>
            </p:cNvPr>
            <p:cNvSpPr/>
            <p:nvPr/>
          </p:nvSpPr>
          <p:spPr>
            <a:xfrm>
              <a:off x="3711056" y="3813315"/>
              <a:ext cx="3818453" cy="2854575"/>
            </a:xfrm>
            <a:prstGeom prst="roundRect">
              <a:avLst/>
            </a:prstGeom>
            <a:noFill/>
            <a:ln w="317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8F88DA0-1731-6345-8A2B-479CA7325969}"/>
                </a:ext>
              </a:extLst>
            </p:cNvPr>
            <p:cNvSpPr/>
            <p:nvPr/>
          </p:nvSpPr>
          <p:spPr>
            <a:xfrm>
              <a:off x="844211" y="3975854"/>
              <a:ext cx="216460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TensorFlow (TF) &amp; TensorFlow Runtime (TFRT) </a:t>
              </a:r>
              <a:endParaRPr lang="en-US" sz="125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AD6EB34-A2D4-2B4B-8C09-E5AB5182AFE0}"/>
                </a:ext>
              </a:extLst>
            </p:cNvPr>
            <p:cNvSpPr/>
            <p:nvPr/>
          </p:nvSpPr>
          <p:spPr>
            <a:xfrm>
              <a:off x="838200" y="5998907"/>
              <a:ext cx="216460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50" dirty="0"/>
                <a:t>ONNX MLIR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44FA046-41D1-3B44-8488-9CE5E7E3E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96812" y="5797239"/>
              <a:ext cx="826594" cy="826594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D9C99A0-35C2-B648-98EB-5AD7AC05B0C5}"/>
                </a:ext>
              </a:extLst>
            </p:cNvPr>
            <p:cNvSpPr/>
            <p:nvPr/>
          </p:nvSpPr>
          <p:spPr>
            <a:xfrm>
              <a:off x="8151009" y="4183698"/>
              <a:ext cx="1714283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CPU Optimized Computations</a:t>
              </a:r>
              <a:endParaRPr lang="en-US" sz="125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49C9D3-BD6C-9541-892C-1334EB36F4FB}"/>
                </a:ext>
              </a:extLst>
            </p:cNvPr>
            <p:cNvSpPr/>
            <p:nvPr/>
          </p:nvSpPr>
          <p:spPr>
            <a:xfrm>
              <a:off x="8151010" y="5002345"/>
              <a:ext cx="1714283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GPU Optimized Computations</a:t>
              </a:r>
              <a:endParaRPr lang="en-US" sz="125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737C1B7-F7B0-544E-B061-5000D3A7B3D4}"/>
                </a:ext>
              </a:extLst>
            </p:cNvPr>
            <p:cNvSpPr/>
            <p:nvPr/>
          </p:nvSpPr>
          <p:spPr>
            <a:xfrm>
              <a:off x="8151010" y="5761707"/>
              <a:ext cx="1714283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Accelerator Optimized Computations</a:t>
              </a:r>
              <a:endParaRPr lang="en-US" sz="1250" dirty="0"/>
            </a:p>
          </p:txBody>
        </p:sp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D8EE383D-B8FC-954C-922F-A4B7479ABC9C}"/>
                </a:ext>
              </a:extLst>
            </p:cNvPr>
            <p:cNvSpPr/>
            <p:nvPr/>
          </p:nvSpPr>
          <p:spPr>
            <a:xfrm>
              <a:off x="10233671" y="3813314"/>
              <a:ext cx="642077" cy="1630705"/>
            </a:xfrm>
            <a:prstGeom prst="roundRect">
              <a:avLst/>
            </a:prstGeom>
            <a:noFill/>
            <a:ln w="31750"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ight Brace 92">
              <a:extLst>
                <a:ext uri="{FF2B5EF4-FFF2-40B4-BE49-F238E27FC236}">
                  <a16:creationId xmlns:a16="http://schemas.microsoft.com/office/drawing/2014/main" id="{916706F7-1123-AF45-9866-1DFE60D15874}"/>
                </a:ext>
              </a:extLst>
            </p:cNvPr>
            <p:cNvSpPr/>
            <p:nvPr/>
          </p:nvSpPr>
          <p:spPr>
            <a:xfrm flipH="1">
              <a:off x="7586468" y="3988330"/>
              <a:ext cx="510067" cy="2504543"/>
            </a:xfrm>
            <a:prstGeom prst="rightBrac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6585603-9B3E-A04A-8C2A-A3065284A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92490" y="4839724"/>
              <a:ext cx="454069" cy="446087"/>
            </a:xfrm>
            <a:prstGeom prst="rect">
              <a:avLst/>
            </a:prstGeom>
          </p:spPr>
        </p:pic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57BB5B62-8016-544E-9073-8489D3262300}"/>
                </a:ext>
              </a:extLst>
            </p:cNvPr>
            <p:cNvSpPr/>
            <p:nvPr/>
          </p:nvSpPr>
          <p:spPr>
            <a:xfrm>
              <a:off x="10233671" y="5585988"/>
              <a:ext cx="642077" cy="1081903"/>
            </a:xfrm>
            <a:prstGeom prst="roundRect">
              <a:avLst/>
            </a:prstGeom>
            <a:noFill/>
            <a:ln w="31750">
              <a:solidFill>
                <a:schemeClr val="bg2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AA16EDE-BF46-3840-9EFF-B7DD9310BB93}"/>
                </a:ext>
              </a:extLst>
            </p:cNvPr>
            <p:cNvSpPr txBox="1"/>
            <p:nvPr/>
          </p:nvSpPr>
          <p:spPr>
            <a:xfrm>
              <a:off x="10204917" y="6126939"/>
              <a:ext cx="7071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custom</a:t>
              </a:r>
            </a:p>
            <a:p>
              <a:pPr algn="ctr"/>
              <a:r>
                <a:rPr lang="en-US" sz="1200" dirty="0"/>
                <a:t>backend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101C968-32F9-C042-8606-DCC441835BC1}"/>
                </a:ext>
              </a:extLst>
            </p:cNvPr>
            <p:cNvSpPr/>
            <p:nvPr/>
          </p:nvSpPr>
          <p:spPr>
            <a:xfrm>
              <a:off x="11156304" y="4183698"/>
              <a:ext cx="64207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CPU binary</a:t>
              </a:r>
              <a:endParaRPr lang="en-US" sz="125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BEE455C-2932-954F-B1BD-F7EFCE795B7B}"/>
                </a:ext>
              </a:extLst>
            </p:cNvPr>
            <p:cNvSpPr/>
            <p:nvPr/>
          </p:nvSpPr>
          <p:spPr>
            <a:xfrm>
              <a:off x="11173756" y="4991177"/>
              <a:ext cx="64207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GPU binary</a:t>
              </a:r>
              <a:endParaRPr lang="en-US" sz="125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BFB9BDC-F909-2A4F-A3E9-A7CA3D675D31}"/>
                </a:ext>
              </a:extLst>
            </p:cNvPr>
            <p:cNvSpPr/>
            <p:nvPr/>
          </p:nvSpPr>
          <p:spPr>
            <a:xfrm>
              <a:off x="11170905" y="5800942"/>
              <a:ext cx="642077" cy="51799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50" dirty="0"/>
                <a:t>accelerator binary</a:t>
              </a:r>
              <a:endParaRPr lang="en-US" sz="125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128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C5547-EC08-4245-9D2F-2896EBFA8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400" b="1" dirty="0"/>
              <a:t>Consumes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ONNX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model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and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produce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inference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executables using 2 new dialects:</a:t>
            </a:r>
          </a:p>
          <a:p>
            <a:pPr lvl="1"/>
            <a:r>
              <a:rPr lang="en-US" altLang="zh-CN" dirty="0"/>
              <a:t>ONNX: representation of native ONNX operations,</a:t>
            </a:r>
          </a:p>
          <a:p>
            <a:pPr lvl="1"/>
            <a:r>
              <a:rPr lang="en-US" altLang="zh-CN" dirty="0"/>
              <a:t>KRNL:  representation to lower ONNX to loops.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8F3EC-63F1-7C4E-ABE5-8F345072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Architecture of ONNX-MLIR Compiler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77033A-DBAD-0545-B182-05FBF06AB1EB}"/>
              </a:ext>
            </a:extLst>
          </p:cNvPr>
          <p:cNvSpPr txBox="1"/>
          <p:nvPr/>
        </p:nvSpPr>
        <p:spPr>
          <a:xfrm>
            <a:off x="2912440" y="3054490"/>
            <a:ext cx="1670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Import with </a:t>
            </a:r>
          </a:p>
          <a:p>
            <a:pPr algn="ctr"/>
            <a:r>
              <a:rPr lang="en-US" altLang="zh-CN" sz="2000" b="1" dirty="0"/>
              <a:t>ONNX </a:t>
            </a:r>
          </a:p>
          <a:p>
            <a:pPr algn="ctr"/>
            <a:r>
              <a:rPr lang="en-US" altLang="zh-CN" sz="2000" b="1" dirty="0"/>
              <a:t>Converters</a:t>
            </a:r>
            <a:endParaRPr lang="en-US" sz="2000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B15E3B-ED04-CD4E-A94C-B953FEEE8CC2}"/>
              </a:ext>
            </a:extLst>
          </p:cNvPr>
          <p:cNvSpPr/>
          <p:nvPr/>
        </p:nvSpPr>
        <p:spPr>
          <a:xfrm>
            <a:off x="611709" y="4546858"/>
            <a:ext cx="1656913" cy="51799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PyTorch</a:t>
            </a:r>
            <a:endParaRPr lang="en-US" sz="12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73AE5E-A15D-6349-9AA0-F9AA663CE9F4}"/>
              </a:ext>
            </a:extLst>
          </p:cNvPr>
          <p:cNvSpPr/>
          <p:nvPr/>
        </p:nvSpPr>
        <p:spPr>
          <a:xfrm>
            <a:off x="611709" y="5280506"/>
            <a:ext cx="1656913" cy="51799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50" dirty="0"/>
              <a:t>Other Framework with ONNX converter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E8E7DC66-7086-1346-80AD-C4BDA46276D7}"/>
              </a:ext>
            </a:extLst>
          </p:cNvPr>
          <p:cNvSpPr/>
          <p:nvPr/>
        </p:nvSpPr>
        <p:spPr>
          <a:xfrm>
            <a:off x="2467062" y="3709661"/>
            <a:ext cx="928688" cy="2188631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E4083-069B-9847-B643-AEAAF8D3E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344" y="5227603"/>
            <a:ext cx="826594" cy="82659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756F9B-8387-6F43-92CC-53725C753FA7}"/>
              </a:ext>
            </a:extLst>
          </p:cNvPr>
          <p:cNvSpPr/>
          <p:nvPr/>
        </p:nvSpPr>
        <p:spPr>
          <a:xfrm>
            <a:off x="4433035" y="3429000"/>
            <a:ext cx="5620784" cy="2747963"/>
          </a:xfrm>
          <a:prstGeom prst="roundRect">
            <a:avLst/>
          </a:prstGeom>
          <a:noFill/>
          <a:ln w="317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1FBB7B-AEC9-9445-8C33-47CCCD47B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21" y="3951851"/>
            <a:ext cx="426979" cy="4312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B3026A-0940-024C-BEA4-5F3350A44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681" y="4683991"/>
            <a:ext cx="312033" cy="39004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53018E3-6B6D-C242-A2EE-1C916E0006A1}"/>
              </a:ext>
            </a:extLst>
          </p:cNvPr>
          <p:cNvSpPr/>
          <p:nvPr/>
        </p:nvSpPr>
        <p:spPr>
          <a:xfrm>
            <a:off x="611709" y="3865110"/>
            <a:ext cx="1656913" cy="51799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TensorFlow</a:t>
            </a:r>
            <a:endParaRPr lang="en-US" sz="125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2F52F42-223D-D644-AC77-FB3CDF46CE0C}"/>
              </a:ext>
            </a:extLst>
          </p:cNvPr>
          <p:cNvSpPr/>
          <p:nvPr/>
        </p:nvSpPr>
        <p:spPr>
          <a:xfrm>
            <a:off x="10434046" y="3461902"/>
            <a:ext cx="1196635" cy="2715061"/>
          </a:xfrm>
          <a:prstGeom prst="roundRect">
            <a:avLst/>
          </a:prstGeom>
          <a:noFill/>
          <a:ln w="317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LLVM Backend    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1C5E68-C097-264F-A425-20C5A0111104}"/>
              </a:ext>
            </a:extLst>
          </p:cNvPr>
          <p:cNvSpPr/>
          <p:nvPr/>
        </p:nvSpPr>
        <p:spPr>
          <a:xfrm>
            <a:off x="5440380" y="3606437"/>
            <a:ext cx="1145219" cy="590164"/>
          </a:xfrm>
          <a:prstGeom prst="rect">
            <a:avLst/>
          </a:prstGeom>
          <a:solidFill>
            <a:srgbClr val="ED7D3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ONNX</a:t>
            </a:r>
            <a:endParaRPr lang="en-US" sz="125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05CAE68-3AD8-114B-A230-C5ECC04281D5}"/>
              </a:ext>
            </a:extLst>
          </p:cNvPr>
          <p:cNvSpPr/>
          <p:nvPr/>
        </p:nvSpPr>
        <p:spPr>
          <a:xfrm>
            <a:off x="7081777" y="3610459"/>
            <a:ext cx="1145219" cy="590164"/>
          </a:xfrm>
          <a:prstGeom prst="rect">
            <a:avLst/>
          </a:prstGeom>
          <a:solidFill>
            <a:srgbClr val="70AD47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KRNL</a:t>
            </a:r>
            <a:endParaRPr lang="en-US" sz="125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13524F6-1F8D-9E41-9949-0995CDA153B8}"/>
              </a:ext>
            </a:extLst>
          </p:cNvPr>
          <p:cNvSpPr/>
          <p:nvPr/>
        </p:nvSpPr>
        <p:spPr>
          <a:xfrm>
            <a:off x="7084377" y="4534036"/>
            <a:ext cx="1145219" cy="590164"/>
          </a:xfrm>
          <a:prstGeom prst="rect">
            <a:avLst/>
          </a:prstGeom>
          <a:solidFill>
            <a:schemeClr val="bg1">
              <a:lumMod val="50000"/>
              <a:alpha val="3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Affine</a:t>
            </a:r>
            <a:endParaRPr lang="en-US" sz="125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01F6E5A-1D23-0D43-A585-B345C42A13EA}"/>
              </a:ext>
            </a:extLst>
          </p:cNvPr>
          <p:cNvSpPr/>
          <p:nvPr/>
        </p:nvSpPr>
        <p:spPr>
          <a:xfrm>
            <a:off x="8728016" y="4534036"/>
            <a:ext cx="1145219" cy="590164"/>
          </a:xfrm>
          <a:prstGeom prst="rect">
            <a:avLst/>
          </a:prstGeom>
          <a:solidFill>
            <a:schemeClr val="bg1">
              <a:lumMod val="50000"/>
              <a:alpha val="3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Standard</a:t>
            </a:r>
            <a:endParaRPr lang="en-US" sz="12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C5C49F-3DE5-A946-8E0D-307BD4C61D35}"/>
              </a:ext>
            </a:extLst>
          </p:cNvPr>
          <p:cNvCxnSpPr>
            <a:cxnSpLocks/>
            <a:stCxn id="111" idx="3"/>
            <a:endCxn id="46" idx="1"/>
          </p:cNvCxnSpPr>
          <p:nvPr/>
        </p:nvCxnSpPr>
        <p:spPr>
          <a:xfrm flipV="1">
            <a:off x="3853318" y="3901519"/>
            <a:ext cx="1587062" cy="8758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B4BE2C8-1504-EA4A-BE15-7AC653A866AF}"/>
              </a:ext>
            </a:extLst>
          </p:cNvPr>
          <p:cNvCxnSpPr>
            <a:cxnSpLocks/>
            <a:stCxn id="46" idx="3"/>
            <a:endCxn id="50" idx="1"/>
          </p:cNvCxnSpPr>
          <p:nvPr/>
        </p:nvCxnSpPr>
        <p:spPr>
          <a:xfrm>
            <a:off x="6585599" y="3901519"/>
            <a:ext cx="496178" cy="40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7E7F48C-3CE5-884C-8949-16677616CF25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7656987" y="4383100"/>
            <a:ext cx="0" cy="150936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3120B0-FE31-FD46-917D-6F129E82A77B}"/>
              </a:ext>
            </a:extLst>
          </p:cNvPr>
          <p:cNvCxnSpPr>
            <a:cxnSpLocks/>
            <a:stCxn id="51" idx="3"/>
            <a:endCxn id="54" idx="1"/>
          </p:cNvCxnSpPr>
          <p:nvPr/>
        </p:nvCxnSpPr>
        <p:spPr>
          <a:xfrm>
            <a:off x="8229596" y="4829118"/>
            <a:ext cx="498420" cy="0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CA2D86D-502D-7C4C-BE9A-B3685BC095FA}"/>
              </a:ext>
            </a:extLst>
          </p:cNvPr>
          <p:cNvSpPr txBox="1"/>
          <p:nvPr/>
        </p:nvSpPr>
        <p:spPr>
          <a:xfrm>
            <a:off x="7801320" y="2982087"/>
            <a:ext cx="185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ONNX - MLIR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53FBB258-73DC-CA47-B02B-00F391BFE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410" y="5572302"/>
            <a:ext cx="454069" cy="446087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2E89648-7B7C-6149-A55E-3545C203427E}"/>
              </a:ext>
            </a:extLst>
          </p:cNvPr>
          <p:cNvSpPr txBox="1"/>
          <p:nvPr/>
        </p:nvSpPr>
        <p:spPr>
          <a:xfrm>
            <a:off x="10452647" y="6407653"/>
            <a:ext cx="1200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Executable</a:t>
            </a:r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52139D7F-9E5F-0047-A18E-DA4459528441}"/>
              </a:ext>
            </a:extLst>
          </p:cNvPr>
          <p:cNvCxnSpPr>
            <a:cxnSpLocks/>
            <a:stCxn id="50" idx="2"/>
            <a:endCxn id="54" idx="0"/>
          </p:cNvCxnSpPr>
          <p:nvPr/>
        </p:nvCxnSpPr>
        <p:spPr>
          <a:xfrm rot="16200000" flipH="1">
            <a:off x="8310800" y="3544209"/>
            <a:ext cx="333413" cy="1646239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709D8F36-0AFD-F342-897A-904793D9139D}"/>
              </a:ext>
            </a:extLst>
          </p:cNvPr>
          <p:cNvCxnSpPr>
            <a:cxnSpLocks/>
            <a:stCxn id="50" idx="2"/>
          </p:cNvCxnSpPr>
          <p:nvPr/>
        </p:nvCxnSpPr>
        <p:spPr>
          <a:xfrm rot="5400000">
            <a:off x="6198474" y="3944790"/>
            <a:ext cx="1200081" cy="1711746"/>
          </a:xfrm>
          <a:prstGeom prst="bentConnector3">
            <a:avLst>
              <a:gd name="adj1" fmla="val 13717"/>
            </a:avLst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F48FF87A-4997-5340-8ACC-17AC8B2371FD}"/>
              </a:ext>
            </a:extLst>
          </p:cNvPr>
          <p:cNvSpPr/>
          <p:nvPr/>
        </p:nvSpPr>
        <p:spPr>
          <a:xfrm>
            <a:off x="5408480" y="5381483"/>
            <a:ext cx="4464756" cy="590164"/>
          </a:xfrm>
          <a:prstGeom prst="rect">
            <a:avLst/>
          </a:prstGeom>
          <a:solidFill>
            <a:schemeClr val="bg1">
              <a:lumMod val="50000"/>
              <a:alpha val="34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50" dirty="0"/>
              <a:t>LLVM</a:t>
            </a:r>
            <a:endParaRPr lang="en-US" sz="125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8434686-A571-4348-BD91-AE549231455F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9300626" y="5124200"/>
            <a:ext cx="0" cy="288334"/>
          </a:xfrm>
          <a:prstGeom prst="straightConnector1">
            <a:avLst/>
          </a:prstGeom>
          <a:ln w="38100">
            <a:solidFill>
              <a:schemeClr val="tx1">
                <a:alpha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FD2DB0C-58D1-5142-84F2-60D5C8F9D277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9873236" y="5676565"/>
            <a:ext cx="5726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49C9786-7D34-1A43-A1F0-65A2337F8014}"/>
              </a:ext>
            </a:extLst>
          </p:cNvPr>
          <p:cNvCxnSpPr>
            <a:cxnSpLocks/>
          </p:cNvCxnSpPr>
          <p:nvPr/>
        </p:nvCxnSpPr>
        <p:spPr>
          <a:xfrm>
            <a:off x="11032364" y="6176963"/>
            <a:ext cx="0" cy="3470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2A694C0-881C-1843-818E-5E057766C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65" b="92742" l="4839" r="92742">
                        <a14:foregroundMark x1="34677" y1="70968" x2="34677" y2="70968"/>
                        <a14:foregroundMark x1="49194" y1="45968" x2="49194" y2="45968"/>
                        <a14:foregroundMark x1="54032" y1="34677" x2="54032" y2="34677"/>
                        <a14:foregroundMark x1="4839" y1="48387" x2="4839" y2="48387"/>
                        <a14:foregroundMark x1="69355" y1="93548" x2="69355" y2="93548"/>
                        <a14:foregroundMark x1="45161" y1="62097" x2="45161" y2="62097"/>
                        <a14:foregroundMark x1="60484" y1="45968" x2="60484" y2="45968"/>
                        <a14:foregroundMark x1="89516" y1="54032" x2="89516" y2="54032"/>
                        <a14:foregroundMark x1="91935" y1="53226" x2="91935" y2="53226"/>
                        <a14:foregroundMark x1="91129" y1="53226" x2="91129" y2="53226"/>
                        <a14:foregroundMark x1="51613" y1="31452" x2="51613" y2="31452"/>
                        <a14:foregroundMark x1="34677" y1="8065" x2="34677" y2="8065"/>
                        <a14:foregroundMark x1="91129" y1="54839" x2="91129" y2="54839"/>
                        <a14:foregroundMark x1="92742" y1="54032" x2="92742" y2="54032"/>
                        <a14:foregroundMark x1="42742" y1="61290" x2="42742" y2="61290"/>
                        <a14:foregroundMark x1="20968" y1="89516" x2="20968" y2="89516"/>
                        <a14:foregroundMark x1="64516" y1="41129" x2="64516" y2="411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39201" y="4570306"/>
            <a:ext cx="414117" cy="41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31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A9DF3F-C4EC-604C-A193-1970990CC168}"/>
              </a:ext>
            </a:extLst>
          </p:cNvPr>
          <p:cNvSpPr/>
          <p:nvPr/>
        </p:nvSpPr>
        <p:spPr>
          <a:xfrm>
            <a:off x="3737431" y="3332578"/>
            <a:ext cx="6834750" cy="2394857"/>
          </a:xfrm>
          <a:prstGeom prst="roundRect">
            <a:avLst>
              <a:gd name="adj" fmla="val 4913"/>
            </a:avLst>
          </a:prstGeom>
          <a:noFill/>
          <a:ln w="31750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488424"/>
                      <a:gd name="connsiteY0" fmla="*/ 624852 h 3749040"/>
                      <a:gd name="connsiteX1" fmla="*/ 624852 w 9488424"/>
                      <a:gd name="connsiteY1" fmla="*/ 0 h 3749040"/>
                      <a:gd name="connsiteX2" fmla="*/ 1378106 w 9488424"/>
                      <a:gd name="connsiteY2" fmla="*/ 0 h 3749040"/>
                      <a:gd name="connsiteX3" fmla="*/ 1884199 w 9488424"/>
                      <a:gd name="connsiteY3" fmla="*/ 0 h 3749040"/>
                      <a:gd name="connsiteX4" fmla="*/ 2307905 w 9488424"/>
                      <a:gd name="connsiteY4" fmla="*/ 0 h 3749040"/>
                      <a:gd name="connsiteX5" fmla="*/ 2978772 w 9488424"/>
                      <a:gd name="connsiteY5" fmla="*/ 0 h 3749040"/>
                      <a:gd name="connsiteX6" fmla="*/ 3484865 w 9488424"/>
                      <a:gd name="connsiteY6" fmla="*/ 0 h 3749040"/>
                      <a:gd name="connsiteX7" fmla="*/ 4238119 w 9488424"/>
                      <a:gd name="connsiteY7" fmla="*/ 0 h 3749040"/>
                      <a:gd name="connsiteX8" fmla="*/ 4661825 w 9488424"/>
                      <a:gd name="connsiteY8" fmla="*/ 0 h 3749040"/>
                      <a:gd name="connsiteX9" fmla="*/ 5415079 w 9488424"/>
                      <a:gd name="connsiteY9" fmla="*/ 0 h 3749040"/>
                      <a:gd name="connsiteX10" fmla="*/ 5756398 w 9488424"/>
                      <a:gd name="connsiteY10" fmla="*/ 0 h 3749040"/>
                      <a:gd name="connsiteX11" fmla="*/ 6344878 w 9488424"/>
                      <a:gd name="connsiteY11" fmla="*/ 0 h 3749040"/>
                      <a:gd name="connsiteX12" fmla="*/ 6933358 w 9488424"/>
                      <a:gd name="connsiteY12" fmla="*/ 0 h 3749040"/>
                      <a:gd name="connsiteX13" fmla="*/ 7439450 w 9488424"/>
                      <a:gd name="connsiteY13" fmla="*/ 0 h 3749040"/>
                      <a:gd name="connsiteX14" fmla="*/ 8192705 w 9488424"/>
                      <a:gd name="connsiteY14" fmla="*/ 0 h 3749040"/>
                      <a:gd name="connsiteX15" fmla="*/ 8863572 w 9488424"/>
                      <a:gd name="connsiteY15" fmla="*/ 0 h 3749040"/>
                      <a:gd name="connsiteX16" fmla="*/ 9488424 w 9488424"/>
                      <a:gd name="connsiteY16" fmla="*/ 624852 h 3749040"/>
                      <a:gd name="connsiteX17" fmla="*/ 9488424 w 9488424"/>
                      <a:gd name="connsiteY17" fmla="*/ 1149713 h 3749040"/>
                      <a:gd name="connsiteX18" fmla="*/ 9488424 w 9488424"/>
                      <a:gd name="connsiteY18" fmla="*/ 1649580 h 3749040"/>
                      <a:gd name="connsiteX19" fmla="*/ 9488424 w 9488424"/>
                      <a:gd name="connsiteY19" fmla="*/ 2074467 h 3749040"/>
                      <a:gd name="connsiteX20" fmla="*/ 9488424 w 9488424"/>
                      <a:gd name="connsiteY20" fmla="*/ 2524347 h 3749040"/>
                      <a:gd name="connsiteX21" fmla="*/ 9488424 w 9488424"/>
                      <a:gd name="connsiteY21" fmla="*/ 3124188 h 3749040"/>
                      <a:gd name="connsiteX22" fmla="*/ 8863572 w 9488424"/>
                      <a:gd name="connsiteY22" fmla="*/ 3749040 h 3749040"/>
                      <a:gd name="connsiteX23" fmla="*/ 8439866 w 9488424"/>
                      <a:gd name="connsiteY23" fmla="*/ 3749040 h 3749040"/>
                      <a:gd name="connsiteX24" fmla="*/ 8098548 w 9488424"/>
                      <a:gd name="connsiteY24" fmla="*/ 3749040 h 3749040"/>
                      <a:gd name="connsiteX25" fmla="*/ 7757230 w 9488424"/>
                      <a:gd name="connsiteY25" fmla="*/ 3749040 h 3749040"/>
                      <a:gd name="connsiteX26" fmla="*/ 7168750 w 9488424"/>
                      <a:gd name="connsiteY26" fmla="*/ 3749040 h 3749040"/>
                      <a:gd name="connsiteX27" fmla="*/ 6745044 w 9488424"/>
                      <a:gd name="connsiteY27" fmla="*/ 3749040 h 3749040"/>
                      <a:gd name="connsiteX28" fmla="*/ 6074177 w 9488424"/>
                      <a:gd name="connsiteY28" fmla="*/ 3749040 h 3749040"/>
                      <a:gd name="connsiteX29" fmla="*/ 5650471 w 9488424"/>
                      <a:gd name="connsiteY29" fmla="*/ 3749040 h 3749040"/>
                      <a:gd name="connsiteX30" fmla="*/ 4979604 w 9488424"/>
                      <a:gd name="connsiteY30" fmla="*/ 3749040 h 3749040"/>
                      <a:gd name="connsiteX31" fmla="*/ 4638286 w 9488424"/>
                      <a:gd name="connsiteY31" fmla="*/ 3749040 h 3749040"/>
                      <a:gd name="connsiteX32" fmla="*/ 3967418 w 9488424"/>
                      <a:gd name="connsiteY32" fmla="*/ 3749040 h 3749040"/>
                      <a:gd name="connsiteX33" fmla="*/ 3543713 w 9488424"/>
                      <a:gd name="connsiteY33" fmla="*/ 3749040 h 3749040"/>
                      <a:gd name="connsiteX34" fmla="*/ 3202394 w 9488424"/>
                      <a:gd name="connsiteY34" fmla="*/ 3749040 h 3749040"/>
                      <a:gd name="connsiteX35" fmla="*/ 2778689 w 9488424"/>
                      <a:gd name="connsiteY35" fmla="*/ 3749040 h 3749040"/>
                      <a:gd name="connsiteX36" fmla="*/ 2107822 w 9488424"/>
                      <a:gd name="connsiteY36" fmla="*/ 3749040 h 3749040"/>
                      <a:gd name="connsiteX37" fmla="*/ 1684116 w 9488424"/>
                      <a:gd name="connsiteY37" fmla="*/ 3749040 h 3749040"/>
                      <a:gd name="connsiteX38" fmla="*/ 1342798 w 9488424"/>
                      <a:gd name="connsiteY38" fmla="*/ 3749040 h 3749040"/>
                      <a:gd name="connsiteX39" fmla="*/ 624852 w 9488424"/>
                      <a:gd name="connsiteY39" fmla="*/ 3749040 h 3749040"/>
                      <a:gd name="connsiteX40" fmla="*/ 0 w 9488424"/>
                      <a:gd name="connsiteY40" fmla="*/ 3124188 h 3749040"/>
                      <a:gd name="connsiteX41" fmla="*/ 0 w 9488424"/>
                      <a:gd name="connsiteY41" fmla="*/ 2699301 h 3749040"/>
                      <a:gd name="connsiteX42" fmla="*/ 0 w 9488424"/>
                      <a:gd name="connsiteY42" fmla="*/ 2149447 h 3749040"/>
                      <a:gd name="connsiteX43" fmla="*/ 0 w 9488424"/>
                      <a:gd name="connsiteY43" fmla="*/ 1649580 h 3749040"/>
                      <a:gd name="connsiteX44" fmla="*/ 0 w 9488424"/>
                      <a:gd name="connsiteY44" fmla="*/ 1099726 h 3749040"/>
                      <a:gd name="connsiteX45" fmla="*/ 0 w 9488424"/>
                      <a:gd name="connsiteY45" fmla="*/ 624852 h 3749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9488424" h="3749040" extrusionOk="0">
                        <a:moveTo>
                          <a:pt x="0" y="624852"/>
                        </a:moveTo>
                        <a:cubicBezTo>
                          <a:pt x="-13925" y="271167"/>
                          <a:pt x="214005" y="24678"/>
                          <a:pt x="624852" y="0"/>
                        </a:cubicBezTo>
                        <a:cubicBezTo>
                          <a:pt x="796920" y="-44135"/>
                          <a:pt x="1225713" y="49269"/>
                          <a:pt x="1378106" y="0"/>
                        </a:cubicBezTo>
                        <a:cubicBezTo>
                          <a:pt x="1530499" y="-49269"/>
                          <a:pt x="1697370" y="15396"/>
                          <a:pt x="1884199" y="0"/>
                        </a:cubicBezTo>
                        <a:cubicBezTo>
                          <a:pt x="2071028" y="-15396"/>
                          <a:pt x="2108390" y="3771"/>
                          <a:pt x="2307905" y="0"/>
                        </a:cubicBezTo>
                        <a:cubicBezTo>
                          <a:pt x="2507420" y="-3771"/>
                          <a:pt x="2654167" y="74938"/>
                          <a:pt x="2978772" y="0"/>
                        </a:cubicBezTo>
                        <a:cubicBezTo>
                          <a:pt x="3303377" y="-74938"/>
                          <a:pt x="3373989" y="26204"/>
                          <a:pt x="3484865" y="0"/>
                        </a:cubicBezTo>
                        <a:cubicBezTo>
                          <a:pt x="3595741" y="-26204"/>
                          <a:pt x="4066315" y="42574"/>
                          <a:pt x="4238119" y="0"/>
                        </a:cubicBezTo>
                        <a:cubicBezTo>
                          <a:pt x="4409923" y="-42574"/>
                          <a:pt x="4484153" y="28325"/>
                          <a:pt x="4661825" y="0"/>
                        </a:cubicBezTo>
                        <a:cubicBezTo>
                          <a:pt x="4839497" y="-28325"/>
                          <a:pt x="5121725" y="69571"/>
                          <a:pt x="5415079" y="0"/>
                        </a:cubicBezTo>
                        <a:cubicBezTo>
                          <a:pt x="5708433" y="-69571"/>
                          <a:pt x="5617317" y="36694"/>
                          <a:pt x="5756398" y="0"/>
                        </a:cubicBezTo>
                        <a:cubicBezTo>
                          <a:pt x="5895479" y="-36694"/>
                          <a:pt x="6091772" y="28545"/>
                          <a:pt x="6344878" y="0"/>
                        </a:cubicBezTo>
                        <a:cubicBezTo>
                          <a:pt x="6597984" y="-28545"/>
                          <a:pt x="6788432" y="3506"/>
                          <a:pt x="6933358" y="0"/>
                        </a:cubicBezTo>
                        <a:cubicBezTo>
                          <a:pt x="7078284" y="-3506"/>
                          <a:pt x="7322513" y="40936"/>
                          <a:pt x="7439450" y="0"/>
                        </a:cubicBezTo>
                        <a:cubicBezTo>
                          <a:pt x="7556387" y="-40936"/>
                          <a:pt x="7850873" y="72867"/>
                          <a:pt x="8192705" y="0"/>
                        </a:cubicBezTo>
                        <a:cubicBezTo>
                          <a:pt x="8534538" y="-72867"/>
                          <a:pt x="8549685" y="74529"/>
                          <a:pt x="8863572" y="0"/>
                        </a:cubicBezTo>
                        <a:cubicBezTo>
                          <a:pt x="9131163" y="12727"/>
                          <a:pt x="9434932" y="242847"/>
                          <a:pt x="9488424" y="624852"/>
                        </a:cubicBezTo>
                        <a:cubicBezTo>
                          <a:pt x="9494614" y="871382"/>
                          <a:pt x="9441315" y="1016158"/>
                          <a:pt x="9488424" y="1149713"/>
                        </a:cubicBezTo>
                        <a:cubicBezTo>
                          <a:pt x="9535533" y="1283268"/>
                          <a:pt x="9482382" y="1410768"/>
                          <a:pt x="9488424" y="1649580"/>
                        </a:cubicBezTo>
                        <a:cubicBezTo>
                          <a:pt x="9494466" y="1888392"/>
                          <a:pt x="9456065" y="1966661"/>
                          <a:pt x="9488424" y="2074467"/>
                        </a:cubicBezTo>
                        <a:cubicBezTo>
                          <a:pt x="9520783" y="2182273"/>
                          <a:pt x="9474267" y="2310261"/>
                          <a:pt x="9488424" y="2524347"/>
                        </a:cubicBezTo>
                        <a:cubicBezTo>
                          <a:pt x="9502581" y="2738433"/>
                          <a:pt x="9416844" y="2840681"/>
                          <a:pt x="9488424" y="3124188"/>
                        </a:cubicBezTo>
                        <a:cubicBezTo>
                          <a:pt x="9582804" y="3449314"/>
                          <a:pt x="9217929" y="3836984"/>
                          <a:pt x="8863572" y="3749040"/>
                        </a:cubicBezTo>
                        <a:cubicBezTo>
                          <a:pt x="8701404" y="3793005"/>
                          <a:pt x="8609006" y="3701615"/>
                          <a:pt x="8439866" y="3749040"/>
                        </a:cubicBezTo>
                        <a:cubicBezTo>
                          <a:pt x="8270726" y="3796465"/>
                          <a:pt x="8209163" y="3729622"/>
                          <a:pt x="8098548" y="3749040"/>
                        </a:cubicBezTo>
                        <a:cubicBezTo>
                          <a:pt x="7987933" y="3768458"/>
                          <a:pt x="7875509" y="3741423"/>
                          <a:pt x="7757230" y="3749040"/>
                        </a:cubicBezTo>
                        <a:cubicBezTo>
                          <a:pt x="7638951" y="3756657"/>
                          <a:pt x="7307768" y="3744733"/>
                          <a:pt x="7168750" y="3749040"/>
                        </a:cubicBezTo>
                        <a:cubicBezTo>
                          <a:pt x="7029732" y="3753347"/>
                          <a:pt x="6929745" y="3704158"/>
                          <a:pt x="6745044" y="3749040"/>
                        </a:cubicBezTo>
                        <a:cubicBezTo>
                          <a:pt x="6560343" y="3793922"/>
                          <a:pt x="6256777" y="3674346"/>
                          <a:pt x="6074177" y="3749040"/>
                        </a:cubicBezTo>
                        <a:cubicBezTo>
                          <a:pt x="5891577" y="3823734"/>
                          <a:pt x="5773296" y="3745546"/>
                          <a:pt x="5650471" y="3749040"/>
                        </a:cubicBezTo>
                        <a:cubicBezTo>
                          <a:pt x="5527646" y="3752534"/>
                          <a:pt x="5134958" y="3727641"/>
                          <a:pt x="4979604" y="3749040"/>
                        </a:cubicBezTo>
                        <a:cubicBezTo>
                          <a:pt x="4824250" y="3770439"/>
                          <a:pt x="4786588" y="3742429"/>
                          <a:pt x="4638286" y="3749040"/>
                        </a:cubicBezTo>
                        <a:cubicBezTo>
                          <a:pt x="4489984" y="3755651"/>
                          <a:pt x="4178712" y="3669122"/>
                          <a:pt x="3967418" y="3749040"/>
                        </a:cubicBezTo>
                        <a:cubicBezTo>
                          <a:pt x="3756124" y="3828958"/>
                          <a:pt x="3676282" y="3717963"/>
                          <a:pt x="3543713" y="3749040"/>
                        </a:cubicBezTo>
                        <a:cubicBezTo>
                          <a:pt x="3411145" y="3780117"/>
                          <a:pt x="3345898" y="3723197"/>
                          <a:pt x="3202394" y="3749040"/>
                        </a:cubicBezTo>
                        <a:cubicBezTo>
                          <a:pt x="3058890" y="3774883"/>
                          <a:pt x="2968538" y="3742965"/>
                          <a:pt x="2778689" y="3749040"/>
                        </a:cubicBezTo>
                        <a:cubicBezTo>
                          <a:pt x="2588841" y="3755115"/>
                          <a:pt x="2270513" y="3746267"/>
                          <a:pt x="2107822" y="3749040"/>
                        </a:cubicBezTo>
                        <a:cubicBezTo>
                          <a:pt x="1945131" y="3751813"/>
                          <a:pt x="1820889" y="3743944"/>
                          <a:pt x="1684116" y="3749040"/>
                        </a:cubicBezTo>
                        <a:cubicBezTo>
                          <a:pt x="1547343" y="3754136"/>
                          <a:pt x="1416176" y="3729581"/>
                          <a:pt x="1342798" y="3749040"/>
                        </a:cubicBezTo>
                        <a:cubicBezTo>
                          <a:pt x="1269420" y="3768499"/>
                          <a:pt x="859550" y="3737001"/>
                          <a:pt x="624852" y="3749040"/>
                        </a:cubicBezTo>
                        <a:cubicBezTo>
                          <a:pt x="300560" y="3799889"/>
                          <a:pt x="31537" y="3500482"/>
                          <a:pt x="0" y="3124188"/>
                        </a:cubicBezTo>
                        <a:cubicBezTo>
                          <a:pt x="-24405" y="2928517"/>
                          <a:pt x="6185" y="2817686"/>
                          <a:pt x="0" y="2699301"/>
                        </a:cubicBezTo>
                        <a:cubicBezTo>
                          <a:pt x="-6185" y="2580916"/>
                          <a:pt x="24193" y="2417194"/>
                          <a:pt x="0" y="2149447"/>
                        </a:cubicBezTo>
                        <a:cubicBezTo>
                          <a:pt x="-24193" y="1881700"/>
                          <a:pt x="20269" y="1843217"/>
                          <a:pt x="0" y="1649580"/>
                        </a:cubicBezTo>
                        <a:cubicBezTo>
                          <a:pt x="-20269" y="1455943"/>
                          <a:pt x="51342" y="1337889"/>
                          <a:pt x="0" y="1099726"/>
                        </a:cubicBezTo>
                        <a:cubicBezTo>
                          <a:pt x="-51342" y="861563"/>
                          <a:pt x="13350" y="787327"/>
                          <a:pt x="0" y="62485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FBDB5-E363-984E-9AA8-8D8ECE51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74829" cy="937464"/>
          </a:xfrm>
        </p:spPr>
        <p:txBody>
          <a:bodyPr>
            <a:normAutofit/>
          </a:bodyPr>
          <a:lstStyle/>
          <a:p>
            <a:r>
              <a:rPr lang="en-US" sz="4000" dirty="0"/>
              <a:t>Integration of ONNX Specs within MLIR Framework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E5177E-E75C-C747-8DE6-07F2CD62D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Ingest ONNX Specs directly into MLIR.</a:t>
            </a:r>
          </a:p>
          <a:p>
            <a:pPr lvl="1"/>
            <a:r>
              <a:rPr lang="en-US" dirty="0"/>
              <a:t>Script transforms ONNX Specs into LLVM TableGen format.</a:t>
            </a:r>
          </a:p>
          <a:p>
            <a:pPr lvl="1"/>
            <a:r>
              <a:rPr lang="en-US" dirty="0"/>
              <a:t>Describes ONNX operations for MLIR (inputs, attributes, outputs, types).</a:t>
            </a:r>
          </a:p>
          <a:p>
            <a:pPr lvl="1"/>
            <a:r>
              <a:rPr lang="en-US" dirty="0"/>
              <a:t>Drives validation and shape inference.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C491C-5041-3B44-A94F-FEE3804DAA76}"/>
              </a:ext>
            </a:extLst>
          </p:cNvPr>
          <p:cNvSpPr/>
          <p:nvPr/>
        </p:nvSpPr>
        <p:spPr>
          <a:xfrm>
            <a:off x="1489312" y="4097832"/>
            <a:ext cx="1214347" cy="8046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ONNX</a:t>
            </a:r>
          </a:p>
          <a:p>
            <a:pPr algn="ctr"/>
            <a:r>
              <a:rPr lang="en-US" dirty="0"/>
              <a:t>Specs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94731-5635-F14F-BB37-C48CBCBB73D3}"/>
              </a:ext>
            </a:extLst>
          </p:cNvPr>
          <p:cNvSpPr/>
          <p:nvPr/>
        </p:nvSpPr>
        <p:spPr>
          <a:xfrm>
            <a:off x="3984773" y="4100776"/>
            <a:ext cx="1475232" cy="804672"/>
          </a:xfrm>
          <a:prstGeom prst="rect">
            <a:avLst/>
          </a:prstGeom>
          <a:solidFill>
            <a:srgbClr val="92D05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ONNX MLIR</a:t>
            </a:r>
          </a:p>
          <a:p>
            <a:pPr algn="ctr"/>
            <a:r>
              <a:rPr lang="en-US" i="1" dirty="0">
                <a:solidFill>
                  <a:schemeClr val="bg1"/>
                </a:solidFill>
              </a:rPr>
              <a:t>Dialect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E7A08-2796-FC47-BF1F-13DA9B1BC7B1}"/>
              </a:ext>
            </a:extLst>
          </p:cNvPr>
          <p:cNvSpPr txBox="1"/>
          <p:nvPr/>
        </p:nvSpPr>
        <p:spPr>
          <a:xfrm>
            <a:off x="4141198" y="6050496"/>
            <a:ext cx="16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LLVM TableGen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7856D-1C4E-D548-AE60-D3D328832BF1}"/>
              </a:ext>
            </a:extLst>
          </p:cNvPr>
          <p:cNvSpPr txBox="1"/>
          <p:nvPr/>
        </p:nvSpPr>
        <p:spPr>
          <a:xfrm>
            <a:off x="7830370" y="6050496"/>
            <a:ext cx="540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C++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0AC71D9-4CF1-C94A-AAAC-6F3894EE8F3F}"/>
              </a:ext>
            </a:extLst>
          </p:cNvPr>
          <p:cNvGrpSpPr/>
          <p:nvPr/>
        </p:nvGrpSpPr>
        <p:grpSpPr>
          <a:xfrm>
            <a:off x="5570209" y="3594805"/>
            <a:ext cx="2443311" cy="1917276"/>
            <a:chOff x="5570209" y="3594805"/>
            <a:chExt cx="2443311" cy="191727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9D97A2-4605-B848-A169-2452395085EA}"/>
                </a:ext>
              </a:extLst>
            </p:cNvPr>
            <p:cNvSpPr/>
            <p:nvPr/>
          </p:nvSpPr>
          <p:spPr>
            <a:xfrm>
              <a:off x="6538289" y="3594805"/>
              <a:ext cx="1468460" cy="804668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chemeClr val="bg1"/>
                  </a:solidFill>
                </a:rPr>
                <a:t>Inference rules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37C6036-9050-E048-921B-404E345B65F5}"/>
                </a:ext>
              </a:extLst>
            </p:cNvPr>
            <p:cNvSpPr/>
            <p:nvPr/>
          </p:nvSpPr>
          <p:spPr>
            <a:xfrm>
              <a:off x="6538288" y="4707409"/>
              <a:ext cx="1475232" cy="804672"/>
            </a:xfrm>
            <a:prstGeom prst="rect">
              <a:avLst/>
            </a:prstGeom>
            <a:solidFill>
              <a:schemeClr val="accent1"/>
            </a:solidFill>
            <a:ln w="222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solidFill>
                    <a:schemeClr val="bg1"/>
                  </a:solidFill>
                </a:rPr>
                <a:t>Definitions of ONNX objects</a:t>
              </a:r>
            </a:p>
          </p:txBody>
        </p:sp>
        <p:sp>
          <p:nvSpPr>
            <p:cNvPr id="89" name="Right Arrow 88">
              <a:extLst>
                <a:ext uri="{FF2B5EF4-FFF2-40B4-BE49-F238E27FC236}">
                  <a16:creationId xmlns:a16="http://schemas.microsoft.com/office/drawing/2014/main" id="{53C7BF98-3498-1843-AEA0-1648091562EB}"/>
                </a:ext>
              </a:extLst>
            </p:cNvPr>
            <p:cNvSpPr/>
            <p:nvPr/>
          </p:nvSpPr>
          <p:spPr>
            <a:xfrm>
              <a:off x="5570209" y="4228253"/>
              <a:ext cx="751646" cy="651246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MLIR tools</a:t>
              </a:r>
            </a:p>
          </p:txBody>
        </p:sp>
        <p:sp>
          <p:nvSpPr>
            <p:cNvPr id="91" name="Right Bracket 90">
              <a:extLst>
                <a:ext uri="{FF2B5EF4-FFF2-40B4-BE49-F238E27FC236}">
                  <a16:creationId xmlns:a16="http://schemas.microsoft.com/office/drawing/2014/main" id="{899C2D78-CD7F-B146-B6F8-AEA469A373E3}"/>
                </a:ext>
              </a:extLst>
            </p:cNvPr>
            <p:cNvSpPr/>
            <p:nvPr/>
          </p:nvSpPr>
          <p:spPr>
            <a:xfrm flipH="1">
              <a:off x="6370912" y="3604076"/>
              <a:ext cx="94467" cy="1901049"/>
            </a:xfrm>
            <a:prstGeom prst="rightBracket">
              <a:avLst/>
            </a:prstGeom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Right Bracket 92">
            <a:extLst>
              <a:ext uri="{FF2B5EF4-FFF2-40B4-BE49-F238E27FC236}">
                <a16:creationId xmlns:a16="http://schemas.microsoft.com/office/drawing/2014/main" id="{A67D567A-A62F-7940-9C3F-3BDC95D783A1}"/>
              </a:ext>
            </a:extLst>
          </p:cNvPr>
          <p:cNvSpPr/>
          <p:nvPr/>
        </p:nvSpPr>
        <p:spPr>
          <a:xfrm rot="5400000">
            <a:off x="4890896" y="5299257"/>
            <a:ext cx="164727" cy="2034151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Bracket 93">
            <a:extLst>
              <a:ext uri="{FF2B5EF4-FFF2-40B4-BE49-F238E27FC236}">
                <a16:creationId xmlns:a16="http://schemas.microsoft.com/office/drawing/2014/main" id="{4C7F4A35-3312-474B-95D5-9BB4F3A50B17}"/>
              </a:ext>
            </a:extLst>
          </p:cNvPr>
          <p:cNvSpPr/>
          <p:nvPr/>
        </p:nvSpPr>
        <p:spPr>
          <a:xfrm rot="5400000">
            <a:off x="8292328" y="4263494"/>
            <a:ext cx="163538" cy="4104484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8FCC10C-74A0-C74F-9413-C54507CA042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703659" y="4500168"/>
            <a:ext cx="1281114" cy="294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8AB7D0B2-40D2-2243-B0C0-140F7EB8E50A}"/>
              </a:ext>
            </a:extLst>
          </p:cNvPr>
          <p:cNvSpPr txBox="1"/>
          <p:nvPr/>
        </p:nvSpPr>
        <p:spPr>
          <a:xfrm>
            <a:off x="2830195" y="4238087"/>
            <a:ext cx="7159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Python script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7BACCD3-1870-A943-8DD4-040D4A8D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67" y="3179371"/>
            <a:ext cx="459809" cy="4598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6268E4-8B63-5142-B4FD-251BD502D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65" b="92742" l="4839" r="92742">
                        <a14:foregroundMark x1="34677" y1="70968" x2="34677" y2="70968"/>
                        <a14:foregroundMark x1="49194" y1="45968" x2="49194" y2="45968"/>
                        <a14:foregroundMark x1="54032" y1="34677" x2="54032" y2="34677"/>
                        <a14:foregroundMark x1="4839" y1="48387" x2="4839" y2="48387"/>
                        <a14:foregroundMark x1="69355" y1="93548" x2="69355" y2="93548"/>
                        <a14:foregroundMark x1="45161" y1="62097" x2="45161" y2="62097"/>
                        <a14:foregroundMark x1="60484" y1="45968" x2="60484" y2="45968"/>
                        <a14:foregroundMark x1="89516" y1="54032" x2="89516" y2="54032"/>
                        <a14:foregroundMark x1="91935" y1="53226" x2="91935" y2="53226"/>
                        <a14:foregroundMark x1="91129" y1="53226" x2="91129" y2="53226"/>
                        <a14:foregroundMark x1="51613" y1="31452" x2="51613" y2="31452"/>
                        <a14:foregroundMark x1="34677" y1="8065" x2="34677" y2="8065"/>
                        <a14:foregroundMark x1="91129" y1="54839" x2="91129" y2="54839"/>
                        <a14:foregroundMark x1="92742" y1="54032" x2="92742" y2="54032"/>
                        <a14:foregroundMark x1="42742" y1="61290" x2="42742" y2="61290"/>
                        <a14:foregroundMark x1="20968" y1="89516" x2="20968" y2="89516"/>
                        <a14:foregroundMark x1="64516" y1="41129" x2="64516" y2="411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14071" y="3893717"/>
            <a:ext cx="414117" cy="41411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E2D0739-63C0-4F42-9168-EB7B51F24D48}"/>
              </a:ext>
            </a:extLst>
          </p:cNvPr>
          <p:cNvSpPr txBox="1"/>
          <p:nvPr/>
        </p:nvSpPr>
        <p:spPr>
          <a:xfrm>
            <a:off x="1465233" y="6038925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ONNX Specs</a:t>
            </a:r>
          </a:p>
        </p:txBody>
      </p:sp>
      <p:sp>
        <p:nvSpPr>
          <p:cNvPr id="44" name="Right Bracket 43">
            <a:extLst>
              <a:ext uri="{FF2B5EF4-FFF2-40B4-BE49-F238E27FC236}">
                <a16:creationId xmlns:a16="http://schemas.microsoft.com/office/drawing/2014/main" id="{42A6B3F8-F771-7349-BB76-41C7B92145BA}"/>
              </a:ext>
            </a:extLst>
          </p:cNvPr>
          <p:cNvSpPr/>
          <p:nvPr/>
        </p:nvSpPr>
        <p:spPr>
          <a:xfrm rot="5400000">
            <a:off x="2141764" y="5299258"/>
            <a:ext cx="164726" cy="2034150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D4B203-365F-5B42-B637-5CD093E89128}"/>
              </a:ext>
            </a:extLst>
          </p:cNvPr>
          <p:cNvGrpSpPr/>
          <p:nvPr/>
        </p:nvGrpSpPr>
        <p:grpSpPr>
          <a:xfrm>
            <a:off x="8006749" y="3071320"/>
            <a:ext cx="2260640" cy="3101577"/>
            <a:chOff x="8006749" y="3071320"/>
            <a:chExt cx="2260640" cy="3101577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E34F0697-78CD-BA45-97B0-9C165146037B}"/>
                </a:ext>
              </a:extLst>
            </p:cNvPr>
            <p:cNvCxnSpPr>
              <a:cxnSpLocks/>
            </p:cNvCxnSpPr>
            <p:nvPr/>
          </p:nvCxnSpPr>
          <p:spPr>
            <a:xfrm>
              <a:off x="9529773" y="4405209"/>
              <a:ext cx="0" cy="298785"/>
            </a:xfrm>
            <a:prstGeom prst="straightConnector1">
              <a:avLst/>
            </a:prstGeom>
            <a:ln w="50800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79EC87A-7FDC-494E-A0CA-595E418D4928}"/>
                </a:ext>
              </a:extLst>
            </p:cNvPr>
            <p:cNvGrpSpPr/>
            <p:nvPr/>
          </p:nvGrpSpPr>
          <p:grpSpPr>
            <a:xfrm>
              <a:off x="8006749" y="3071320"/>
              <a:ext cx="2260640" cy="3101577"/>
              <a:chOff x="8006749" y="3071320"/>
              <a:chExt cx="2260640" cy="3101577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AA320E1-CA62-F940-A949-79ED5EAC9304}"/>
                  </a:ext>
                </a:extLst>
              </p:cNvPr>
              <p:cNvSpPr/>
              <p:nvPr/>
            </p:nvSpPr>
            <p:spPr>
              <a:xfrm>
                <a:off x="8792157" y="4703994"/>
                <a:ext cx="1475232" cy="804672"/>
              </a:xfrm>
              <a:prstGeom prst="rect">
                <a:avLst/>
              </a:prstGeom>
              <a:solidFill>
                <a:srgbClr val="ED7D3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Shape inference pass</a:t>
                </a: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C4E4663F-FF9E-2C40-A88C-D612C9495205}"/>
                  </a:ext>
                </a:extLst>
              </p:cNvPr>
              <p:cNvCxnSpPr>
                <a:cxnSpLocks/>
                <a:stCxn id="40" idx="3"/>
                <a:endCxn id="66" idx="1"/>
              </p:cNvCxnSpPr>
              <p:nvPr/>
            </p:nvCxnSpPr>
            <p:spPr>
              <a:xfrm>
                <a:off x="8006749" y="3997139"/>
                <a:ext cx="785408" cy="5734"/>
              </a:xfrm>
              <a:prstGeom prst="straightConnector1">
                <a:avLst/>
              </a:prstGeom>
              <a:ln w="508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29EF0100-B06D-674A-9ED4-1A62D24525E4}"/>
                  </a:ext>
                </a:extLst>
              </p:cNvPr>
              <p:cNvCxnSpPr>
                <a:stCxn id="45" idx="3"/>
                <a:endCxn id="50" idx="1"/>
              </p:cNvCxnSpPr>
              <p:nvPr/>
            </p:nvCxnSpPr>
            <p:spPr>
              <a:xfrm flipV="1">
                <a:off x="8013520" y="5106330"/>
                <a:ext cx="778637" cy="3415"/>
              </a:xfrm>
              <a:prstGeom prst="straightConnector1">
                <a:avLst/>
              </a:prstGeom>
              <a:ln w="508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49A05A1-391D-3549-B491-63BBD772C683}"/>
                  </a:ext>
                </a:extLst>
              </p:cNvPr>
              <p:cNvSpPr/>
              <p:nvPr/>
            </p:nvSpPr>
            <p:spPr>
              <a:xfrm>
                <a:off x="8792157" y="3600537"/>
                <a:ext cx="1475232" cy="804672"/>
              </a:xfrm>
              <a:prstGeom prst="rect">
                <a:avLst/>
              </a:prstGeom>
              <a:solidFill>
                <a:srgbClr val="ED7D31"/>
              </a:solidFill>
              <a:ln w="222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Validation </a:t>
                </a:r>
                <a:r>
                  <a:rPr lang="en-US" dirty="0"/>
                  <a:t>pass</a:t>
                </a:r>
              </a:p>
            </p:txBody>
          </p:sp>
          <p:cxnSp>
            <p:nvCxnSpPr>
              <p:cNvPr id="48" name="Elbow Connector 47">
                <a:extLst>
                  <a:ext uri="{FF2B5EF4-FFF2-40B4-BE49-F238E27FC236}">
                    <a16:creationId xmlns:a16="http://schemas.microsoft.com/office/drawing/2014/main" id="{62EA0B54-E77C-4A49-BE6B-19844F0441C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196313" y="5839432"/>
                <a:ext cx="666929" cy="1"/>
              </a:xfrm>
              <a:prstGeom prst="bentConnector3">
                <a:avLst>
                  <a:gd name="adj1" fmla="val 50000"/>
                </a:avLst>
              </a:prstGeom>
              <a:ln w="50800">
                <a:solidFill>
                  <a:srgbClr val="ED7D3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32BF033B-7000-5A44-B350-768D4ECF75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29773" y="3071320"/>
                <a:ext cx="0" cy="523485"/>
              </a:xfrm>
              <a:prstGeom prst="straightConnector1">
                <a:avLst/>
              </a:prstGeom>
              <a:ln w="50800">
                <a:solidFill>
                  <a:srgbClr val="ED7D3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4235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A9DF3F-C4EC-604C-A193-1970990CC168}"/>
              </a:ext>
            </a:extLst>
          </p:cNvPr>
          <p:cNvSpPr/>
          <p:nvPr/>
        </p:nvSpPr>
        <p:spPr>
          <a:xfrm>
            <a:off x="5410212" y="3537857"/>
            <a:ext cx="5181638" cy="1357854"/>
          </a:xfrm>
          <a:prstGeom prst="roundRect">
            <a:avLst>
              <a:gd name="adj" fmla="val 4913"/>
            </a:avLst>
          </a:prstGeom>
          <a:noFill/>
          <a:ln w="31750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9488424"/>
                      <a:gd name="connsiteY0" fmla="*/ 624852 h 3749040"/>
                      <a:gd name="connsiteX1" fmla="*/ 624852 w 9488424"/>
                      <a:gd name="connsiteY1" fmla="*/ 0 h 3749040"/>
                      <a:gd name="connsiteX2" fmla="*/ 1378106 w 9488424"/>
                      <a:gd name="connsiteY2" fmla="*/ 0 h 3749040"/>
                      <a:gd name="connsiteX3" fmla="*/ 1884199 w 9488424"/>
                      <a:gd name="connsiteY3" fmla="*/ 0 h 3749040"/>
                      <a:gd name="connsiteX4" fmla="*/ 2307905 w 9488424"/>
                      <a:gd name="connsiteY4" fmla="*/ 0 h 3749040"/>
                      <a:gd name="connsiteX5" fmla="*/ 2978772 w 9488424"/>
                      <a:gd name="connsiteY5" fmla="*/ 0 h 3749040"/>
                      <a:gd name="connsiteX6" fmla="*/ 3484865 w 9488424"/>
                      <a:gd name="connsiteY6" fmla="*/ 0 h 3749040"/>
                      <a:gd name="connsiteX7" fmla="*/ 4238119 w 9488424"/>
                      <a:gd name="connsiteY7" fmla="*/ 0 h 3749040"/>
                      <a:gd name="connsiteX8" fmla="*/ 4661825 w 9488424"/>
                      <a:gd name="connsiteY8" fmla="*/ 0 h 3749040"/>
                      <a:gd name="connsiteX9" fmla="*/ 5415079 w 9488424"/>
                      <a:gd name="connsiteY9" fmla="*/ 0 h 3749040"/>
                      <a:gd name="connsiteX10" fmla="*/ 5756398 w 9488424"/>
                      <a:gd name="connsiteY10" fmla="*/ 0 h 3749040"/>
                      <a:gd name="connsiteX11" fmla="*/ 6344878 w 9488424"/>
                      <a:gd name="connsiteY11" fmla="*/ 0 h 3749040"/>
                      <a:gd name="connsiteX12" fmla="*/ 6933358 w 9488424"/>
                      <a:gd name="connsiteY12" fmla="*/ 0 h 3749040"/>
                      <a:gd name="connsiteX13" fmla="*/ 7439450 w 9488424"/>
                      <a:gd name="connsiteY13" fmla="*/ 0 h 3749040"/>
                      <a:gd name="connsiteX14" fmla="*/ 8192705 w 9488424"/>
                      <a:gd name="connsiteY14" fmla="*/ 0 h 3749040"/>
                      <a:gd name="connsiteX15" fmla="*/ 8863572 w 9488424"/>
                      <a:gd name="connsiteY15" fmla="*/ 0 h 3749040"/>
                      <a:gd name="connsiteX16" fmla="*/ 9488424 w 9488424"/>
                      <a:gd name="connsiteY16" fmla="*/ 624852 h 3749040"/>
                      <a:gd name="connsiteX17" fmla="*/ 9488424 w 9488424"/>
                      <a:gd name="connsiteY17" fmla="*/ 1149713 h 3749040"/>
                      <a:gd name="connsiteX18" fmla="*/ 9488424 w 9488424"/>
                      <a:gd name="connsiteY18" fmla="*/ 1649580 h 3749040"/>
                      <a:gd name="connsiteX19" fmla="*/ 9488424 w 9488424"/>
                      <a:gd name="connsiteY19" fmla="*/ 2074467 h 3749040"/>
                      <a:gd name="connsiteX20" fmla="*/ 9488424 w 9488424"/>
                      <a:gd name="connsiteY20" fmla="*/ 2524347 h 3749040"/>
                      <a:gd name="connsiteX21" fmla="*/ 9488424 w 9488424"/>
                      <a:gd name="connsiteY21" fmla="*/ 3124188 h 3749040"/>
                      <a:gd name="connsiteX22" fmla="*/ 8863572 w 9488424"/>
                      <a:gd name="connsiteY22" fmla="*/ 3749040 h 3749040"/>
                      <a:gd name="connsiteX23" fmla="*/ 8439866 w 9488424"/>
                      <a:gd name="connsiteY23" fmla="*/ 3749040 h 3749040"/>
                      <a:gd name="connsiteX24" fmla="*/ 8098548 w 9488424"/>
                      <a:gd name="connsiteY24" fmla="*/ 3749040 h 3749040"/>
                      <a:gd name="connsiteX25" fmla="*/ 7757230 w 9488424"/>
                      <a:gd name="connsiteY25" fmla="*/ 3749040 h 3749040"/>
                      <a:gd name="connsiteX26" fmla="*/ 7168750 w 9488424"/>
                      <a:gd name="connsiteY26" fmla="*/ 3749040 h 3749040"/>
                      <a:gd name="connsiteX27" fmla="*/ 6745044 w 9488424"/>
                      <a:gd name="connsiteY27" fmla="*/ 3749040 h 3749040"/>
                      <a:gd name="connsiteX28" fmla="*/ 6074177 w 9488424"/>
                      <a:gd name="connsiteY28" fmla="*/ 3749040 h 3749040"/>
                      <a:gd name="connsiteX29" fmla="*/ 5650471 w 9488424"/>
                      <a:gd name="connsiteY29" fmla="*/ 3749040 h 3749040"/>
                      <a:gd name="connsiteX30" fmla="*/ 4979604 w 9488424"/>
                      <a:gd name="connsiteY30" fmla="*/ 3749040 h 3749040"/>
                      <a:gd name="connsiteX31" fmla="*/ 4638286 w 9488424"/>
                      <a:gd name="connsiteY31" fmla="*/ 3749040 h 3749040"/>
                      <a:gd name="connsiteX32" fmla="*/ 3967418 w 9488424"/>
                      <a:gd name="connsiteY32" fmla="*/ 3749040 h 3749040"/>
                      <a:gd name="connsiteX33" fmla="*/ 3543713 w 9488424"/>
                      <a:gd name="connsiteY33" fmla="*/ 3749040 h 3749040"/>
                      <a:gd name="connsiteX34" fmla="*/ 3202394 w 9488424"/>
                      <a:gd name="connsiteY34" fmla="*/ 3749040 h 3749040"/>
                      <a:gd name="connsiteX35" fmla="*/ 2778689 w 9488424"/>
                      <a:gd name="connsiteY35" fmla="*/ 3749040 h 3749040"/>
                      <a:gd name="connsiteX36" fmla="*/ 2107822 w 9488424"/>
                      <a:gd name="connsiteY36" fmla="*/ 3749040 h 3749040"/>
                      <a:gd name="connsiteX37" fmla="*/ 1684116 w 9488424"/>
                      <a:gd name="connsiteY37" fmla="*/ 3749040 h 3749040"/>
                      <a:gd name="connsiteX38" fmla="*/ 1342798 w 9488424"/>
                      <a:gd name="connsiteY38" fmla="*/ 3749040 h 3749040"/>
                      <a:gd name="connsiteX39" fmla="*/ 624852 w 9488424"/>
                      <a:gd name="connsiteY39" fmla="*/ 3749040 h 3749040"/>
                      <a:gd name="connsiteX40" fmla="*/ 0 w 9488424"/>
                      <a:gd name="connsiteY40" fmla="*/ 3124188 h 3749040"/>
                      <a:gd name="connsiteX41" fmla="*/ 0 w 9488424"/>
                      <a:gd name="connsiteY41" fmla="*/ 2699301 h 3749040"/>
                      <a:gd name="connsiteX42" fmla="*/ 0 w 9488424"/>
                      <a:gd name="connsiteY42" fmla="*/ 2149447 h 3749040"/>
                      <a:gd name="connsiteX43" fmla="*/ 0 w 9488424"/>
                      <a:gd name="connsiteY43" fmla="*/ 1649580 h 3749040"/>
                      <a:gd name="connsiteX44" fmla="*/ 0 w 9488424"/>
                      <a:gd name="connsiteY44" fmla="*/ 1099726 h 3749040"/>
                      <a:gd name="connsiteX45" fmla="*/ 0 w 9488424"/>
                      <a:gd name="connsiteY45" fmla="*/ 624852 h 3749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9488424" h="3749040" extrusionOk="0">
                        <a:moveTo>
                          <a:pt x="0" y="624852"/>
                        </a:moveTo>
                        <a:cubicBezTo>
                          <a:pt x="-13925" y="271167"/>
                          <a:pt x="214005" y="24678"/>
                          <a:pt x="624852" y="0"/>
                        </a:cubicBezTo>
                        <a:cubicBezTo>
                          <a:pt x="796920" y="-44135"/>
                          <a:pt x="1225713" y="49269"/>
                          <a:pt x="1378106" y="0"/>
                        </a:cubicBezTo>
                        <a:cubicBezTo>
                          <a:pt x="1530499" y="-49269"/>
                          <a:pt x="1697370" y="15396"/>
                          <a:pt x="1884199" y="0"/>
                        </a:cubicBezTo>
                        <a:cubicBezTo>
                          <a:pt x="2071028" y="-15396"/>
                          <a:pt x="2108390" y="3771"/>
                          <a:pt x="2307905" y="0"/>
                        </a:cubicBezTo>
                        <a:cubicBezTo>
                          <a:pt x="2507420" y="-3771"/>
                          <a:pt x="2654167" y="74938"/>
                          <a:pt x="2978772" y="0"/>
                        </a:cubicBezTo>
                        <a:cubicBezTo>
                          <a:pt x="3303377" y="-74938"/>
                          <a:pt x="3373989" y="26204"/>
                          <a:pt x="3484865" y="0"/>
                        </a:cubicBezTo>
                        <a:cubicBezTo>
                          <a:pt x="3595741" y="-26204"/>
                          <a:pt x="4066315" y="42574"/>
                          <a:pt x="4238119" y="0"/>
                        </a:cubicBezTo>
                        <a:cubicBezTo>
                          <a:pt x="4409923" y="-42574"/>
                          <a:pt x="4484153" y="28325"/>
                          <a:pt x="4661825" y="0"/>
                        </a:cubicBezTo>
                        <a:cubicBezTo>
                          <a:pt x="4839497" y="-28325"/>
                          <a:pt x="5121725" y="69571"/>
                          <a:pt x="5415079" y="0"/>
                        </a:cubicBezTo>
                        <a:cubicBezTo>
                          <a:pt x="5708433" y="-69571"/>
                          <a:pt x="5617317" y="36694"/>
                          <a:pt x="5756398" y="0"/>
                        </a:cubicBezTo>
                        <a:cubicBezTo>
                          <a:pt x="5895479" y="-36694"/>
                          <a:pt x="6091772" y="28545"/>
                          <a:pt x="6344878" y="0"/>
                        </a:cubicBezTo>
                        <a:cubicBezTo>
                          <a:pt x="6597984" y="-28545"/>
                          <a:pt x="6788432" y="3506"/>
                          <a:pt x="6933358" y="0"/>
                        </a:cubicBezTo>
                        <a:cubicBezTo>
                          <a:pt x="7078284" y="-3506"/>
                          <a:pt x="7322513" y="40936"/>
                          <a:pt x="7439450" y="0"/>
                        </a:cubicBezTo>
                        <a:cubicBezTo>
                          <a:pt x="7556387" y="-40936"/>
                          <a:pt x="7850873" y="72867"/>
                          <a:pt x="8192705" y="0"/>
                        </a:cubicBezTo>
                        <a:cubicBezTo>
                          <a:pt x="8534538" y="-72867"/>
                          <a:pt x="8549685" y="74529"/>
                          <a:pt x="8863572" y="0"/>
                        </a:cubicBezTo>
                        <a:cubicBezTo>
                          <a:pt x="9131163" y="12727"/>
                          <a:pt x="9434932" y="242847"/>
                          <a:pt x="9488424" y="624852"/>
                        </a:cubicBezTo>
                        <a:cubicBezTo>
                          <a:pt x="9494614" y="871382"/>
                          <a:pt x="9441315" y="1016158"/>
                          <a:pt x="9488424" y="1149713"/>
                        </a:cubicBezTo>
                        <a:cubicBezTo>
                          <a:pt x="9535533" y="1283268"/>
                          <a:pt x="9482382" y="1410768"/>
                          <a:pt x="9488424" y="1649580"/>
                        </a:cubicBezTo>
                        <a:cubicBezTo>
                          <a:pt x="9494466" y="1888392"/>
                          <a:pt x="9456065" y="1966661"/>
                          <a:pt x="9488424" y="2074467"/>
                        </a:cubicBezTo>
                        <a:cubicBezTo>
                          <a:pt x="9520783" y="2182273"/>
                          <a:pt x="9474267" y="2310261"/>
                          <a:pt x="9488424" y="2524347"/>
                        </a:cubicBezTo>
                        <a:cubicBezTo>
                          <a:pt x="9502581" y="2738433"/>
                          <a:pt x="9416844" y="2840681"/>
                          <a:pt x="9488424" y="3124188"/>
                        </a:cubicBezTo>
                        <a:cubicBezTo>
                          <a:pt x="9582804" y="3449314"/>
                          <a:pt x="9217929" y="3836984"/>
                          <a:pt x="8863572" y="3749040"/>
                        </a:cubicBezTo>
                        <a:cubicBezTo>
                          <a:pt x="8701404" y="3793005"/>
                          <a:pt x="8609006" y="3701615"/>
                          <a:pt x="8439866" y="3749040"/>
                        </a:cubicBezTo>
                        <a:cubicBezTo>
                          <a:pt x="8270726" y="3796465"/>
                          <a:pt x="8209163" y="3729622"/>
                          <a:pt x="8098548" y="3749040"/>
                        </a:cubicBezTo>
                        <a:cubicBezTo>
                          <a:pt x="7987933" y="3768458"/>
                          <a:pt x="7875509" y="3741423"/>
                          <a:pt x="7757230" y="3749040"/>
                        </a:cubicBezTo>
                        <a:cubicBezTo>
                          <a:pt x="7638951" y="3756657"/>
                          <a:pt x="7307768" y="3744733"/>
                          <a:pt x="7168750" y="3749040"/>
                        </a:cubicBezTo>
                        <a:cubicBezTo>
                          <a:pt x="7029732" y="3753347"/>
                          <a:pt x="6929745" y="3704158"/>
                          <a:pt x="6745044" y="3749040"/>
                        </a:cubicBezTo>
                        <a:cubicBezTo>
                          <a:pt x="6560343" y="3793922"/>
                          <a:pt x="6256777" y="3674346"/>
                          <a:pt x="6074177" y="3749040"/>
                        </a:cubicBezTo>
                        <a:cubicBezTo>
                          <a:pt x="5891577" y="3823734"/>
                          <a:pt x="5773296" y="3745546"/>
                          <a:pt x="5650471" y="3749040"/>
                        </a:cubicBezTo>
                        <a:cubicBezTo>
                          <a:pt x="5527646" y="3752534"/>
                          <a:pt x="5134958" y="3727641"/>
                          <a:pt x="4979604" y="3749040"/>
                        </a:cubicBezTo>
                        <a:cubicBezTo>
                          <a:pt x="4824250" y="3770439"/>
                          <a:pt x="4786588" y="3742429"/>
                          <a:pt x="4638286" y="3749040"/>
                        </a:cubicBezTo>
                        <a:cubicBezTo>
                          <a:pt x="4489984" y="3755651"/>
                          <a:pt x="4178712" y="3669122"/>
                          <a:pt x="3967418" y="3749040"/>
                        </a:cubicBezTo>
                        <a:cubicBezTo>
                          <a:pt x="3756124" y="3828958"/>
                          <a:pt x="3676282" y="3717963"/>
                          <a:pt x="3543713" y="3749040"/>
                        </a:cubicBezTo>
                        <a:cubicBezTo>
                          <a:pt x="3411145" y="3780117"/>
                          <a:pt x="3345898" y="3723197"/>
                          <a:pt x="3202394" y="3749040"/>
                        </a:cubicBezTo>
                        <a:cubicBezTo>
                          <a:pt x="3058890" y="3774883"/>
                          <a:pt x="2968538" y="3742965"/>
                          <a:pt x="2778689" y="3749040"/>
                        </a:cubicBezTo>
                        <a:cubicBezTo>
                          <a:pt x="2588841" y="3755115"/>
                          <a:pt x="2270513" y="3746267"/>
                          <a:pt x="2107822" y="3749040"/>
                        </a:cubicBezTo>
                        <a:cubicBezTo>
                          <a:pt x="1945131" y="3751813"/>
                          <a:pt x="1820889" y="3743944"/>
                          <a:pt x="1684116" y="3749040"/>
                        </a:cubicBezTo>
                        <a:cubicBezTo>
                          <a:pt x="1547343" y="3754136"/>
                          <a:pt x="1416176" y="3729581"/>
                          <a:pt x="1342798" y="3749040"/>
                        </a:cubicBezTo>
                        <a:cubicBezTo>
                          <a:pt x="1269420" y="3768499"/>
                          <a:pt x="859550" y="3737001"/>
                          <a:pt x="624852" y="3749040"/>
                        </a:cubicBezTo>
                        <a:cubicBezTo>
                          <a:pt x="300560" y="3799889"/>
                          <a:pt x="31537" y="3500482"/>
                          <a:pt x="0" y="3124188"/>
                        </a:cubicBezTo>
                        <a:cubicBezTo>
                          <a:pt x="-24405" y="2928517"/>
                          <a:pt x="6185" y="2817686"/>
                          <a:pt x="0" y="2699301"/>
                        </a:cubicBezTo>
                        <a:cubicBezTo>
                          <a:pt x="-6185" y="2580916"/>
                          <a:pt x="24193" y="2417194"/>
                          <a:pt x="0" y="2149447"/>
                        </a:cubicBezTo>
                        <a:cubicBezTo>
                          <a:pt x="-24193" y="1881700"/>
                          <a:pt x="20269" y="1843217"/>
                          <a:pt x="0" y="1649580"/>
                        </a:cubicBezTo>
                        <a:cubicBezTo>
                          <a:pt x="-20269" y="1455943"/>
                          <a:pt x="51342" y="1337889"/>
                          <a:pt x="0" y="1099726"/>
                        </a:cubicBezTo>
                        <a:cubicBezTo>
                          <a:pt x="-51342" y="861563"/>
                          <a:pt x="13350" y="787327"/>
                          <a:pt x="0" y="62485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FBDB5-E363-984E-9AA8-8D8ECE51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74829" cy="937464"/>
          </a:xfrm>
        </p:spPr>
        <p:txBody>
          <a:bodyPr>
            <a:normAutofit/>
          </a:bodyPr>
          <a:lstStyle/>
          <a:p>
            <a:r>
              <a:rPr lang="en-US" sz="4000" dirty="0"/>
              <a:t>Pattern-Matching Transformations in MLIR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FE5177E-E75C-C747-8DE6-07F2CD62D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 level description of ONNX to ONNX transformations.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</a:t>
            </a:r>
            <a:r>
              <a:rPr lang="en-US" dirty="0" err="1"/>
              <a:t>MatMul</a:t>
            </a:r>
            <a:r>
              <a:rPr lang="en-US" dirty="0"/>
              <a:t> and Add into a GEMM operation.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0E7A08-2796-FC47-BF1F-13DA9B1BC7B1}"/>
              </a:ext>
            </a:extLst>
          </p:cNvPr>
          <p:cNvSpPr txBox="1"/>
          <p:nvPr/>
        </p:nvSpPr>
        <p:spPr>
          <a:xfrm>
            <a:off x="5646513" y="4899204"/>
            <a:ext cx="16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LLVM TableGen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942F2C-7A75-B043-8F32-2B4764190499}"/>
              </a:ext>
            </a:extLst>
          </p:cNvPr>
          <p:cNvSpPr/>
          <p:nvPr/>
        </p:nvSpPr>
        <p:spPr>
          <a:xfrm>
            <a:off x="5739021" y="3909223"/>
            <a:ext cx="1475232" cy="804672"/>
          </a:xfrm>
          <a:prstGeom prst="rect">
            <a:avLst/>
          </a:prstGeom>
          <a:solidFill>
            <a:srgbClr val="92D05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Rewrite rules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B7856D-1C4E-D548-AE60-D3D328832BF1}"/>
              </a:ext>
            </a:extLst>
          </p:cNvPr>
          <p:cNvSpPr txBox="1"/>
          <p:nvPr/>
        </p:nvSpPr>
        <p:spPr>
          <a:xfrm>
            <a:off x="8534400" y="4880376"/>
            <a:ext cx="1069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C++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E06D3DC-0429-7742-896D-9B3176689EEC}"/>
              </a:ext>
            </a:extLst>
          </p:cNvPr>
          <p:cNvSpPr/>
          <p:nvPr/>
        </p:nvSpPr>
        <p:spPr>
          <a:xfrm>
            <a:off x="8820554" y="3900819"/>
            <a:ext cx="1475232" cy="813076"/>
          </a:xfrm>
          <a:prstGeom prst="rect">
            <a:avLst/>
          </a:prstGeom>
          <a:solidFill>
            <a:srgbClr val="ED7D3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ONNX Dialect Rewrites</a:t>
            </a:r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B828784E-363A-7C4C-9CF3-EC60488C07C1}"/>
              </a:ext>
            </a:extLst>
          </p:cNvPr>
          <p:cNvSpPr/>
          <p:nvPr/>
        </p:nvSpPr>
        <p:spPr>
          <a:xfrm>
            <a:off x="7495650" y="3990508"/>
            <a:ext cx="1236799" cy="651246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/>
              <a:t>MLIR tools</a:t>
            </a:r>
          </a:p>
        </p:txBody>
      </p:sp>
      <p:sp>
        <p:nvSpPr>
          <p:cNvPr id="93" name="Right Bracket 92">
            <a:extLst>
              <a:ext uri="{FF2B5EF4-FFF2-40B4-BE49-F238E27FC236}">
                <a16:creationId xmlns:a16="http://schemas.microsoft.com/office/drawing/2014/main" id="{A67D567A-A62F-7940-9C3F-3BDC95D783A1}"/>
              </a:ext>
            </a:extLst>
          </p:cNvPr>
          <p:cNvSpPr/>
          <p:nvPr/>
        </p:nvSpPr>
        <p:spPr>
          <a:xfrm rot="5400000">
            <a:off x="6396211" y="4147965"/>
            <a:ext cx="164727" cy="2034151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ight Bracket 93">
            <a:extLst>
              <a:ext uri="{FF2B5EF4-FFF2-40B4-BE49-F238E27FC236}">
                <a16:creationId xmlns:a16="http://schemas.microsoft.com/office/drawing/2014/main" id="{4C7F4A35-3312-474B-95D5-9BB4F3A50B17}"/>
              </a:ext>
            </a:extLst>
          </p:cNvPr>
          <p:cNvSpPr/>
          <p:nvPr/>
        </p:nvSpPr>
        <p:spPr>
          <a:xfrm rot="5400000">
            <a:off x="9026952" y="3779338"/>
            <a:ext cx="171876" cy="2761878"/>
          </a:xfrm>
          <a:prstGeom prst="righ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7BACCD3-1870-A943-8DD4-040D4A8DB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454" y="3307952"/>
            <a:ext cx="459809" cy="45980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E8B26BA2-8BB2-1144-B2B3-20A1019D5EE1}"/>
              </a:ext>
            </a:extLst>
          </p:cNvPr>
          <p:cNvGrpSpPr/>
          <p:nvPr/>
        </p:nvGrpSpPr>
        <p:grpSpPr>
          <a:xfrm>
            <a:off x="2472093" y="2396521"/>
            <a:ext cx="9573551" cy="4252261"/>
            <a:chOff x="2472093" y="2396521"/>
            <a:chExt cx="9573551" cy="4252261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D41B2A2-6C4D-B643-B273-23A513D4DBBB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>
              <a:off x="9558170" y="4713895"/>
              <a:ext cx="0" cy="789387"/>
            </a:xfrm>
            <a:prstGeom prst="straightConnector1">
              <a:avLst/>
            </a:prstGeom>
            <a:ln w="50800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88A6A814-E41B-6F4C-A16C-DCB28E1DC665}"/>
                </a:ext>
              </a:extLst>
            </p:cNvPr>
            <p:cNvSpPr/>
            <p:nvPr/>
          </p:nvSpPr>
          <p:spPr>
            <a:xfrm>
              <a:off x="2472093" y="2396521"/>
              <a:ext cx="9573551" cy="91143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    %0 = </a:t>
              </a: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"</a:t>
              </a:r>
              <a:r>
                <a:rPr lang="en-US" b="1" dirty="0" err="1">
                  <a:solidFill>
                    <a:srgbClr val="0070C0"/>
                  </a:solidFill>
                  <a:latin typeface="Calibri" panose="020F0502020204030204" pitchFamily="34" charset="0"/>
                </a:rPr>
                <a:t>onnx.MatMul</a:t>
              </a: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"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(%a0, %a1) : (tensor&lt;10x10xf32&gt;, tensor&lt;10x10xf32&gt;) -&gt; tensor&lt;10x10xf32&gt;</a:t>
              </a:r>
            </a:p>
            <a:p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    %1 = </a:t>
              </a: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"</a:t>
              </a:r>
              <a:r>
                <a:rPr lang="en-US" b="1" dirty="0" err="1">
                  <a:solidFill>
                    <a:srgbClr val="0070C0"/>
                  </a:solidFill>
                  <a:latin typeface="Calibri" panose="020F0502020204030204" pitchFamily="34" charset="0"/>
                </a:rPr>
                <a:t>onnx.Add</a:t>
              </a: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"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(%0, %a2) : (tensor&lt;10x10xf32&gt;, tensor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803D896-9150-0E4D-BF2D-A597044B3BA3}"/>
                </a:ext>
              </a:extLst>
            </p:cNvPr>
            <p:cNvSpPr/>
            <p:nvPr/>
          </p:nvSpPr>
          <p:spPr>
            <a:xfrm>
              <a:off x="2472093" y="5503282"/>
              <a:ext cx="9573551" cy="1145500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 %0 = </a:t>
              </a: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"</a:t>
              </a:r>
              <a:r>
                <a:rPr lang="en-US" b="1" dirty="0" err="1">
                  <a:solidFill>
                    <a:srgbClr val="FF0000"/>
                  </a:solidFill>
                  <a:latin typeface="Calibri" panose="020F0502020204030204" pitchFamily="34" charset="0"/>
                </a:rPr>
                <a:t>onnx.Gemm</a:t>
              </a:r>
              <a:r>
                <a:rPr lang="en-US" b="1" dirty="0">
                  <a:solidFill>
                    <a:srgbClr val="000000"/>
                  </a:solidFill>
                  <a:latin typeface="Calibri" panose="020F0502020204030204" pitchFamily="34" charset="0"/>
                </a:rPr>
                <a:t>"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(%a0, %a1, %a2) </a:t>
              </a:r>
            </a:p>
            <a:p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      { </a:t>
              </a:r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alpha = 1.000000e+00, beta = 1.000000e+00,  </a:t>
              </a:r>
              <a:r>
                <a:rPr lang="en-US" dirty="0" err="1">
                  <a:solidFill>
                    <a:schemeClr val="tx1"/>
                  </a:solidFill>
                  <a:latin typeface="Calibri" panose="020F0502020204030204" pitchFamily="34" charset="0"/>
                </a:rPr>
                <a:t>transA</a:t>
              </a:r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 = 0, </a:t>
              </a:r>
              <a:r>
                <a:rPr lang="en-US" dirty="0" err="1">
                  <a:solidFill>
                    <a:schemeClr val="tx1"/>
                  </a:solidFill>
                  <a:latin typeface="Calibri" panose="020F0502020204030204" pitchFamily="34" charset="0"/>
                </a:rPr>
                <a:t>transB</a:t>
              </a:r>
              <a:r>
                <a:rPr lang="en-US" dirty="0">
                  <a:solidFill>
                    <a:schemeClr val="tx1"/>
                  </a:solidFill>
                  <a:latin typeface="Calibri" panose="020F0502020204030204" pitchFamily="34" charset="0"/>
                </a:rPr>
                <a:t> = 0</a:t>
              </a:r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} : </a:t>
              </a:r>
            </a:p>
            <a:p>
              <a:r>
                <a:rPr lang="en-US" dirty="0">
                  <a:solidFill>
                    <a:srgbClr val="000000"/>
                  </a:solidFill>
                  <a:latin typeface="Calibri" panose="020F0502020204030204" pitchFamily="34" charset="0"/>
                </a:rPr>
                <a:t>      ( tensor&lt;10x10xf32&gt;, tensor&lt;10x10xf32&gt;, tensor&lt;10x10xf32&gt;) -&gt; tensor&lt;10x10xf32&gt;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9047EE9-177D-D047-9B57-3748EB53E7F1}"/>
                </a:ext>
              </a:extLst>
            </p:cNvPr>
            <p:cNvCxnSpPr>
              <a:cxnSpLocks/>
            </p:cNvCxnSpPr>
            <p:nvPr/>
          </p:nvCxnSpPr>
          <p:spPr>
            <a:xfrm>
              <a:off x="9547797" y="3307952"/>
              <a:ext cx="0" cy="592867"/>
            </a:xfrm>
            <a:prstGeom prst="straightConnector1">
              <a:avLst/>
            </a:prstGeom>
            <a:ln w="50800">
              <a:solidFill>
                <a:srgbClr val="ED7D3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968D65-EB73-6649-88DD-DA61B63CE7FD}"/>
              </a:ext>
            </a:extLst>
          </p:cNvPr>
          <p:cNvGrpSpPr/>
          <p:nvPr/>
        </p:nvGrpSpPr>
        <p:grpSpPr>
          <a:xfrm>
            <a:off x="392987" y="3707192"/>
            <a:ext cx="5346034" cy="1200329"/>
            <a:chOff x="392987" y="3707192"/>
            <a:chExt cx="5346034" cy="120032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BAAAF59-082F-594F-A8A5-C3B329DA5A91}"/>
                </a:ext>
              </a:extLst>
            </p:cNvPr>
            <p:cNvSpPr txBox="1"/>
            <p:nvPr/>
          </p:nvSpPr>
          <p:spPr>
            <a:xfrm>
              <a:off x="392987" y="3707192"/>
              <a:ext cx="4229686" cy="1200329"/>
            </a:xfrm>
            <a:prstGeom prst="rect">
              <a:avLst/>
            </a:prstGeom>
            <a:solidFill>
              <a:schemeClr val="bg1"/>
            </a:solidFill>
            <a:ln w="34925" cmpd="sng">
              <a:solidFill>
                <a:srgbClr val="70AD47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70AD47"/>
                  </a:solidFill>
                </a:rPr>
                <a:t>Pat&lt;(</a:t>
              </a:r>
              <a:r>
                <a:rPr lang="en-US" b="1" dirty="0" err="1">
                  <a:solidFill>
                    <a:srgbClr val="0070C0"/>
                  </a:solidFill>
                </a:rPr>
                <a:t>ONNXAddOp</a:t>
              </a:r>
              <a:r>
                <a:rPr lang="en-US" b="1" dirty="0">
                  <a:solidFill>
                    <a:srgbClr val="0070C0"/>
                  </a:solidFill>
                </a:rPr>
                <a:t> (</a:t>
              </a:r>
            </a:p>
            <a:p>
              <a:r>
                <a:rPr lang="en-US" b="1" dirty="0">
                  <a:solidFill>
                    <a:srgbClr val="0070C0"/>
                  </a:solidFill>
                </a:rPr>
                <a:t>            </a:t>
              </a:r>
              <a:r>
                <a:rPr lang="en-US" b="1" dirty="0" err="1">
                  <a:solidFill>
                    <a:srgbClr val="0070C0"/>
                  </a:solidFill>
                </a:rPr>
                <a:t>ONNXMatMulOp</a:t>
              </a:r>
              <a:r>
                <a:rPr lang="en-US" b="1" dirty="0">
                  <a:solidFill>
                    <a:srgbClr val="0070C0"/>
                  </a:solidFill>
                </a:rPr>
                <a:t>:$res $m1, $m2), </a:t>
              </a:r>
            </a:p>
            <a:p>
              <a:r>
                <a:rPr lang="en-US" b="1" dirty="0">
                  <a:solidFill>
                    <a:srgbClr val="0070C0"/>
                  </a:solidFill>
                </a:rPr>
                <a:t>            $m3),</a:t>
              </a:r>
            </a:p>
            <a:p>
              <a:r>
                <a:rPr lang="en-US" b="1" dirty="0"/>
                <a:t>        </a:t>
              </a:r>
              <a:r>
                <a:rPr lang="en-US" b="1" dirty="0">
                  <a:solidFill>
                    <a:srgbClr val="FF0000"/>
                  </a:solidFill>
                </a:rPr>
                <a:t>(</a:t>
              </a:r>
              <a:r>
                <a:rPr lang="en-US" b="1" dirty="0" err="1">
                  <a:solidFill>
                    <a:srgbClr val="FF0000"/>
                  </a:solidFill>
                </a:rPr>
                <a:t>ONNXGemmOp</a:t>
              </a:r>
              <a:r>
                <a:rPr lang="en-US" b="1" dirty="0">
                  <a:solidFill>
                    <a:srgbClr val="FF0000"/>
                  </a:solidFill>
                </a:rPr>
                <a:t> $m1, $m2, $m3,..) </a:t>
              </a:r>
              <a:r>
                <a:rPr lang="en-US" b="1" dirty="0">
                  <a:solidFill>
                    <a:srgbClr val="70AD47"/>
                  </a:solidFill>
                </a:rPr>
                <a:t>&gt;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15D015F-7EA9-1D48-B728-482A998B01DD}"/>
                </a:ext>
              </a:extLst>
            </p:cNvPr>
            <p:cNvCxnSpPr>
              <a:cxnSpLocks/>
              <a:stCxn id="36" idx="3"/>
              <a:endCxn id="20" idx="1"/>
            </p:cNvCxnSpPr>
            <p:nvPr/>
          </p:nvCxnSpPr>
          <p:spPr>
            <a:xfrm>
              <a:off x="4622673" y="4307357"/>
              <a:ext cx="1116348" cy="4202"/>
            </a:xfrm>
            <a:prstGeom prst="straightConnector1">
              <a:avLst/>
            </a:prstGeom>
            <a:ln w="50800">
              <a:solidFill>
                <a:srgbClr val="70AD4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346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BC78B18-CEE8-3F4B-BBB6-C0FB33CE77BC}"/>
              </a:ext>
            </a:extLst>
          </p:cNvPr>
          <p:cNvSpPr txBox="1">
            <a:spLocks/>
          </p:cNvSpPr>
          <p:nvPr/>
        </p:nvSpPr>
        <p:spPr>
          <a:xfrm>
            <a:off x="838200" y="1250285"/>
            <a:ext cx="10515600" cy="5337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r>
              <a:rPr lang="en-US" sz="2400" b="1" dirty="0"/>
              <a:t>Output representation:</a:t>
            </a:r>
          </a:p>
          <a:p>
            <a:pPr lvl="1"/>
            <a:r>
              <a:rPr lang="en-US" sz="2000" dirty="0"/>
              <a:t>all shapes inferred, propagated, and verified,</a:t>
            </a:r>
          </a:p>
          <a:p>
            <a:pPr lvl="1"/>
            <a:r>
              <a:rPr lang="en-US" sz="2000" dirty="0"/>
              <a:t>all parameters verified and normalized.</a:t>
            </a:r>
          </a:p>
          <a:p>
            <a:pPr lvl="1"/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FBDB5-E363-984E-9AA8-8D8ECE51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Example: MNIST model to ONNX dialect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D021D9-562C-314A-B151-B4F03C799D6D}"/>
              </a:ext>
            </a:extLst>
          </p:cNvPr>
          <p:cNvSpPr/>
          <p:nvPr/>
        </p:nvSpPr>
        <p:spPr>
          <a:xfrm>
            <a:off x="371294" y="1682084"/>
            <a:ext cx="857883" cy="80467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ONNX</a:t>
            </a:r>
          </a:p>
          <a:p>
            <a:pPr algn="ctr"/>
            <a:r>
              <a:rPr lang="en-US" dirty="0"/>
              <a:t>Model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CCA02C-73AF-8047-8965-D44C5D123A4C}"/>
              </a:ext>
            </a:extLst>
          </p:cNvPr>
          <p:cNvCxnSpPr>
            <a:cxnSpLocks/>
            <a:stCxn id="30" idx="3"/>
            <a:endCxn id="8" idx="1"/>
          </p:cNvCxnSpPr>
          <p:nvPr/>
        </p:nvCxnSpPr>
        <p:spPr>
          <a:xfrm>
            <a:off x="1229177" y="2084420"/>
            <a:ext cx="1248860" cy="13445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0F6678-910C-4349-8846-A4A130BF0972}"/>
              </a:ext>
            </a:extLst>
          </p:cNvPr>
          <p:cNvSpPr txBox="1"/>
          <p:nvPr/>
        </p:nvSpPr>
        <p:spPr>
          <a:xfrm>
            <a:off x="371294" y="2598002"/>
            <a:ext cx="1639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onnx-mlir</a:t>
            </a:r>
            <a:r>
              <a:rPr lang="en-US" sz="1600" dirty="0"/>
              <a:t> </a:t>
            </a:r>
          </a:p>
          <a:p>
            <a:r>
              <a:rPr lang="en-US" sz="1600" dirty="0"/>
              <a:t>  --</a:t>
            </a:r>
            <a:r>
              <a:rPr lang="en-US" sz="1600" dirty="0" err="1"/>
              <a:t>EmitONNXIR</a:t>
            </a:r>
            <a:endParaRPr lang="en-US" sz="1600" dirty="0"/>
          </a:p>
          <a:p>
            <a:r>
              <a:rPr lang="en-US" sz="1600" dirty="0"/>
              <a:t>     </a:t>
            </a:r>
            <a:r>
              <a:rPr lang="en-US" sz="1600" dirty="0" err="1"/>
              <a:t>mnist.onnx</a:t>
            </a:r>
            <a:endParaRPr lang="en-US" sz="16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E735398-1B24-DB4C-861E-2C7ACE23A467}"/>
              </a:ext>
            </a:extLst>
          </p:cNvPr>
          <p:cNvSpPr/>
          <p:nvPr/>
        </p:nvSpPr>
        <p:spPr>
          <a:xfrm>
            <a:off x="2478037" y="1778144"/>
            <a:ext cx="9255695" cy="3301711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func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@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main_graph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</a:rPr>
              <a:t>%arg0: tensor&lt;1x1x28x28xf32&gt;</a:t>
            </a:r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</a:rPr>
              <a:t>,</a:t>
            </a:r>
            <a:r>
              <a:rPr lang="en-US" sz="1600" b="1" dirty="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en-US" sz="1600" b="1" dirty="0">
                <a:solidFill>
                  <a:srgbClr val="70AD47"/>
                </a:solidFill>
                <a:latin typeface="Calibri" panose="020F0502020204030204" pitchFamily="34" charset="0"/>
              </a:rPr>
              <a:t>%arg1: tensor&lt;8x1x5x5xf32&gt;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    %arg2: tensor&lt;8x1x1xf32&gt;, %arg3: tensor&lt;16x8x5x5xf32&gt;, %arg4: tensor&lt;16x1x1xf32&gt;, 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    %arg5: tensor&lt;2xi64&gt;, %arg6: tensor&lt;16x4x4x10xf32&gt;,  %arg7: tensor&lt;2xi64&gt;,  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    %arg8: tensor&lt;1x10xf32&gt;) -&gt; tensor&lt;1x10xf32&gt; {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%0 = "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onnx.Constant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"() { 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sparse_value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= [], value = [256, 10]} : () -&gt; tensor&lt;2xi64&gt;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%1 = "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onnx.Reshape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"(%arg6, %0) : (tensor&lt;16x4x4x10xf32&gt;, tensor&lt;2xi64&gt;) -&gt; tensor&lt;256x10xf32&gt;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</a:t>
            </a: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%2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 = "</a:t>
            </a:r>
            <a:r>
              <a:rPr lang="en-US" sz="16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onnx.Conv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"( </a:t>
            </a:r>
            <a:r>
              <a:rPr lang="en-US" sz="1600" b="1" dirty="0">
                <a:solidFill>
                  <a:srgbClr val="ED7D31"/>
                </a:solidFill>
                <a:latin typeface="Calibri" panose="020F0502020204030204" pitchFamily="34" charset="0"/>
              </a:rPr>
              <a:t>%arg0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600" b="1" dirty="0">
                <a:solidFill>
                  <a:srgbClr val="70AD47"/>
                </a:solidFill>
                <a:latin typeface="Calibri" panose="020F0502020204030204" pitchFamily="34" charset="0"/>
              </a:rPr>
              <a:t>%arg1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, null)</a:t>
            </a:r>
          </a:p>
          <a:p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           { </a:t>
            </a:r>
            <a:r>
              <a:rPr lang="en-US" sz="1600" b="1" dirty="0" err="1">
                <a:solidFill>
                  <a:srgbClr val="4472C4"/>
                </a:solidFill>
                <a:latin typeface="Calibri" panose="020F0502020204030204" pitchFamily="34" charset="0"/>
              </a:rPr>
              <a:t>auto_pad</a:t>
            </a:r>
            <a:r>
              <a:rPr lang="en-US" sz="1600" b="1" dirty="0">
                <a:solidFill>
                  <a:srgbClr val="4472C4"/>
                </a:solidFill>
                <a:latin typeface="Calibri" panose="020F0502020204030204" pitchFamily="34" charset="0"/>
              </a:rPr>
              <a:t> = ”NOT_SET", group = 1, kernel_shape = [5, 5], strides = [1, 1] dilations = [1, 1] 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} :</a:t>
            </a:r>
          </a:p>
          <a:p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           ( </a:t>
            </a:r>
            <a:r>
              <a:rPr lang="en-US" sz="1600" b="1" dirty="0">
                <a:solidFill>
                  <a:srgbClr val="ED7D31"/>
                </a:solidFill>
                <a:latin typeface="Calibri" panose="020F0502020204030204" pitchFamily="34" charset="0"/>
              </a:rPr>
              <a:t>tensor&lt;1x1x28x28xf32&gt;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600" b="1" dirty="0">
                <a:solidFill>
                  <a:srgbClr val="70AD47"/>
                </a:solidFill>
                <a:latin typeface="Calibri" panose="020F0502020204030204" pitchFamily="34" charset="0"/>
              </a:rPr>
              <a:t>tensor&lt;8x1x5x5xf32&gt;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) -&gt; </a:t>
            </a: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tensor&lt;1x8x28x28xf32&gt;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%3 = "</a:t>
            </a:r>
            <a:r>
              <a:rPr lang="en-US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onnx.Add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"(%2, %arg2) : (</a:t>
            </a: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</a:rPr>
              <a:t>tensor&lt;1x8x28x28xf32&gt;</a:t>
            </a: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tensor&lt;8x1x1xf32&gt;) -&gt; tensor&lt;1x8x28x28xf32&gt;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  […]</a:t>
            </a:r>
          </a:p>
          <a:p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40323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BDB5-E363-984E-9AA8-8D8ECE51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Motivation for KRNL Dialect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B430AD-0D00-914D-A5A4-CBDC405E2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743"/>
            <a:ext cx="10515600" cy="53742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Dialect used to lower ONNX operations to loop code.</a:t>
            </a:r>
          </a:p>
          <a:p>
            <a:r>
              <a:rPr lang="en-US" b="1" dirty="0"/>
              <a:t>Designed for customizable optimizations such as tiling, fusion, parallelization.</a:t>
            </a:r>
            <a:endParaRPr lang="en-US" sz="2000" dirty="0"/>
          </a:p>
          <a:p>
            <a:pPr lvl="1"/>
            <a:r>
              <a:rPr lang="en-US" sz="2000" dirty="0"/>
              <a:t>It is hard to revert an optimization, except if…</a:t>
            </a:r>
          </a:p>
          <a:p>
            <a:pPr lvl="1"/>
            <a:r>
              <a:rPr lang="en-US" sz="2000" dirty="0"/>
              <a:t>Instead of performing the optimization, we just record it (i.e. build a recipe of optimizations).</a:t>
            </a:r>
          </a:p>
          <a:p>
            <a:pPr lvl="1"/>
            <a:r>
              <a:rPr lang="en-US" sz="2000" dirty="0"/>
              <a:t>And can alter it later as needed by other optimization.</a:t>
            </a:r>
          </a:p>
          <a:p>
            <a:r>
              <a:rPr lang="en-US" b="1" dirty="0"/>
              <a:t>Example:</a:t>
            </a:r>
          </a:p>
          <a:p>
            <a:pPr lvl="1"/>
            <a:r>
              <a:rPr lang="en-US" sz="2000" dirty="0"/>
              <a:t>Try to fuse 2 kernels that were tiled by different amount: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Make them compatible by </a:t>
            </a:r>
            <a:r>
              <a:rPr lang="en-US" altLang="zh-CN" sz="2000" dirty="0"/>
              <a:t>simply</a:t>
            </a:r>
            <a:r>
              <a:rPr lang="zh-CN" altLang="en-US" sz="2000" dirty="0"/>
              <a:t> </a:t>
            </a:r>
            <a:r>
              <a:rPr lang="en-US" altLang="zh-CN" sz="2000" dirty="0"/>
              <a:t>edit</a:t>
            </a:r>
            <a:r>
              <a:rPr lang="zh-CN" altLang="en-US" sz="2000" dirty="0"/>
              <a:t> </a:t>
            </a:r>
            <a:r>
              <a:rPr lang="en-US" altLang="zh-CN" sz="2000" dirty="0"/>
              <a:t>B’s</a:t>
            </a:r>
            <a:r>
              <a:rPr lang="zh-CN" altLang="en-US" sz="2000" dirty="0"/>
              <a:t> </a:t>
            </a:r>
            <a:r>
              <a:rPr lang="en-US" altLang="zh-CN" sz="2000" dirty="0"/>
              <a:t>recipe</a:t>
            </a:r>
            <a:r>
              <a:rPr lang="zh-CN" altLang="en-US" sz="2000" dirty="0"/>
              <a:t> </a:t>
            </a:r>
            <a:r>
              <a:rPr lang="en-US" altLang="zh-CN" sz="2000" dirty="0"/>
              <a:t>from</a:t>
            </a:r>
            <a:r>
              <a:rPr lang="zh-CN" altLang="en-US" sz="2000" dirty="0"/>
              <a:t> </a:t>
            </a:r>
            <a:r>
              <a:rPr lang="en-US" altLang="zh-CN" sz="2000" dirty="0"/>
              <a:t>[2,</a:t>
            </a:r>
            <a:r>
              <a:rPr lang="zh-CN" altLang="en-US" sz="2000" dirty="0"/>
              <a:t> </a:t>
            </a:r>
            <a:r>
              <a:rPr lang="en-US" altLang="zh-CN" sz="2000" dirty="0"/>
              <a:t>2]</a:t>
            </a:r>
            <a:r>
              <a:rPr lang="zh-CN" altLang="en-US" sz="2000" dirty="0"/>
              <a:t> </a:t>
            </a:r>
            <a:r>
              <a:rPr lang="en-US" altLang="zh-CN" sz="2000" dirty="0"/>
              <a:t>-&gt;</a:t>
            </a:r>
            <a:r>
              <a:rPr lang="zh-CN" altLang="en-US" sz="2000" dirty="0"/>
              <a:t> </a:t>
            </a:r>
            <a:r>
              <a:rPr lang="en-US" altLang="zh-CN" sz="2000" dirty="0"/>
              <a:t>[5,</a:t>
            </a:r>
            <a:r>
              <a:rPr lang="zh-CN" altLang="en-US" sz="2000" dirty="0"/>
              <a:t> </a:t>
            </a:r>
            <a:r>
              <a:rPr lang="en-US" altLang="zh-CN" sz="2000" dirty="0"/>
              <a:t>5]</a:t>
            </a:r>
          </a:p>
          <a:p>
            <a:pPr lvl="1"/>
            <a:r>
              <a:rPr lang="en-US" altLang="zh-CN" sz="2000" dirty="0"/>
              <a:t>Greater</a:t>
            </a:r>
            <a:r>
              <a:rPr lang="zh-CN" altLang="en-US" sz="2000" dirty="0"/>
              <a:t> </a:t>
            </a:r>
            <a:r>
              <a:rPr lang="en-US" altLang="zh-CN" sz="2000" dirty="0"/>
              <a:t>freedom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flexibility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compilers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traverse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schedule</a:t>
            </a:r>
            <a:r>
              <a:rPr lang="zh-CN" altLang="en-US" sz="2000" dirty="0"/>
              <a:t> </a:t>
            </a:r>
            <a:r>
              <a:rPr lang="en-US" altLang="zh-CN" sz="2000" dirty="0"/>
              <a:t>space!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FFAA6D-3B4C-8E45-BEE6-146E0D3C2123}"/>
              </a:ext>
            </a:extLst>
          </p:cNvPr>
          <p:cNvGrpSpPr/>
          <p:nvPr/>
        </p:nvGrpSpPr>
        <p:grpSpPr>
          <a:xfrm>
            <a:off x="986814" y="4058306"/>
            <a:ext cx="10585048" cy="1498260"/>
            <a:chOff x="986814" y="3932182"/>
            <a:chExt cx="10585048" cy="149826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05A3023-6D0D-834C-9DED-8E9D1CF51D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30483"/>
            <a:stretch/>
          </p:blipFill>
          <p:spPr>
            <a:xfrm>
              <a:off x="986814" y="3932182"/>
              <a:ext cx="5155637" cy="14788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2037CAA-B20A-CC4D-BA6F-D6162C3DF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6225" y="3932182"/>
              <a:ext cx="5155637" cy="14982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900E8A0-BA47-764D-A308-8E139ECF525B}"/>
                </a:ext>
              </a:extLst>
            </p:cNvPr>
            <p:cNvSpPr txBox="1"/>
            <p:nvPr/>
          </p:nvSpPr>
          <p:spPr>
            <a:xfrm>
              <a:off x="4175686" y="5022016"/>
              <a:ext cx="16831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A: blocks of 5x5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F6119EB-81FF-0F48-A818-609BA76156FD}"/>
                </a:ext>
              </a:extLst>
            </p:cNvPr>
            <p:cNvCxnSpPr>
              <a:stCxn id="3" idx="0"/>
            </p:cNvCxnSpPr>
            <p:nvPr/>
          </p:nvCxnSpPr>
          <p:spPr>
            <a:xfrm flipV="1">
              <a:off x="5017263" y="4520248"/>
              <a:ext cx="548739" cy="5017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28A0234-6422-4945-8A4E-2A588D657E6D}"/>
                </a:ext>
              </a:extLst>
            </p:cNvPr>
            <p:cNvSpPr txBox="1"/>
            <p:nvPr/>
          </p:nvSpPr>
          <p:spPr>
            <a:xfrm>
              <a:off x="9829519" y="5061110"/>
              <a:ext cx="1673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B: blocks of 2x2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52D7E0B-B173-8043-8A9F-051A894A3477}"/>
                </a:ext>
              </a:extLst>
            </p:cNvPr>
            <p:cNvCxnSpPr>
              <a:stCxn id="37" idx="0"/>
            </p:cNvCxnSpPr>
            <p:nvPr/>
          </p:nvCxnSpPr>
          <p:spPr>
            <a:xfrm flipV="1">
              <a:off x="10666287" y="4559342"/>
              <a:ext cx="553548" cy="5017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5588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51FEB-1EF9-6F45-8F2E-BEA917B9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ONNX-MLIR Runtime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E1E34-00A1-CB46-80FB-C739E8EDE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743"/>
            <a:ext cx="4543097" cy="4693220"/>
          </a:xfrm>
        </p:spPr>
        <p:txBody>
          <a:bodyPr/>
          <a:lstStyle/>
          <a:p>
            <a:r>
              <a:rPr lang="en-US" b="1" dirty="0"/>
              <a:t>C API. </a:t>
            </a:r>
          </a:p>
          <a:p>
            <a:pPr lvl="1"/>
            <a:r>
              <a:rPr lang="en-US" dirty="0"/>
              <a:t>invoked using </a:t>
            </a:r>
            <a:r>
              <a:rPr lang="en-US" dirty="0" err="1"/>
              <a:t>run_main_graph</a:t>
            </a:r>
            <a:r>
              <a:rPr lang="en-US" dirty="0"/>
              <a:t> function.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Python API.	</a:t>
            </a:r>
          </a:p>
          <a:p>
            <a:pPr lvl="1"/>
            <a:r>
              <a:rPr lang="en-US" dirty="0"/>
              <a:t>use execution session,</a:t>
            </a:r>
          </a:p>
          <a:p>
            <a:pPr lvl="1"/>
            <a:r>
              <a:rPr lang="en-US" dirty="0"/>
              <a:t>input/</a:t>
            </a:r>
            <a:r>
              <a:rPr lang="en-US" dirty="0" err="1"/>
              <a:t>ouput</a:t>
            </a:r>
            <a:r>
              <a:rPr lang="en-US" dirty="0"/>
              <a:t> with </a:t>
            </a:r>
            <a:r>
              <a:rPr lang="en-US" dirty="0" err="1"/>
              <a:t>numpy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thanks </a:t>
            </a:r>
            <a:r>
              <a:rPr lang="en-US" altLang="zh-CN" dirty="0"/>
              <a:t>@</a:t>
            </a:r>
            <a:r>
              <a:rPr lang="en-US" dirty="0" err="1"/>
              <a:t>gperrotta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76446-E210-D447-9001-067CE8696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28" y="1302590"/>
            <a:ext cx="5765800" cy="261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7BF91C-518F-7043-9BDE-752B9D5FC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728" y="4099943"/>
            <a:ext cx="68199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63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B00A-E1BC-DF41-AE94-BEAAB502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Get Involved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0F602-7FCC-1D41-84B5-92943F87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742"/>
            <a:ext cx="10515600" cy="5158795"/>
          </a:xfrm>
        </p:spPr>
        <p:txBody>
          <a:bodyPr/>
          <a:lstStyle/>
          <a:p>
            <a:r>
              <a:rPr lang="en-US" altLang="zh-CN" b="1" dirty="0"/>
              <a:t>Big thanks.</a:t>
            </a:r>
          </a:p>
          <a:p>
            <a:pPr lvl="1"/>
            <a:r>
              <a:rPr lang="en-US" altLang="zh-CN" dirty="0"/>
              <a:t>to the 15+ external contributors.</a:t>
            </a:r>
          </a:p>
          <a:p>
            <a:r>
              <a:rPr lang="en-US" altLang="zh-CN" b="1" dirty="0"/>
              <a:t>Learn more.</a:t>
            </a:r>
          </a:p>
          <a:p>
            <a:pPr lvl="1"/>
            <a:r>
              <a:rPr lang="en-US" altLang="zh-CN" dirty="0"/>
              <a:t>Code: </a:t>
            </a:r>
            <a:r>
              <a:rPr lang="en-US" b="1" dirty="0">
                <a:hlinkClick r:id="rId2"/>
              </a:rPr>
              <a:t>https://github.com/onnx/onnx-mlir</a:t>
            </a:r>
            <a:r>
              <a:rPr lang="en-US" b="1" dirty="0"/>
              <a:t> </a:t>
            </a:r>
          </a:p>
          <a:p>
            <a:pPr lvl="1"/>
            <a:r>
              <a:rPr lang="en-US" altLang="zh-CN" dirty="0"/>
              <a:t>Additional documentation:</a:t>
            </a:r>
            <a:r>
              <a:rPr lang="en-US" altLang="zh-CN" b="1" dirty="0"/>
              <a:t> </a:t>
            </a:r>
            <a:r>
              <a:rPr lang="en-US" altLang="zh-CN" b="1" dirty="0">
                <a:hlinkClick r:id="rId3"/>
              </a:rPr>
              <a:t>http://onnx.ai/onnx-mlir</a:t>
            </a:r>
            <a:r>
              <a:rPr lang="zh-CN" altLang="en-US" b="1" dirty="0"/>
              <a:t> 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Status.</a:t>
            </a:r>
          </a:p>
          <a:p>
            <a:pPr lvl="1"/>
            <a:r>
              <a:rPr lang="en-US" altLang="zh-CN" dirty="0"/>
              <a:t>Support</a:t>
            </a:r>
            <a:r>
              <a:rPr lang="zh-CN" altLang="en-US" dirty="0"/>
              <a:t> </a:t>
            </a:r>
            <a:r>
              <a:rPr lang="en-US" altLang="zh-CN" dirty="0"/>
              <a:t>50+</a:t>
            </a:r>
            <a:r>
              <a:rPr lang="zh-CN" altLang="en-US" dirty="0"/>
              <a:t> </a:t>
            </a:r>
            <a:r>
              <a:rPr lang="en-US" altLang="zh-CN" dirty="0"/>
              <a:t>commonly</a:t>
            </a:r>
            <a:r>
              <a:rPr lang="zh-CN" altLang="en-US" dirty="0"/>
              <a:t> </a:t>
            </a:r>
            <a:r>
              <a:rPr lang="en-US" altLang="zh-CN" dirty="0"/>
              <a:t>used</a:t>
            </a:r>
            <a:r>
              <a:rPr lang="zh-CN" altLang="en-US" dirty="0"/>
              <a:t> </a:t>
            </a:r>
            <a:r>
              <a:rPr lang="en-US" altLang="zh-CN" dirty="0"/>
              <a:t>ONNX operations.</a:t>
            </a:r>
          </a:p>
          <a:p>
            <a:pPr lvl="1"/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compile</a:t>
            </a:r>
            <a:r>
              <a:rPr lang="zh-CN" altLang="en-US" dirty="0"/>
              <a:t> </a:t>
            </a:r>
            <a:r>
              <a:rPr lang="en-US" altLang="zh-CN" dirty="0" err="1"/>
              <a:t>mnist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resnet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LLVM.</a:t>
            </a:r>
          </a:p>
          <a:p>
            <a:r>
              <a:rPr lang="en-US" altLang="zh-CN" b="1" dirty="0"/>
              <a:t>Actively</a:t>
            </a:r>
            <a:r>
              <a:rPr lang="zh-CN" altLang="en-US" b="1" dirty="0"/>
              <a:t> </a:t>
            </a:r>
            <a:r>
              <a:rPr lang="en-US" altLang="zh-CN" b="1" dirty="0"/>
              <a:t>prototyping.</a:t>
            </a:r>
          </a:p>
          <a:p>
            <a:pPr lvl="1"/>
            <a:r>
              <a:rPr lang="en-US" altLang="zh-CN" dirty="0"/>
              <a:t>ONNX, KRNL &amp; buffer optimizations.</a:t>
            </a:r>
          </a:p>
          <a:p>
            <a:pPr lvl="1"/>
            <a:r>
              <a:rPr lang="en-US" altLang="zh-CN" dirty="0"/>
              <a:t>ONNX-ML support.</a:t>
            </a:r>
          </a:p>
        </p:txBody>
      </p:sp>
    </p:spTree>
    <p:extLst>
      <p:ext uri="{BB962C8B-B14F-4D97-AF65-F5344CB8AC3E}">
        <p14:creationId xmlns:p14="http://schemas.microsoft.com/office/powerpoint/2010/main" val="401855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4411</TotalTime>
  <Words>1048</Words>
  <Application>Microsoft Macintosh PowerPoint</Application>
  <PresentationFormat>Widescreen</PresentationFormat>
  <Paragraphs>162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ONNX Support in the MLIR Compiler    Approach and Status</vt:lpstr>
      <vt:lpstr>Presenter</vt:lpstr>
      <vt:lpstr>Multi-Level Intermediate Representation (MLIR)</vt:lpstr>
      <vt:lpstr>Architecture of ONNX-MLIR Compiler</vt:lpstr>
      <vt:lpstr>Integration of ONNX Specs within MLIR Framework</vt:lpstr>
      <vt:lpstr>Pattern-Matching Transformations in MLIR</vt:lpstr>
      <vt:lpstr>Example: MNIST model to ONNX dialect</vt:lpstr>
      <vt:lpstr>Motivation for KRNL Dialect</vt:lpstr>
      <vt:lpstr>ONNX-MLIR Runtime Interface</vt:lpstr>
      <vt:lpstr>Get Involved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ONNX-MLIR </dc:title>
  <dc:creator>Tian Jin</dc:creator>
  <cp:lastModifiedBy>Alexandre Eichenberger</cp:lastModifiedBy>
  <cp:revision>134</cp:revision>
  <cp:lastPrinted>2020-10-13T18:47:42Z</cp:lastPrinted>
  <dcterms:created xsi:type="dcterms:W3CDTF">2020-04-16T06:12:34Z</dcterms:created>
  <dcterms:modified xsi:type="dcterms:W3CDTF">2020-10-13T19:06:07Z</dcterms:modified>
</cp:coreProperties>
</file>