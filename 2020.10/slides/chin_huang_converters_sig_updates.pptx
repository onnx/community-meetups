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7010400" cy="9296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Helvetica Neue" panose="020B0604020202020204" charset="0"/>
      <p:regular r:id="rId18"/>
      <p:bold r:id="rId19"/>
      <p:italic r:id="rId20"/>
      <p:boldItalic r:id="rId21"/>
    </p:embeddedFont>
    <p:embeddedFont>
      <p:font typeface="Helvetica Neue Light" panose="020B0604020202020204" charset="0"/>
      <p:regular r:id="rId22"/>
      <p:bold r:id="rId23"/>
      <p:italic r:id="rId24"/>
      <p:boldItalic r:id="rId25"/>
    </p:embeddedFont>
    <p:embeddedFont>
      <p:font typeface="Tahoma" panose="020B0604030504040204" pitchFamily="34" charset="0"/>
      <p:regular r:id="rId26"/>
      <p:bold r:id="rId27"/>
    </p:embeddedFont>
    <p:embeddedFont>
      <p:font typeface="Trebuchet MS" panose="020B0603020202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orient="horz" pos="7114" userDrawn="1">
          <p15:clr>
            <a:srgbClr val="A4A3A4"/>
          </p15:clr>
        </p15:guide>
        <p15:guide id="3" pos="481" userDrawn="1">
          <p15:clr>
            <a:srgbClr val="A4A3A4"/>
          </p15:clr>
        </p15:guide>
        <p15:guide id="4" pos="7728" userDrawn="1">
          <p15:clr>
            <a:srgbClr val="A4A3A4"/>
          </p15:clr>
        </p15:guide>
        <p15:guide id="5" pos="1825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iy2nMTUVa7GlbFWAiNQr0NpKpJ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91" y="43"/>
      </p:cViewPr>
      <p:guideLst>
        <p:guide orient="horz" pos="720"/>
        <p:guide orient="horz" pos="7114"/>
        <p:guide pos="481"/>
        <p:guide pos="7728"/>
        <p:guide pos="18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1263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31263"/>
            <a:ext cx="3038475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112" name="Google Shape;1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9b9be10c4f_0_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9b9be10c4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b9be10c4f_0_1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9b9be10c4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ff79c73d1_0_0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00" cy="41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g9ff79c73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7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8500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/Agenda">
  <p:cSld name="Table of Contents/Agenda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>
            <a:spLocks noGrp="1"/>
          </p:cNvSpPr>
          <p:nvPr>
            <p:ph type="title"/>
          </p:nvPr>
        </p:nvSpPr>
        <p:spPr>
          <a:xfrm>
            <a:off x="755906" y="1950721"/>
            <a:ext cx="2284854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333"/>
              <a:buFont typeface="Helvetica Neue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96E6"/>
              </a:buClr>
              <a:buSzPts val="1400"/>
              <a:buFont typeface="Helvetica Neue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96E6"/>
              </a:buClr>
              <a:buSzPts val="1400"/>
              <a:buFont typeface="Helvetica Neue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96E6"/>
              </a:buClr>
              <a:buSzPts val="1400"/>
              <a:buFont typeface="Helvetica Neue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596E6"/>
              </a:buClr>
              <a:buSzPts val="1400"/>
              <a:buFont typeface="Helvetica Neue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Helvetica Neue Light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Helvetica Neue Light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Helvetica Neue Light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Helvetica Neue Light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body" idx="1"/>
          </p:nvPr>
        </p:nvSpPr>
        <p:spPr>
          <a:xfrm>
            <a:off x="8436866" y="3657600"/>
            <a:ext cx="15167586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154" lvl="0" indent="-228577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SzPts val="3360"/>
              <a:buNone/>
              <a:defRPr sz="3733">
                <a:solidFill>
                  <a:schemeClr val="dk1"/>
                </a:solidFill>
              </a:defRPr>
            </a:lvl1pPr>
            <a:lvl2pPr marL="914309" lvl="1" indent="-22857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14"/>
              <a:buNone/>
              <a:defRPr>
                <a:solidFill>
                  <a:schemeClr val="accent6"/>
                </a:solidFill>
              </a:defRPr>
            </a:lvl2pPr>
            <a:lvl3pPr marL="1371463" lvl="2" indent="-44191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360"/>
              <a:buFont typeface="Helvetica Neue Light"/>
              <a:buChar char="-"/>
              <a:defRPr>
                <a:solidFill>
                  <a:schemeClr val="accent6"/>
                </a:solidFill>
              </a:defRPr>
            </a:lvl3pPr>
            <a:lvl4pPr marL="1828617" lvl="3" indent="-43175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Helvetica Neue Light"/>
              <a:buChar char="-"/>
              <a:defRPr>
                <a:solidFill>
                  <a:schemeClr val="accent6"/>
                </a:solidFill>
              </a:defRPr>
            </a:lvl4pPr>
            <a:lvl5pPr marL="2285771" lvl="4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Helvetica Neue Light"/>
              <a:buChar char="-"/>
              <a:defRPr/>
            </a:lvl5pPr>
            <a:lvl6pPr marL="2742926" lvl="5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6pPr>
            <a:lvl7pPr marL="3200080" lvl="6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7pPr>
            <a:lvl8pPr marL="3657234" lvl="7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8pPr>
            <a:lvl9pPr marL="4114389" lvl="8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body" idx="2"/>
          </p:nvPr>
        </p:nvSpPr>
        <p:spPr>
          <a:xfrm>
            <a:off x="877824" y="3657600"/>
            <a:ext cx="7315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54" lvl="0" indent="-22857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20"/>
              <a:buNone/>
              <a:defRPr sz="4800">
                <a:solidFill>
                  <a:schemeClr val="dk1"/>
                </a:solidFill>
              </a:defRPr>
            </a:lvl1pPr>
            <a:lvl2pPr marL="914309" lvl="1" indent="-44534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14"/>
              <a:buChar char="•"/>
              <a:defRPr>
                <a:solidFill>
                  <a:schemeClr val="dk1"/>
                </a:solidFill>
              </a:defRPr>
            </a:lvl2pPr>
            <a:lvl3pPr marL="1371463" lvl="2" indent="-33143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Helvetica Neue Light"/>
              <a:buChar char="-"/>
              <a:defRPr/>
            </a:lvl3pPr>
            <a:lvl4pPr marL="1828617" lvl="3" indent="-34286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Helvetica Neue Light"/>
              <a:buChar char="-"/>
              <a:defRPr/>
            </a:lvl4pPr>
            <a:lvl5pPr marL="2285771" lvl="4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Helvetica Neue Light"/>
              <a:buChar char="-"/>
              <a:defRPr/>
            </a:lvl5pPr>
            <a:lvl6pPr marL="2742926" lvl="5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6pPr>
            <a:lvl7pPr marL="3200080" lvl="6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7pPr>
            <a:lvl8pPr marL="3657234" lvl="7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8pPr>
            <a:lvl9pPr marL="4114389" lvl="8" indent="-34286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»"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32762" y="13009037"/>
            <a:ext cx="5664200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  <a:defRPr sz="2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755904" y="1950721"/>
            <a:ext cx="2303859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lvetica Neue"/>
              <a:buNone/>
              <a:defRPr sz="5332" b="1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755905" y="3657600"/>
            <a:ext cx="22989824" cy="722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154" lvl="0" indent="-502869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20"/>
              <a:buChar char="▪"/>
              <a:defRPr sz="4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309" lvl="1" indent="-445344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414"/>
              <a:buChar char="•"/>
              <a:defRPr sz="4267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463" lvl="2" indent="-441916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3360"/>
              <a:buFont typeface="Helvetica Neue Light"/>
              <a:buChar char="-"/>
              <a:defRPr sz="3733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617" lvl="3" indent="-431757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3200"/>
              <a:buFont typeface="Helvetica Neue Light"/>
              <a:buChar char="-"/>
              <a:defRPr sz="3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5771" lvl="4" indent="-397914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SzPts val="2667"/>
              <a:buFont typeface="Helvetica Neue Light"/>
              <a:buChar char="-"/>
              <a:defRPr sz="2667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2926" lvl="5" indent="-34286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marL="3200080" lvl="6" indent="-34286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marL="3657234" lvl="7" indent="-34286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389" lvl="8" indent="-342866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32762" y="13009037"/>
            <a:ext cx="5664200" cy="29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None/>
              <a:defRPr sz="21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/>
          <p:nvPr/>
        </p:nvSpPr>
        <p:spPr>
          <a:xfrm>
            <a:off x="6352" y="12801600"/>
            <a:ext cx="24377651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9" name="Google Shape;29;p16"/>
          <p:cNvSpPr/>
          <p:nvPr/>
        </p:nvSpPr>
        <p:spPr>
          <a:xfrm>
            <a:off x="31" y="12668632"/>
            <a:ext cx="24377651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0" name="Google Shape;30;p16"/>
          <p:cNvSpPr txBox="1">
            <a:spLocks noGrp="1"/>
          </p:cNvSpPr>
          <p:nvPr>
            <p:ph type="ctrTitle"/>
          </p:nvPr>
        </p:nvSpPr>
        <p:spPr>
          <a:xfrm>
            <a:off x="2194561" y="1517904"/>
            <a:ext cx="20116800" cy="71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0"/>
              <a:buFont typeface="Calibri"/>
              <a:buNone/>
              <a:defRPr sz="15998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ubTitle" idx="1"/>
          </p:nvPr>
        </p:nvSpPr>
        <p:spPr>
          <a:xfrm>
            <a:off x="2200103" y="8911240"/>
            <a:ext cx="20116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4800"/>
              <a:buNone/>
              <a:defRPr sz="4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5" name="Google Shape;35;p16"/>
          <p:cNvCxnSpPr/>
          <p:nvPr/>
        </p:nvCxnSpPr>
        <p:spPr>
          <a:xfrm>
            <a:off x="2415316" y="8686800"/>
            <a:ext cx="1975104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194561" y="573207"/>
            <a:ext cx="2011680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2194561" y="3691468"/>
            <a:ext cx="20116800" cy="804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8"/>
          <p:cNvSpPr/>
          <p:nvPr/>
        </p:nvSpPr>
        <p:spPr>
          <a:xfrm>
            <a:off x="6352" y="12801600"/>
            <a:ext cx="24377651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4" name="Google Shape;44;p18"/>
          <p:cNvSpPr/>
          <p:nvPr/>
        </p:nvSpPr>
        <p:spPr>
          <a:xfrm>
            <a:off x="31" y="12668632"/>
            <a:ext cx="24377651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45" name="Google Shape;45;p18"/>
          <p:cNvSpPr txBox="1">
            <a:spLocks noGrp="1"/>
          </p:cNvSpPr>
          <p:nvPr>
            <p:ph type="title"/>
          </p:nvPr>
        </p:nvSpPr>
        <p:spPr>
          <a:xfrm>
            <a:off x="2194561" y="1517904"/>
            <a:ext cx="20116800" cy="7132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0"/>
              <a:buFont typeface="Calibri"/>
              <a:buNone/>
              <a:defRPr sz="15998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2194561" y="8906256"/>
            <a:ext cx="201168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228577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4800"/>
              <a:buNone/>
              <a:defRPr sz="4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309" lvl="1" indent="-22857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888888"/>
                </a:solidFill>
              </a:defRPr>
            </a:lvl2pPr>
            <a:lvl3pPr marL="1371463" lvl="2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>
                <a:solidFill>
                  <a:srgbClr val="888888"/>
                </a:solidFill>
              </a:defRPr>
            </a:lvl3pPr>
            <a:lvl4pPr marL="1828617" lvl="3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4pPr>
            <a:lvl5pPr marL="2285771" lvl="4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5pPr>
            <a:lvl6pPr marL="2742926" lvl="5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6pPr>
            <a:lvl7pPr marL="3200080" lvl="6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7pPr>
            <a:lvl8pPr marL="3657234" lvl="7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8pPr>
            <a:lvl9pPr marL="4114389" lvl="8" indent="-228577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2800"/>
              <a:buNone/>
              <a:defRPr sz="28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0" name="Google Shape;50;p18"/>
          <p:cNvCxnSpPr/>
          <p:nvPr/>
        </p:nvCxnSpPr>
        <p:spPr>
          <a:xfrm>
            <a:off x="2415316" y="8686800"/>
            <a:ext cx="19751041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9"/>
          <p:cNvSpPr txBox="1">
            <a:spLocks noGrp="1"/>
          </p:cNvSpPr>
          <p:nvPr>
            <p:ph type="title"/>
          </p:nvPr>
        </p:nvSpPr>
        <p:spPr>
          <a:xfrm>
            <a:off x="2194561" y="573207"/>
            <a:ext cx="2011680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1"/>
          </p:nvPr>
        </p:nvSpPr>
        <p:spPr>
          <a:xfrm>
            <a:off x="2194558" y="3691468"/>
            <a:ext cx="9875520" cy="804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body" idx="2"/>
          </p:nvPr>
        </p:nvSpPr>
        <p:spPr>
          <a:xfrm>
            <a:off x="12435840" y="3691470"/>
            <a:ext cx="9875520" cy="804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2194561" y="573207"/>
            <a:ext cx="2011680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2194560" y="3692104"/>
            <a:ext cx="9875520" cy="147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54" lvl="0" indent="-228577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4000"/>
              <a:buNone/>
              <a:defRPr sz="4000" b="0" cap="none">
                <a:solidFill>
                  <a:schemeClr val="dk2"/>
                </a:solidFill>
              </a:defRPr>
            </a:lvl1pPr>
            <a:lvl2pPr marL="914309" lvl="1" indent="-22857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4000"/>
              <a:buNone/>
              <a:defRPr sz="4000" b="1"/>
            </a:lvl2pPr>
            <a:lvl3pPr marL="1371463" lvl="2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 b="1"/>
            </a:lvl3pPr>
            <a:lvl4pPr marL="1828617" lvl="3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4pPr>
            <a:lvl5pPr marL="2285771" lvl="4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5pPr>
            <a:lvl6pPr marL="2742926" lvl="5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6pPr>
            <a:lvl7pPr marL="3200080" lvl="6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7pPr>
            <a:lvl8pPr marL="3657234" lvl="7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8pPr>
            <a:lvl9pPr marL="4114389" lvl="8" indent="-228577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2194560" y="5164668"/>
            <a:ext cx="9875520" cy="6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3"/>
          </p:nvPr>
        </p:nvSpPr>
        <p:spPr>
          <a:xfrm>
            <a:off x="12435840" y="3692104"/>
            <a:ext cx="9875520" cy="147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154" lvl="0" indent="-228577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4000"/>
              <a:buNone/>
              <a:defRPr sz="4000" b="0" cap="none">
                <a:solidFill>
                  <a:schemeClr val="dk2"/>
                </a:solidFill>
              </a:defRPr>
            </a:lvl1pPr>
            <a:lvl2pPr marL="914309" lvl="1" indent="-22857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4000"/>
              <a:buNone/>
              <a:defRPr sz="4000" b="1"/>
            </a:lvl2pPr>
            <a:lvl3pPr marL="1371463" lvl="2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sz="3600" b="1"/>
            </a:lvl3pPr>
            <a:lvl4pPr marL="1828617" lvl="3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4pPr>
            <a:lvl5pPr marL="2285771" lvl="4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5pPr>
            <a:lvl6pPr marL="2742926" lvl="5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6pPr>
            <a:lvl7pPr marL="3200080" lvl="6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7pPr>
            <a:lvl8pPr marL="3657234" lvl="7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 b="1"/>
            </a:lvl8pPr>
            <a:lvl9pPr marL="4114389" lvl="8" indent="-228577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 b="1"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4"/>
          </p:nvPr>
        </p:nvSpPr>
        <p:spPr>
          <a:xfrm>
            <a:off x="12435840" y="5164668"/>
            <a:ext cx="9875520" cy="6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1"/>
          <p:cNvSpPr txBox="1">
            <a:spLocks noGrp="1"/>
          </p:cNvSpPr>
          <p:nvPr>
            <p:ph type="title"/>
          </p:nvPr>
        </p:nvSpPr>
        <p:spPr>
          <a:xfrm>
            <a:off x="2194561" y="573207"/>
            <a:ext cx="2011680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/>
          <p:nvPr/>
        </p:nvSpPr>
        <p:spPr>
          <a:xfrm>
            <a:off x="6352" y="12801600"/>
            <a:ext cx="24377651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4" name="Google Shape;74;p22"/>
          <p:cNvSpPr/>
          <p:nvPr/>
        </p:nvSpPr>
        <p:spPr>
          <a:xfrm>
            <a:off x="31" y="12668632"/>
            <a:ext cx="24377651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34" y="0"/>
            <a:ext cx="8101582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0" name="Google Shape;80;p23"/>
          <p:cNvSpPr/>
          <p:nvPr/>
        </p:nvSpPr>
        <p:spPr>
          <a:xfrm>
            <a:off x="8080143" y="0"/>
            <a:ext cx="128016" cy="137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1" name="Google Shape;81;p23"/>
          <p:cNvSpPr txBox="1">
            <a:spLocks noGrp="1"/>
          </p:cNvSpPr>
          <p:nvPr>
            <p:ph type="title"/>
          </p:nvPr>
        </p:nvSpPr>
        <p:spPr>
          <a:xfrm>
            <a:off x="914400" y="1188718"/>
            <a:ext cx="6400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  <a:defRPr sz="7199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body" idx="1"/>
          </p:nvPr>
        </p:nvSpPr>
        <p:spPr>
          <a:xfrm>
            <a:off x="9601200" y="1463040"/>
            <a:ext cx="1298447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body" idx="2"/>
          </p:nvPr>
        </p:nvSpPr>
        <p:spPr>
          <a:xfrm>
            <a:off x="914400" y="5852160"/>
            <a:ext cx="6400800" cy="675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54" lvl="0" indent="-228577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marL="914309" lvl="1" indent="-22857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2pPr>
            <a:lvl3pPr marL="1371463" lvl="2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marL="1828617" lvl="3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marL="2285771" lvl="4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marL="2742926" lvl="5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marL="3200080" lvl="6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marL="3657234" lvl="7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marL="4114389" lvl="8" indent="-228577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dt" idx="10"/>
          </p:nvPr>
        </p:nvSpPr>
        <p:spPr>
          <a:xfrm>
            <a:off x="931024" y="12919571"/>
            <a:ext cx="523702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ftr" idx="11"/>
          </p:nvPr>
        </p:nvSpPr>
        <p:spPr>
          <a:xfrm>
            <a:off x="9601200" y="12919571"/>
            <a:ext cx="929640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alibri"/>
              <a:buNone/>
              <a:defRPr sz="21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>
            <a:off x="1" y="9906000"/>
            <a:ext cx="24377651" cy="381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89" name="Google Shape;89;p24"/>
          <p:cNvSpPr/>
          <p:nvPr/>
        </p:nvSpPr>
        <p:spPr>
          <a:xfrm>
            <a:off x="31" y="9830152"/>
            <a:ext cx="24377651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2194560" y="10149840"/>
            <a:ext cx="20226528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  <a:defRPr sz="7199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>
            <a:spLocks noGrp="1"/>
          </p:cNvSpPr>
          <p:nvPr>
            <p:ph type="pic" idx="2"/>
          </p:nvPr>
        </p:nvSpPr>
        <p:spPr>
          <a:xfrm>
            <a:off x="31" y="0"/>
            <a:ext cx="24383970" cy="98301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00" tIns="457200" rIns="0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6400"/>
              <a:buFont typeface="Calibri"/>
              <a:buNone/>
              <a:defRPr sz="6399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sz="5599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4000"/>
              <a:buFont typeface="Calibri"/>
              <a:buNone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>
            <a:off x="2194560" y="11814046"/>
            <a:ext cx="20226528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154" lvl="0" indent="-22857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marL="914309" lvl="1" indent="-22857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2pPr>
            <a:lvl3pPr marL="1371463" lvl="2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marL="1828617" lvl="3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marL="2285771" lvl="4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marL="2742926" lvl="5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marL="3200080" lvl="6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marL="3657234" lvl="7" indent="-228577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marL="4114389" lvl="8" indent="-228577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2194561" y="573207"/>
            <a:ext cx="2011680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 rot="5400000">
            <a:off x="8229601" y="-2343571"/>
            <a:ext cx="8046720" cy="20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/>
          <p:nvPr/>
        </p:nvSpPr>
        <p:spPr>
          <a:xfrm>
            <a:off x="6352" y="12801600"/>
            <a:ext cx="24377651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4" name="Google Shape;104;p26"/>
          <p:cNvSpPr/>
          <p:nvPr/>
        </p:nvSpPr>
        <p:spPr>
          <a:xfrm>
            <a:off x="31" y="12668632"/>
            <a:ext cx="24377651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 rot="5400000">
            <a:off x="14321279" y="3958079"/>
            <a:ext cx="11514842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 rot="5400000">
            <a:off x="3653277" y="-1147322"/>
            <a:ext cx="11514844" cy="15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154" lvl="0" indent="-342866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Char char=" "/>
              <a:defRPr/>
            </a:lvl1pPr>
            <a:lvl2pPr marL="914309" lvl="1" indent="-34286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2pPr>
            <a:lvl3pPr marL="1371463" lvl="2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3pPr>
            <a:lvl4pPr marL="1828617" lvl="3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4pPr>
            <a:lvl5pPr marL="2285771" lvl="4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5pPr>
            <a:lvl6pPr marL="2742926" lvl="5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6pPr>
            <a:lvl7pPr marL="3200080" lvl="6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7pPr>
            <a:lvl8pPr marL="3657234" lvl="7" indent="-342866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◦"/>
              <a:defRPr/>
            </a:lvl8pPr>
            <a:lvl9pPr marL="4114389" lvl="8" indent="-342866" algn="l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6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1pPr>
            <a:lvl2pPr marL="0" lvl="1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2pPr>
            <a:lvl3pPr marL="0" lvl="2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3pPr>
            <a:lvl4pPr marL="0" lvl="3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4pPr>
            <a:lvl5pPr marL="0" lvl="4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5pPr>
            <a:lvl6pPr marL="0" lvl="5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6pPr>
            <a:lvl7pPr marL="0" lvl="6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7pPr>
            <a:lvl8pPr marL="0" lvl="7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8pPr>
            <a:lvl9pPr marL="0" lvl="8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2" y="12801600"/>
            <a:ext cx="24383999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1" name="Google Shape;11;p13"/>
          <p:cNvSpPr/>
          <p:nvPr/>
        </p:nvSpPr>
        <p:spPr>
          <a:xfrm>
            <a:off x="1" y="12668632"/>
            <a:ext cx="24384002" cy="131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2194561" y="573207"/>
            <a:ext cx="20116800" cy="2901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9600"/>
              <a:buFont typeface="Calibri"/>
              <a:buNone/>
              <a:defRPr sz="9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body" idx="1"/>
          </p:nvPr>
        </p:nvSpPr>
        <p:spPr>
          <a:xfrm>
            <a:off x="2194561" y="3691468"/>
            <a:ext cx="20116800" cy="804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4826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Char char=" "/>
              <a:defRPr sz="4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◦"/>
              <a:defRPr sz="3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064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06400" algn="l" rtl="0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2800"/>
              <a:buFont typeface="Calibri"/>
              <a:buChar char="◦"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2194561" y="12919571"/>
            <a:ext cx="4944542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7372370" y="12919571"/>
            <a:ext cx="9645608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19800917" y="12919571"/>
            <a:ext cx="2624050" cy="73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libri"/>
              <a:buNone/>
              <a:defRPr sz="2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Google Shape;17;p13"/>
          <p:cNvCxnSpPr/>
          <p:nvPr/>
        </p:nvCxnSpPr>
        <p:spPr>
          <a:xfrm>
            <a:off x="2387064" y="3475690"/>
            <a:ext cx="199339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nnx/keras-onnx/releases/tag/v1.7.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VIDIA/TensorRT/tree/master/tool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/onnxruntime/blob/master/tools/python/dump_subgraphs.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>
            <a:spLocks noGrp="1"/>
          </p:cNvSpPr>
          <p:nvPr>
            <p:ph type="body" idx="1"/>
          </p:nvPr>
        </p:nvSpPr>
        <p:spPr>
          <a:xfrm>
            <a:off x="2143021" y="4326555"/>
            <a:ext cx="20097983" cy="696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spcBef>
                <a:spcPts val="0"/>
              </a:spcBef>
              <a:buSzPts val="7920"/>
            </a:pPr>
            <a:r>
              <a:rPr lang="en-US" sz="8799" dirty="0"/>
              <a:t>Converters SIG Updates</a:t>
            </a:r>
            <a:endParaRPr sz="8799" dirty="0"/>
          </a:p>
          <a:p>
            <a:pPr marL="0" indent="0" algn="ctr">
              <a:spcBef>
                <a:spcPts val="600"/>
              </a:spcBef>
              <a:buSzPts val="4860"/>
            </a:pPr>
            <a:endParaRPr sz="5399" dirty="0"/>
          </a:p>
          <a:p>
            <a:pPr marL="0" indent="0" algn="ctr">
              <a:spcBef>
                <a:spcPts val="600"/>
              </a:spcBef>
              <a:buSzPts val="4860"/>
            </a:pPr>
            <a:endParaRPr sz="4533" b="1" dirty="0"/>
          </a:p>
          <a:p>
            <a:pPr marL="0" indent="0" algn="ctr">
              <a:spcBef>
                <a:spcPts val="600"/>
              </a:spcBef>
              <a:buSzPts val="4860"/>
            </a:pPr>
            <a:r>
              <a:rPr lang="en-US" sz="4533" b="1" dirty="0"/>
              <a:t>ONNX Workshop 10/14/2020</a:t>
            </a:r>
            <a:endParaRPr sz="4533" b="1" dirty="0"/>
          </a:p>
          <a:p>
            <a:pPr marL="0" indent="0" algn="ctr">
              <a:spcBef>
                <a:spcPts val="600"/>
              </a:spcBef>
              <a:buSzPts val="4860"/>
            </a:pPr>
            <a:endParaRPr sz="4533" b="1" dirty="0"/>
          </a:p>
          <a:p>
            <a:pPr marL="0" indent="0" algn="ctr">
              <a:spcBef>
                <a:spcPts val="600"/>
              </a:spcBef>
              <a:buSzPts val="4860"/>
            </a:pPr>
            <a:r>
              <a:rPr lang="en-US" dirty="0"/>
              <a:t>Chin Huang, IBM</a:t>
            </a:r>
            <a:endParaRPr dirty="0"/>
          </a:p>
          <a:p>
            <a:pPr marL="0" indent="0" algn="ctr">
              <a:spcBef>
                <a:spcPts val="600"/>
              </a:spcBef>
              <a:buSzPts val="4860"/>
            </a:pPr>
            <a:r>
              <a:rPr lang="en-US" dirty="0"/>
              <a:t>Guenther </a:t>
            </a:r>
            <a:r>
              <a:rPr lang="en-US" dirty="0" err="1"/>
              <a:t>Schmuelling</a:t>
            </a:r>
            <a:r>
              <a:rPr lang="en-US" dirty="0"/>
              <a:t>, Microsoft</a:t>
            </a:r>
            <a:br>
              <a:rPr lang="en-US" dirty="0"/>
            </a:br>
            <a:r>
              <a:rPr lang="en-US" dirty="0"/>
              <a:t>Kevin Chen, Nvidia</a:t>
            </a:r>
            <a:endParaRPr dirty="0"/>
          </a:p>
          <a:p>
            <a:pPr marL="0" indent="0" algn="ctr">
              <a:spcBef>
                <a:spcPts val="600"/>
              </a:spcBef>
              <a:buSzPts val="432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>
            <a:spLocks noGrp="1"/>
          </p:cNvSpPr>
          <p:nvPr>
            <p:ph type="title"/>
          </p:nvPr>
        </p:nvSpPr>
        <p:spPr>
          <a:xfrm>
            <a:off x="755906" y="1951360"/>
            <a:ext cx="22848547" cy="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4800"/>
            </a:pPr>
            <a:r>
              <a:rPr lang="en-US" sz="5399" b="1">
                <a:latin typeface="Arial"/>
                <a:ea typeface="Arial"/>
                <a:cs typeface="Arial"/>
                <a:sym typeface="Arial"/>
              </a:rPr>
              <a:t>Converters SIG Updates</a:t>
            </a:r>
            <a:endParaRPr sz="5399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2375305" y="3866833"/>
            <a:ext cx="19609749" cy="661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pPr marL="68573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Converters updates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773061" lvl="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Frontend converters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773061" lvl="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Backend converters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2027035" lvl="1" indent="-431757">
              <a:buClr>
                <a:schemeClr val="dk1"/>
              </a:buClr>
              <a:buSzPts val="4000"/>
            </a:pP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68573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General discussions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773061" lvl="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we would like to see…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773061" lvl="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we would like to clarify…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773061" lvl="1" indent="-685731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Interesting operators</a:t>
            </a:r>
            <a:endParaRPr sz="4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1658772" lvl="1" indent="-317468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755904" y="1951360"/>
            <a:ext cx="23038592" cy="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4800"/>
            </a:pPr>
            <a:r>
              <a:rPr lang="en-US" sz="5399">
                <a:latin typeface="Arial"/>
                <a:ea typeface="Arial"/>
                <a:cs typeface="Arial"/>
                <a:sym typeface="Arial"/>
              </a:rPr>
              <a:t>Frontend Converter Updates - keras2onnx</a:t>
            </a:r>
            <a:endParaRPr sz="539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2285928" y="3698284"/>
            <a:ext cx="21018909" cy="722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85731" indent="-685731">
              <a:lnSpc>
                <a:spcPct val="115000"/>
              </a:lnSpc>
              <a:spcBef>
                <a:spcPts val="1200"/>
              </a:spcBef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Opset 12 fully supported in</a:t>
            </a:r>
            <a:r>
              <a:rPr lang="en-US">
                <a:solidFill>
                  <a:srgbClr val="000000"/>
                </a:solidFill>
                <a:uFill>
                  <a:noFill/>
                </a:u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rgbClr val="0563C1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keras2onnx v1.7.0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​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85731" indent="-685731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 for most huggingface/transformers​ models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31" indent="-685731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Improved RNN model conversion​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31" indent="-685731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Validated successful conversion for 120+ models in github​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31" indent="-685731">
              <a:lnSpc>
                <a:spcPct val="115000"/>
              </a:lnSpc>
              <a:buClr>
                <a:srgbClr val="000000"/>
              </a:buClr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Bug fixes​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32762" y="13008236"/>
            <a:ext cx="5664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2100"/>
            </a:pPr>
            <a:fld id="{00000000-1234-1234-1234-123412341234}" type="slidenum">
              <a:rPr lang="en-US"/>
              <a:pPr>
                <a:buClr>
                  <a:srgbClr val="000000"/>
                </a:buClr>
                <a:buSzPts val="2100"/>
              </a:pPr>
              <a:t>3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797035" y="3344388"/>
            <a:ext cx="19609749" cy="369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pPr>
              <a:buClr>
                <a:schemeClr val="dk1"/>
              </a:buCl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b9be10c4f_0_6"/>
          <p:cNvSpPr txBox="1">
            <a:spLocks noGrp="1"/>
          </p:cNvSpPr>
          <p:nvPr>
            <p:ph type="title"/>
          </p:nvPr>
        </p:nvSpPr>
        <p:spPr>
          <a:xfrm>
            <a:off x="755904" y="1951360"/>
            <a:ext cx="23038592" cy="738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4800"/>
            </a:pPr>
            <a:r>
              <a:rPr lang="en-US" sz="5399">
                <a:latin typeface="Arial"/>
                <a:ea typeface="Arial"/>
                <a:cs typeface="Arial"/>
                <a:sym typeface="Arial"/>
              </a:rPr>
              <a:t>Frontend Converter Updates - pytorch exporter</a:t>
            </a:r>
            <a:endParaRPr sz="539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9b9be10c4f_0_6"/>
          <p:cNvSpPr txBox="1">
            <a:spLocks noGrp="1"/>
          </p:cNvSpPr>
          <p:nvPr>
            <p:ph type="sldNum" idx="12"/>
          </p:nvPr>
        </p:nvSpPr>
        <p:spPr>
          <a:xfrm>
            <a:off x="832762" y="13008236"/>
            <a:ext cx="5664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2100"/>
            </a:pPr>
            <a:fld id="{00000000-1234-1234-1234-123412341234}" type="slidenum">
              <a:rPr lang="en-US"/>
              <a:pPr>
                <a:buSzPts val="2100"/>
              </a:pPr>
              <a:t>4</a:t>
            </a:fld>
            <a:endParaRPr/>
          </a:p>
        </p:txBody>
      </p:sp>
      <p:sp>
        <p:nvSpPr>
          <p:cNvPr id="135" name="Google Shape;135;g9b9be10c4f_0_6"/>
          <p:cNvSpPr txBox="1"/>
          <p:nvPr/>
        </p:nvSpPr>
        <p:spPr>
          <a:xfrm>
            <a:off x="1797036" y="3344387"/>
            <a:ext cx="19609646" cy="70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g9b9be10c4f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8218" y="3698342"/>
            <a:ext cx="20548747" cy="854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9b9be10c4f_0_6"/>
          <p:cNvSpPr txBox="1"/>
          <p:nvPr/>
        </p:nvSpPr>
        <p:spPr>
          <a:xfrm>
            <a:off x="304761" y="305653"/>
            <a:ext cx="2999609" cy="2999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91413" rIns="91413" bIns="91413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b9be10c4f_0_17"/>
          <p:cNvSpPr txBox="1">
            <a:spLocks noGrp="1"/>
          </p:cNvSpPr>
          <p:nvPr>
            <p:ph type="title"/>
          </p:nvPr>
        </p:nvSpPr>
        <p:spPr>
          <a:xfrm>
            <a:off x="755904" y="1951360"/>
            <a:ext cx="23038592" cy="738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4800"/>
            </a:pPr>
            <a:r>
              <a:rPr lang="en-US" sz="5399">
                <a:latin typeface="Arial"/>
                <a:ea typeface="Arial"/>
                <a:cs typeface="Arial"/>
                <a:sym typeface="Arial"/>
              </a:rPr>
              <a:t>Frontend Converter Updates - tf2onnx</a:t>
            </a:r>
            <a:endParaRPr sz="5399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9b9be10c4f_0_17"/>
          <p:cNvSpPr txBox="1">
            <a:spLocks noGrp="1"/>
          </p:cNvSpPr>
          <p:nvPr>
            <p:ph type="body" idx="1"/>
          </p:nvPr>
        </p:nvSpPr>
        <p:spPr>
          <a:xfrm>
            <a:off x="2248606" y="3654877"/>
            <a:ext cx="20795006" cy="838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46045" indent="-571443">
              <a:lnSpc>
                <a:spcPct val="115000"/>
              </a:lnSpc>
              <a:spcBef>
                <a:spcPts val="1200"/>
              </a:spcBef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Fixes for tf-2.x, tested up to tf-2.3​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 for models &gt; 2GB (--large_model)​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 for quantization aware training​ (using QDQ)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Improvements to optimizer pass​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Constant folding for almost all TF ops​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More fusing of nodes, ie. Batchnorm with Conv​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Major improvements for conversion speed on large models​ (3 to 5 times faster)​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Bug fixes​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46045" indent="-571443">
              <a:lnSpc>
                <a:spcPct val="115000"/>
              </a:lnSpc>
              <a:buClr>
                <a:srgbClr val="000000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Currently supported: tensorflow: up to tf-1.15, tf-2.3 | onnx: opset-7 - opset-12 | python 3.6-3.8</a:t>
            </a:r>
            <a:endParaRPr sz="44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lnSpc>
                <a:spcPct val="115000"/>
              </a:lnSpc>
              <a:spcBef>
                <a:spcPts val="1200"/>
              </a:spcBef>
              <a:buNone/>
            </a:pPr>
            <a:r>
              <a:rPr lang="en-US" sz="4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We are now working on improving out of the box conversion rates.</a:t>
            </a:r>
            <a:r>
              <a:rPr lang="en-US" sz="539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​</a:t>
            </a:r>
            <a:endParaRPr sz="5199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indent="0">
              <a:spcBef>
                <a:spcPts val="12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144" name="Google Shape;144;g9b9be10c4f_0_17"/>
          <p:cNvSpPr txBox="1">
            <a:spLocks noGrp="1"/>
          </p:cNvSpPr>
          <p:nvPr>
            <p:ph type="sldNum" idx="12"/>
          </p:nvPr>
        </p:nvSpPr>
        <p:spPr>
          <a:xfrm>
            <a:off x="832762" y="13008236"/>
            <a:ext cx="5664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2100"/>
            </a:pPr>
            <a:fld id="{00000000-1234-1234-1234-123412341234}" type="slidenum">
              <a:rPr lang="en-US"/>
              <a:pPr>
                <a:buSzPts val="2100"/>
              </a:pPr>
              <a:t>5</a:t>
            </a:fld>
            <a:endParaRPr/>
          </a:p>
        </p:txBody>
      </p:sp>
      <p:sp>
        <p:nvSpPr>
          <p:cNvPr id="145" name="Google Shape;145;g9b9be10c4f_0_17"/>
          <p:cNvSpPr txBox="1"/>
          <p:nvPr/>
        </p:nvSpPr>
        <p:spPr>
          <a:xfrm>
            <a:off x="1797036" y="3344387"/>
            <a:ext cx="19609646" cy="70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55906" y="1951360"/>
            <a:ext cx="22848547" cy="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4800"/>
            </a:pPr>
            <a:r>
              <a:rPr lang="en-US" sz="5399" b="1">
                <a:latin typeface="Arial"/>
                <a:ea typeface="Arial"/>
                <a:cs typeface="Arial"/>
                <a:sym typeface="Arial"/>
              </a:rPr>
              <a:t>Backend Converter Updates – ONNX-TensorRT</a:t>
            </a:r>
            <a:endParaRPr sz="5399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2375316" y="3773577"/>
            <a:ext cx="19609647" cy="8216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r>
              <a:rPr lang="en-US" sz="4400">
                <a:solidFill>
                  <a:schemeClr val="dk1"/>
                </a:solidFill>
              </a:rPr>
              <a:t>TensorRT 7.2.1</a:t>
            </a:r>
            <a:endParaRPr sz="4400">
              <a:solidFill>
                <a:schemeClr val="dk1"/>
              </a:solidFill>
            </a:endParaRPr>
          </a:p>
          <a:p>
            <a:pPr marL="1371463" indent="-507949">
              <a:buClr>
                <a:schemeClr val="dk1"/>
              </a:buClr>
              <a:buSzPts val="4400"/>
              <a:buChar char="●"/>
            </a:pPr>
            <a:r>
              <a:rPr lang="en-US" sz="4400">
                <a:solidFill>
                  <a:schemeClr val="dk1"/>
                </a:solidFill>
              </a:rPr>
              <a:t>Support for parsing models with external data</a:t>
            </a:r>
            <a:endParaRPr sz="4400">
              <a:solidFill>
                <a:schemeClr val="dk1"/>
              </a:solidFill>
            </a:endParaRPr>
          </a:p>
          <a:p>
            <a:pPr marL="1371463" indent="-507949">
              <a:buClr>
                <a:schemeClr val="dk1"/>
              </a:buClr>
              <a:buSzPts val="4400"/>
              <a:buChar char="●"/>
            </a:pPr>
            <a:r>
              <a:rPr lang="en-US" sz="4400">
                <a:solidFill>
                  <a:schemeClr val="dk1"/>
                </a:solidFill>
              </a:rPr>
              <a:t>New API for interfacing with TensorRT’s refit feature </a:t>
            </a:r>
            <a:endParaRPr sz="4400">
              <a:solidFill>
                <a:schemeClr val="dk1"/>
              </a:solidFill>
            </a:endParaRPr>
          </a:p>
          <a:p>
            <a:pPr marL="1371463" indent="-507949">
              <a:buClr>
                <a:schemeClr val="dk1"/>
              </a:buClr>
              <a:buSzPts val="4400"/>
              <a:buChar char="●"/>
            </a:pPr>
            <a:r>
              <a:rPr lang="en-US" sz="4400">
                <a:solidFill>
                  <a:schemeClr val="dk1"/>
                </a:solidFill>
              </a:rPr>
              <a:t>New tooling (</a:t>
            </a:r>
            <a:r>
              <a:rPr lang="en-US" sz="44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-US" sz="4400">
                <a:solidFill>
                  <a:schemeClr val="dk1"/>
                </a:solidFill>
              </a:rPr>
              <a:t>) </a:t>
            </a:r>
            <a:endParaRPr sz="4400">
              <a:solidFill>
                <a:schemeClr val="dk1"/>
              </a:solidFill>
            </a:endParaRPr>
          </a:p>
          <a:p>
            <a:pPr marL="2285771" lvl="2" indent="-507949">
              <a:buClr>
                <a:schemeClr val="dk1"/>
              </a:buClr>
              <a:buSzPts val="4400"/>
              <a:buChar char="■"/>
            </a:pPr>
            <a:r>
              <a:rPr lang="en-US" sz="4400" b="1">
                <a:solidFill>
                  <a:schemeClr val="dk1"/>
                </a:solidFill>
              </a:rPr>
              <a:t>ONNX-GS</a:t>
            </a:r>
            <a:r>
              <a:rPr lang="en-US" sz="4400">
                <a:solidFill>
                  <a:schemeClr val="dk1"/>
                </a:solidFill>
              </a:rPr>
              <a:t> - Custom wrapper around the existing ONNX python API for easier creation and modification of ONNX graphs</a:t>
            </a:r>
            <a:endParaRPr sz="4400">
              <a:solidFill>
                <a:schemeClr val="dk1"/>
              </a:solidFill>
            </a:endParaRPr>
          </a:p>
          <a:p>
            <a:pPr marL="2285771" lvl="2" indent="-507949">
              <a:buClr>
                <a:schemeClr val="dk1"/>
              </a:buClr>
              <a:buSzPts val="4400"/>
              <a:buChar char="■"/>
            </a:pPr>
            <a:r>
              <a:rPr lang="en-US" sz="4400" b="1">
                <a:solidFill>
                  <a:schemeClr val="dk1"/>
                </a:solidFill>
              </a:rPr>
              <a:t>Polygraphy</a:t>
            </a:r>
            <a:r>
              <a:rPr lang="en-US" sz="4400">
                <a:solidFill>
                  <a:schemeClr val="dk1"/>
                </a:solidFill>
              </a:rPr>
              <a:t> - Toolkit that allows running and debugging DL models between different backends.</a:t>
            </a:r>
            <a:endParaRPr sz="4400">
              <a:solidFill>
                <a:schemeClr val="dk1"/>
              </a:solidFill>
            </a:endParaRPr>
          </a:p>
          <a:p>
            <a:pPr marL="571443" indent="-317468">
              <a:buClr>
                <a:schemeClr val="dk1"/>
              </a:buClr>
              <a:buSzPts val="4000"/>
            </a:pPr>
            <a:r>
              <a:rPr lang="en-US" sz="4400">
                <a:solidFill>
                  <a:schemeClr val="dk1"/>
                </a:solidFill>
              </a:rPr>
              <a:t>Future plans</a:t>
            </a:r>
            <a:endParaRPr sz="4400">
              <a:solidFill>
                <a:schemeClr val="dk1"/>
              </a:solidFill>
            </a:endParaRPr>
          </a:p>
          <a:p>
            <a:pPr marL="1371463" indent="-507949">
              <a:buClr>
                <a:schemeClr val="dk1"/>
              </a:buClr>
              <a:buSzPts val="4400"/>
              <a:buChar char="●"/>
            </a:pPr>
            <a:r>
              <a:rPr lang="en-US" sz="4400">
                <a:solidFill>
                  <a:schemeClr val="dk1"/>
                </a:solidFill>
              </a:rPr>
              <a:t>Continuously improve operator support</a:t>
            </a:r>
            <a:endParaRPr sz="4400">
              <a:solidFill>
                <a:schemeClr val="dk1"/>
              </a:solidFill>
            </a:endParaRPr>
          </a:p>
          <a:p>
            <a:pPr marL="1371463" indent="-507949">
              <a:buClr>
                <a:schemeClr val="dk1"/>
              </a:buClr>
              <a:buSzPts val="4400"/>
              <a:buChar char="●"/>
            </a:pPr>
            <a:r>
              <a:rPr lang="en-US" sz="4400">
                <a:solidFill>
                  <a:schemeClr val="dk1"/>
                </a:solidFill>
              </a:rPr>
              <a:t>Work more closely with front-end converters</a:t>
            </a:r>
            <a:endParaRPr sz="4400">
              <a:solidFill>
                <a:schemeClr val="dk1"/>
              </a:solidFill>
            </a:endParaRPr>
          </a:p>
          <a:p>
            <a:pPr marL="571443" indent="-317468">
              <a:buClr>
                <a:schemeClr val="dk1"/>
              </a:buClr>
              <a:buSzPts val="4000"/>
            </a:pP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>
            <a:spLocks noGrp="1"/>
          </p:cNvSpPr>
          <p:nvPr>
            <p:ph type="title"/>
          </p:nvPr>
        </p:nvSpPr>
        <p:spPr>
          <a:xfrm>
            <a:off x="755906" y="1951360"/>
            <a:ext cx="22848547" cy="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4800"/>
            </a:pPr>
            <a:r>
              <a:rPr lang="en-US" sz="5399" b="1">
                <a:latin typeface="Arial"/>
                <a:ea typeface="Arial"/>
                <a:cs typeface="Arial"/>
                <a:sym typeface="Arial"/>
              </a:rPr>
              <a:t>Backend Converter Updates – ONNX-TF</a:t>
            </a:r>
            <a:endParaRPr sz="5399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1741060" y="3866834"/>
            <a:ext cx="19609749" cy="7416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pPr marL="1201618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Tensorflow 2.0 native support, export as saved model, instead of graph pb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1618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User choice of target device, CPU vs GPU, for optimized graph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1618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Auto and user input for data type cast</a:t>
            </a:r>
            <a:endParaRPr/>
          </a:p>
          <a:p>
            <a:pPr marL="1201618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Supported Tensorflow versions: 1.15 and 2.3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01618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ONNX opset 12 support</a:t>
            </a:r>
            <a:endParaRPr/>
          </a:p>
          <a:p>
            <a:pPr marL="1201618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Upcoming</a:t>
            </a:r>
            <a:endParaRPr/>
          </a:p>
          <a:p>
            <a:pPr marL="1658772" lvl="1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ONNX opset 13 support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658772" lvl="1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Investigation in training and onnx-ml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443" indent="-317468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  <a:p>
            <a:pPr marL="571443" indent="-317468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 txBox="1">
            <a:spLocks noGrp="1"/>
          </p:cNvSpPr>
          <p:nvPr>
            <p:ph type="title"/>
          </p:nvPr>
        </p:nvSpPr>
        <p:spPr>
          <a:xfrm>
            <a:off x="755906" y="1951360"/>
            <a:ext cx="22848547" cy="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4800"/>
            </a:pPr>
            <a:r>
              <a:rPr lang="en-US" sz="5399" b="1">
                <a:latin typeface="Arial"/>
                <a:ea typeface="Arial"/>
                <a:cs typeface="Arial"/>
                <a:sym typeface="Arial"/>
              </a:rPr>
              <a:t>General discussions</a:t>
            </a:r>
            <a:endParaRPr sz="5399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2226085" y="3531069"/>
            <a:ext cx="19609647" cy="10309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pPr>
              <a:buClr>
                <a:schemeClr val="dk1"/>
              </a:buClr>
              <a:buSzPts val="4000"/>
            </a:pPr>
            <a:r>
              <a:rPr lang="en-US" sz="4400">
                <a:solidFill>
                  <a:schemeClr val="dk1"/>
                </a:solidFill>
              </a:rPr>
              <a:t>What we would like to see…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Custom ops best practices: 1. convert to backend framework models 2. execute in backend runtime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Consistency between op schema, doc, and unit tests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Use of checker to ensure model quality and integrity in frontend and backend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Working standard backend tests</a:t>
            </a:r>
            <a:endParaRPr sz="1800"/>
          </a:p>
          <a:p>
            <a:pPr marL="1485751" lvl="1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Sequence as an input type</a:t>
            </a:r>
            <a:endParaRPr sz="1800"/>
          </a:p>
          <a:p>
            <a:pPr marL="1485751" lvl="1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New data type in opset 13: bfloat16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ONNX-ML reference implementation and unit tests at operator/node level, and more ML models in model zoo</a:t>
            </a:r>
            <a:endParaRPr sz="4400">
              <a:solidFill>
                <a:schemeClr val="dk1"/>
              </a:solidFill>
            </a:endParaRPr>
          </a:p>
          <a:p>
            <a:pPr marL="1028597" indent="-571443">
              <a:buClr>
                <a:schemeClr val="dk1"/>
              </a:buClr>
              <a:buSzPts val="40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Visualization of subgraphs (loop, if, scan): helpful onnx runtime tool dump_subgraphs.py, </a:t>
            </a:r>
            <a:r>
              <a:rPr lang="en-US" sz="36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https://github.com/microsoft/onnxruntime/blob/master/tools/python/dump_subgraphs.py</a:t>
            </a:r>
            <a:endParaRPr sz="3600">
              <a:solidFill>
                <a:schemeClr val="dk1"/>
              </a:solidFill>
            </a:endParaRPr>
          </a:p>
          <a:p>
            <a:pPr marL="571443" indent="-317468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  <a:p>
            <a:pPr>
              <a:buClr>
                <a:schemeClr val="dk1"/>
              </a:buClr>
              <a:buSzPts val="1600"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9ff79c73d1_0_0"/>
          <p:cNvSpPr txBox="1">
            <a:spLocks noGrp="1"/>
          </p:cNvSpPr>
          <p:nvPr>
            <p:ph type="title"/>
          </p:nvPr>
        </p:nvSpPr>
        <p:spPr>
          <a:xfrm>
            <a:off x="755906" y="1951360"/>
            <a:ext cx="22848625" cy="66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4800"/>
            </a:pPr>
            <a:r>
              <a:rPr lang="en-US" sz="5399" b="1">
                <a:latin typeface="Arial"/>
                <a:ea typeface="Arial"/>
                <a:cs typeface="Arial"/>
                <a:sym typeface="Arial"/>
              </a:rPr>
              <a:t>General discussions</a:t>
            </a:r>
            <a:endParaRPr sz="11499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9ff79c73d1_0_0"/>
          <p:cNvSpPr txBox="1"/>
          <p:nvPr/>
        </p:nvSpPr>
        <p:spPr>
          <a:xfrm>
            <a:off x="2375396" y="3792199"/>
            <a:ext cx="19609646" cy="8345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noAutofit/>
          </a:bodyPr>
          <a:lstStyle/>
          <a:p>
            <a:pPr>
              <a:buClr>
                <a:schemeClr val="dk1"/>
              </a:buClr>
              <a:buSzPts val="4000"/>
            </a:pPr>
            <a:r>
              <a:rPr lang="en-US" sz="4400">
                <a:solidFill>
                  <a:schemeClr val="dk1"/>
                </a:solidFill>
              </a:rPr>
              <a:t>What we would like to clarify…</a:t>
            </a:r>
            <a:endParaRPr sz="4400">
              <a:solidFill>
                <a:schemeClr val="dk1"/>
              </a:solidFill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Inference accuracy could be slightly off between backend frameworks</a:t>
            </a:r>
            <a:endParaRPr sz="4400">
              <a:solidFill>
                <a:schemeClr val="dk1"/>
              </a:solidFill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Optional inputs with default values or blank input names?</a:t>
            </a:r>
            <a:endParaRPr sz="4400">
              <a:solidFill>
                <a:schemeClr val="dk1"/>
              </a:solidFill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Move between attributes and inputs might cause issues for backend frameworks</a:t>
            </a:r>
            <a:endParaRPr sz="4400">
              <a:solidFill>
                <a:schemeClr val="dk1"/>
              </a:solidFill>
            </a:endParaRPr>
          </a:p>
          <a:p>
            <a:pPr marL="1028597" indent="-596840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Model training use cases specifically for frontend and backend converters, APIs, models in model zoo</a:t>
            </a:r>
            <a:endParaRPr sz="4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 txBox="1">
            <a:spLocks noGrp="1"/>
          </p:cNvSpPr>
          <p:nvPr>
            <p:ph type="title"/>
          </p:nvPr>
        </p:nvSpPr>
        <p:spPr>
          <a:xfrm>
            <a:off x="755906" y="1951360"/>
            <a:ext cx="22848547" cy="7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4800"/>
            </a:pPr>
            <a:r>
              <a:rPr lang="en-US" sz="5399" b="1">
                <a:latin typeface="Arial"/>
                <a:ea typeface="Arial"/>
                <a:cs typeface="Arial"/>
                <a:sym typeface="Arial"/>
              </a:rPr>
              <a:t>General discussions</a:t>
            </a:r>
            <a:endParaRPr sz="11499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2188870" y="3848176"/>
            <a:ext cx="19609749" cy="9385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pPr>
              <a:buClr>
                <a:schemeClr val="dk1"/>
              </a:buClr>
              <a:buSzPts val="4000"/>
            </a:pPr>
            <a:r>
              <a:rPr lang="en-US" sz="4400">
                <a:solidFill>
                  <a:schemeClr val="dk1"/>
                </a:solidFill>
              </a:rPr>
              <a:t>Operators we discussed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309" indent="-507949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Resize (variants difficult to understand and execute, if not impossible, leading to partial support from framework converters)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309" indent="-507949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Loop (and nested loops, might need access to initializers out of loop scope)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309" indent="-507949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Clip (optional input with blank input name in unit test)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309" indent="-507949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OneHot, NonMaxSuppression (depth input is documented as a scalar, which could be a scalar or 1-d tensor of size 1 in schema and unit tests)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309" indent="-507949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SplitToSequence (split input could be a scalar or a 1-d tensor)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309" indent="-507949">
              <a:buClr>
                <a:schemeClr val="dk1"/>
              </a:buClr>
              <a:buSzPts val="4400"/>
              <a:buFont typeface="Arial"/>
              <a:buChar char="•"/>
            </a:pPr>
            <a:r>
              <a:rPr lang="en-US" sz="4400">
                <a:solidFill>
                  <a:schemeClr val="dk1"/>
                </a:solidFill>
              </a:rPr>
              <a:t>NegativeLogLikelihoodLoss, SoftmaxCrossEntropyLoss (no direct mappings in some frameworks)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87329" lvl="1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  <a:p>
            <a:pPr marL="1658772" lvl="1" indent="-317468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  <a:p>
            <a:pPr marL="571443" indent="-317468">
              <a:buClr>
                <a:schemeClr val="dk1"/>
              </a:buClr>
              <a:buSzPts val="4000"/>
            </a:pPr>
            <a:endParaRPr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/>
        </p:nvSpPr>
        <p:spPr>
          <a:xfrm>
            <a:off x="2132898" y="6575534"/>
            <a:ext cx="19609646" cy="347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3" tIns="45694" rIns="91413" bIns="45694" anchor="t" anchorCtr="0">
            <a:spAutoFit/>
          </a:bodyPr>
          <a:lstStyle/>
          <a:p>
            <a:pPr algn="ctr">
              <a:buClr>
                <a:schemeClr val="dk1"/>
              </a:buClr>
              <a:buSzPts val="6000"/>
            </a:pPr>
            <a:r>
              <a:rPr lang="en-US" sz="5999">
                <a:solidFill>
                  <a:schemeClr val="dk1"/>
                </a:solidFill>
              </a:rPr>
              <a:t>Thank You and Join our Sl</a:t>
            </a:r>
            <a:r>
              <a:rPr lang="en-US" sz="5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 and</a:t>
            </a:r>
            <a:r>
              <a:rPr lang="en-US" sz="5999">
                <a:solidFill>
                  <a:schemeClr val="dk1"/>
                </a:solidFill>
              </a:rPr>
              <a:t> Meetings</a:t>
            </a:r>
            <a:endParaRPr sz="5999">
              <a:solidFill>
                <a:schemeClr val="dk1"/>
              </a:solidFill>
            </a:endParaRPr>
          </a:p>
          <a:p>
            <a:pPr algn="ctr">
              <a:buClr>
                <a:schemeClr val="dk1"/>
              </a:buClr>
              <a:buSzPts val="5000"/>
            </a:pPr>
            <a:r>
              <a:rPr lang="en-US" sz="5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#onnx-converters</a:t>
            </a:r>
            <a:endParaRPr sz="5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chemeClr val="dk1"/>
              </a:buClr>
              <a:buSzPts val="5000"/>
            </a:pPr>
            <a:r>
              <a:rPr lang="en-US" sz="5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https://lists.lfai.foundation/g/onnx-sig-converters/</a:t>
            </a:r>
            <a:endParaRPr sz="5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71443" indent="-190481" algn="ctr">
              <a:buClr>
                <a:schemeClr val="dk1"/>
              </a:buClr>
              <a:buSzPts val="6000"/>
            </a:pPr>
            <a:endParaRPr sz="599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Custom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Tahoma</vt:lpstr>
      <vt:lpstr>Calibri</vt:lpstr>
      <vt:lpstr>Helvetica Neue</vt:lpstr>
      <vt:lpstr>Helvetica Neue Light</vt:lpstr>
      <vt:lpstr>Trebuchet MS</vt:lpstr>
      <vt:lpstr>Retrospect</vt:lpstr>
      <vt:lpstr>PowerPoint Presentation</vt:lpstr>
      <vt:lpstr>Converters SIG Updates</vt:lpstr>
      <vt:lpstr>Frontend Converter Updates - keras2onnx</vt:lpstr>
      <vt:lpstr>Frontend Converter Updates - pytorch exporter</vt:lpstr>
      <vt:lpstr>Frontend Converter Updates - tf2onnx</vt:lpstr>
      <vt:lpstr>Backend Converter Updates – ONNX-TensorRT</vt:lpstr>
      <vt:lpstr>Backend Converter Updates – ONNX-TF</vt:lpstr>
      <vt:lpstr>General discussions</vt:lpstr>
      <vt:lpstr>General discussions</vt:lpstr>
      <vt:lpstr>General discussions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Truong</dc:creator>
  <cp:lastModifiedBy>Chin-Yung Huang</cp:lastModifiedBy>
  <cp:revision>1</cp:revision>
  <dcterms:created xsi:type="dcterms:W3CDTF">2015-12-17T14:38:50Z</dcterms:created>
  <dcterms:modified xsi:type="dcterms:W3CDTF">2020-10-09T22:03:28Z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qining@microsoft.com</vt:lpwstr>
  </property>
  <property fmtid="{D5CDD505-2E9C-101B-9397-08002B2CF9AE}" pid="5" name="MSIP_Label_f42aa342-8706-4288-bd11-ebb85995028c_SetDate">
    <vt:lpwstr>2019-11-12T22:56:21.4020255Z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5b7c36f2-8758-4677-8dfd-4fc6ff4de7fc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