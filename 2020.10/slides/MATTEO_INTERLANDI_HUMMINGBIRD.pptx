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1719" r:id="rId5"/>
    <p:sldId id="1518" r:id="rId6"/>
    <p:sldId id="10068" r:id="rId7"/>
    <p:sldId id="10006" r:id="rId8"/>
    <p:sldId id="10069" r:id="rId9"/>
    <p:sldId id="10076" r:id="rId10"/>
    <p:sldId id="285" r:id="rId11"/>
    <p:sldId id="10012" r:id="rId12"/>
    <p:sldId id="10065" r:id="rId13"/>
    <p:sldId id="10066" r:id="rId14"/>
    <p:sldId id="10013" r:id="rId15"/>
    <p:sldId id="10077" r:id="rId16"/>
    <p:sldId id="10016" r:id="rId17"/>
    <p:sldId id="321" r:id="rId18"/>
    <p:sldId id="180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91B4AA6-695C-2D2A-EDD5-557C8B9B2357}" name="Gopal Vashishtha" initials="GV" userId="S::gopalv@microsoft.com::31be8c9d-4079-4e52-908e-3fb617ad483f" providerId="AD"/>
  <p188:author id="{8A60C6D9-DB29-DED9-744B-B2EB5F4192AB}" name="Matteo Interlandi" initials="MI" userId="S::mainterl@microsoft.com::deade45c-e424-4d58-89a0-4b6a413fbb7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10C0C4-7A47-D54B-A169-CE5D8EA7D746}" v="60" dt="2020-10-06T00:34:43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outlineViewPr>
    <p:cViewPr>
      <p:scale>
        <a:sx n="33" d="100"/>
        <a:sy n="33" d="100"/>
      </p:scale>
      <p:origin x="0" y="-76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C2CB1-05BF-4BB8-AF7B-DAE2BBBE9C37}" type="datetimeFigureOut">
              <a:rPr lang="en-US" smtClean="0"/>
              <a:t>10/5/20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03837-D437-43F7-9C36-E7008FA50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82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619146B-24F9-441E-A368-DB3B5A84C1D4}" type="datetime8">
              <a:rPr lang="en-US" smtClean="0"/>
              <a:t>10/5/20 2:14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83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900" b="1" kern="120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This slide is required. </a:t>
            </a:r>
            <a:r>
              <a:rPr lang="en-US" sz="900" b="1" u="sng" kern="120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Do NOT delete</a:t>
            </a:r>
            <a:r>
              <a:rPr lang="en-US" sz="900" b="1" kern="120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. This should be the first slide after your Title Slide. </a:t>
            </a:r>
            <a:endParaRPr lang="en-US" sz="900" kern="120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r>
              <a:rPr lang="en-US" sz="900" kern="120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 </a:t>
            </a:r>
          </a:p>
          <a:p>
            <a:pPr lvl="1"/>
            <a:r>
              <a:rPr lang="en-US" sz="900" kern="120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This slide should describe what your goals are for this session. This information lets your audience know what you are trying to accomplish with your talk or tutorial—</a:t>
            </a:r>
            <a:r>
              <a:rPr lang="en-US" sz="900" kern="120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ie</a:t>
            </a:r>
            <a:r>
              <a:rPr lang="en-US" sz="900" kern="120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, what value will attendees get by investing 25 minutes or 2 hours of their time listening to you. </a:t>
            </a:r>
          </a:p>
          <a:p>
            <a:pPr lvl="1"/>
            <a:r>
              <a:rPr lang="en-US" sz="900" b="1" kern="120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You should not spend more than 1 minute presenting this slide.</a:t>
            </a:r>
            <a:endParaRPr lang="en-US" sz="900" kern="120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1"/>
            <a:r>
              <a:rPr lang="en-US" sz="900" b="1" kern="120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General examples of session goals </a:t>
            </a:r>
            <a:r>
              <a:rPr lang="en-US" sz="900" b="1" i="1" kern="120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could</a:t>
            </a:r>
            <a:r>
              <a:rPr lang="en-US" sz="900" b="1" kern="120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be (you will have to create your own specific goals):</a:t>
            </a:r>
            <a:endParaRPr lang="en-US" sz="900" kern="120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2"/>
            <a:r>
              <a:rPr lang="en-US" sz="900" kern="120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Introduce a new technique or approach to solve a customer problem</a:t>
            </a:r>
          </a:p>
          <a:p>
            <a:pPr lvl="2"/>
            <a:r>
              <a:rPr lang="en-US" sz="900" kern="120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Compare two approaches and explain why one is superior</a:t>
            </a:r>
          </a:p>
          <a:p>
            <a:pPr lvl="2"/>
            <a:r>
              <a:rPr lang="en-US" sz="900" kern="120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Describe a project and the learnings that audience members can apply from it</a:t>
            </a:r>
          </a:p>
          <a:p>
            <a:pPr lvl="2"/>
            <a:r>
              <a:rPr lang="en-US" sz="900" kern="120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Teach audience members how to use a specific technology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fld id="{EA2B2ED8-C573-45EF-BF68-CEC19505703A}" type="datetime8">
              <a:rPr lang="en-US" smtClean="0"/>
              <a:t>10/5/20 2:14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2199" y="8685213"/>
            <a:ext cx="684213" cy="457200"/>
          </a:xfrm>
          <a:prstGeom prst="rect">
            <a:avLst/>
          </a:prstGeom>
        </p:spPr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2014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 idx="14"/>
          </p:nvPr>
        </p:nvSpPr>
        <p:spPr/>
        <p:txBody>
          <a:bodyPr/>
          <a:lstStyle/>
          <a:p>
            <a:r>
              <a:rPr lang="en-US"/>
              <a:t>Machine Learning, Analytics, &amp; Data Science Conference</a:t>
            </a:r>
          </a:p>
        </p:txBody>
      </p:sp>
    </p:spTree>
    <p:extLst>
      <p:ext uri="{BB962C8B-B14F-4D97-AF65-F5344CB8AC3E}">
        <p14:creationId xmlns:p14="http://schemas.microsoft.com/office/powerpoint/2010/main" val="2074268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10/5/20 2:14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96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10/5/20 2:14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29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03837-D437-43F7-9C36-E7008FA50F7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32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03837-D437-43F7-9C36-E7008FA50F7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6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6604D2-33A2-4672-B11A-54958BB27F5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5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AE785-2E7B-4F52-AEC8-17553A9B3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0D564-9EB4-4082-9BC0-E3C913C6A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54239-760D-499E-8E3E-513DEAFAC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A9868-3172-433C-B364-746031A17DD8}" type="datetimeFigureOut">
              <a:rPr lang="en-US" smtClean="0"/>
              <a:t>10/5/20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0A26D-D750-4DFB-9815-88BF7C753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D3750-57D0-4DB2-AC29-FAC3A8C0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ECE7-67BA-447E-8173-227A7476E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39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9CCE5-FA41-4FB7-A3E3-B323BB949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749FE-46D0-497D-9B84-C0CE919D7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34685-B6D8-4B31-8B85-3FC3BAC01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A9868-3172-433C-B364-746031A17DD8}" type="datetimeFigureOut">
              <a:rPr lang="en-US" smtClean="0"/>
              <a:t>10/5/20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3A6DB-B12E-49B3-B52D-56497CC8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B612E-1643-464E-B28F-A7099DE9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ECE7-67BA-447E-8173-227A7476E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2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A3584-E409-4DF4-A726-B186BF810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CCA00-728C-4133-B145-42EDDEDC2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AD004-098B-4826-BB7C-3FB13E7D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A9868-3172-433C-B364-746031A17DD8}" type="datetimeFigureOut">
              <a:rPr lang="en-US" smtClean="0"/>
              <a:t>10/5/20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6BB60-06FB-420B-AB8B-A9A39E1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EB32A-1B28-4A11-8272-40BEF185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ECE7-67BA-447E-8173-227A7476E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6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5334F-42DB-416A-A2CB-D57B52537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80399-4BA4-47A8-B5DD-35684F094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8F03A-0A55-492A-BB18-03FFAF559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7E1EC-B8F6-4CA6-8E14-ADA40CC47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A9868-3172-433C-B364-746031A17DD8}" type="datetimeFigureOut">
              <a:rPr lang="en-US" smtClean="0"/>
              <a:t>10/5/20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6D6D93-4B18-4E2C-9FFE-B11E1464F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4FFAB-9D8E-4F4F-B56C-DD31D5AD3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ECE7-67BA-447E-8173-227A7476E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1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E9419-7101-4E37-9E98-B29169E38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1F968-D6B3-4617-BC98-0CBA0A849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1B150-0E8D-44A9-B10F-B9C6AA621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8C4D39-2406-4CDC-82A3-B6B1C9296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359DE1-6721-49B8-8580-1014C624B0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C5365E-7A48-49CC-87C6-92286ABE5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A9868-3172-433C-B364-746031A17DD8}" type="datetimeFigureOut">
              <a:rPr lang="en-US" smtClean="0"/>
              <a:t>10/5/20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35795B-8390-412B-B3E8-57EE26B18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EFD00C-E2E1-4F93-AC8A-BA2E6716F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ECE7-67BA-447E-8173-227A7476E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46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8FACD-25BC-4971-911D-A4D45F9BF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1D89A-3A4A-481B-8915-62D7A88EC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A9868-3172-433C-B364-746031A17DD8}" type="datetimeFigureOut">
              <a:rPr lang="en-US" smtClean="0"/>
              <a:t>10/5/20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09550-6C38-421E-BCBD-BF60202BC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E8427-FBDD-4986-AD5B-52012E98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ECE7-67BA-447E-8173-227A7476E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63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6E0E9C-DD42-498E-B1B6-9E9A0C9BE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A9868-3172-433C-B364-746031A17DD8}" type="datetimeFigureOut">
              <a:rPr lang="en-US" smtClean="0"/>
              <a:t>10/5/20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231724-B4F5-409C-BB0A-0EF0B6B2A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75C2A-31A4-4650-AC3E-E201ABD18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ECE7-67BA-447E-8173-227A7476E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7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F867C-043A-4EC0-A776-E93F81A2A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75FAC-E934-47BF-9AE2-F8F7903CD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C49A8-357A-4942-8EF5-52E7B86ED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BAFB8-515E-4E37-AB96-4B971321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A9868-3172-433C-B364-746031A17DD8}" type="datetimeFigureOut">
              <a:rPr lang="en-US" smtClean="0"/>
              <a:t>10/5/20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D1D01-4C6B-4CEA-BC5A-253CB8AF5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CAFD2-F01B-4E49-950F-E8433FABD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ECE7-67BA-447E-8173-227A7476E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4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292C6-A67E-47DC-9353-F9EF05069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AFF2A7-44E0-496E-AD54-BFE9E20D0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3CCDC-5200-41D8-BEF4-C93130CBA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C487C-2517-43FC-9A49-16521EE9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A9868-3172-433C-B364-746031A17DD8}" type="datetimeFigureOut">
              <a:rPr lang="en-US" smtClean="0"/>
              <a:t>10/5/20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E5565-0C62-4DF2-9F7D-436DEE77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5DCA4-87EA-4B38-BBFE-6F0BDD18F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ECE7-67BA-447E-8173-227A7476E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9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C0F96-8F04-41FD-B602-BAE4F8F50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5D9347-F3F0-45E5-AD99-488794DFD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FAC01-B797-4196-822D-D00A2D426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A9868-3172-433C-B364-746031A17DD8}" type="datetimeFigureOut">
              <a:rPr lang="en-US" smtClean="0"/>
              <a:t>10/5/20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DD189-1507-4053-9373-E2E5CBC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649A5-E46F-42AB-B10A-C7A023F9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ECE7-67BA-447E-8173-227A7476E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5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DCA76D-6D5D-43BD-8D38-B987C7728E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F4C5A-E181-4FE4-8D17-702491346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F18D7-72DA-4C20-AA27-35D16E51C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A9868-3172-433C-B364-746031A17DD8}" type="datetimeFigureOut">
              <a:rPr lang="en-US" smtClean="0"/>
              <a:t>10/5/20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8C517-3788-4511-85CA-FFC00348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989DE-8366-4D9C-A2EB-DDB3FD4DD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FECE7-67BA-447E-8173-227A7476E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50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9C0C0D-87F1-4DC3-AE72-31DB9E3613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85000"/>
                    </a14:imgEffect>
                    <a14:imgEffect>
                      <a14:brightnessContrast bright="5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 bwMode="ltGray">
          <a:xfrm>
            <a:off x="5095" y="1825"/>
            <a:ext cx="12181810" cy="68543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1AC4E3B-5C51-41FA-801E-F3694A6FA4B5}"/>
              </a:ext>
            </a:extLst>
          </p:cNvPr>
          <p:cNvSpPr/>
          <p:nvPr userDrawn="1"/>
        </p:nvSpPr>
        <p:spPr bwMode="auto">
          <a:xfrm>
            <a:off x="1" y="1825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2000">
                <a:schemeClr val="bg1">
                  <a:alpha val="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948010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quare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C79569F-D3C1-4AED-AC7E-8F24C1CD42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  <a14:imgEffect>
                      <a14:saturation sat="85000"/>
                    </a14:imgEffect>
                    <a14:imgEffect>
                      <a14:brightnessContrast bright="5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 bwMode="ltGray">
          <a:xfrm>
            <a:off x="5095" y="1825"/>
            <a:ext cx="12181810" cy="68543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3DF2D82-BC63-4876-A41E-EA4A643D35AD}"/>
              </a:ext>
            </a:extLst>
          </p:cNvPr>
          <p:cNvSpPr/>
          <p:nvPr userDrawn="1"/>
        </p:nvSpPr>
        <p:spPr bwMode="auto">
          <a:xfrm>
            <a:off x="1" y="0"/>
            <a:ext cx="12186904" cy="6858000"/>
          </a:xfrm>
          <a:prstGeom prst="rect">
            <a:avLst/>
          </a:prstGeom>
          <a:gradFill flip="none" rotWithShape="1">
            <a:gsLst>
              <a:gs pos="8000">
                <a:schemeClr val="bg1"/>
              </a:gs>
              <a:gs pos="5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3F6DDB65-3443-4048-91DE-D68C16A8380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dotGri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lIns="0" tIns="201168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DC08157-A48C-4ACA-A5BB-EE2A866E10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539"/>
            <a:ext cx="4167887" cy="553998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2271831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657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74BF4E-15F0-4311-B335-88FB4BC7E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9B515-D5AE-4600-BA06-1241B9749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0AACB-FED2-4A7E-BECF-2B2B57945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A9868-3172-433C-B364-746031A17DD8}" type="datetimeFigureOut">
              <a:rPr lang="en-US" smtClean="0"/>
              <a:t>10/5/20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71876-C5D0-4E11-8479-2A653279D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ECEC6-5E57-4B40-8EAE-E3482821C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FECE7-67BA-447E-8173-227A7476E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4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hyperlink" Target="https://www.google.lk/url?sa=i&amp;rct=j&amp;q=&amp;esrc=s&amp;source=images&amp;cd=&amp;cad=rja&amp;uact=8&amp;ved=2ahUKEwiT8p6F9sTkAhXzCTQIHRZtAEQQjRx6BAgBEAQ&amp;url=%2Furl%3Fsa%3Di%26rct%3Dj%26q%3D%26esrc%3Ds%26source%3Dimages%26cd%3D%26ved%3D%26url%3Dhttps%253A%252F%252Fonnx.ai%252Fsupported-tools%26psig%3DAOvVaw31baiw8b4TfpsF0BrfWM4z%26ust%3D1568159094775783&amp;psig=AOvVaw31baiw8b4TfpsF0BrfWM4z&amp;ust=1568159094775783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tiff"/><Relationship Id="rId7" Type="http://schemas.openxmlformats.org/officeDocument/2006/relationships/hyperlink" Target="https://arxiv.org/abs/1912.0953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tiff"/><Relationship Id="rId4" Type="http://schemas.openxmlformats.org/officeDocument/2006/relationships/image" Target="../media/image10.tif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23.png"/><Relationship Id="rId21" Type="http://schemas.openxmlformats.org/officeDocument/2006/relationships/image" Target="../media/image55.png"/><Relationship Id="rId34" Type="http://schemas.openxmlformats.org/officeDocument/2006/relationships/image" Target="../media/image31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22.png"/><Relationship Id="rId33" Type="http://schemas.openxmlformats.org/officeDocument/2006/relationships/image" Target="../media/image30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21.png"/><Relationship Id="rId32" Type="http://schemas.openxmlformats.org/officeDocument/2006/relationships/image" Target="../media/image29.png"/><Relationship Id="rId37" Type="http://schemas.openxmlformats.org/officeDocument/2006/relationships/image" Target="../media/image34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25.png"/><Relationship Id="rId36" Type="http://schemas.openxmlformats.org/officeDocument/2006/relationships/image" Target="../media/image33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28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Relationship Id="rId35" Type="http://schemas.openxmlformats.org/officeDocument/2006/relationships/image" Target="../media/image32.png"/><Relationship Id="rId8" Type="http://schemas.openxmlformats.org/officeDocument/2006/relationships/image" Target="../media/image42.png"/><Relationship Id="rId3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23.png"/><Relationship Id="rId21" Type="http://schemas.openxmlformats.org/officeDocument/2006/relationships/image" Target="../media/image55.png"/><Relationship Id="rId34" Type="http://schemas.openxmlformats.org/officeDocument/2006/relationships/image" Target="../media/image31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22.png"/><Relationship Id="rId33" Type="http://schemas.openxmlformats.org/officeDocument/2006/relationships/image" Target="../media/image30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21.png"/><Relationship Id="rId32" Type="http://schemas.openxmlformats.org/officeDocument/2006/relationships/image" Target="../media/image29.png"/><Relationship Id="rId37" Type="http://schemas.openxmlformats.org/officeDocument/2006/relationships/image" Target="../media/image34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25.png"/><Relationship Id="rId36" Type="http://schemas.openxmlformats.org/officeDocument/2006/relationships/image" Target="../media/image33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28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Relationship Id="rId35" Type="http://schemas.openxmlformats.org/officeDocument/2006/relationships/image" Target="../media/image32.png"/><Relationship Id="rId8" Type="http://schemas.openxmlformats.org/officeDocument/2006/relationships/image" Target="../media/image42.png"/><Relationship Id="rId3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23.png"/><Relationship Id="rId21" Type="http://schemas.openxmlformats.org/officeDocument/2006/relationships/image" Target="../media/image55.png"/><Relationship Id="rId34" Type="http://schemas.openxmlformats.org/officeDocument/2006/relationships/image" Target="../media/image31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22.png"/><Relationship Id="rId33" Type="http://schemas.openxmlformats.org/officeDocument/2006/relationships/image" Target="../media/image30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21.png"/><Relationship Id="rId32" Type="http://schemas.openxmlformats.org/officeDocument/2006/relationships/image" Target="../media/image29.png"/><Relationship Id="rId37" Type="http://schemas.openxmlformats.org/officeDocument/2006/relationships/image" Target="../media/image34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25.png"/><Relationship Id="rId36" Type="http://schemas.openxmlformats.org/officeDocument/2006/relationships/image" Target="../media/image33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28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Relationship Id="rId35" Type="http://schemas.openxmlformats.org/officeDocument/2006/relationships/image" Target="../media/image32.png"/><Relationship Id="rId8" Type="http://schemas.openxmlformats.org/officeDocument/2006/relationships/image" Target="../media/image42.png"/><Relationship Id="rId3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26" Type="http://schemas.openxmlformats.org/officeDocument/2006/relationships/image" Target="../media/image82.png"/><Relationship Id="rId39" Type="http://schemas.openxmlformats.org/officeDocument/2006/relationships/image" Target="../media/image95.png"/><Relationship Id="rId21" Type="http://schemas.openxmlformats.org/officeDocument/2006/relationships/image" Target="../media/image77.png"/><Relationship Id="rId34" Type="http://schemas.openxmlformats.org/officeDocument/2006/relationships/image" Target="../media/image90.png"/><Relationship Id="rId42" Type="http://schemas.openxmlformats.org/officeDocument/2006/relationships/image" Target="../media/image98.png"/><Relationship Id="rId7" Type="http://schemas.openxmlformats.org/officeDocument/2006/relationships/image" Target="../media/image63.png"/><Relationship Id="rId2" Type="http://schemas.openxmlformats.org/officeDocument/2006/relationships/image" Target="../media/image14.png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29" Type="http://schemas.openxmlformats.org/officeDocument/2006/relationships/image" Target="../media/image85.png"/><Relationship Id="rId41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24" Type="http://schemas.openxmlformats.org/officeDocument/2006/relationships/image" Target="../media/image80.png"/><Relationship Id="rId32" Type="http://schemas.openxmlformats.org/officeDocument/2006/relationships/image" Target="../media/image88.png"/><Relationship Id="rId37" Type="http://schemas.openxmlformats.org/officeDocument/2006/relationships/image" Target="../media/image93.png"/><Relationship Id="rId40" Type="http://schemas.openxmlformats.org/officeDocument/2006/relationships/image" Target="../media/image96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28" Type="http://schemas.openxmlformats.org/officeDocument/2006/relationships/image" Target="../media/image84.png"/><Relationship Id="rId36" Type="http://schemas.openxmlformats.org/officeDocument/2006/relationships/image" Target="../media/image92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31" Type="http://schemas.openxmlformats.org/officeDocument/2006/relationships/image" Target="../media/image87.png"/><Relationship Id="rId44" Type="http://schemas.openxmlformats.org/officeDocument/2006/relationships/image" Target="../media/image100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Relationship Id="rId27" Type="http://schemas.openxmlformats.org/officeDocument/2006/relationships/image" Target="../media/image83.png"/><Relationship Id="rId30" Type="http://schemas.openxmlformats.org/officeDocument/2006/relationships/image" Target="../media/image86.png"/><Relationship Id="rId35" Type="http://schemas.openxmlformats.org/officeDocument/2006/relationships/image" Target="../media/image91.png"/><Relationship Id="rId43" Type="http://schemas.openxmlformats.org/officeDocument/2006/relationships/image" Target="../media/image99.png"/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5" Type="http://schemas.openxmlformats.org/officeDocument/2006/relationships/image" Target="../media/image81.png"/><Relationship Id="rId33" Type="http://schemas.openxmlformats.org/officeDocument/2006/relationships/image" Target="../media/image89.png"/><Relationship Id="rId38" Type="http://schemas.openxmlformats.org/officeDocument/2006/relationships/image" Target="../media/image9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nam06.safelinks.protection.outlook.com/?url=https%3A%2F%2Fpytorch.org%2Fecosystem%2F&amp;data=02%7C01%7CKarla.Saur%40microsoft.com%7C12502ece7bb04432cbb108d818a4aefc%7C72f988bf86f141af91ab2d7cd011db47%7C1%7C0%7C637286443150545991&amp;sdata=oZ2SILNAHrK2U6x9q6x5YtMzdxaqXV8yzGNn9vX8eJY%3D&amp;reserved=0" TargetMode="External"/><Relationship Id="rId13" Type="http://schemas.openxmlformats.org/officeDocument/2006/relationships/hyperlink" Target="https://github.com/microsoft/hummingbird/graphs/contributors" TargetMode="External"/><Relationship Id="rId18" Type="http://schemas.openxmlformats.org/officeDocument/2006/relationships/image" Target="../media/image20.png"/><Relationship Id="rId3" Type="http://schemas.openxmlformats.org/officeDocument/2006/relationships/hyperlink" Target="https://aka.ms/hb-code" TargetMode="External"/><Relationship Id="rId7" Type="http://schemas.openxmlformats.org/officeDocument/2006/relationships/hyperlink" Target="https://bit.ly/3ivzkU7" TargetMode="External"/><Relationship Id="rId12" Type="http://schemas.openxmlformats.org/officeDocument/2006/relationships/image" Target="../media/image16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ka.ms/hb-demovideo" TargetMode="External"/><Relationship Id="rId11" Type="http://schemas.openxmlformats.org/officeDocument/2006/relationships/hyperlink" Target="https://github.com/microsoft/hummingbird/network/members" TargetMode="External"/><Relationship Id="rId5" Type="http://schemas.openxmlformats.org/officeDocument/2006/relationships/hyperlink" Target="https://aka.ms/hb-paper" TargetMode="External"/><Relationship Id="rId15" Type="http://schemas.openxmlformats.org/officeDocument/2006/relationships/hyperlink" Target="https://microsoft.sharepoint.com/teams/CISLGSL/SitePages/Hummingbird.aspx" TargetMode="External"/><Relationship Id="rId10" Type="http://schemas.openxmlformats.org/officeDocument/2006/relationships/image" Target="../media/image15.png"/><Relationship Id="rId4" Type="http://schemas.openxmlformats.org/officeDocument/2006/relationships/hyperlink" Target="https://aka.ms/hb-blog" TargetMode="External"/><Relationship Id="rId9" Type="http://schemas.openxmlformats.org/officeDocument/2006/relationships/hyperlink" Target="https://github.com/microsoft/hummingbird/stargazers" TargetMode="External"/><Relationship Id="rId1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8263" y="1613011"/>
            <a:ext cx="9542326" cy="1920526"/>
          </a:xfrm>
        </p:spPr>
        <p:txBody>
          <a:bodyPr/>
          <a:lstStyle/>
          <a:p>
            <a:r>
              <a:rPr lang="en-US" dirty="0"/>
              <a:t>Compiling Traditional ML Pipelines into Tensor Computations for Unified Machine Learning Prediction Serving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582042" y="3962400"/>
            <a:ext cx="7464678" cy="609398"/>
          </a:xfrm>
        </p:spPr>
        <p:txBody>
          <a:bodyPr/>
          <a:lstStyle/>
          <a:p>
            <a:r>
              <a:rPr lang="en-US" b="1" dirty="0"/>
              <a:t>Matteo Interlandi</a:t>
            </a:r>
            <a:r>
              <a:rPr lang="en-US" dirty="0"/>
              <a:t>, Karla Saur, </a:t>
            </a:r>
            <a:r>
              <a:rPr lang="en-US" dirty="0" err="1"/>
              <a:t>Supun</a:t>
            </a:r>
            <a:r>
              <a:rPr lang="en-US" dirty="0"/>
              <a:t> </a:t>
            </a:r>
            <a:r>
              <a:rPr lang="en-US" dirty="0" err="1"/>
              <a:t>Nakandala</a:t>
            </a:r>
            <a:r>
              <a:rPr lang="en-US" dirty="0"/>
              <a:t>, </a:t>
            </a:r>
            <a:r>
              <a:rPr lang="en-US" dirty="0" err="1"/>
              <a:t>Gyeong</a:t>
            </a:r>
            <a:r>
              <a:rPr lang="en-US" dirty="0"/>
              <a:t>-In Yu</a:t>
            </a:r>
            <a:r>
              <a:rPr lang="en-US" b="0" i="0" dirty="0">
                <a:solidFill>
                  <a:srgbClr val="605E5C"/>
                </a:solidFill>
                <a:effectLst/>
                <a:latin typeface="Segoe UI" panose="020B0502040204020203" pitchFamily="34" charset="0"/>
              </a:rPr>
              <a:t>,</a:t>
            </a:r>
            <a:r>
              <a:rPr lang="en-US" dirty="0"/>
              <a:t> Markus Weimer, Konstantinos </a:t>
            </a:r>
            <a:r>
              <a:rPr lang="en-US" dirty="0" err="1"/>
              <a:t>Karanasos</a:t>
            </a:r>
            <a:r>
              <a:rPr lang="en-US" dirty="0"/>
              <a:t>, Carlo </a:t>
            </a:r>
            <a:r>
              <a:rPr lang="en-US" dirty="0" err="1"/>
              <a:t>Curino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331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1107996"/>
          </a:xfrm>
        </p:spPr>
        <p:txBody>
          <a:bodyPr>
            <a:normAutofit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496040" cy="482593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Motivate why model prediction for Traditional ML is an important problem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Briefly introduce how classical models can be compiled into tensor operations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Project status</a:t>
            </a:r>
          </a:p>
        </p:txBody>
      </p:sp>
    </p:spTree>
    <p:extLst>
      <p:ext uri="{BB962C8B-B14F-4D97-AF65-F5344CB8AC3E}">
        <p14:creationId xmlns:p14="http://schemas.microsoft.com/office/powerpoint/2010/main" val="151723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CA6BF-9B1E-45EF-A632-ED0F005E3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131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/>
              <a:t>Motivation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CE47A-2127-431C-B150-973AE7CD0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3330"/>
            <a:ext cx="11243465" cy="4351339"/>
          </a:xfrm>
        </p:spPr>
        <p:txBody>
          <a:bodyPr>
            <a:normAutofit/>
          </a:bodyPr>
          <a:lstStyle/>
          <a:p>
            <a:pPr marL="457187" lvl="1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Specialized Systems have been developed </a:t>
            </a:r>
            <a:r>
              <a:rPr lang="en-US">
                <a:solidFill>
                  <a:schemeClr val="accent1"/>
                </a:solidFill>
              </a:rPr>
              <a:t>(mostly focus on neural networks) 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Support for traditional ML methods is largely overlooked </a:t>
            </a:r>
            <a:r>
              <a:rPr lang="en-US">
                <a:solidFill>
                  <a:schemeClr val="accent1"/>
                </a:solidFill>
              </a:rPr>
              <a:t>(widely used in practice because state of the art on tabular data)</a:t>
            </a:r>
            <a:endParaRPr lang="en-US"/>
          </a:p>
        </p:txBody>
      </p:sp>
      <p:pic>
        <p:nvPicPr>
          <p:cNvPr id="2050" name="Picture 2" descr="Image result for ONNX">
            <a:hlinkClick r:id="rId2"/>
            <a:extLst>
              <a:ext uri="{FF2B5EF4-FFF2-40B4-BE49-F238E27FC236}">
                <a16:creationId xmlns:a16="http://schemas.microsoft.com/office/drawing/2014/main" id="{8E7C4BEA-939C-4B1A-A081-0DE2C68E0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088" y="2645793"/>
            <a:ext cx="2002911" cy="75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0A0E834-AFE8-41C2-BB1A-57F8AF0E57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305" y="2384537"/>
            <a:ext cx="2165072" cy="1350650"/>
          </a:xfrm>
          <a:prstGeom prst="rect">
            <a:avLst/>
          </a:prstGeom>
        </p:spPr>
      </p:pic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010E604-0E1D-47B9-84D8-8F75CD041BE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87" b="14459"/>
          <a:stretch/>
        </p:blipFill>
        <p:spPr>
          <a:xfrm>
            <a:off x="7651978" y="2757434"/>
            <a:ext cx="3376807" cy="794657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DCD85DCE-D604-4527-9442-23A12300EB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59" y="5316212"/>
            <a:ext cx="1815418" cy="977300"/>
          </a:xfrm>
          <a:prstGeom prst="rect">
            <a:avLst/>
          </a:prstGeom>
        </p:spPr>
      </p:pic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A801F0DA-B756-48EA-AF4C-6BEACC1C88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177" y="5334430"/>
            <a:ext cx="1001987" cy="1001987"/>
          </a:xfrm>
          <a:prstGeom prst="rect">
            <a:avLst/>
          </a:prstGeom>
        </p:spPr>
      </p:pic>
      <p:pic>
        <p:nvPicPr>
          <p:cNvPr id="13" name="Picture 12" descr="A drawing of a person&#10;&#10;Description automatically generated">
            <a:extLst>
              <a:ext uri="{FF2B5EF4-FFF2-40B4-BE49-F238E27FC236}">
                <a16:creationId xmlns:a16="http://schemas.microsoft.com/office/drawing/2014/main" id="{A126FCC6-6047-45FC-B77D-CB4B9D57D0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104" y="5335336"/>
            <a:ext cx="1810554" cy="79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94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E51FD19-6E77-49DC-9B98-02F1E653CB48}"/>
              </a:ext>
            </a:extLst>
          </p:cNvPr>
          <p:cNvSpPr txBox="1">
            <a:spLocks/>
          </p:cNvSpPr>
          <p:nvPr/>
        </p:nvSpPr>
        <p:spPr>
          <a:xfrm>
            <a:off x="259103" y="1672699"/>
            <a:ext cx="7425459" cy="4383106"/>
          </a:xfrm>
        </p:spPr>
        <p:txBody>
          <a:bodyPr anchor="t"/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endParaRPr lang="en-US" sz="2000">
              <a:cs typeface="Segoe UI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1AE4957-DF23-43A3-80BD-95FEA7859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noAutofit/>
          </a:bodyPr>
          <a:lstStyle/>
          <a:p>
            <a:r>
              <a:rPr lang="en-US" dirty="0">
                <a:cs typeface="Segoe UI"/>
              </a:rPr>
              <a:t>Traditional ML Models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CE83EBA-99E6-4D02-8D8D-FAF9AD7B6AC2}"/>
              </a:ext>
            </a:extLst>
          </p:cNvPr>
          <p:cNvGrpSpPr/>
          <p:nvPr/>
        </p:nvGrpSpPr>
        <p:grpSpPr>
          <a:xfrm>
            <a:off x="537882" y="1395075"/>
            <a:ext cx="3879939" cy="826215"/>
            <a:chOff x="5569095" y="8289611"/>
            <a:chExt cx="8323743" cy="166867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6754C57-6DF2-4D3A-B807-18445683C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24983" y="8452066"/>
              <a:ext cx="3596248" cy="130363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478D639-2586-4484-979A-04C208293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24168" y="8289611"/>
              <a:ext cx="1668670" cy="166867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28B692E-C8FD-48D7-914C-1C4A0A30D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69095" y="8324769"/>
              <a:ext cx="1558234" cy="1558234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27A3B93-C184-4797-97D3-CB6FC3C8F7A9}"/>
              </a:ext>
            </a:extLst>
          </p:cNvPr>
          <p:cNvSpPr txBox="1"/>
          <p:nvPr/>
        </p:nvSpPr>
        <p:spPr>
          <a:xfrm>
            <a:off x="838781" y="5791633"/>
            <a:ext cx="676710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>
                <a:latin typeface="Atlas Grotesk Web"/>
              </a:rPr>
              <a:t>2019 Kaggle Survey:</a:t>
            </a:r>
            <a:r>
              <a:rPr lang="en-US" sz="1200" dirty="0">
                <a:solidFill>
                  <a:srgbClr val="000000"/>
                </a:solidFill>
                <a:latin typeface="Atlas Grotesk Web"/>
              </a:rPr>
              <a:t> </a:t>
            </a:r>
            <a:r>
              <a:rPr lang="en-US" sz="1200" dirty="0">
                <a:solidFill>
                  <a:schemeClr val="accent1"/>
                </a:solidFill>
                <a:latin typeface="Atlas Grotesk Web"/>
              </a:rPr>
              <a:t>The State of Data Science </a:t>
            </a:r>
            <a:r>
              <a:rPr lang="en-US" sz="1200" dirty="0">
                <a:solidFill>
                  <a:schemeClr val="accent1"/>
                </a:solidFill>
                <a:latin typeface="inherit"/>
              </a:rPr>
              <a:t>&amp; Machine Learning</a:t>
            </a:r>
            <a:endParaRPr lang="en-US" sz="1200" dirty="0">
              <a:solidFill>
                <a:schemeClr val="accent1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A0539A1-2744-4523-8675-7B39211BB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1603" y="2932317"/>
            <a:ext cx="4240566" cy="2487012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55B05D88-7D9E-4217-B615-F2B1BA8323B4}"/>
              </a:ext>
            </a:extLst>
          </p:cNvPr>
          <p:cNvSpPr txBox="1"/>
          <p:nvPr/>
        </p:nvSpPr>
        <p:spPr>
          <a:xfrm>
            <a:off x="7138065" y="5780139"/>
            <a:ext cx="676710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>
                <a:latin typeface="Atlas Grotesk Web"/>
              </a:rPr>
              <a:t>Data Science throw the looking glass: </a:t>
            </a:r>
            <a:r>
              <a:rPr lang="en-US" sz="1200">
                <a:hlinkClick r:id="rId7"/>
              </a:rPr>
              <a:t>https://arxiv.org/abs/1912.09536</a:t>
            </a:r>
            <a:endParaRPr lang="en-US" sz="1200">
              <a:solidFill>
                <a:schemeClr val="accent1"/>
              </a:solidFill>
            </a:endParaRPr>
          </a:p>
        </p:txBody>
      </p:sp>
      <p:pic>
        <p:nvPicPr>
          <p:cNvPr id="1026" name="Picture 2" descr="kaggle2017">
            <a:extLst>
              <a:ext uri="{FF2B5EF4-FFF2-40B4-BE49-F238E27FC236}">
                <a16:creationId xmlns:a16="http://schemas.microsoft.com/office/drawing/2014/main" id="{D9CB92CC-FE7D-7743-A192-75421DF8E6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18"/>
          <a:stretch/>
        </p:blipFill>
        <p:spPr bwMode="auto">
          <a:xfrm>
            <a:off x="430216" y="3042705"/>
            <a:ext cx="5764260" cy="2339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61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FCEA3DF-38EF-4AAB-BDEC-70202AD94AF0}"/>
              </a:ext>
            </a:extLst>
          </p:cNvPr>
          <p:cNvSpPr txBox="1"/>
          <p:nvPr/>
        </p:nvSpPr>
        <p:spPr>
          <a:xfrm>
            <a:off x="960268" y="1583544"/>
            <a:ext cx="10271463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200" dirty="0">
                <a:solidFill>
                  <a:schemeClr val="accent1"/>
                </a:solidFill>
              </a:rPr>
              <a:t>A compiler translating traditional ML models into tensor computations for unified ML prediction serving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i="1" dirty="0"/>
          </a:p>
          <a:p>
            <a:pPr>
              <a:spcAft>
                <a:spcPts val="600"/>
              </a:spcAft>
            </a:pPr>
            <a:r>
              <a:rPr lang="en-US" sz="3200" i="1" dirty="0"/>
              <a:t>Benefits:</a:t>
            </a:r>
            <a:endParaRPr lang="en-US" sz="3200" dirty="0"/>
          </a:p>
          <a:p>
            <a:pPr marL="514350" lvl="1"/>
            <a:r>
              <a:rPr lang="en-US" sz="3200" dirty="0"/>
              <a:t>    (1) Exploit the already available DNN runtimes</a:t>
            </a:r>
          </a:p>
          <a:p>
            <a:pPr marL="514350" lvl="1"/>
            <a:r>
              <a:rPr lang="en-US" sz="3200" dirty="0"/>
              <a:t>    (2) Exploit current (and future DNN) optimizations</a:t>
            </a:r>
          </a:p>
          <a:p>
            <a:pPr marL="514350" lvl="1"/>
            <a:r>
              <a:rPr lang="en-US" sz="3200" dirty="0"/>
              <a:t>    (3) Seamless hardware acceleration </a:t>
            </a:r>
          </a:p>
          <a:p>
            <a:pPr marL="514350" lvl="1"/>
            <a:r>
              <a:rPr lang="en-US" sz="3200" dirty="0"/>
              <a:t>    (4) Significant reduction in engineering effort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4350C33-6E64-6841-8A90-9E4E25FDF8AB}"/>
              </a:ext>
            </a:extLst>
          </p:cNvPr>
          <p:cNvSpPr txBox="1">
            <a:spLocks/>
          </p:cNvSpPr>
          <p:nvPr/>
        </p:nvSpPr>
        <p:spPr>
          <a:xfrm>
            <a:off x="716131" y="446318"/>
            <a:ext cx="10515600" cy="69131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900" dirty="0"/>
              <a:t>Hummingbird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309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E51FD19-6E77-49DC-9B98-02F1E653CB48}"/>
              </a:ext>
            </a:extLst>
          </p:cNvPr>
          <p:cNvSpPr txBox="1">
            <a:spLocks/>
          </p:cNvSpPr>
          <p:nvPr/>
        </p:nvSpPr>
        <p:spPr>
          <a:xfrm>
            <a:off x="1009654" y="2281738"/>
            <a:ext cx="10597129" cy="4383106"/>
          </a:xfrm>
        </p:spPr>
        <p:txBody>
          <a:bodyPr anchor="t"/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cs typeface="Segoe UI"/>
              </a:rPr>
              <a:t>Traditional ML models are composed by: </a:t>
            </a:r>
            <a:r>
              <a:rPr lang="en-US" sz="2400" b="1" dirty="0" err="1">
                <a:cs typeface="Segoe UI"/>
              </a:rPr>
              <a:t>featurizers</a:t>
            </a:r>
            <a:r>
              <a:rPr lang="en-US" sz="2400" b="1" dirty="0">
                <a:cs typeface="Segoe UI"/>
              </a:rPr>
              <a:t> </a:t>
            </a:r>
            <a:r>
              <a:rPr lang="en-US" sz="2400" dirty="0">
                <a:cs typeface="Segoe UI"/>
              </a:rPr>
              <a:t>and </a:t>
            </a:r>
            <a:r>
              <a:rPr lang="en-US" sz="2400" b="1" dirty="0">
                <a:cs typeface="Segoe UI"/>
              </a:rPr>
              <a:t>ML models</a:t>
            </a:r>
            <a:endParaRPr lang="en-US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u="sng" dirty="0"/>
              <a:t>Each </a:t>
            </a:r>
            <a:r>
              <a:rPr lang="en-US" sz="2400" u="sng" dirty="0" err="1"/>
              <a:t>featurizer</a:t>
            </a:r>
            <a:r>
              <a:rPr lang="en-US" sz="2400" dirty="0"/>
              <a:t> is defined by an </a:t>
            </a:r>
            <a:r>
              <a:rPr lang="en-US" sz="2400" b="1" dirty="0"/>
              <a:t>algorithm</a:t>
            </a:r>
          </a:p>
          <a:p>
            <a:pPr marL="914383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e.g., compute the one-hot encoded version of the input feature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u="sng" dirty="0"/>
              <a:t>Each trained model</a:t>
            </a:r>
            <a:r>
              <a:rPr lang="en-US" sz="2400" dirty="0"/>
              <a:t> is defined by a </a:t>
            </a:r>
            <a:r>
              <a:rPr lang="en-US" sz="2400" b="1" dirty="0"/>
              <a:t>prediction</a:t>
            </a:r>
            <a:r>
              <a:rPr lang="en-US" sz="2400" dirty="0"/>
              <a:t> function</a:t>
            </a:r>
            <a:endParaRPr lang="en-US" sz="2400" dirty="0">
              <a:cs typeface="Segoe UI"/>
            </a:endParaRPr>
          </a:p>
          <a:p>
            <a:pPr marL="914383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Prediction functions can be either </a:t>
            </a:r>
            <a:r>
              <a:rPr lang="en-US" sz="2400" b="1" dirty="0"/>
              <a:t>algebraic</a:t>
            </a:r>
            <a:r>
              <a:rPr lang="en-US" sz="2400" dirty="0"/>
              <a:t> (e.g., linear regression) or </a:t>
            </a:r>
            <a:r>
              <a:rPr lang="en-US" sz="2400" b="1" dirty="0"/>
              <a:t>algorithmic</a:t>
            </a:r>
            <a:r>
              <a:rPr lang="en-US" sz="2400" dirty="0"/>
              <a:t> (e.g., decision tree models)</a:t>
            </a:r>
          </a:p>
          <a:p>
            <a:pPr marL="914383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Algebraic models are easy to translate: just implement the same formula in tensor algebra!</a:t>
            </a:r>
          </a:p>
          <a:p>
            <a:pPr marL="914383" lvl="1" indent="-4572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1AE4957-DF23-43A3-80BD-95FEA7859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noAutofit/>
          </a:bodyPr>
          <a:lstStyle/>
          <a:p>
            <a:r>
              <a:rPr lang="en-US" dirty="0">
                <a:cs typeface="Segoe UI"/>
              </a:rPr>
              <a:t>Traditional ML Operators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CD82D7AF-FF8F-F745-9ABB-968D4CDBD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399" y="1100533"/>
            <a:ext cx="1815418" cy="977300"/>
          </a:xfrm>
          <a:prstGeom prst="rect">
            <a:avLst/>
          </a:prstGeom>
        </p:spPr>
      </p:pic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9A95F39B-8A0E-C447-9D08-1CFA94DFEA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517" y="1130494"/>
            <a:ext cx="1001987" cy="100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04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EF17F-3320-44B9-8E84-9F0C76BA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Translating Trees</a:t>
            </a:r>
          </a:p>
        </p:txBody>
      </p:sp>
      <p:grpSp>
        <p:nvGrpSpPr>
          <p:cNvPr id="106" name="Group 105"/>
          <p:cNvGrpSpPr/>
          <p:nvPr/>
        </p:nvGrpSpPr>
        <p:grpSpPr>
          <a:xfrm>
            <a:off x="674914" y="2006824"/>
            <a:ext cx="4695919" cy="3610466"/>
            <a:chOff x="674914" y="2006824"/>
            <a:chExt cx="4695919" cy="3610466"/>
          </a:xfrm>
        </p:grpSpPr>
        <p:grpSp>
          <p:nvGrpSpPr>
            <p:cNvPr id="107" name="Group 106"/>
            <p:cNvGrpSpPr/>
            <p:nvPr/>
          </p:nvGrpSpPr>
          <p:grpSpPr>
            <a:xfrm>
              <a:off x="921404" y="2006824"/>
              <a:ext cx="4200213" cy="3610466"/>
              <a:chOff x="1116788" y="1999008"/>
              <a:chExt cx="4200213" cy="361046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Oval 116"/>
                  <p:cNvSpPr/>
                  <p:nvPr/>
                </p:nvSpPr>
                <p:spPr>
                  <a:xfrm>
                    <a:off x="2539999" y="2636073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&gt;5.1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17" name="Oval 11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9999" y="2636073"/>
                    <a:ext cx="1524001" cy="533065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8" name="Straight Arrow Connector 117"/>
              <p:cNvCxnSpPr>
                <a:stCxn id="119" idx="2"/>
                <a:endCxn id="117" idx="0"/>
              </p:cNvCxnSpPr>
              <p:nvPr/>
            </p:nvCxnSpPr>
            <p:spPr>
              <a:xfrm>
                <a:off x="3302000" y="2368340"/>
                <a:ext cx="0" cy="2677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TextBox 118"/>
                  <p:cNvSpPr txBox="1"/>
                  <p:nvPr/>
                </p:nvSpPr>
                <p:spPr>
                  <a:xfrm>
                    <a:off x="2811000" y="1999008"/>
                    <a:ext cx="982000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oMath>
                      </m:oMathPara>
                    </a14:m>
                    <a:endParaRPr lang="en-US" sz="2400"/>
                  </a:p>
                </p:txBody>
              </p:sp>
            </mc:Choice>
            <mc:Fallback xmlns="">
              <p:sp>
                <p:nvSpPr>
                  <p:cNvPr id="119" name="TextBox 1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11000" y="1999008"/>
                    <a:ext cx="98200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348" r="-1863"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0" name="Straight Arrow Connector 119"/>
              <p:cNvCxnSpPr>
                <a:stCxn id="117" idx="4"/>
                <a:endCxn id="126" idx="7"/>
              </p:cNvCxnSpPr>
              <p:nvPr/>
            </p:nvCxnSpPr>
            <p:spPr>
              <a:xfrm flipH="1">
                <a:off x="2557722" y="3169138"/>
                <a:ext cx="744278" cy="2711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/>
              <p:cNvCxnSpPr>
                <a:stCxn id="117" idx="4"/>
                <a:endCxn id="127" idx="1"/>
              </p:cNvCxnSpPr>
              <p:nvPr/>
            </p:nvCxnSpPr>
            <p:spPr>
              <a:xfrm>
                <a:off x="3302000" y="3169138"/>
                <a:ext cx="714185" cy="2711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2" name="TextBox 121"/>
              <p:cNvSpPr txBox="1"/>
              <p:nvPr/>
            </p:nvSpPr>
            <p:spPr>
              <a:xfrm>
                <a:off x="2641104" y="3048553"/>
                <a:ext cx="3097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/>
                  <a:t>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Oval 122"/>
                  <p:cNvSpPr/>
                  <p:nvPr/>
                </p:nvSpPr>
                <p:spPr>
                  <a:xfrm>
                    <a:off x="2048999" y="4243574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&gt;2.4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23" name="Oval 12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8999" y="4243574"/>
                    <a:ext cx="1524001" cy="533065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4" name="Straight Arrow Connector 123"/>
              <p:cNvCxnSpPr>
                <a:stCxn id="126" idx="4"/>
                <a:endCxn id="123" idx="1"/>
              </p:cNvCxnSpPr>
              <p:nvPr/>
            </p:nvCxnSpPr>
            <p:spPr>
              <a:xfrm>
                <a:off x="2018907" y="3895322"/>
                <a:ext cx="253277" cy="4263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5" name="Oval 124"/>
              <p:cNvSpPr/>
              <p:nvPr/>
            </p:nvSpPr>
            <p:spPr>
              <a:xfrm>
                <a:off x="1116788" y="4243574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10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Oval 125"/>
                  <p:cNvSpPr/>
                  <p:nvPr/>
                </p:nvSpPr>
                <p:spPr>
                  <a:xfrm>
                    <a:off x="1256906" y="3362257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&gt;1.8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26" name="Oval 12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6906" y="3362257"/>
                    <a:ext cx="1524001" cy="533065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Oval 126"/>
                  <p:cNvSpPr/>
                  <p:nvPr/>
                </p:nvSpPr>
                <p:spPr>
                  <a:xfrm>
                    <a:off x="3793000" y="3362257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&gt;0.4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27" name="Oval 12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93000" y="3362257"/>
                    <a:ext cx="1524001" cy="533065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8" name="Straight Arrow Connector 127"/>
              <p:cNvCxnSpPr>
                <a:stCxn id="126" idx="4"/>
                <a:endCxn id="125" idx="7"/>
              </p:cNvCxnSpPr>
              <p:nvPr/>
            </p:nvCxnSpPr>
            <p:spPr>
              <a:xfrm flipH="1">
                <a:off x="1742368" y="3895322"/>
                <a:ext cx="276539" cy="4263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9" name="Oval 128"/>
              <p:cNvSpPr/>
              <p:nvPr/>
            </p:nvSpPr>
            <p:spPr>
              <a:xfrm>
                <a:off x="2048999" y="5076490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20</a:t>
                </a:r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2840087" y="5076490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30</a:t>
                </a:r>
              </a:p>
            </p:txBody>
          </p:sp>
          <p:cxnSp>
            <p:nvCxnSpPr>
              <p:cNvPr id="131" name="Straight Arrow Connector 130"/>
              <p:cNvCxnSpPr>
                <a:stCxn id="123" idx="4"/>
                <a:endCxn id="129" idx="0"/>
              </p:cNvCxnSpPr>
              <p:nvPr/>
            </p:nvCxnSpPr>
            <p:spPr>
              <a:xfrm flipH="1">
                <a:off x="2415456" y="4776639"/>
                <a:ext cx="395544" cy="2998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Straight Arrow Connector 131"/>
              <p:cNvCxnSpPr>
                <a:stCxn id="123" idx="4"/>
                <a:endCxn id="130" idx="0"/>
              </p:cNvCxnSpPr>
              <p:nvPr/>
            </p:nvCxnSpPr>
            <p:spPr>
              <a:xfrm>
                <a:off x="2811000" y="4776639"/>
                <a:ext cx="395544" cy="2998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Oval 132"/>
              <p:cNvSpPr/>
              <p:nvPr/>
            </p:nvSpPr>
            <p:spPr>
              <a:xfrm>
                <a:off x="4584088" y="4243574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50</a:t>
                </a:r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3791610" y="4243574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40</a:t>
                </a:r>
              </a:p>
            </p:txBody>
          </p:sp>
          <p:cxnSp>
            <p:nvCxnSpPr>
              <p:cNvPr id="135" name="Straight Arrow Connector 134"/>
              <p:cNvCxnSpPr>
                <a:stCxn id="127" idx="4"/>
                <a:endCxn id="133" idx="0"/>
              </p:cNvCxnSpPr>
              <p:nvPr/>
            </p:nvCxnSpPr>
            <p:spPr>
              <a:xfrm>
                <a:off x="4555001" y="3895322"/>
                <a:ext cx="395544" cy="3482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/>
              <p:cNvCxnSpPr>
                <a:stCxn id="127" idx="4"/>
                <a:endCxn id="134" idx="0"/>
              </p:cNvCxnSpPr>
              <p:nvPr/>
            </p:nvCxnSpPr>
            <p:spPr>
              <a:xfrm flipH="1">
                <a:off x="4158067" y="3895322"/>
                <a:ext cx="396934" cy="3482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TextBox 136"/>
              <p:cNvSpPr txBox="1"/>
              <p:nvPr/>
            </p:nvSpPr>
            <p:spPr>
              <a:xfrm>
                <a:off x="3703748" y="3048553"/>
                <a:ext cx="3097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/>
                  <a:t>F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/>
                <p:cNvSpPr txBox="1"/>
                <p:nvPr/>
              </p:nvSpPr>
              <p:spPr>
                <a:xfrm>
                  <a:off x="2020221" y="2693090"/>
                  <a:ext cx="31887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08" name="TextBox 10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0221" y="2693090"/>
                  <a:ext cx="318870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9434" r="-5660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/>
                <p:cNvSpPr txBox="1"/>
                <p:nvPr/>
              </p:nvSpPr>
              <p:spPr>
                <a:xfrm>
                  <a:off x="736689" y="3462034"/>
                  <a:ext cx="32483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09" name="TextBox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689" y="3462034"/>
                  <a:ext cx="324833" cy="307777"/>
                </a:xfrm>
                <a:prstGeom prst="rect">
                  <a:avLst/>
                </a:prstGeom>
                <a:blipFill>
                  <a:blip r:embed="rId8"/>
                  <a:stretch>
                    <a:fillRect l="-11321" r="-7547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/>
                <p:cNvSpPr txBox="1"/>
                <p:nvPr/>
              </p:nvSpPr>
              <p:spPr>
                <a:xfrm>
                  <a:off x="3307759" y="3455719"/>
                  <a:ext cx="32483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0" name="Text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7759" y="3455719"/>
                  <a:ext cx="324833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11321" r="-7547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/>
                <p:cNvSpPr txBox="1"/>
                <p:nvPr/>
              </p:nvSpPr>
              <p:spPr>
                <a:xfrm>
                  <a:off x="2499450" y="3923375"/>
                  <a:ext cx="32483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1" name="Text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9450" y="3923375"/>
                  <a:ext cx="324833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9434" r="-9434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/>
                <p:cNvSpPr txBox="1"/>
                <p:nvPr/>
              </p:nvSpPr>
              <p:spPr>
                <a:xfrm>
                  <a:off x="674914" y="4355580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2" name="TextBox 1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914" y="4355580"/>
                  <a:ext cx="259109" cy="307777"/>
                </a:xfrm>
                <a:prstGeom prst="rect">
                  <a:avLst/>
                </a:prstGeom>
                <a:blipFill>
                  <a:blip r:embed="rId11"/>
                  <a:stretch>
                    <a:fillRect l="-23810" r="-7143" b="-137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/>
                <p:cNvSpPr txBox="1"/>
                <p:nvPr/>
              </p:nvSpPr>
              <p:spPr>
                <a:xfrm>
                  <a:off x="1629553" y="5196909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3" name="TextBox 1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9553" y="5196909"/>
                  <a:ext cx="259109" cy="307777"/>
                </a:xfrm>
                <a:prstGeom prst="rect">
                  <a:avLst/>
                </a:prstGeom>
                <a:blipFill>
                  <a:blip r:embed="rId12"/>
                  <a:stretch>
                    <a:fillRect l="-23256" r="-9302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/>
                <p:cNvSpPr txBox="1"/>
                <p:nvPr/>
              </p:nvSpPr>
              <p:spPr>
                <a:xfrm>
                  <a:off x="3365384" y="5196909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4" name="TextBox 1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5384" y="5196909"/>
                  <a:ext cx="259109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23256" r="-9302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/>
                <p:cNvSpPr txBox="1"/>
                <p:nvPr/>
              </p:nvSpPr>
              <p:spPr>
                <a:xfrm>
                  <a:off x="3365385" y="4355579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5" name="TextBox 1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5385" y="4355579"/>
                  <a:ext cx="259109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23256" r="-6977" b="-137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/>
                <p:cNvSpPr txBox="1"/>
                <p:nvPr/>
              </p:nvSpPr>
              <p:spPr>
                <a:xfrm>
                  <a:off x="5111724" y="4354654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6" name="TextBox 1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1724" y="4354654"/>
                  <a:ext cx="259109" cy="307777"/>
                </a:xfrm>
                <a:prstGeom prst="rect">
                  <a:avLst/>
                </a:prstGeom>
                <a:blipFill>
                  <a:blip r:embed="rId15"/>
                  <a:stretch>
                    <a:fillRect l="-23810" r="-9524" b="-156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/>
              <p:cNvSpPr txBox="1"/>
              <p:nvPr/>
            </p:nvSpPr>
            <p:spPr>
              <a:xfrm>
                <a:off x="5310910" y="2006824"/>
                <a:ext cx="23183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400"/>
                  <a:t>Internal node: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2400"/>
              </a:p>
              <a:p>
                <a:pPr algn="r"/>
                <a:r>
                  <a:rPr lang="en-US" sz="2400"/>
                  <a:t>Leaf node: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138" name="TextBox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910" y="2006824"/>
                <a:ext cx="2318392" cy="830997"/>
              </a:xfrm>
              <a:prstGeom prst="rect">
                <a:avLst/>
              </a:prstGeom>
              <a:blipFill>
                <a:blip r:embed="rId16"/>
                <a:stretch>
                  <a:fillRect l="-2887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3543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EF17F-3320-44B9-8E84-9F0C76BA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Translating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5963814" y="1601684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4" y="1601684"/>
                <a:ext cx="613509" cy="53306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5963814" y="2279465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4" y="2279465"/>
                <a:ext cx="613509" cy="53306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/>
              <p:cNvSpPr/>
              <p:nvPr/>
            </p:nvSpPr>
            <p:spPr>
              <a:xfrm>
                <a:off x="5963814" y="2954599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8" name="Oval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4" y="2954599"/>
                <a:ext cx="613509" cy="53306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/>
              <p:cNvSpPr/>
              <p:nvPr/>
            </p:nvSpPr>
            <p:spPr>
              <a:xfrm>
                <a:off x="5963813" y="3635914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9" name="Oval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3" y="3635914"/>
                <a:ext cx="613509" cy="53306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/>
              <p:cNvSpPr/>
              <p:nvPr/>
            </p:nvSpPr>
            <p:spPr>
              <a:xfrm>
                <a:off x="5968074" y="4311048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074" y="4311048"/>
                <a:ext cx="613509" cy="53306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/>
              <p:cNvSpPr/>
              <p:nvPr/>
            </p:nvSpPr>
            <p:spPr>
              <a:xfrm>
                <a:off x="5963813" y="4986182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1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3" y="4986182"/>
                <a:ext cx="613509" cy="53306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7674820" y="2146748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20" y="2146748"/>
                <a:ext cx="613509" cy="533065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>
            <a:stCxn id="28" idx="6"/>
            <a:endCxn id="34" idx="2"/>
          </p:cNvCxnSpPr>
          <p:nvPr/>
        </p:nvCxnSpPr>
        <p:spPr>
          <a:xfrm flipV="1">
            <a:off x="6577323" y="2413281"/>
            <a:ext cx="1097497" cy="807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8" idx="6"/>
            <a:endCxn id="88" idx="2"/>
          </p:cNvCxnSpPr>
          <p:nvPr/>
        </p:nvCxnSpPr>
        <p:spPr>
          <a:xfrm>
            <a:off x="6577323" y="3221132"/>
            <a:ext cx="1094735" cy="777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0" idx="6"/>
            <a:endCxn id="89" idx="2"/>
          </p:cNvCxnSpPr>
          <p:nvPr/>
        </p:nvCxnSpPr>
        <p:spPr>
          <a:xfrm>
            <a:off x="6581583" y="4577581"/>
            <a:ext cx="1086214" cy="228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6" idx="6"/>
            <a:endCxn id="83" idx="2"/>
          </p:cNvCxnSpPr>
          <p:nvPr/>
        </p:nvCxnSpPr>
        <p:spPr>
          <a:xfrm>
            <a:off x="6577323" y="1868217"/>
            <a:ext cx="1097497" cy="1317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val 50"/>
              <p:cNvSpPr/>
              <p:nvPr/>
            </p:nvSpPr>
            <p:spPr>
              <a:xfrm>
                <a:off x="5963813" y="5661316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1" name="Oval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3" y="5661316"/>
                <a:ext cx="613509" cy="533065"/>
              </a:xfrm>
              <a:prstGeom prst="ellipse">
                <a:avLst/>
              </a:prstGeom>
              <a:blipFill>
                <a:blip r:embed="rId9"/>
                <a:stretch>
                  <a:fillRect r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/>
          <p:cNvCxnSpPr>
            <a:stCxn id="51" idx="6"/>
            <a:endCxn id="34" idx="2"/>
          </p:cNvCxnSpPr>
          <p:nvPr/>
        </p:nvCxnSpPr>
        <p:spPr>
          <a:xfrm flipV="1">
            <a:off x="6577322" y="2413281"/>
            <a:ext cx="1097498" cy="3514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6"/>
            <a:endCxn id="83" idx="2"/>
          </p:cNvCxnSpPr>
          <p:nvPr/>
        </p:nvCxnSpPr>
        <p:spPr>
          <a:xfrm flipV="1">
            <a:off x="6577322" y="3185431"/>
            <a:ext cx="1097498" cy="274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51" idx="6"/>
            <a:endCxn id="88" idx="2"/>
          </p:cNvCxnSpPr>
          <p:nvPr/>
        </p:nvCxnSpPr>
        <p:spPr>
          <a:xfrm flipV="1">
            <a:off x="6577322" y="3998576"/>
            <a:ext cx="1094736" cy="1929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1" idx="6"/>
            <a:endCxn id="89" idx="2"/>
          </p:cNvCxnSpPr>
          <p:nvPr/>
        </p:nvCxnSpPr>
        <p:spPr>
          <a:xfrm flipV="1">
            <a:off x="6577322" y="4806015"/>
            <a:ext cx="1090475" cy="1121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577322" y="5654716"/>
                <a:ext cx="1280351" cy="1014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−5.1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−1.8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−2.4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−0.4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322" y="5654716"/>
                <a:ext cx="1280351" cy="1014573"/>
              </a:xfrm>
              <a:prstGeom prst="rect">
                <a:avLst/>
              </a:prstGeom>
              <a:blipFill>
                <a:blip r:embed="rId10"/>
                <a:stretch>
                  <a:fillRect b="-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836569" y="2034919"/>
                <a:ext cx="354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569" y="2034919"/>
                <a:ext cx="354263" cy="276999"/>
              </a:xfrm>
              <a:prstGeom prst="rect">
                <a:avLst/>
              </a:prstGeom>
              <a:blipFill>
                <a:blip r:embed="rId11"/>
                <a:stretch>
                  <a:fillRect l="-11864" r="-1525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6738817" y="2667328"/>
                <a:ext cx="354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817" y="2667328"/>
                <a:ext cx="354263" cy="276999"/>
              </a:xfrm>
              <a:prstGeom prst="rect">
                <a:avLst/>
              </a:prstGeom>
              <a:blipFill>
                <a:blip r:embed="rId12"/>
                <a:stretch>
                  <a:fillRect l="-11864" r="-1525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672778" y="3448236"/>
                <a:ext cx="354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778" y="3448236"/>
                <a:ext cx="354263" cy="276999"/>
              </a:xfrm>
              <a:prstGeom prst="rect">
                <a:avLst/>
              </a:prstGeom>
              <a:blipFill>
                <a:blip r:embed="rId11"/>
                <a:stretch>
                  <a:fillRect l="-13793" r="-1551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6599178" y="4379532"/>
                <a:ext cx="354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178" y="4379532"/>
                <a:ext cx="354263" cy="276999"/>
              </a:xfrm>
              <a:prstGeom prst="rect">
                <a:avLst/>
              </a:prstGeom>
              <a:blipFill>
                <a:blip r:embed="rId13"/>
                <a:stretch>
                  <a:fillRect l="-13793" r="-1551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Oval 82"/>
              <p:cNvSpPr/>
              <p:nvPr/>
            </p:nvSpPr>
            <p:spPr>
              <a:xfrm>
                <a:off x="7674820" y="2918898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3" name="Oval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20" y="2918898"/>
                <a:ext cx="613509" cy="533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Oval 87"/>
              <p:cNvSpPr/>
              <p:nvPr/>
            </p:nvSpPr>
            <p:spPr>
              <a:xfrm>
                <a:off x="7672058" y="3732043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8" name="Oval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058" y="3732043"/>
                <a:ext cx="613509" cy="533065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Oval 88"/>
              <p:cNvSpPr/>
              <p:nvPr/>
            </p:nvSpPr>
            <p:spPr>
              <a:xfrm>
                <a:off x="7667797" y="4539482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9" name="Oval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7797" y="4539482"/>
                <a:ext cx="613509" cy="533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Oval 97"/>
              <p:cNvSpPr/>
              <p:nvPr/>
            </p:nvSpPr>
            <p:spPr>
              <a:xfrm>
                <a:off x="9223220" y="1746400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8" name="Oval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3220" y="1746400"/>
                <a:ext cx="613509" cy="533065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Oval 99"/>
              <p:cNvSpPr/>
              <p:nvPr/>
            </p:nvSpPr>
            <p:spPr>
              <a:xfrm>
                <a:off x="9223220" y="2556692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0" name="Oval 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3220" y="2556692"/>
                <a:ext cx="613509" cy="533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Oval 100"/>
              <p:cNvSpPr/>
              <p:nvPr/>
            </p:nvSpPr>
            <p:spPr>
              <a:xfrm>
                <a:off x="9220458" y="3369837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1" name="Oval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458" y="3369837"/>
                <a:ext cx="613509" cy="533065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Oval 102"/>
              <p:cNvSpPr/>
              <p:nvPr/>
            </p:nvSpPr>
            <p:spPr>
              <a:xfrm>
                <a:off x="9216197" y="4177276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3" name="Oval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197" y="4177276"/>
                <a:ext cx="613509" cy="533065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Oval 103"/>
              <p:cNvSpPr/>
              <p:nvPr/>
            </p:nvSpPr>
            <p:spPr>
              <a:xfrm>
                <a:off x="9223220" y="4984715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4" name="Oval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3220" y="4984715"/>
                <a:ext cx="613509" cy="533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Arrow Connector 105"/>
          <p:cNvCxnSpPr>
            <a:stCxn id="34" idx="6"/>
            <a:endCxn id="98" idx="2"/>
          </p:cNvCxnSpPr>
          <p:nvPr/>
        </p:nvCxnSpPr>
        <p:spPr>
          <a:xfrm flipV="1">
            <a:off x="8288329" y="2012933"/>
            <a:ext cx="934891" cy="400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34" idx="6"/>
            <a:endCxn id="100" idx="2"/>
          </p:cNvCxnSpPr>
          <p:nvPr/>
        </p:nvCxnSpPr>
        <p:spPr>
          <a:xfrm>
            <a:off x="8288329" y="2413281"/>
            <a:ext cx="934891" cy="409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34" idx="6"/>
            <a:endCxn id="101" idx="2"/>
          </p:cNvCxnSpPr>
          <p:nvPr/>
        </p:nvCxnSpPr>
        <p:spPr>
          <a:xfrm>
            <a:off x="8288329" y="2413281"/>
            <a:ext cx="932129" cy="1223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34" idx="6"/>
            <a:endCxn id="103" idx="2"/>
          </p:cNvCxnSpPr>
          <p:nvPr/>
        </p:nvCxnSpPr>
        <p:spPr>
          <a:xfrm>
            <a:off x="8288329" y="2413281"/>
            <a:ext cx="927868" cy="2030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stCxn id="34" idx="6"/>
            <a:endCxn id="104" idx="2"/>
          </p:cNvCxnSpPr>
          <p:nvPr/>
        </p:nvCxnSpPr>
        <p:spPr>
          <a:xfrm>
            <a:off x="8288329" y="2413281"/>
            <a:ext cx="934891" cy="2837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83" idx="6"/>
            <a:endCxn id="98" idx="2"/>
          </p:cNvCxnSpPr>
          <p:nvPr/>
        </p:nvCxnSpPr>
        <p:spPr>
          <a:xfrm flipV="1">
            <a:off x="8288329" y="2012933"/>
            <a:ext cx="934891" cy="1172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>
            <a:stCxn id="83" idx="6"/>
            <a:endCxn id="100" idx="2"/>
          </p:cNvCxnSpPr>
          <p:nvPr/>
        </p:nvCxnSpPr>
        <p:spPr>
          <a:xfrm flipV="1">
            <a:off x="8288329" y="2823225"/>
            <a:ext cx="934891" cy="36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stCxn id="83" idx="6"/>
            <a:endCxn id="101" idx="2"/>
          </p:cNvCxnSpPr>
          <p:nvPr/>
        </p:nvCxnSpPr>
        <p:spPr>
          <a:xfrm>
            <a:off x="8288329" y="3185431"/>
            <a:ext cx="932129" cy="450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88" idx="6"/>
            <a:endCxn id="100" idx="2"/>
          </p:cNvCxnSpPr>
          <p:nvPr/>
        </p:nvCxnSpPr>
        <p:spPr>
          <a:xfrm flipV="1">
            <a:off x="8285567" y="2823225"/>
            <a:ext cx="937653" cy="1175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>
            <a:stCxn id="88" idx="6"/>
            <a:endCxn id="101" idx="2"/>
          </p:cNvCxnSpPr>
          <p:nvPr/>
        </p:nvCxnSpPr>
        <p:spPr>
          <a:xfrm flipV="1">
            <a:off x="8285567" y="3636370"/>
            <a:ext cx="934891" cy="36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89" idx="6"/>
            <a:endCxn id="103" idx="2"/>
          </p:cNvCxnSpPr>
          <p:nvPr/>
        </p:nvCxnSpPr>
        <p:spPr>
          <a:xfrm flipV="1">
            <a:off x="8281306" y="4443809"/>
            <a:ext cx="934891" cy="36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>
            <a:stCxn id="89" idx="6"/>
            <a:endCxn id="104" idx="2"/>
          </p:cNvCxnSpPr>
          <p:nvPr/>
        </p:nvCxnSpPr>
        <p:spPr>
          <a:xfrm>
            <a:off x="8281306" y="4806015"/>
            <a:ext cx="941914" cy="445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Oval 139"/>
          <p:cNvSpPr/>
          <p:nvPr/>
        </p:nvSpPr>
        <p:spPr>
          <a:xfrm>
            <a:off x="10627473" y="3360697"/>
            <a:ext cx="613509" cy="533065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08000" tIns="0" rIns="0" bIns="36000" rtlCol="0" anchor="ctr"/>
          <a:lstStyle/>
          <a:p>
            <a:pPr algn="ctr"/>
            <a:endParaRPr lang="en-US"/>
          </a:p>
        </p:txBody>
      </p:sp>
      <p:cxnSp>
        <p:nvCxnSpPr>
          <p:cNvPr id="141" name="Straight Arrow Connector 140"/>
          <p:cNvCxnSpPr>
            <a:stCxn id="98" idx="6"/>
            <a:endCxn id="140" idx="2"/>
          </p:cNvCxnSpPr>
          <p:nvPr/>
        </p:nvCxnSpPr>
        <p:spPr>
          <a:xfrm>
            <a:off x="9836729" y="2012933"/>
            <a:ext cx="790744" cy="1614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00" idx="6"/>
            <a:endCxn id="140" idx="2"/>
          </p:cNvCxnSpPr>
          <p:nvPr/>
        </p:nvCxnSpPr>
        <p:spPr>
          <a:xfrm>
            <a:off x="9836729" y="2823225"/>
            <a:ext cx="790744" cy="804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>
            <a:stCxn id="101" idx="6"/>
            <a:endCxn id="140" idx="2"/>
          </p:cNvCxnSpPr>
          <p:nvPr/>
        </p:nvCxnSpPr>
        <p:spPr>
          <a:xfrm flipV="1">
            <a:off x="9833967" y="3627230"/>
            <a:ext cx="793506" cy="9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>
            <a:stCxn id="103" idx="6"/>
            <a:endCxn id="140" idx="2"/>
          </p:cNvCxnSpPr>
          <p:nvPr/>
        </p:nvCxnSpPr>
        <p:spPr>
          <a:xfrm flipV="1">
            <a:off x="9829706" y="3627230"/>
            <a:ext cx="797767" cy="81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>
            <a:stCxn id="104" idx="6"/>
            <a:endCxn id="140" idx="2"/>
          </p:cNvCxnSpPr>
          <p:nvPr/>
        </p:nvCxnSpPr>
        <p:spPr>
          <a:xfrm flipV="1">
            <a:off x="9836729" y="3627230"/>
            <a:ext cx="790744" cy="1624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/>
              <p:cNvSpPr txBox="1"/>
              <p:nvPr/>
            </p:nvSpPr>
            <p:spPr>
              <a:xfrm>
                <a:off x="9522951" y="5251247"/>
                <a:ext cx="1153201" cy="1034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6" name="TextBox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2951" y="5251247"/>
                <a:ext cx="1153201" cy="103464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/>
              <p:cNvSpPr txBox="1"/>
              <p:nvPr/>
            </p:nvSpPr>
            <p:spPr>
              <a:xfrm>
                <a:off x="9375471" y="1218245"/>
                <a:ext cx="18655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5471" y="1218245"/>
                <a:ext cx="1865511" cy="461665"/>
              </a:xfrm>
              <a:prstGeom prst="rect">
                <a:avLst/>
              </a:prstGeom>
              <a:blipFill>
                <a:blip r:embed="rId23"/>
                <a:stretch>
                  <a:fillRect r="-65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ight Arrow 92"/>
          <p:cNvSpPr/>
          <p:nvPr/>
        </p:nvSpPr>
        <p:spPr>
          <a:xfrm>
            <a:off x="5258341" y="3312546"/>
            <a:ext cx="600364" cy="1185228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4C07E57-9EA9-469F-A101-3C57C51F5CD2}"/>
              </a:ext>
            </a:extLst>
          </p:cNvPr>
          <p:cNvGrpSpPr/>
          <p:nvPr/>
        </p:nvGrpSpPr>
        <p:grpSpPr>
          <a:xfrm>
            <a:off x="674914" y="2006824"/>
            <a:ext cx="4695919" cy="3610466"/>
            <a:chOff x="674914" y="2006824"/>
            <a:chExt cx="4695919" cy="3610466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0082FECA-F486-4A22-9DA8-3A0DF0F47DAE}"/>
                </a:ext>
              </a:extLst>
            </p:cNvPr>
            <p:cNvGrpSpPr/>
            <p:nvPr/>
          </p:nvGrpSpPr>
          <p:grpSpPr>
            <a:xfrm>
              <a:off x="921404" y="2006824"/>
              <a:ext cx="4200213" cy="3610466"/>
              <a:chOff x="1116788" y="1999008"/>
              <a:chExt cx="4200213" cy="361046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Oval 122">
                    <a:extLst>
                      <a:ext uri="{FF2B5EF4-FFF2-40B4-BE49-F238E27FC236}">
                        <a16:creationId xmlns:a16="http://schemas.microsoft.com/office/drawing/2014/main" id="{884B8F99-A49E-4706-8195-7BD146851381}"/>
                      </a:ext>
                    </a:extLst>
                  </p:cNvPr>
                  <p:cNvSpPr/>
                  <p:nvPr/>
                </p:nvSpPr>
                <p:spPr>
                  <a:xfrm>
                    <a:off x="2539999" y="2636073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&gt;5.1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23" name="Oval 122">
                    <a:extLst>
                      <a:ext uri="{FF2B5EF4-FFF2-40B4-BE49-F238E27FC236}">
                        <a16:creationId xmlns:a16="http://schemas.microsoft.com/office/drawing/2014/main" id="{884B8F99-A49E-4706-8195-7BD14685138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9999" y="2636073"/>
                    <a:ext cx="1524001" cy="533065"/>
                  </a:xfrm>
                  <a:prstGeom prst="ellipse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D121F860-2B58-4A48-974B-AA612807F74E}"/>
                  </a:ext>
                </a:extLst>
              </p:cNvPr>
              <p:cNvCxnSpPr>
                <a:stCxn id="126" idx="2"/>
                <a:endCxn id="123" idx="0"/>
              </p:cNvCxnSpPr>
              <p:nvPr/>
            </p:nvCxnSpPr>
            <p:spPr>
              <a:xfrm>
                <a:off x="3302000" y="2368340"/>
                <a:ext cx="0" cy="2677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ABC61972-3E55-4E0B-BB32-CBE0D5FF096B}"/>
                      </a:ext>
                    </a:extLst>
                  </p:cNvPr>
                  <p:cNvSpPr txBox="1"/>
                  <p:nvPr/>
                </p:nvSpPr>
                <p:spPr>
                  <a:xfrm>
                    <a:off x="2811000" y="1999008"/>
                    <a:ext cx="982000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oMath>
                      </m:oMathPara>
                    </a14:m>
                    <a:endParaRPr lang="en-US" sz="2400"/>
                  </a:p>
                </p:txBody>
              </p:sp>
            </mc:Choice>
            <mc:Fallback xmlns=""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ABC61972-3E55-4E0B-BB32-CBE0D5FF09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11000" y="1999008"/>
                    <a:ext cx="982000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4348" r="-1863"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77ED4490-4A80-4B0D-BFD3-B76BA3395D5F}"/>
                  </a:ext>
                </a:extLst>
              </p:cNvPr>
              <p:cNvCxnSpPr>
                <a:stCxn id="123" idx="4"/>
                <a:endCxn id="137" idx="7"/>
              </p:cNvCxnSpPr>
              <p:nvPr/>
            </p:nvCxnSpPr>
            <p:spPr>
              <a:xfrm flipH="1">
                <a:off x="2557722" y="3169138"/>
                <a:ext cx="744278" cy="2711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BC9A5FF8-D3F5-4A1D-BE24-D6AADBF61CF1}"/>
                  </a:ext>
                </a:extLst>
              </p:cNvPr>
              <p:cNvCxnSpPr>
                <a:stCxn id="123" idx="4"/>
                <a:endCxn id="138" idx="1"/>
              </p:cNvCxnSpPr>
              <p:nvPr/>
            </p:nvCxnSpPr>
            <p:spPr>
              <a:xfrm>
                <a:off x="3302000" y="3169138"/>
                <a:ext cx="714185" cy="2711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C9D4B94-3DA6-4835-BA21-F27A4CBEC132}"/>
                  </a:ext>
                </a:extLst>
              </p:cNvPr>
              <p:cNvSpPr txBox="1"/>
              <p:nvPr/>
            </p:nvSpPr>
            <p:spPr>
              <a:xfrm>
                <a:off x="2641104" y="3048553"/>
                <a:ext cx="3097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/>
                  <a:t>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Oval 131">
                    <a:extLst>
                      <a:ext uri="{FF2B5EF4-FFF2-40B4-BE49-F238E27FC236}">
                        <a16:creationId xmlns:a16="http://schemas.microsoft.com/office/drawing/2014/main" id="{8CE705D3-0E0D-44EC-8306-9F5B5F43AD61}"/>
                      </a:ext>
                    </a:extLst>
                  </p:cNvPr>
                  <p:cNvSpPr/>
                  <p:nvPr/>
                </p:nvSpPr>
                <p:spPr>
                  <a:xfrm>
                    <a:off x="2048999" y="4243574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&gt;2.4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32" name="Oval 131">
                    <a:extLst>
                      <a:ext uri="{FF2B5EF4-FFF2-40B4-BE49-F238E27FC236}">
                        <a16:creationId xmlns:a16="http://schemas.microsoft.com/office/drawing/2014/main" id="{8CE705D3-0E0D-44EC-8306-9F5B5F43AD6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8999" y="4243574"/>
                    <a:ext cx="1524001" cy="533065"/>
                  </a:xfrm>
                  <a:prstGeom prst="ellipse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40EE3BF6-A9F8-4666-852F-50FC1CE0A7BA}"/>
                  </a:ext>
                </a:extLst>
              </p:cNvPr>
              <p:cNvCxnSpPr>
                <a:stCxn id="137" idx="4"/>
                <a:endCxn id="132" idx="1"/>
              </p:cNvCxnSpPr>
              <p:nvPr/>
            </p:nvCxnSpPr>
            <p:spPr>
              <a:xfrm>
                <a:off x="2018907" y="3895322"/>
                <a:ext cx="253277" cy="4263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C3908F07-D9AE-4555-80DE-6F3CE667CE52}"/>
                  </a:ext>
                </a:extLst>
              </p:cNvPr>
              <p:cNvSpPr/>
              <p:nvPr/>
            </p:nvSpPr>
            <p:spPr>
              <a:xfrm>
                <a:off x="1116788" y="4243574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10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E1641545-05CA-4B67-A460-673FBAE5DDB9}"/>
                      </a:ext>
                    </a:extLst>
                  </p:cNvPr>
                  <p:cNvSpPr/>
                  <p:nvPr/>
                </p:nvSpPr>
                <p:spPr>
                  <a:xfrm>
                    <a:off x="1256906" y="3362257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&gt;1.8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E1641545-05CA-4B67-A460-673FBAE5DDB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6906" y="3362257"/>
                    <a:ext cx="1524001" cy="533065"/>
                  </a:xfrm>
                  <a:prstGeom prst="ellipse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Oval 137">
                    <a:extLst>
                      <a:ext uri="{FF2B5EF4-FFF2-40B4-BE49-F238E27FC236}">
                        <a16:creationId xmlns:a16="http://schemas.microsoft.com/office/drawing/2014/main" id="{0D5CCB21-8364-4BD7-954A-361BB56174F8}"/>
                      </a:ext>
                    </a:extLst>
                  </p:cNvPr>
                  <p:cNvSpPr/>
                  <p:nvPr/>
                </p:nvSpPr>
                <p:spPr>
                  <a:xfrm>
                    <a:off x="3793000" y="3362257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&gt;0.4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38" name="Oval 137">
                    <a:extLst>
                      <a:ext uri="{FF2B5EF4-FFF2-40B4-BE49-F238E27FC236}">
                        <a16:creationId xmlns:a16="http://schemas.microsoft.com/office/drawing/2014/main" id="{0D5CCB21-8364-4BD7-954A-361BB56174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93000" y="3362257"/>
                    <a:ext cx="1524001" cy="533065"/>
                  </a:xfrm>
                  <a:prstGeom prst="ellipse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B267AC98-3C80-431F-9F5C-B4DD629BC0C6}"/>
                  </a:ext>
                </a:extLst>
              </p:cNvPr>
              <p:cNvCxnSpPr>
                <a:stCxn id="137" idx="4"/>
                <a:endCxn id="135" idx="7"/>
              </p:cNvCxnSpPr>
              <p:nvPr/>
            </p:nvCxnSpPr>
            <p:spPr>
              <a:xfrm flipH="1">
                <a:off x="1742368" y="3895322"/>
                <a:ext cx="276539" cy="4263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527D7CAC-9259-469D-B837-D8FA209C252B}"/>
                  </a:ext>
                </a:extLst>
              </p:cNvPr>
              <p:cNvSpPr/>
              <p:nvPr/>
            </p:nvSpPr>
            <p:spPr>
              <a:xfrm>
                <a:off x="2048999" y="5076490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20</a:t>
                </a:r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E4EAC3B7-4183-4E7D-BD8F-6D7C5D12D002}"/>
                  </a:ext>
                </a:extLst>
              </p:cNvPr>
              <p:cNvSpPr/>
              <p:nvPr/>
            </p:nvSpPr>
            <p:spPr>
              <a:xfrm>
                <a:off x="2840087" y="5076490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30</a:t>
                </a:r>
              </a:p>
            </p:txBody>
          </p: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131AD2E7-657B-44D0-A459-C4C67653EC94}"/>
                  </a:ext>
                </a:extLst>
              </p:cNvPr>
              <p:cNvCxnSpPr>
                <a:stCxn id="132" idx="4"/>
                <a:endCxn id="142" idx="0"/>
              </p:cNvCxnSpPr>
              <p:nvPr/>
            </p:nvCxnSpPr>
            <p:spPr>
              <a:xfrm flipH="1">
                <a:off x="2415456" y="4776639"/>
                <a:ext cx="395544" cy="2998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34F4C8E1-49C9-47C3-812E-CB4C1EB7FEAB}"/>
                  </a:ext>
                </a:extLst>
              </p:cNvPr>
              <p:cNvCxnSpPr>
                <a:stCxn id="132" idx="4"/>
                <a:endCxn id="143" idx="0"/>
              </p:cNvCxnSpPr>
              <p:nvPr/>
            </p:nvCxnSpPr>
            <p:spPr>
              <a:xfrm>
                <a:off x="2811000" y="4776639"/>
                <a:ext cx="395544" cy="2998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B4A39C49-E34C-4989-9F31-7FB17BED32A8}"/>
                  </a:ext>
                </a:extLst>
              </p:cNvPr>
              <p:cNvSpPr/>
              <p:nvPr/>
            </p:nvSpPr>
            <p:spPr>
              <a:xfrm>
                <a:off x="4584088" y="4243574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50</a:t>
                </a: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35CD6E0C-6DC6-4786-88A6-E5F209584A59}"/>
                  </a:ext>
                </a:extLst>
              </p:cNvPr>
              <p:cNvSpPr/>
              <p:nvPr/>
            </p:nvSpPr>
            <p:spPr>
              <a:xfrm>
                <a:off x="3791610" y="4243574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40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131217B0-EC46-4E7A-94F2-03A84B2EA062}"/>
                  </a:ext>
                </a:extLst>
              </p:cNvPr>
              <p:cNvCxnSpPr>
                <a:stCxn id="138" idx="4"/>
                <a:endCxn id="148" idx="0"/>
              </p:cNvCxnSpPr>
              <p:nvPr/>
            </p:nvCxnSpPr>
            <p:spPr>
              <a:xfrm>
                <a:off x="4555001" y="3895322"/>
                <a:ext cx="395544" cy="3482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BF20BDAE-B88C-4638-A5F4-0650108AAE5B}"/>
                  </a:ext>
                </a:extLst>
              </p:cNvPr>
              <p:cNvCxnSpPr>
                <a:stCxn id="138" idx="4"/>
                <a:endCxn id="149" idx="0"/>
              </p:cNvCxnSpPr>
              <p:nvPr/>
            </p:nvCxnSpPr>
            <p:spPr>
              <a:xfrm flipH="1">
                <a:off x="4158067" y="3895322"/>
                <a:ext cx="396934" cy="3482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1701BD59-CBA1-4B5F-8D0D-B7C601D3E05A}"/>
                  </a:ext>
                </a:extLst>
              </p:cNvPr>
              <p:cNvSpPr txBox="1"/>
              <p:nvPr/>
            </p:nvSpPr>
            <p:spPr>
              <a:xfrm>
                <a:off x="3703748" y="3048553"/>
                <a:ext cx="3097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/>
                  <a:t>F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A5B1217-122F-4434-9780-5484B008F8FF}"/>
                    </a:ext>
                  </a:extLst>
                </p:cNvPr>
                <p:cNvSpPr txBox="1"/>
                <p:nvPr/>
              </p:nvSpPr>
              <p:spPr>
                <a:xfrm>
                  <a:off x="2020221" y="2693090"/>
                  <a:ext cx="31887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A5B1217-122F-4434-9780-5484B008F8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0221" y="2693090"/>
                  <a:ext cx="318870" cy="307777"/>
                </a:xfrm>
                <a:prstGeom prst="rect">
                  <a:avLst/>
                </a:prstGeom>
                <a:blipFill>
                  <a:blip r:embed="rId29"/>
                  <a:stretch>
                    <a:fillRect l="-9434" r="-5660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0D91DE81-1462-4F0F-B7AD-7480879B91AF}"/>
                    </a:ext>
                  </a:extLst>
                </p:cNvPr>
                <p:cNvSpPr txBox="1"/>
                <p:nvPr/>
              </p:nvSpPr>
              <p:spPr>
                <a:xfrm>
                  <a:off x="736689" y="3462034"/>
                  <a:ext cx="32483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0D91DE81-1462-4F0F-B7AD-7480879B91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689" y="3462034"/>
                  <a:ext cx="324833" cy="307777"/>
                </a:xfrm>
                <a:prstGeom prst="rect">
                  <a:avLst/>
                </a:prstGeom>
                <a:blipFill>
                  <a:blip r:embed="rId30"/>
                  <a:stretch>
                    <a:fillRect l="-11321" r="-7547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785957BA-8513-4CB0-A513-FD708E9116E0}"/>
                    </a:ext>
                  </a:extLst>
                </p:cNvPr>
                <p:cNvSpPr txBox="1"/>
                <p:nvPr/>
              </p:nvSpPr>
              <p:spPr>
                <a:xfrm>
                  <a:off x="3307759" y="3455719"/>
                  <a:ext cx="32483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785957BA-8513-4CB0-A513-FD708E9116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7759" y="3455719"/>
                  <a:ext cx="324833" cy="307777"/>
                </a:xfrm>
                <a:prstGeom prst="rect">
                  <a:avLst/>
                </a:prstGeom>
                <a:blipFill>
                  <a:blip r:embed="rId31"/>
                  <a:stretch>
                    <a:fillRect l="-11321" r="-7547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F273024F-95DC-4601-A7E0-7F8EABEB8132}"/>
                    </a:ext>
                  </a:extLst>
                </p:cNvPr>
                <p:cNvSpPr txBox="1"/>
                <p:nvPr/>
              </p:nvSpPr>
              <p:spPr>
                <a:xfrm>
                  <a:off x="2499450" y="3923375"/>
                  <a:ext cx="32483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F273024F-95DC-4601-A7E0-7F8EABEB81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9450" y="3923375"/>
                  <a:ext cx="324833" cy="307777"/>
                </a:xfrm>
                <a:prstGeom prst="rect">
                  <a:avLst/>
                </a:prstGeom>
                <a:blipFill>
                  <a:blip r:embed="rId32"/>
                  <a:stretch>
                    <a:fillRect l="-9434" r="-9434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75AF8F94-96C6-4D38-84C4-96A6F84EBE73}"/>
                    </a:ext>
                  </a:extLst>
                </p:cNvPr>
                <p:cNvSpPr txBox="1"/>
                <p:nvPr/>
              </p:nvSpPr>
              <p:spPr>
                <a:xfrm>
                  <a:off x="674914" y="4355580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75AF8F94-96C6-4D38-84C4-96A6F84EBE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914" y="4355580"/>
                  <a:ext cx="259109" cy="307777"/>
                </a:xfrm>
                <a:prstGeom prst="rect">
                  <a:avLst/>
                </a:prstGeom>
                <a:blipFill>
                  <a:blip r:embed="rId33"/>
                  <a:stretch>
                    <a:fillRect l="-23810" r="-7143" b="-137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ECA0C32E-DA91-4F2D-BF6C-9EDD98C80B3D}"/>
                    </a:ext>
                  </a:extLst>
                </p:cNvPr>
                <p:cNvSpPr txBox="1"/>
                <p:nvPr/>
              </p:nvSpPr>
              <p:spPr>
                <a:xfrm>
                  <a:off x="1629553" y="5196909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ECA0C32E-DA91-4F2D-BF6C-9EDD98C80B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9553" y="5196909"/>
                  <a:ext cx="259109" cy="307777"/>
                </a:xfrm>
                <a:prstGeom prst="rect">
                  <a:avLst/>
                </a:prstGeom>
                <a:blipFill>
                  <a:blip r:embed="rId34"/>
                  <a:stretch>
                    <a:fillRect l="-23256" r="-9302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B82FA73-AB60-4B42-A275-FAA97A3E6126}"/>
                    </a:ext>
                  </a:extLst>
                </p:cNvPr>
                <p:cNvSpPr txBox="1"/>
                <p:nvPr/>
              </p:nvSpPr>
              <p:spPr>
                <a:xfrm>
                  <a:off x="3365384" y="5196909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B82FA73-AB60-4B42-A275-FAA97A3E61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5384" y="5196909"/>
                  <a:ext cx="259109" cy="307777"/>
                </a:xfrm>
                <a:prstGeom prst="rect">
                  <a:avLst/>
                </a:prstGeom>
                <a:blipFill>
                  <a:blip r:embed="rId35"/>
                  <a:stretch>
                    <a:fillRect l="-23256" r="-9302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17757F0E-F58A-40F0-AEF5-CDD964F03D0C}"/>
                    </a:ext>
                  </a:extLst>
                </p:cNvPr>
                <p:cNvSpPr txBox="1"/>
                <p:nvPr/>
              </p:nvSpPr>
              <p:spPr>
                <a:xfrm>
                  <a:off x="3365385" y="4355579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17757F0E-F58A-40F0-AEF5-CDD964F03D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5385" y="4355579"/>
                  <a:ext cx="259109" cy="307777"/>
                </a:xfrm>
                <a:prstGeom prst="rect">
                  <a:avLst/>
                </a:prstGeom>
                <a:blipFill>
                  <a:blip r:embed="rId36"/>
                  <a:stretch>
                    <a:fillRect l="-23256" r="-6977" b="-137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2D88579F-72B9-49D3-A49C-ED6FEC698FDF}"/>
                    </a:ext>
                  </a:extLst>
                </p:cNvPr>
                <p:cNvSpPr txBox="1"/>
                <p:nvPr/>
              </p:nvSpPr>
              <p:spPr>
                <a:xfrm>
                  <a:off x="5111724" y="4354654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2D88579F-72B9-49D3-A49C-ED6FEC698F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1724" y="4354654"/>
                  <a:ext cx="259109" cy="307777"/>
                </a:xfrm>
                <a:prstGeom prst="rect">
                  <a:avLst/>
                </a:prstGeom>
                <a:blipFill>
                  <a:blip r:embed="rId37"/>
                  <a:stretch>
                    <a:fillRect l="-23810" r="-9524" b="-156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51269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EF17F-3320-44B9-8E84-9F0C76BA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Translating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5963814" y="1601684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4" y="1601684"/>
                <a:ext cx="613509" cy="53306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5963814" y="2279465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4" y="2279465"/>
                <a:ext cx="613509" cy="53306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/>
              <p:cNvSpPr/>
              <p:nvPr/>
            </p:nvSpPr>
            <p:spPr>
              <a:xfrm>
                <a:off x="5963814" y="2954599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8" name="Oval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4" y="2954599"/>
                <a:ext cx="613509" cy="53306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/>
              <p:cNvSpPr/>
              <p:nvPr/>
            </p:nvSpPr>
            <p:spPr>
              <a:xfrm>
                <a:off x="5963813" y="3635914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9" name="Oval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3" y="3635914"/>
                <a:ext cx="613509" cy="53306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/>
              <p:cNvSpPr/>
              <p:nvPr/>
            </p:nvSpPr>
            <p:spPr>
              <a:xfrm>
                <a:off x="5968074" y="4311048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074" y="4311048"/>
                <a:ext cx="613509" cy="53306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/>
              <p:cNvSpPr/>
              <p:nvPr/>
            </p:nvSpPr>
            <p:spPr>
              <a:xfrm>
                <a:off x="5963813" y="4986182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1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3" y="4986182"/>
                <a:ext cx="613509" cy="53306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7674820" y="2146748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20" y="2146748"/>
                <a:ext cx="613509" cy="533065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>
            <a:stCxn id="28" idx="6"/>
            <a:endCxn id="34" idx="2"/>
          </p:cNvCxnSpPr>
          <p:nvPr/>
        </p:nvCxnSpPr>
        <p:spPr>
          <a:xfrm flipV="1">
            <a:off x="6577323" y="2413281"/>
            <a:ext cx="1097497" cy="807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8" idx="6"/>
            <a:endCxn id="88" idx="2"/>
          </p:cNvCxnSpPr>
          <p:nvPr/>
        </p:nvCxnSpPr>
        <p:spPr>
          <a:xfrm>
            <a:off x="6577323" y="3221132"/>
            <a:ext cx="1094735" cy="777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0" idx="6"/>
            <a:endCxn id="89" idx="2"/>
          </p:cNvCxnSpPr>
          <p:nvPr/>
        </p:nvCxnSpPr>
        <p:spPr>
          <a:xfrm>
            <a:off x="6581583" y="4577581"/>
            <a:ext cx="1086214" cy="228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6" idx="6"/>
            <a:endCxn id="83" idx="2"/>
          </p:cNvCxnSpPr>
          <p:nvPr/>
        </p:nvCxnSpPr>
        <p:spPr>
          <a:xfrm>
            <a:off x="6577323" y="1868217"/>
            <a:ext cx="1097497" cy="1317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val 50"/>
              <p:cNvSpPr/>
              <p:nvPr/>
            </p:nvSpPr>
            <p:spPr>
              <a:xfrm>
                <a:off x="5963813" y="5661316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1" name="Oval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3" y="5661316"/>
                <a:ext cx="613509" cy="533065"/>
              </a:xfrm>
              <a:prstGeom prst="ellipse">
                <a:avLst/>
              </a:prstGeom>
              <a:blipFill>
                <a:blip r:embed="rId9"/>
                <a:stretch>
                  <a:fillRect r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/>
          <p:cNvCxnSpPr>
            <a:stCxn id="51" idx="6"/>
            <a:endCxn id="34" idx="2"/>
          </p:cNvCxnSpPr>
          <p:nvPr/>
        </p:nvCxnSpPr>
        <p:spPr>
          <a:xfrm flipV="1">
            <a:off x="6577322" y="2413281"/>
            <a:ext cx="1097498" cy="3514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6"/>
            <a:endCxn id="83" idx="2"/>
          </p:cNvCxnSpPr>
          <p:nvPr/>
        </p:nvCxnSpPr>
        <p:spPr>
          <a:xfrm flipV="1">
            <a:off x="6577322" y="3185431"/>
            <a:ext cx="1097498" cy="274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51" idx="6"/>
            <a:endCxn id="88" idx="2"/>
          </p:cNvCxnSpPr>
          <p:nvPr/>
        </p:nvCxnSpPr>
        <p:spPr>
          <a:xfrm flipV="1">
            <a:off x="6577322" y="3998576"/>
            <a:ext cx="1094736" cy="1929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1" idx="6"/>
            <a:endCxn id="89" idx="2"/>
          </p:cNvCxnSpPr>
          <p:nvPr/>
        </p:nvCxnSpPr>
        <p:spPr>
          <a:xfrm flipV="1">
            <a:off x="6577322" y="4806015"/>
            <a:ext cx="1090475" cy="1121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577322" y="5654716"/>
                <a:ext cx="1280351" cy="1014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−5.1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−1.8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−2.4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−0.4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322" y="5654716"/>
                <a:ext cx="1280351" cy="1014573"/>
              </a:xfrm>
              <a:prstGeom prst="rect">
                <a:avLst/>
              </a:prstGeom>
              <a:blipFill>
                <a:blip r:embed="rId10"/>
                <a:stretch>
                  <a:fillRect b="-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836569" y="2034919"/>
                <a:ext cx="354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569" y="2034919"/>
                <a:ext cx="354263" cy="276999"/>
              </a:xfrm>
              <a:prstGeom prst="rect">
                <a:avLst/>
              </a:prstGeom>
              <a:blipFill>
                <a:blip r:embed="rId11"/>
                <a:stretch>
                  <a:fillRect l="-11864" r="-1525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6738817" y="2667328"/>
                <a:ext cx="354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817" y="2667328"/>
                <a:ext cx="354263" cy="276999"/>
              </a:xfrm>
              <a:prstGeom prst="rect">
                <a:avLst/>
              </a:prstGeom>
              <a:blipFill>
                <a:blip r:embed="rId12"/>
                <a:stretch>
                  <a:fillRect l="-11864" r="-1525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672778" y="3448236"/>
                <a:ext cx="354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778" y="3448236"/>
                <a:ext cx="354263" cy="276999"/>
              </a:xfrm>
              <a:prstGeom prst="rect">
                <a:avLst/>
              </a:prstGeom>
              <a:blipFill>
                <a:blip r:embed="rId11"/>
                <a:stretch>
                  <a:fillRect l="-13793" r="-1551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6599178" y="4379532"/>
                <a:ext cx="354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178" y="4379532"/>
                <a:ext cx="354263" cy="276999"/>
              </a:xfrm>
              <a:prstGeom prst="rect">
                <a:avLst/>
              </a:prstGeom>
              <a:blipFill>
                <a:blip r:embed="rId13"/>
                <a:stretch>
                  <a:fillRect l="-13793" r="-1551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Oval 82"/>
              <p:cNvSpPr/>
              <p:nvPr/>
            </p:nvSpPr>
            <p:spPr>
              <a:xfrm>
                <a:off x="7674820" y="2918898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3" name="Oval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20" y="2918898"/>
                <a:ext cx="613509" cy="533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Oval 87"/>
              <p:cNvSpPr/>
              <p:nvPr/>
            </p:nvSpPr>
            <p:spPr>
              <a:xfrm>
                <a:off x="7672058" y="3732043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8" name="Oval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058" y="3732043"/>
                <a:ext cx="613509" cy="533065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Oval 88"/>
              <p:cNvSpPr/>
              <p:nvPr/>
            </p:nvSpPr>
            <p:spPr>
              <a:xfrm>
                <a:off x="7667797" y="4539482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9" name="Oval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7797" y="4539482"/>
                <a:ext cx="613509" cy="533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Oval 97"/>
              <p:cNvSpPr/>
              <p:nvPr/>
            </p:nvSpPr>
            <p:spPr>
              <a:xfrm>
                <a:off x="9223220" y="1746400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8" name="Oval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3220" y="1746400"/>
                <a:ext cx="613509" cy="533065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Oval 99"/>
              <p:cNvSpPr/>
              <p:nvPr/>
            </p:nvSpPr>
            <p:spPr>
              <a:xfrm>
                <a:off x="9223220" y="2556692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0" name="Oval 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3220" y="2556692"/>
                <a:ext cx="613509" cy="533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Oval 100"/>
              <p:cNvSpPr/>
              <p:nvPr/>
            </p:nvSpPr>
            <p:spPr>
              <a:xfrm>
                <a:off x="9220458" y="3369837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1" name="Oval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458" y="3369837"/>
                <a:ext cx="613509" cy="533065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Oval 102"/>
              <p:cNvSpPr/>
              <p:nvPr/>
            </p:nvSpPr>
            <p:spPr>
              <a:xfrm>
                <a:off x="9216197" y="4177276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3" name="Oval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197" y="4177276"/>
                <a:ext cx="613509" cy="533065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Oval 103"/>
              <p:cNvSpPr/>
              <p:nvPr/>
            </p:nvSpPr>
            <p:spPr>
              <a:xfrm>
                <a:off x="9223220" y="4984715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4" name="Oval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3220" y="4984715"/>
                <a:ext cx="613509" cy="533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Arrow Connector 105"/>
          <p:cNvCxnSpPr>
            <a:stCxn id="34" idx="6"/>
            <a:endCxn id="98" idx="2"/>
          </p:cNvCxnSpPr>
          <p:nvPr/>
        </p:nvCxnSpPr>
        <p:spPr>
          <a:xfrm flipV="1">
            <a:off x="8288329" y="2012933"/>
            <a:ext cx="934891" cy="400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34" idx="6"/>
            <a:endCxn id="100" idx="2"/>
          </p:cNvCxnSpPr>
          <p:nvPr/>
        </p:nvCxnSpPr>
        <p:spPr>
          <a:xfrm>
            <a:off x="8288329" y="2413281"/>
            <a:ext cx="934891" cy="409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34" idx="6"/>
            <a:endCxn id="101" idx="2"/>
          </p:cNvCxnSpPr>
          <p:nvPr/>
        </p:nvCxnSpPr>
        <p:spPr>
          <a:xfrm>
            <a:off x="8288329" y="2413281"/>
            <a:ext cx="932129" cy="1223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34" idx="6"/>
            <a:endCxn id="103" idx="2"/>
          </p:cNvCxnSpPr>
          <p:nvPr/>
        </p:nvCxnSpPr>
        <p:spPr>
          <a:xfrm>
            <a:off x="8288329" y="2413281"/>
            <a:ext cx="927868" cy="2030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stCxn id="34" idx="6"/>
            <a:endCxn id="104" idx="2"/>
          </p:cNvCxnSpPr>
          <p:nvPr/>
        </p:nvCxnSpPr>
        <p:spPr>
          <a:xfrm>
            <a:off x="8288329" y="2413281"/>
            <a:ext cx="934891" cy="2837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83" idx="6"/>
            <a:endCxn id="98" idx="2"/>
          </p:cNvCxnSpPr>
          <p:nvPr/>
        </p:nvCxnSpPr>
        <p:spPr>
          <a:xfrm flipV="1">
            <a:off x="8288329" y="2012933"/>
            <a:ext cx="934891" cy="1172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>
            <a:stCxn id="83" idx="6"/>
            <a:endCxn id="100" idx="2"/>
          </p:cNvCxnSpPr>
          <p:nvPr/>
        </p:nvCxnSpPr>
        <p:spPr>
          <a:xfrm flipV="1">
            <a:off x="8288329" y="2823225"/>
            <a:ext cx="934891" cy="36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stCxn id="83" idx="6"/>
            <a:endCxn id="101" idx="2"/>
          </p:cNvCxnSpPr>
          <p:nvPr/>
        </p:nvCxnSpPr>
        <p:spPr>
          <a:xfrm>
            <a:off x="8288329" y="3185431"/>
            <a:ext cx="932129" cy="450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88" idx="6"/>
            <a:endCxn id="100" idx="2"/>
          </p:cNvCxnSpPr>
          <p:nvPr/>
        </p:nvCxnSpPr>
        <p:spPr>
          <a:xfrm flipV="1">
            <a:off x="8285567" y="2823225"/>
            <a:ext cx="937653" cy="1175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>
            <a:stCxn id="88" idx="6"/>
            <a:endCxn id="101" idx="2"/>
          </p:cNvCxnSpPr>
          <p:nvPr/>
        </p:nvCxnSpPr>
        <p:spPr>
          <a:xfrm flipV="1">
            <a:off x="8285567" y="3636370"/>
            <a:ext cx="934891" cy="36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89" idx="6"/>
            <a:endCxn id="103" idx="2"/>
          </p:cNvCxnSpPr>
          <p:nvPr/>
        </p:nvCxnSpPr>
        <p:spPr>
          <a:xfrm flipV="1">
            <a:off x="8281306" y="4443809"/>
            <a:ext cx="934891" cy="36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>
            <a:stCxn id="89" idx="6"/>
            <a:endCxn id="104" idx="2"/>
          </p:cNvCxnSpPr>
          <p:nvPr/>
        </p:nvCxnSpPr>
        <p:spPr>
          <a:xfrm>
            <a:off x="8281306" y="4806015"/>
            <a:ext cx="941914" cy="445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Oval 139"/>
          <p:cNvSpPr/>
          <p:nvPr/>
        </p:nvSpPr>
        <p:spPr>
          <a:xfrm>
            <a:off x="10627473" y="3360697"/>
            <a:ext cx="613509" cy="533065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08000" tIns="0" rIns="0" bIns="36000" rtlCol="0" anchor="ctr"/>
          <a:lstStyle/>
          <a:p>
            <a:pPr algn="ctr"/>
            <a:endParaRPr lang="en-US"/>
          </a:p>
        </p:txBody>
      </p:sp>
      <p:cxnSp>
        <p:nvCxnSpPr>
          <p:cNvPr id="141" name="Straight Arrow Connector 140"/>
          <p:cNvCxnSpPr>
            <a:stCxn id="98" idx="6"/>
            <a:endCxn id="140" idx="2"/>
          </p:cNvCxnSpPr>
          <p:nvPr/>
        </p:nvCxnSpPr>
        <p:spPr>
          <a:xfrm>
            <a:off x="9836729" y="2012933"/>
            <a:ext cx="790744" cy="1614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00" idx="6"/>
            <a:endCxn id="140" idx="2"/>
          </p:cNvCxnSpPr>
          <p:nvPr/>
        </p:nvCxnSpPr>
        <p:spPr>
          <a:xfrm>
            <a:off x="9836729" y="2823225"/>
            <a:ext cx="790744" cy="804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>
            <a:stCxn id="101" idx="6"/>
            <a:endCxn id="140" idx="2"/>
          </p:cNvCxnSpPr>
          <p:nvPr/>
        </p:nvCxnSpPr>
        <p:spPr>
          <a:xfrm flipV="1">
            <a:off x="9833967" y="3627230"/>
            <a:ext cx="793506" cy="9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>
            <a:stCxn id="103" idx="6"/>
            <a:endCxn id="140" idx="2"/>
          </p:cNvCxnSpPr>
          <p:nvPr/>
        </p:nvCxnSpPr>
        <p:spPr>
          <a:xfrm flipV="1">
            <a:off x="9829706" y="3627230"/>
            <a:ext cx="797767" cy="81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>
            <a:stCxn id="104" idx="6"/>
            <a:endCxn id="140" idx="2"/>
          </p:cNvCxnSpPr>
          <p:nvPr/>
        </p:nvCxnSpPr>
        <p:spPr>
          <a:xfrm flipV="1">
            <a:off x="9836729" y="3627230"/>
            <a:ext cx="790744" cy="1624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/>
              <p:cNvSpPr txBox="1"/>
              <p:nvPr/>
            </p:nvSpPr>
            <p:spPr>
              <a:xfrm>
                <a:off x="9522951" y="5251247"/>
                <a:ext cx="1153201" cy="1034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6" name="TextBox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2951" y="5251247"/>
                <a:ext cx="1153201" cy="103464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/>
              <p:cNvSpPr txBox="1"/>
              <p:nvPr/>
            </p:nvSpPr>
            <p:spPr>
              <a:xfrm>
                <a:off x="9375471" y="1218245"/>
                <a:ext cx="18655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5471" y="1218245"/>
                <a:ext cx="1865511" cy="461665"/>
              </a:xfrm>
              <a:prstGeom prst="rect">
                <a:avLst/>
              </a:prstGeom>
              <a:blipFill>
                <a:blip r:embed="rId23"/>
                <a:stretch>
                  <a:fillRect r="-65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ight Arrow 92"/>
          <p:cNvSpPr/>
          <p:nvPr/>
        </p:nvSpPr>
        <p:spPr>
          <a:xfrm>
            <a:off x="5258341" y="3312546"/>
            <a:ext cx="600364" cy="1185228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4C07E57-9EA9-469F-A101-3C57C51F5CD2}"/>
              </a:ext>
            </a:extLst>
          </p:cNvPr>
          <p:cNvGrpSpPr/>
          <p:nvPr/>
        </p:nvGrpSpPr>
        <p:grpSpPr>
          <a:xfrm>
            <a:off x="674914" y="2006824"/>
            <a:ext cx="4695919" cy="3610466"/>
            <a:chOff x="674914" y="2006824"/>
            <a:chExt cx="4695919" cy="3610466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0082FECA-F486-4A22-9DA8-3A0DF0F47DAE}"/>
                </a:ext>
              </a:extLst>
            </p:cNvPr>
            <p:cNvGrpSpPr/>
            <p:nvPr/>
          </p:nvGrpSpPr>
          <p:grpSpPr>
            <a:xfrm>
              <a:off x="921404" y="2006824"/>
              <a:ext cx="4200213" cy="3610466"/>
              <a:chOff x="1116788" y="1999008"/>
              <a:chExt cx="4200213" cy="361046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Oval 122">
                    <a:extLst>
                      <a:ext uri="{FF2B5EF4-FFF2-40B4-BE49-F238E27FC236}">
                        <a16:creationId xmlns:a16="http://schemas.microsoft.com/office/drawing/2014/main" id="{884B8F99-A49E-4706-8195-7BD146851381}"/>
                      </a:ext>
                    </a:extLst>
                  </p:cNvPr>
                  <p:cNvSpPr/>
                  <p:nvPr/>
                </p:nvSpPr>
                <p:spPr>
                  <a:xfrm>
                    <a:off x="2539999" y="2636073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&gt;5.1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23" name="Oval 122">
                    <a:extLst>
                      <a:ext uri="{FF2B5EF4-FFF2-40B4-BE49-F238E27FC236}">
                        <a16:creationId xmlns:a16="http://schemas.microsoft.com/office/drawing/2014/main" id="{884B8F99-A49E-4706-8195-7BD14685138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9999" y="2636073"/>
                    <a:ext cx="1524001" cy="533065"/>
                  </a:xfrm>
                  <a:prstGeom prst="ellipse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D121F860-2B58-4A48-974B-AA612807F74E}"/>
                  </a:ext>
                </a:extLst>
              </p:cNvPr>
              <p:cNvCxnSpPr>
                <a:stCxn id="126" idx="2"/>
                <a:endCxn id="123" idx="0"/>
              </p:cNvCxnSpPr>
              <p:nvPr/>
            </p:nvCxnSpPr>
            <p:spPr>
              <a:xfrm>
                <a:off x="3302000" y="2368340"/>
                <a:ext cx="0" cy="2677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ABC61972-3E55-4E0B-BB32-CBE0D5FF096B}"/>
                      </a:ext>
                    </a:extLst>
                  </p:cNvPr>
                  <p:cNvSpPr txBox="1"/>
                  <p:nvPr/>
                </p:nvSpPr>
                <p:spPr>
                  <a:xfrm>
                    <a:off x="2811000" y="1999008"/>
                    <a:ext cx="982000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oMath>
                      </m:oMathPara>
                    </a14:m>
                    <a:endParaRPr lang="en-US" sz="2400"/>
                  </a:p>
                </p:txBody>
              </p:sp>
            </mc:Choice>
            <mc:Fallback xmlns=""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ABC61972-3E55-4E0B-BB32-CBE0D5FF09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11000" y="1999008"/>
                    <a:ext cx="982000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4348" r="-1863"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77ED4490-4A80-4B0D-BFD3-B76BA3395D5F}"/>
                  </a:ext>
                </a:extLst>
              </p:cNvPr>
              <p:cNvCxnSpPr>
                <a:stCxn id="123" idx="4"/>
                <a:endCxn id="137" idx="7"/>
              </p:cNvCxnSpPr>
              <p:nvPr/>
            </p:nvCxnSpPr>
            <p:spPr>
              <a:xfrm flipH="1">
                <a:off x="2557722" y="3169138"/>
                <a:ext cx="744278" cy="2711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BC9A5FF8-D3F5-4A1D-BE24-D6AADBF61CF1}"/>
                  </a:ext>
                </a:extLst>
              </p:cNvPr>
              <p:cNvCxnSpPr>
                <a:stCxn id="123" idx="4"/>
                <a:endCxn id="138" idx="1"/>
              </p:cNvCxnSpPr>
              <p:nvPr/>
            </p:nvCxnSpPr>
            <p:spPr>
              <a:xfrm>
                <a:off x="3302000" y="3169138"/>
                <a:ext cx="714185" cy="2711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C9D4B94-3DA6-4835-BA21-F27A4CBEC132}"/>
                  </a:ext>
                </a:extLst>
              </p:cNvPr>
              <p:cNvSpPr txBox="1"/>
              <p:nvPr/>
            </p:nvSpPr>
            <p:spPr>
              <a:xfrm>
                <a:off x="2641104" y="3048553"/>
                <a:ext cx="3097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/>
                  <a:t>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Oval 131">
                    <a:extLst>
                      <a:ext uri="{FF2B5EF4-FFF2-40B4-BE49-F238E27FC236}">
                        <a16:creationId xmlns:a16="http://schemas.microsoft.com/office/drawing/2014/main" id="{8CE705D3-0E0D-44EC-8306-9F5B5F43AD61}"/>
                      </a:ext>
                    </a:extLst>
                  </p:cNvPr>
                  <p:cNvSpPr/>
                  <p:nvPr/>
                </p:nvSpPr>
                <p:spPr>
                  <a:xfrm>
                    <a:off x="2048999" y="4243574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&gt;2.4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32" name="Oval 131">
                    <a:extLst>
                      <a:ext uri="{FF2B5EF4-FFF2-40B4-BE49-F238E27FC236}">
                        <a16:creationId xmlns:a16="http://schemas.microsoft.com/office/drawing/2014/main" id="{8CE705D3-0E0D-44EC-8306-9F5B5F43AD6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8999" y="4243574"/>
                    <a:ext cx="1524001" cy="533065"/>
                  </a:xfrm>
                  <a:prstGeom prst="ellipse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40EE3BF6-A9F8-4666-852F-50FC1CE0A7BA}"/>
                  </a:ext>
                </a:extLst>
              </p:cNvPr>
              <p:cNvCxnSpPr>
                <a:stCxn id="137" idx="4"/>
                <a:endCxn id="132" idx="1"/>
              </p:cNvCxnSpPr>
              <p:nvPr/>
            </p:nvCxnSpPr>
            <p:spPr>
              <a:xfrm>
                <a:off x="2018907" y="3895322"/>
                <a:ext cx="253277" cy="4263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C3908F07-D9AE-4555-80DE-6F3CE667CE52}"/>
                  </a:ext>
                </a:extLst>
              </p:cNvPr>
              <p:cNvSpPr/>
              <p:nvPr/>
            </p:nvSpPr>
            <p:spPr>
              <a:xfrm>
                <a:off x="1116788" y="4243574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10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E1641545-05CA-4B67-A460-673FBAE5DDB9}"/>
                      </a:ext>
                    </a:extLst>
                  </p:cNvPr>
                  <p:cNvSpPr/>
                  <p:nvPr/>
                </p:nvSpPr>
                <p:spPr>
                  <a:xfrm>
                    <a:off x="1256906" y="3362257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&gt;1.8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E1641545-05CA-4B67-A460-673FBAE5DDB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6906" y="3362257"/>
                    <a:ext cx="1524001" cy="533065"/>
                  </a:xfrm>
                  <a:prstGeom prst="ellipse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Oval 137">
                    <a:extLst>
                      <a:ext uri="{FF2B5EF4-FFF2-40B4-BE49-F238E27FC236}">
                        <a16:creationId xmlns:a16="http://schemas.microsoft.com/office/drawing/2014/main" id="{0D5CCB21-8364-4BD7-954A-361BB56174F8}"/>
                      </a:ext>
                    </a:extLst>
                  </p:cNvPr>
                  <p:cNvSpPr/>
                  <p:nvPr/>
                </p:nvSpPr>
                <p:spPr>
                  <a:xfrm>
                    <a:off x="3793000" y="3362257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&gt;0.4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38" name="Oval 137">
                    <a:extLst>
                      <a:ext uri="{FF2B5EF4-FFF2-40B4-BE49-F238E27FC236}">
                        <a16:creationId xmlns:a16="http://schemas.microsoft.com/office/drawing/2014/main" id="{0D5CCB21-8364-4BD7-954A-361BB56174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93000" y="3362257"/>
                    <a:ext cx="1524001" cy="533065"/>
                  </a:xfrm>
                  <a:prstGeom prst="ellipse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B267AC98-3C80-431F-9F5C-B4DD629BC0C6}"/>
                  </a:ext>
                </a:extLst>
              </p:cNvPr>
              <p:cNvCxnSpPr>
                <a:stCxn id="137" idx="4"/>
                <a:endCxn id="135" idx="7"/>
              </p:cNvCxnSpPr>
              <p:nvPr/>
            </p:nvCxnSpPr>
            <p:spPr>
              <a:xfrm flipH="1">
                <a:off x="1742368" y="3895322"/>
                <a:ext cx="276539" cy="4263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527D7CAC-9259-469D-B837-D8FA209C252B}"/>
                  </a:ext>
                </a:extLst>
              </p:cNvPr>
              <p:cNvSpPr/>
              <p:nvPr/>
            </p:nvSpPr>
            <p:spPr>
              <a:xfrm>
                <a:off x="2048999" y="5076490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20</a:t>
                </a:r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E4EAC3B7-4183-4E7D-BD8F-6D7C5D12D002}"/>
                  </a:ext>
                </a:extLst>
              </p:cNvPr>
              <p:cNvSpPr/>
              <p:nvPr/>
            </p:nvSpPr>
            <p:spPr>
              <a:xfrm>
                <a:off x="2840087" y="5076490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30</a:t>
                </a:r>
              </a:p>
            </p:txBody>
          </p: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131AD2E7-657B-44D0-A459-C4C67653EC94}"/>
                  </a:ext>
                </a:extLst>
              </p:cNvPr>
              <p:cNvCxnSpPr>
                <a:stCxn id="132" idx="4"/>
                <a:endCxn id="142" idx="0"/>
              </p:cNvCxnSpPr>
              <p:nvPr/>
            </p:nvCxnSpPr>
            <p:spPr>
              <a:xfrm flipH="1">
                <a:off x="2415456" y="4776639"/>
                <a:ext cx="395544" cy="2998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34F4C8E1-49C9-47C3-812E-CB4C1EB7FEAB}"/>
                  </a:ext>
                </a:extLst>
              </p:cNvPr>
              <p:cNvCxnSpPr>
                <a:stCxn id="132" idx="4"/>
                <a:endCxn id="143" idx="0"/>
              </p:cNvCxnSpPr>
              <p:nvPr/>
            </p:nvCxnSpPr>
            <p:spPr>
              <a:xfrm>
                <a:off x="2811000" y="4776639"/>
                <a:ext cx="395544" cy="2998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B4A39C49-E34C-4989-9F31-7FB17BED32A8}"/>
                  </a:ext>
                </a:extLst>
              </p:cNvPr>
              <p:cNvSpPr/>
              <p:nvPr/>
            </p:nvSpPr>
            <p:spPr>
              <a:xfrm>
                <a:off x="4584088" y="4243574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50</a:t>
                </a: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35CD6E0C-6DC6-4786-88A6-E5F209584A59}"/>
                  </a:ext>
                </a:extLst>
              </p:cNvPr>
              <p:cNvSpPr/>
              <p:nvPr/>
            </p:nvSpPr>
            <p:spPr>
              <a:xfrm>
                <a:off x="3791610" y="4243574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40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131217B0-EC46-4E7A-94F2-03A84B2EA062}"/>
                  </a:ext>
                </a:extLst>
              </p:cNvPr>
              <p:cNvCxnSpPr>
                <a:stCxn id="138" idx="4"/>
                <a:endCxn id="148" idx="0"/>
              </p:cNvCxnSpPr>
              <p:nvPr/>
            </p:nvCxnSpPr>
            <p:spPr>
              <a:xfrm>
                <a:off x="4555001" y="3895322"/>
                <a:ext cx="395544" cy="3482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BF20BDAE-B88C-4638-A5F4-0650108AAE5B}"/>
                  </a:ext>
                </a:extLst>
              </p:cNvPr>
              <p:cNvCxnSpPr>
                <a:stCxn id="138" idx="4"/>
                <a:endCxn id="149" idx="0"/>
              </p:cNvCxnSpPr>
              <p:nvPr/>
            </p:nvCxnSpPr>
            <p:spPr>
              <a:xfrm flipH="1">
                <a:off x="4158067" y="3895322"/>
                <a:ext cx="396934" cy="3482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1701BD59-CBA1-4B5F-8D0D-B7C601D3E05A}"/>
                  </a:ext>
                </a:extLst>
              </p:cNvPr>
              <p:cNvSpPr txBox="1"/>
              <p:nvPr/>
            </p:nvSpPr>
            <p:spPr>
              <a:xfrm>
                <a:off x="3703748" y="3048553"/>
                <a:ext cx="3097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/>
                  <a:t>F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A5B1217-122F-4434-9780-5484B008F8FF}"/>
                    </a:ext>
                  </a:extLst>
                </p:cNvPr>
                <p:cNvSpPr txBox="1"/>
                <p:nvPr/>
              </p:nvSpPr>
              <p:spPr>
                <a:xfrm>
                  <a:off x="2020221" y="2693090"/>
                  <a:ext cx="31887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A5B1217-122F-4434-9780-5484B008F8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0221" y="2693090"/>
                  <a:ext cx="318870" cy="307777"/>
                </a:xfrm>
                <a:prstGeom prst="rect">
                  <a:avLst/>
                </a:prstGeom>
                <a:blipFill>
                  <a:blip r:embed="rId29"/>
                  <a:stretch>
                    <a:fillRect l="-9434" r="-5660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0D91DE81-1462-4F0F-B7AD-7480879B91AF}"/>
                    </a:ext>
                  </a:extLst>
                </p:cNvPr>
                <p:cNvSpPr txBox="1"/>
                <p:nvPr/>
              </p:nvSpPr>
              <p:spPr>
                <a:xfrm>
                  <a:off x="736689" y="3462034"/>
                  <a:ext cx="32483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0D91DE81-1462-4F0F-B7AD-7480879B91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689" y="3462034"/>
                  <a:ext cx="324833" cy="307777"/>
                </a:xfrm>
                <a:prstGeom prst="rect">
                  <a:avLst/>
                </a:prstGeom>
                <a:blipFill>
                  <a:blip r:embed="rId30"/>
                  <a:stretch>
                    <a:fillRect l="-11321" r="-7547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785957BA-8513-4CB0-A513-FD708E9116E0}"/>
                    </a:ext>
                  </a:extLst>
                </p:cNvPr>
                <p:cNvSpPr txBox="1"/>
                <p:nvPr/>
              </p:nvSpPr>
              <p:spPr>
                <a:xfrm>
                  <a:off x="3307759" y="3455719"/>
                  <a:ext cx="32483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785957BA-8513-4CB0-A513-FD708E9116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7759" y="3455719"/>
                  <a:ext cx="324833" cy="307777"/>
                </a:xfrm>
                <a:prstGeom prst="rect">
                  <a:avLst/>
                </a:prstGeom>
                <a:blipFill>
                  <a:blip r:embed="rId31"/>
                  <a:stretch>
                    <a:fillRect l="-11321" r="-7547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F273024F-95DC-4601-A7E0-7F8EABEB8132}"/>
                    </a:ext>
                  </a:extLst>
                </p:cNvPr>
                <p:cNvSpPr txBox="1"/>
                <p:nvPr/>
              </p:nvSpPr>
              <p:spPr>
                <a:xfrm>
                  <a:off x="2499450" y="3923375"/>
                  <a:ext cx="32483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F273024F-95DC-4601-A7E0-7F8EABEB81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9450" y="3923375"/>
                  <a:ext cx="324833" cy="307777"/>
                </a:xfrm>
                <a:prstGeom prst="rect">
                  <a:avLst/>
                </a:prstGeom>
                <a:blipFill>
                  <a:blip r:embed="rId32"/>
                  <a:stretch>
                    <a:fillRect l="-9434" r="-9434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75AF8F94-96C6-4D38-84C4-96A6F84EBE73}"/>
                    </a:ext>
                  </a:extLst>
                </p:cNvPr>
                <p:cNvSpPr txBox="1"/>
                <p:nvPr/>
              </p:nvSpPr>
              <p:spPr>
                <a:xfrm>
                  <a:off x="674914" y="4355580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75AF8F94-96C6-4D38-84C4-96A6F84EBE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914" y="4355580"/>
                  <a:ext cx="259109" cy="307777"/>
                </a:xfrm>
                <a:prstGeom prst="rect">
                  <a:avLst/>
                </a:prstGeom>
                <a:blipFill>
                  <a:blip r:embed="rId33"/>
                  <a:stretch>
                    <a:fillRect l="-23810" r="-7143" b="-137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ECA0C32E-DA91-4F2D-BF6C-9EDD98C80B3D}"/>
                    </a:ext>
                  </a:extLst>
                </p:cNvPr>
                <p:cNvSpPr txBox="1"/>
                <p:nvPr/>
              </p:nvSpPr>
              <p:spPr>
                <a:xfrm>
                  <a:off x="1629553" y="5196909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ECA0C32E-DA91-4F2D-BF6C-9EDD98C80B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9553" y="5196909"/>
                  <a:ext cx="259109" cy="307777"/>
                </a:xfrm>
                <a:prstGeom prst="rect">
                  <a:avLst/>
                </a:prstGeom>
                <a:blipFill>
                  <a:blip r:embed="rId34"/>
                  <a:stretch>
                    <a:fillRect l="-23256" r="-9302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B82FA73-AB60-4B42-A275-FAA97A3E6126}"/>
                    </a:ext>
                  </a:extLst>
                </p:cNvPr>
                <p:cNvSpPr txBox="1"/>
                <p:nvPr/>
              </p:nvSpPr>
              <p:spPr>
                <a:xfrm>
                  <a:off x="3365384" y="5196909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B82FA73-AB60-4B42-A275-FAA97A3E61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5384" y="5196909"/>
                  <a:ext cx="259109" cy="307777"/>
                </a:xfrm>
                <a:prstGeom prst="rect">
                  <a:avLst/>
                </a:prstGeom>
                <a:blipFill>
                  <a:blip r:embed="rId35"/>
                  <a:stretch>
                    <a:fillRect l="-23256" r="-9302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17757F0E-F58A-40F0-AEF5-CDD964F03D0C}"/>
                    </a:ext>
                  </a:extLst>
                </p:cNvPr>
                <p:cNvSpPr txBox="1"/>
                <p:nvPr/>
              </p:nvSpPr>
              <p:spPr>
                <a:xfrm>
                  <a:off x="3365385" y="4355579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17757F0E-F58A-40F0-AEF5-CDD964F03D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5385" y="4355579"/>
                  <a:ext cx="259109" cy="307777"/>
                </a:xfrm>
                <a:prstGeom prst="rect">
                  <a:avLst/>
                </a:prstGeom>
                <a:blipFill>
                  <a:blip r:embed="rId36"/>
                  <a:stretch>
                    <a:fillRect l="-23256" r="-6977" b="-137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2D88579F-72B9-49D3-A49C-ED6FEC698FDF}"/>
                    </a:ext>
                  </a:extLst>
                </p:cNvPr>
                <p:cNvSpPr txBox="1"/>
                <p:nvPr/>
              </p:nvSpPr>
              <p:spPr>
                <a:xfrm>
                  <a:off x="5111724" y="4354654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2D88579F-72B9-49D3-A49C-ED6FEC698F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1724" y="4354654"/>
                  <a:ext cx="259109" cy="307777"/>
                </a:xfrm>
                <a:prstGeom prst="rect">
                  <a:avLst/>
                </a:prstGeom>
                <a:blipFill>
                  <a:blip r:embed="rId37"/>
                  <a:stretch>
                    <a:fillRect l="-23810" r="-9524" b="-156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E001F48-84D4-4921-BD59-E07D578997C0}"/>
              </a:ext>
            </a:extLst>
          </p:cNvPr>
          <p:cNvCxnSpPr>
            <a:cxnSpLocks/>
          </p:cNvCxnSpPr>
          <p:nvPr/>
        </p:nvCxnSpPr>
        <p:spPr>
          <a:xfrm>
            <a:off x="7950967" y="1393213"/>
            <a:ext cx="0" cy="573393"/>
          </a:xfrm>
          <a:prstGeom prst="straightConnector1">
            <a:avLst/>
          </a:prstGeom>
          <a:ln w="57150">
            <a:solidFill>
              <a:schemeClr val="accent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4DB0E56-07C1-40F5-A99C-00849B2C7338}"/>
              </a:ext>
            </a:extLst>
          </p:cNvPr>
          <p:cNvSpPr txBox="1"/>
          <p:nvPr/>
        </p:nvSpPr>
        <p:spPr>
          <a:xfrm>
            <a:off x="6266808" y="931090"/>
            <a:ext cx="356289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>
                <a:solidFill>
                  <a:schemeClr val="accent1"/>
                </a:solidFill>
              </a:rPr>
              <a:t>Evaluate all conditions together</a:t>
            </a:r>
          </a:p>
        </p:txBody>
      </p:sp>
    </p:spTree>
    <p:extLst>
      <p:ext uri="{BB962C8B-B14F-4D97-AF65-F5344CB8AC3E}">
        <p14:creationId xmlns:p14="http://schemas.microsoft.com/office/powerpoint/2010/main" val="3457725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EF17F-3320-44B9-8E84-9F0C76BA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Translating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5963814" y="1601684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4" y="1601684"/>
                <a:ext cx="613509" cy="53306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5963814" y="2279465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4" y="2279465"/>
                <a:ext cx="613509" cy="53306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/>
              <p:cNvSpPr/>
              <p:nvPr/>
            </p:nvSpPr>
            <p:spPr>
              <a:xfrm>
                <a:off x="5963814" y="2954599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8" name="Oval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4" y="2954599"/>
                <a:ext cx="613509" cy="53306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/>
              <p:cNvSpPr/>
              <p:nvPr/>
            </p:nvSpPr>
            <p:spPr>
              <a:xfrm>
                <a:off x="5963813" y="3635914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9" name="Oval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3" y="3635914"/>
                <a:ext cx="613509" cy="53306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/>
              <p:cNvSpPr/>
              <p:nvPr/>
            </p:nvSpPr>
            <p:spPr>
              <a:xfrm>
                <a:off x="5968074" y="4311048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074" y="4311048"/>
                <a:ext cx="613509" cy="53306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/>
              <p:cNvSpPr/>
              <p:nvPr/>
            </p:nvSpPr>
            <p:spPr>
              <a:xfrm>
                <a:off x="5963813" y="4986182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1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3" y="4986182"/>
                <a:ext cx="613509" cy="53306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7674820" y="2146748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20" y="2146748"/>
                <a:ext cx="613509" cy="533065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>
            <a:stCxn id="28" idx="6"/>
            <a:endCxn id="34" idx="2"/>
          </p:cNvCxnSpPr>
          <p:nvPr/>
        </p:nvCxnSpPr>
        <p:spPr>
          <a:xfrm flipV="1">
            <a:off x="6577323" y="2413281"/>
            <a:ext cx="1097497" cy="807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8" idx="6"/>
            <a:endCxn id="88" idx="2"/>
          </p:cNvCxnSpPr>
          <p:nvPr/>
        </p:nvCxnSpPr>
        <p:spPr>
          <a:xfrm>
            <a:off x="6577323" y="3221132"/>
            <a:ext cx="1094735" cy="777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0" idx="6"/>
            <a:endCxn id="89" idx="2"/>
          </p:cNvCxnSpPr>
          <p:nvPr/>
        </p:nvCxnSpPr>
        <p:spPr>
          <a:xfrm>
            <a:off x="6581583" y="4577581"/>
            <a:ext cx="1086214" cy="228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6" idx="6"/>
            <a:endCxn id="83" idx="2"/>
          </p:cNvCxnSpPr>
          <p:nvPr/>
        </p:nvCxnSpPr>
        <p:spPr>
          <a:xfrm>
            <a:off x="6577323" y="1868217"/>
            <a:ext cx="1097497" cy="1317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val 50"/>
              <p:cNvSpPr/>
              <p:nvPr/>
            </p:nvSpPr>
            <p:spPr>
              <a:xfrm>
                <a:off x="5963813" y="5661316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1" name="Oval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13" y="5661316"/>
                <a:ext cx="613509" cy="533065"/>
              </a:xfrm>
              <a:prstGeom prst="ellipse">
                <a:avLst/>
              </a:prstGeom>
              <a:blipFill>
                <a:blip r:embed="rId9"/>
                <a:stretch>
                  <a:fillRect r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/>
          <p:cNvCxnSpPr>
            <a:stCxn id="51" idx="6"/>
            <a:endCxn id="34" idx="2"/>
          </p:cNvCxnSpPr>
          <p:nvPr/>
        </p:nvCxnSpPr>
        <p:spPr>
          <a:xfrm flipV="1">
            <a:off x="6577322" y="2413281"/>
            <a:ext cx="1097498" cy="3514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6"/>
            <a:endCxn id="83" idx="2"/>
          </p:cNvCxnSpPr>
          <p:nvPr/>
        </p:nvCxnSpPr>
        <p:spPr>
          <a:xfrm flipV="1">
            <a:off x="6577322" y="3185431"/>
            <a:ext cx="1097498" cy="274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51" idx="6"/>
            <a:endCxn id="88" idx="2"/>
          </p:cNvCxnSpPr>
          <p:nvPr/>
        </p:nvCxnSpPr>
        <p:spPr>
          <a:xfrm flipV="1">
            <a:off x="6577322" y="3998576"/>
            <a:ext cx="1094736" cy="1929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1" idx="6"/>
            <a:endCxn id="89" idx="2"/>
          </p:cNvCxnSpPr>
          <p:nvPr/>
        </p:nvCxnSpPr>
        <p:spPr>
          <a:xfrm flipV="1">
            <a:off x="6577322" y="4806015"/>
            <a:ext cx="1090475" cy="1121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577322" y="5654716"/>
                <a:ext cx="1280351" cy="1014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−5.1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−1.8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−2.4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−0.4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322" y="5654716"/>
                <a:ext cx="1280351" cy="1014573"/>
              </a:xfrm>
              <a:prstGeom prst="rect">
                <a:avLst/>
              </a:prstGeom>
              <a:blipFill>
                <a:blip r:embed="rId10"/>
                <a:stretch>
                  <a:fillRect b="-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836569" y="2034919"/>
                <a:ext cx="354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569" y="2034919"/>
                <a:ext cx="354263" cy="276999"/>
              </a:xfrm>
              <a:prstGeom prst="rect">
                <a:avLst/>
              </a:prstGeom>
              <a:blipFill>
                <a:blip r:embed="rId11"/>
                <a:stretch>
                  <a:fillRect l="-11864" r="-1525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6738817" y="2667328"/>
                <a:ext cx="354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817" y="2667328"/>
                <a:ext cx="354263" cy="276999"/>
              </a:xfrm>
              <a:prstGeom prst="rect">
                <a:avLst/>
              </a:prstGeom>
              <a:blipFill>
                <a:blip r:embed="rId12"/>
                <a:stretch>
                  <a:fillRect l="-11864" r="-1525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672778" y="3448236"/>
                <a:ext cx="354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778" y="3448236"/>
                <a:ext cx="354263" cy="276999"/>
              </a:xfrm>
              <a:prstGeom prst="rect">
                <a:avLst/>
              </a:prstGeom>
              <a:blipFill>
                <a:blip r:embed="rId11"/>
                <a:stretch>
                  <a:fillRect l="-13793" r="-1551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6599178" y="4379532"/>
                <a:ext cx="354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178" y="4379532"/>
                <a:ext cx="354263" cy="276999"/>
              </a:xfrm>
              <a:prstGeom prst="rect">
                <a:avLst/>
              </a:prstGeom>
              <a:blipFill>
                <a:blip r:embed="rId13"/>
                <a:stretch>
                  <a:fillRect l="-13793" r="-1551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Oval 82"/>
              <p:cNvSpPr/>
              <p:nvPr/>
            </p:nvSpPr>
            <p:spPr>
              <a:xfrm>
                <a:off x="7674820" y="2918898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3" name="Oval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20" y="2918898"/>
                <a:ext cx="613509" cy="533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Oval 87"/>
              <p:cNvSpPr/>
              <p:nvPr/>
            </p:nvSpPr>
            <p:spPr>
              <a:xfrm>
                <a:off x="7672058" y="3732043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8" name="Oval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058" y="3732043"/>
                <a:ext cx="613509" cy="533065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Oval 88"/>
              <p:cNvSpPr/>
              <p:nvPr/>
            </p:nvSpPr>
            <p:spPr>
              <a:xfrm>
                <a:off x="7667797" y="4539482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9" name="Oval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7797" y="4539482"/>
                <a:ext cx="613509" cy="533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Oval 97"/>
              <p:cNvSpPr/>
              <p:nvPr/>
            </p:nvSpPr>
            <p:spPr>
              <a:xfrm>
                <a:off x="9223220" y="1746400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98" name="Oval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3220" y="1746400"/>
                <a:ext cx="613509" cy="533065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Oval 99"/>
              <p:cNvSpPr/>
              <p:nvPr/>
            </p:nvSpPr>
            <p:spPr>
              <a:xfrm>
                <a:off x="9223220" y="2556692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0" name="Oval 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3220" y="2556692"/>
                <a:ext cx="613509" cy="533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Oval 100"/>
              <p:cNvSpPr/>
              <p:nvPr/>
            </p:nvSpPr>
            <p:spPr>
              <a:xfrm>
                <a:off x="9220458" y="3369837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1" name="Oval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458" y="3369837"/>
                <a:ext cx="613509" cy="533065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Oval 102"/>
              <p:cNvSpPr/>
              <p:nvPr/>
            </p:nvSpPr>
            <p:spPr>
              <a:xfrm>
                <a:off x="9216197" y="4177276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3" name="Oval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197" y="4177276"/>
                <a:ext cx="613509" cy="533065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Oval 103"/>
              <p:cNvSpPr/>
              <p:nvPr/>
            </p:nvSpPr>
            <p:spPr>
              <a:xfrm>
                <a:off x="9223220" y="4984715"/>
                <a:ext cx="613509" cy="53306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108000" tIns="0" rIns="0" b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04" name="Oval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3220" y="4984715"/>
                <a:ext cx="613509" cy="533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Arrow Connector 105"/>
          <p:cNvCxnSpPr>
            <a:stCxn id="34" idx="6"/>
            <a:endCxn id="98" idx="2"/>
          </p:cNvCxnSpPr>
          <p:nvPr/>
        </p:nvCxnSpPr>
        <p:spPr>
          <a:xfrm flipV="1">
            <a:off x="8288329" y="2012933"/>
            <a:ext cx="934891" cy="400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34" idx="6"/>
            <a:endCxn id="100" idx="2"/>
          </p:cNvCxnSpPr>
          <p:nvPr/>
        </p:nvCxnSpPr>
        <p:spPr>
          <a:xfrm>
            <a:off x="8288329" y="2413281"/>
            <a:ext cx="934891" cy="409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34" idx="6"/>
            <a:endCxn id="101" idx="2"/>
          </p:cNvCxnSpPr>
          <p:nvPr/>
        </p:nvCxnSpPr>
        <p:spPr>
          <a:xfrm>
            <a:off x="8288329" y="2413281"/>
            <a:ext cx="932129" cy="1223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34" idx="6"/>
            <a:endCxn id="103" idx="2"/>
          </p:cNvCxnSpPr>
          <p:nvPr/>
        </p:nvCxnSpPr>
        <p:spPr>
          <a:xfrm>
            <a:off x="8288329" y="2413281"/>
            <a:ext cx="927868" cy="2030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stCxn id="34" idx="6"/>
            <a:endCxn id="104" idx="2"/>
          </p:cNvCxnSpPr>
          <p:nvPr/>
        </p:nvCxnSpPr>
        <p:spPr>
          <a:xfrm>
            <a:off x="8288329" y="2413281"/>
            <a:ext cx="934891" cy="2837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83" idx="6"/>
            <a:endCxn id="98" idx="2"/>
          </p:cNvCxnSpPr>
          <p:nvPr/>
        </p:nvCxnSpPr>
        <p:spPr>
          <a:xfrm flipV="1">
            <a:off x="8288329" y="2012933"/>
            <a:ext cx="934891" cy="1172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>
            <a:stCxn id="83" idx="6"/>
            <a:endCxn id="100" idx="2"/>
          </p:cNvCxnSpPr>
          <p:nvPr/>
        </p:nvCxnSpPr>
        <p:spPr>
          <a:xfrm flipV="1">
            <a:off x="8288329" y="2823225"/>
            <a:ext cx="934891" cy="36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stCxn id="83" idx="6"/>
            <a:endCxn id="101" idx="2"/>
          </p:cNvCxnSpPr>
          <p:nvPr/>
        </p:nvCxnSpPr>
        <p:spPr>
          <a:xfrm>
            <a:off x="8288329" y="3185431"/>
            <a:ext cx="932129" cy="450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88" idx="6"/>
            <a:endCxn id="100" idx="2"/>
          </p:cNvCxnSpPr>
          <p:nvPr/>
        </p:nvCxnSpPr>
        <p:spPr>
          <a:xfrm flipV="1">
            <a:off x="8285567" y="2823225"/>
            <a:ext cx="937653" cy="1175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>
            <a:stCxn id="88" idx="6"/>
            <a:endCxn id="101" idx="2"/>
          </p:cNvCxnSpPr>
          <p:nvPr/>
        </p:nvCxnSpPr>
        <p:spPr>
          <a:xfrm flipV="1">
            <a:off x="8285567" y="3636370"/>
            <a:ext cx="934891" cy="36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89" idx="6"/>
            <a:endCxn id="103" idx="2"/>
          </p:cNvCxnSpPr>
          <p:nvPr/>
        </p:nvCxnSpPr>
        <p:spPr>
          <a:xfrm flipV="1">
            <a:off x="8281306" y="4443809"/>
            <a:ext cx="934891" cy="362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>
            <a:stCxn id="89" idx="6"/>
            <a:endCxn id="104" idx="2"/>
          </p:cNvCxnSpPr>
          <p:nvPr/>
        </p:nvCxnSpPr>
        <p:spPr>
          <a:xfrm>
            <a:off x="8281306" y="4806015"/>
            <a:ext cx="941914" cy="445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Oval 139"/>
          <p:cNvSpPr/>
          <p:nvPr/>
        </p:nvSpPr>
        <p:spPr>
          <a:xfrm>
            <a:off x="10627473" y="3360697"/>
            <a:ext cx="613509" cy="533065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08000" tIns="0" rIns="0" bIns="36000" rtlCol="0" anchor="ctr"/>
          <a:lstStyle/>
          <a:p>
            <a:pPr algn="ctr"/>
            <a:endParaRPr lang="en-US"/>
          </a:p>
        </p:txBody>
      </p:sp>
      <p:cxnSp>
        <p:nvCxnSpPr>
          <p:cNvPr id="141" name="Straight Arrow Connector 140"/>
          <p:cNvCxnSpPr>
            <a:stCxn id="98" idx="6"/>
            <a:endCxn id="140" idx="2"/>
          </p:cNvCxnSpPr>
          <p:nvPr/>
        </p:nvCxnSpPr>
        <p:spPr>
          <a:xfrm>
            <a:off x="9836729" y="2012933"/>
            <a:ext cx="790744" cy="1614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00" idx="6"/>
            <a:endCxn id="140" idx="2"/>
          </p:cNvCxnSpPr>
          <p:nvPr/>
        </p:nvCxnSpPr>
        <p:spPr>
          <a:xfrm>
            <a:off x="9836729" y="2823225"/>
            <a:ext cx="790744" cy="804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>
            <a:stCxn id="101" idx="6"/>
            <a:endCxn id="140" idx="2"/>
          </p:cNvCxnSpPr>
          <p:nvPr/>
        </p:nvCxnSpPr>
        <p:spPr>
          <a:xfrm flipV="1">
            <a:off x="9833967" y="3627230"/>
            <a:ext cx="793506" cy="9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>
            <a:stCxn id="103" idx="6"/>
            <a:endCxn id="140" idx="2"/>
          </p:cNvCxnSpPr>
          <p:nvPr/>
        </p:nvCxnSpPr>
        <p:spPr>
          <a:xfrm flipV="1">
            <a:off x="9829706" y="3627230"/>
            <a:ext cx="797767" cy="81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>
            <a:stCxn id="104" idx="6"/>
            <a:endCxn id="140" idx="2"/>
          </p:cNvCxnSpPr>
          <p:nvPr/>
        </p:nvCxnSpPr>
        <p:spPr>
          <a:xfrm flipV="1">
            <a:off x="9836729" y="3627230"/>
            <a:ext cx="790744" cy="1624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/>
              <p:cNvSpPr txBox="1"/>
              <p:nvPr/>
            </p:nvSpPr>
            <p:spPr>
              <a:xfrm>
                <a:off x="9522951" y="5251247"/>
                <a:ext cx="1153201" cy="1034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6" name="TextBox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2951" y="5251247"/>
                <a:ext cx="1153201" cy="103464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/>
              <p:cNvSpPr txBox="1"/>
              <p:nvPr/>
            </p:nvSpPr>
            <p:spPr>
              <a:xfrm>
                <a:off x="9375471" y="1218245"/>
                <a:ext cx="18655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5471" y="1218245"/>
                <a:ext cx="1865511" cy="461665"/>
              </a:xfrm>
              <a:prstGeom prst="rect">
                <a:avLst/>
              </a:prstGeom>
              <a:blipFill>
                <a:blip r:embed="rId23"/>
                <a:stretch>
                  <a:fillRect r="-65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ight Arrow 92"/>
          <p:cNvSpPr/>
          <p:nvPr/>
        </p:nvSpPr>
        <p:spPr>
          <a:xfrm>
            <a:off x="5258341" y="3312546"/>
            <a:ext cx="600364" cy="1185228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4C07E57-9EA9-469F-A101-3C57C51F5CD2}"/>
              </a:ext>
            </a:extLst>
          </p:cNvPr>
          <p:cNvGrpSpPr/>
          <p:nvPr/>
        </p:nvGrpSpPr>
        <p:grpSpPr>
          <a:xfrm>
            <a:off x="674914" y="2006824"/>
            <a:ext cx="4695919" cy="3610466"/>
            <a:chOff x="674914" y="2006824"/>
            <a:chExt cx="4695919" cy="3610466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0082FECA-F486-4A22-9DA8-3A0DF0F47DAE}"/>
                </a:ext>
              </a:extLst>
            </p:cNvPr>
            <p:cNvGrpSpPr/>
            <p:nvPr/>
          </p:nvGrpSpPr>
          <p:grpSpPr>
            <a:xfrm>
              <a:off x="921404" y="2006824"/>
              <a:ext cx="4200213" cy="3610466"/>
              <a:chOff x="1116788" y="1999008"/>
              <a:chExt cx="4200213" cy="361046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Oval 122">
                    <a:extLst>
                      <a:ext uri="{FF2B5EF4-FFF2-40B4-BE49-F238E27FC236}">
                        <a16:creationId xmlns:a16="http://schemas.microsoft.com/office/drawing/2014/main" id="{884B8F99-A49E-4706-8195-7BD146851381}"/>
                      </a:ext>
                    </a:extLst>
                  </p:cNvPr>
                  <p:cNvSpPr/>
                  <p:nvPr/>
                </p:nvSpPr>
                <p:spPr>
                  <a:xfrm>
                    <a:off x="2539999" y="2636073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&gt;5.1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23" name="Oval 122">
                    <a:extLst>
                      <a:ext uri="{FF2B5EF4-FFF2-40B4-BE49-F238E27FC236}">
                        <a16:creationId xmlns:a16="http://schemas.microsoft.com/office/drawing/2014/main" id="{884B8F99-A49E-4706-8195-7BD14685138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9999" y="2636073"/>
                    <a:ext cx="1524001" cy="533065"/>
                  </a:xfrm>
                  <a:prstGeom prst="ellipse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D121F860-2B58-4A48-974B-AA612807F74E}"/>
                  </a:ext>
                </a:extLst>
              </p:cNvPr>
              <p:cNvCxnSpPr>
                <a:stCxn id="126" idx="2"/>
                <a:endCxn id="123" idx="0"/>
              </p:cNvCxnSpPr>
              <p:nvPr/>
            </p:nvCxnSpPr>
            <p:spPr>
              <a:xfrm>
                <a:off x="3302000" y="2368340"/>
                <a:ext cx="0" cy="2677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ABC61972-3E55-4E0B-BB32-CBE0D5FF096B}"/>
                      </a:ext>
                    </a:extLst>
                  </p:cNvPr>
                  <p:cNvSpPr txBox="1"/>
                  <p:nvPr/>
                </p:nvSpPr>
                <p:spPr>
                  <a:xfrm>
                    <a:off x="2811000" y="1999008"/>
                    <a:ext cx="982000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𝕩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oMath>
                      </m:oMathPara>
                    </a14:m>
                    <a:endParaRPr lang="en-US" sz="2400"/>
                  </a:p>
                </p:txBody>
              </p:sp>
            </mc:Choice>
            <mc:Fallback xmlns=""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ABC61972-3E55-4E0B-BB32-CBE0D5FF09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11000" y="1999008"/>
                    <a:ext cx="982000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4348" r="-1863"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77ED4490-4A80-4B0D-BFD3-B76BA3395D5F}"/>
                  </a:ext>
                </a:extLst>
              </p:cNvPr>
              <p:cNvCxnSpPr>
                <a:stCxn id="123" idx="4"/>
                <a:endCxn id="137" idx="7"/>
              </p:cNvCxnSpPr>
              <p:nvPr/>
            </p:nvCxnSpPr>
            <p:spPr>
              <a:xfrm flipH="1">
                <a:off x="2557722" y="3169138"/>
                <a:ext cx="744278" cy="2711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BC9A5FF8-D3F5-4A1D-BE24-D6AADBF61CF1}"/>
                  </a:ext>
                </a:extLst>
              </p:cNvPr>
              <p:cNvCxnSpPr>
                <a:stCxn id="123" idx="4"/>
                <a:endCxn id="138" idx="1"/>
              </p:cNvCxnSpPr>
              <p:nvPr/>
            </p:nvCxnSpPr>
            <p:spPr>
              <a:xfrm>
                <a:off x="3302000" y="3169138"/>
                <a:ext cx="714185" cy="2711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C9D4B94-3DA6-4835-BA21-F27A4CBEC132}"/>
                  </a:ext>
                </a:extLst>
              </p:cNvPr>
              <p:cNvSpPr txBox="1"/>
              <p:nvPr/>
            </p:nvSpPr>
            <p:spPr>
              <a:xfrm>
                <a:off x="2641104" y="3048553"/>
                <a:ext cx="3097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/>
                  <a:t>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Oval 131">
                    <a:extLst>
                      <a:ext uri="{FF2B5EF4-FFF2-40B4-BE49-F238E27FC236}">
                        <a16:creationId xmlns:a16="http://schemas.microsoft.com/office/drawing/2014/main" id="{8CE705D3-0E0D-44EC-8306-9F5B5F43AD61}"/>
                      </a:ext>
                    </a:extLst>
                  </p:cNvPr>
                  <p:cNvSpPr/>
                  <p:nvPr/>
                </p:nvSpPr>
                <p:spPr>
                  <a:xfrm>
                    <a:off x="2048999" y="4243574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&gt;2.4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32" name="Oval 131">
                    <a:extLst>
                      <a:ext uri="{FF2B5EF4-FFF2-40B4-BE49-F238E27FC236}">
                        <a16:creationId xmlns:a16="http://schemas.microsoft.com/office/drawing/2014/main" id="{8CE705D3-0E0D-44EC-8306-9F5B5F43AD6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8999" y="4243574"/>
                    <a:ext cx="1524001" cy="533065"/>
                  </a:xfrm>
                  <a:prstGeom prst="ellipse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40EE3BF6-A9F8-4666-852F-50FC1CE0A7BA}"/>
                  </a:ext>
                </a:extLst>
              </p:cNvPr>
              <p:cNvCxnSpPr>
                <a:stCxn id="137" idx="4"/>
                <a:endCxn id="132" idx="1"/>
              </p:cNvCxnSpPr>
              <p:nvPr/>
            </p:nvCxnSpPr>
            <p:spPr>
              <a:xfrm>
                <a:off x="2018907" y="3895322"/>
                <a:ext cx="253277" cy="4263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C3908F07-D9AE-4555-80DE-6F3CE667CE52}"/>
                  </a:ext>
                </a:extLst>
              </p:cNvPr>
              <p:cNvSpPr/>
              <p:nvPr/>
            </p:nvSpPr>
            <p:spPr>
              <a:xfrm>
                <a:off x="1116788" y="4243574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10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E1641545-05CA-4B67-A460-673FBAE5DDB9}"/>
                      </a:ext>
                    </a:extLst>
                  </p:cNvPr>
                  <p:cNvSpPr/>
                  <p:nvPr/>
                </p:nvSpPr>
                <p:spPr>
                  <a:xfrm>
                    <a:off x="1256906" y="3362257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&gt;1.8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E1641545-05CA-4B67-A460-673FBAE5DDB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6906" y="3362257"/>
                    <a:ext cx="1524001" cy="533065"/>
                  </a:xfrm>
                  <a:prstGeom prst="ellipse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Oval 137">
                    <a:extLst>
                      <a:ext uri="{FF2B5EF4-FFF2-40B4-BE49-F238E27FC236}">
                        <a16:creationId xmlns:a16="http://schemas.microsoft.com/office/drawing/2014/main" id="{0D5CCB21-8364-4BD7-954A-361BB56174F8}"/>
                      </a:ext>
                    </a:extLst>
                  </p:cNvPr>
                  <p:cNvSpPr/>
                  <p:nvPr/>
                </p:nvSpPr>
                <p:spPr>
                  <a:xfrm>
                    <a:off x="3793000" y="3362257"/>
                    <a:ext cx="1524001" cy="533065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𝕩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&gt;0.4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38" name="Oval 137">
                    <a:extLst>
                      <a:ext uri="{FF2B5EF4-FFF2-40B4-BE49-F238E27FC236}">
                        <a16:creationId xmlns:a16="http://schemas.microsoft.com/office/drawing/2014/main" id="{0D5CCB21-8364-4BD7-954A-361BB56174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93000" y="3362257"/>
                    <a:ext cx="1524001" cy="533065"/>
                  </a:xfrm>
                  <a:prstGeom prst="ellipse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B267AC98-3C80-431F-9F5C-B4DD629BC0C6}"/>
                  </a:ext>
                </a:extLst>
              </p:cNvPr>
              <p:cNvCxnSpPr>
                <a:stCxn id="137" idx="4"/>
                <a:endCxn id="135" idx="7"/>
              </p:cNvCxnSpPr>
              <p:nvPr/>
            </p:nvCxnSpPr>
            <p:spPr>
              <a:xfrm flipH="1">
                <a:off x="1742368" y="3895322"/>
                <a:ext cx="276539" cy="4263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527D7CAC-9259-469D-B837-D8FA209C252B}"/>
                  </a:ext>
                </a:extLst>
              </p:cNvPr>
              <p:cNvSpPr/>
              <p:nvPr/>
            </p:nvSpPr>
            <p:spPr>
              <a:xfrm>
                <a:off x="2048999" y="5076490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20</a:t>
                </a:r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E4EAC3B7-4183-4E7D-BD8F-6D7C5D12D002}"/>
                  </a:ext>
                </a:extLst>
              </p:cNvPr>
              <p:cNvSpPr/>
              <p:nvPr/>
            </p:nvSpPr>
            <p:spPr>
              <a:xfrm>
                <a:off x="2840087" y="5076490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30</a:t>
                </a:r>
              </a:p>
            </p:txBody>
          </p: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131AD2E7-657B-44D0-A459-C4C67653EC94}"/>
                  </a:ext>
                </a:extLst>
              </p:cNvPr>
              <p:cNvCxnSpPr>
                <a:stCxn id="132" idx="4"/>
                <a:endCxn id="142" idx="0"/>
              </p:cNvCxnSpPr>
              <p:nvPr/>
            </p:nvCxnSpPr>
            <p:spPr>
              <a:xfrm flipH="1">
                <a:off x="2415456" y="4776639"/>
                <a:ext cx="395544" cy="2998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34F4C8E1-49C9-47C3-812E-CB4C1EB7FEAB}"/>
                  </a:ext>
                </a:extLst>
              </p:cNvPr>
              <p:cNvCxnSpPr>
                <a:stCxn id="132" idx="4"/>
                <a:endCxn id="143" idx="0"/>
              </p:cNvCxnSpPr>
              <p:nvPr/>
            </p:nvCxnSpPr>
            <p:spPr>
              <a:xfrm>
                <a:off x="2811000" y="4776639"/>
                <a:ext cx="395544" cy="2998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B4A39C49-E34C-4989-9F31-7FB17BED32A8}"/>
                  </a:ext>
                </a:extLst>
              </p:cNvPr>
              <p:cNvSpPr/>
              <p:nvPr/>
            </p:nvSpPr>
            <p:spPr>
              <a:xfrm>
                <a:off x="4584088" y="4243574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50</a:t>
                </a: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35CD6E0C-6DC6-4786-88A6-E5F209584A59}"/>
                  </a:ext>
                </a:extLst>
              </p:cNvPr>
              <p:cNvSpPr/>
              <p:nvPr/>
            </p:nvSpPr>
            <p:spPr>
              <a:xfrm>
                <a:off x="3791610" y="4243574"/>
                <a:ext cx="732913" cy="532984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40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131217B0-EC46-4E7A-94F2-03A84B2EA062}"/>
                  </a:ext>
                </a:extLst>
              </p:cNvPr>
              <p:cNvCxnSpPr>
                <a:stCxn id="138" idx="4"/>
                <a:endCxn id="148" idx="0"/>
              </p:cNvCxnSpPr>
              <p:nvPr/>
            </p:nvCxnSpPr>
            <p:spPr>
              <a:xfrm>
                <a:off x="4555001" y="3895322"/>
                <a:ext cx="395544" cy="3482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BF20BDAE-B88C-4638-A5F4-0650108AAE5B}"/>
                  </a:ext>
                </a:extLst>
              </p:cNvPr>
              <p:cNvCxnSpPr>
                <a:stCxn id="138" idx="4"/>
                <a:endCxn id="149" idx="0"/>
              </p:cNvCxnSpPr>
              <p:nvPr/>
            </p:nvCxnSpPr>
            <p:spPr>
              <a:xfrm flipH="1">
                <a:off x="4158067" y="3895322"/>
                <a:ext cx="396934" cy="3482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1701BD59-CBA1-4B5F-8D0D-B7C601D3E05A}"/>
                  </a:ext>
                </a:extLst>
              </p:cNvPr>
              <p:cNvSpPr txBox="1"/>
              <p:nvPr/>
            </p:nvSpPr>
            <p:spPr>
              <a:xfrm>
                <a:off x="3703748" y="3048553"/>
                <a:ext cx="3097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/>
                  <a:t>F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A5B1217-122F-4434-9780-5484B008F8FF}"/>
                    </a:ext>
                  </a:extLst>
                </p:cNvPr>
                <p:cNvSpPr txBox="1"/>
                <p:nvPr/>
              </p:nvSpPr>
              <p:spPr>
                <a:xfrm>
                  <a:off x="2020221" y="2693090"/>
                  <a:ext cx="31887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A5B1217-122F-4434-9780-5484B008F8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0221" y="2693090"/>
                  <a:ext cx="318870" cy="307777"/>
                </a:xfrm>
                <a:prstGeom prst="rect">
                  <a:avLst/>
                </a:prstGeom>
                <a:blipFill>
                  <a:blip r:embed="rId29"/>
                  <a:stretch>
                    <a:fillRect l="-9434" r="-5660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0D91DE81-1462-4F0F-B7AD-7480879B91AF}"/>
                    </a:ext>
                  </a:extLst>
                </p:cNvPr>
                <p:cNvSpPr txBox="1"/>
                <p:nvPr/>
              </p:nvSpPr>
              <p:spPr>
                <a:xfrm>
                  <a:off x="736689" y="3462034"/>
                  <a:ext cx="32483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0D91DE81-1462-4F0F-B7AD-7480879B91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689" y="3462034"/>
                  <a:ext cx="324833" cy="307777"/>
                </a:xfrm>
                <a:prstGeom prst="rect">
                  <a:avLst/>
                </a:prstGeom>
                <a:blipFill>
                  <a:blip r:embed="rId30"/>
                  <a:stretch>
                    <a:fillRect l="-11321" r="-7547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785957BA-8513-4CB0-A513-FD708E9116E0}"/>
                    </a:ext>
                  </a:extLst>
                </p:cNvPr>
                <p:cNvSpPr txBox="1"/>
                <p:nvPr/>
              </p:nvSpPr>
              <p:spPr>
                <a:xfrm>
                  <a:off x="3307759" y="3455719"/>
                  <a:ext cx="32483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785957BA-8513-4CB0-A513-FD708E9116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7759" y="3455719"/>
                  <a:ext cx="324833" cy="307777"/>
                </a:xfrm>
                <a:prstGeom prst="rect">
                  <a:avLst/>
                </a:prstGeom>
                <a:blipFill>
                  <a:blip r:embed="rId31"/>
                  <a:stretch>
                    <a:fillRect l="-11321" r="-7547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F273024F-95DC-4601-A7E0-7F8EABEB8132}"/>
                    </a:ext>
                  </a:extLst>
                </p:cNvPr>
                <p:cNvSpPr txBox="1"/>
                <p:nvPr/>
              </p:nvSpPr>
              <p:spPr>
                <a:xfrm>
                  <a:off x="2499450" y="3923375"/>
                  <a:ext cx="32483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F273024F-95DC-4601-A7E0-7F8EABEB81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9450" y="3923375"/>
                  <a:ext cx="324833" cy="307777"/>
                </a:xfrm>
                <a:prstGeom prst="rect">
                  <a:avLst/>
                </a:prstGeom>
                <a:blipFill>
                  <a:blip r:embed="rId32"/>
                  <a:stretch>
                    <a:fillRect l="-9434" r="-9434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75AF8F94-96C6-4D38-84C4-96A6F84EBE73}"/>
                    </a:ext>
                  </a:extLst>
                </p:cNvPr>
                <p:cNvSpPr txBox="1"/>
                <p:nvPr/>
              </p:nvSpPr>
              <p:spPr>
                <a:xfrm>
                  <a:off x="674914" y="4355580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75AF8F94-96C6-4D38-84C4-96A6F84EBE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914" y="4355580"/>
                  <a:ext cx="259109" cy="307777"/>
                </a:xfrm>
                <a:prstGeom prst="rect">
                  <a:avLst/>
                </a:prstGeom>
                <a:blipFill>
                  <a:blip r:embed="rId33"/>
                  <a:stretch>
                    <a:fillRect l="-23810" r="-7143" b="-137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ECA0C32E-DA91-4F2D-BF6C-9EDD98C80B3D}"/>
                    </a:ext>
                  </a:extLst>
                </p:cNvPr>
                <p:cNvSpPr txBox="1"/>
                <p:nvPr/>
              </p:nvSpPr>
              <p:spPr>
                <a:xfrm>
                  <a:off x="1629553" y="5196909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ECA0C32E-DA91-4F2D-BF6C-9EDD98C80B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9553" y="5196909"/>
                  <a:ext cx="259109" cy="307777"/>
                </a:xfrm>
                <a:prstGeom prst="rect">
                  <a:avLst/>
                </a:prstGeom>
                <a:blipFill>
                  <a:blip r:embed="rId34"/>
                  <a:stretch>
                    <a:fillRect l="-23256" r="-9302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B82FA73-AB60-4B42-A275-FAA97A3E6126}"/>
                    </a:ext>
                  </a:extLst>
                </p:cNvPr>
                <p:cNvSpPr txBox="1"/>
                <p:nvPr/>
              </p:nvSpPr>
              <p:spPr>
                <a:xfrm>
                  <a:off x="3365384" y="5196909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B82FA73-AB60-4B42-A275-FAA97A3E61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5384" y="5196909"/>
                  <a:ext cx="259109" cy="307777"/>
                </a:xfrm>
                <a:prstGeom prst="rect">
                  <a:avLst/>
                </a:prstGeom>
                <a:blipFill>
                  <a:blip r:embed="rId35"/>
                  <a:stretch>
                    <a:fillRect l="-23256" r="-9302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17757F0E-F58A-40F0-AEF5-CDD964F03D0C}"/>
                    </a:ext>
                  </a:extLst>
                </p:cNvPr>
                <p:cNvSpPr txBox="1"/>
                <p:nvPr/>
              </p:nvSpPr>
              <p:spPr>
                <a:xfrm>
                  <a:off x="3365385" y="4355579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17757F0E-F58A-40F0-AEF5-CDD964F03D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5385" y="4355579"/>
                  <a:ext cx="259109" cy="307777"/>
                </a:xfrm>
                <a:prstGeom prst="rect">
                  <a:avLst/>
                </a:prstGeom>
                <a:blipFill>
                  <a:blip r:embed="rId36"/>
                  <a:stretch>
                    <a:fillRect l="-23256" r="-6977" b="-137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2D88579F-72B9-49D3-A49C-ED6FEC698FDF}"/>
                    </a:ext>
                  </a:extLst>
                </p:cNvPr>
                <p:cNvSpPr txBox="1"/>
                <p:nvPr/>
              </p:nvSpPr>
              <p:spPr>
                <a:xfrm>
                  <a:off x="5111724" y="4354654"/>
                  <a:ext cx="25910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2D88579F-72B9-49D3-A49C-ED6FEC698F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1724" y="4354654"/>
                  <a:ext cx="259109" cy="307777"/>
                </a:xfrm>
                <a:prstGeom prst="rect">
                  <a:avLst/>
                </a:prstGeom>
                <a:blipFill>
                  <a:blip r:embed="rId37"/>
                  <a:stretch>
                    <a:fillRect l="-23810" r="-9524" b="-156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E001F48-84D4-4921-BD59-E07D578997C0}"/>
              </a:ext>
            </a:extLst>
          </p:cNvPr>
          <p:cNvCxnSpPr>
            <a:cxnSpLocks/>
          </p:cNvCxnSpPr>
          <p:nvPr/>
        </p:nvCxnSpPr>
        <p:spPr>
          <a:xfrm>
            <a:off x="7950967" y="1393213"/>
            <a:ext cx="0" cy="573393"/>
          </a:xfrm>
          <a:prstGeom prst="straightConnector1">
            <a:avLst/>
          </a:prstGeom>
          <a:ln w="57150">
            <a:solidFill>
              <a:schemeClr val="accent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4DB0E56-07C1-40F5-A99C-00849B2C7338}"/>
              </a:ext>
            </a:extLst>
          </p:cNvPr>
          <p:cNvSpPr txBox="1"/>
          <p:nvPr/>
        </p:nvSpPr>
        <p:spPr>
          <a:xfrm>
            <a:off x="6266808" y="931090"/>
            <a:ext cx="356289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>
                <a:solidFill>
                  <a:schemeClr val="accent1"/>
                </a:solidFill>
              </a:rPr>
              <a:t>Evaluate all conditions together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DB8525B-FAF7-4676-BA5F-7D811A3D4054}"/>
              </a:ext>
            </a:extLst>
          </p:cNvPr>
          <p:cNvCxnSpPr>
            <a:cxnSpLocks/>
          </p:cNvCxnSpPr>
          <p:nvPr/>
        </p:nvCxnSpPr>
        <p:spPr>
          <a:xfrm flipV="1">
            <a:off x="9453196" y="5538098"/>
            <a:ext cx="0" cy="656283"/>
          </a:xfrm>
          <a:prstGeom prst="straightConnector1">
            <a:avLst/>
          </a:prstGeom>
          <a:ln w="57150">
            <a:solidFill>
              <a:schemeClr val="accent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17CD2CA-EEA2-4ED0-82F6-E8A3CDF6285C}"/>
              </a:ext>
            </a:extLst>
          </p:cNvPr>
          <p:cNvSpPr txBox="1"/>
          <p:nvPr/>
        </p:nvSpPr>
        <p:spPr>
          <a:xfrm>
            <a:off x="8055280" y="6325218"/>
            <a:ext cx="29984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>
                <a:solidFill>
                  <a:schemeClr val="accent1"/>
                </a:solidFill>
              </a:rPr>
              <a:t>Evaluate all paths together</a:t>
            </a:r>
          </a:p>
        </p:txBody>
      </p:sp>
    </p:spTree>
    <p:extLst>
      <p:ext uri="{BB962C8B-B14F-4D97-AF65-F5344CB8AC3E}">
        <p14:creationId xmlns:p14="http://schemas.microsoft.com/office/powerpoint/2010/main" val="255177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Translating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Random forest, boosting, …</a:t>
            </a:r>
          </a:p>
        </p:txBody>
      </p:sp>
      <p:pic>
        <p:nvPicPr>
          <p:cNvPr id="4" name="Picture 2" descr="binary tree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968" y="2503487"/>
            <a:ext cx="1760128" cy="149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inary tree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842" y="2503485"/>
            <a:ext cx="1760128" cy="149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binary tree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970" y="2503485"/>
            <a:ext cx="1760128" cy="149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>
            <a:stCxn id="4" idx="2"/>
          </p:cNvCxnSpPr>
          <p:nvPr/>
        </p:nvCxnSpPr>
        <p:spPr>
          <a:xfrm>
            <a:off x="2135032" y="3994150"/>
            <a:ext cx="1481733" cy="984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6" idx="2"/>
          </p:cNvCxnSpPr>
          <p:nvPr/>
        </p:nvCxnSpPr>
        <p:spPr>
          <a:xfrm flipH="1">
            <a:off x="3814618" y="3994148"/>
            <a:ext cx="1674416" cy="984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</p:cNvCxnSpPr>
          <p:nvPr/>
        </p:nvCxnSpPr>
        <p:spPr>
          <a:xfrm>
            <a:off x="3728906" y="3994148"/>
            <a:ext cx="0" cy="984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 flipH="1">
            <a:off x="3226574" y="4978400"/>
            <a:ext cx="1382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output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6734536" y="2219327"/>
            <a:ext cx="2039331" cy="1774821"/>
            <a:chOff x="5963813" y="1601684"/>
            <a:chExt cx="5277169" cy="4592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/>
                <p:cNvSpPr/>
                <p:nvPr/>
              </p:nvSpPr>
              <p:spPr>
                <a:xfrm>
                  <a:off x="5963814" y="1601684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19" name="Oval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4" y="1601684"/>
                  <a:ext cx="613509" cy="533065"/>
                </a:xfrm>
                <a:prstGeom prst="ellipse">
                  <a:avLst/>
                </a:prstGeom>
                <a:blipFill>
                  <a:blip r:embed="rId3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val 19"/>
                <p:cNvSpPr/>
                <p:nvPr/>
              </p:nvSpPr>
              <p:spPr>
                <a:xfrm>
                  <a:off x="5963814" y="2279465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20" name="Oval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4" y="2279465"/>
                  <a:ext cx="613509" cy="533065"/>
                </a:xfrm>
                <a:prstGeom prst="ellipse">
                  <a:avLst/>
                </a:prstGeom>
                <a:blipFill>
                  <a:blip r:embed="rId4"/>
                  <a:stretch>
                    <a:fillRect r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val 20"/>
                <p:cNvSpPr/>
                <p:nvPr/>
              </p:nvSpPr>
              <p:spPr>
                <a:xfrm>
                  <a:off x="5963814" y="2954599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21" name="Oval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4" y="2954599"/>
                  <a:ext cx="613509" cy="533065"/>
                </a:xfrm>
                <a:prstGeom prst="ellipse">
                  <a:avLst/>
                </a:prstGeom>
                <a:blipFill>
                  <a:blip r:embed="rId5"/>
                  <a:stretch>
                    <a:fillRect r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/>
                <p:cNvSpPr/>
                <p:nvPr/>
              </p:nvSpPr>
              <p:spPr>
                <a:xfrm>
                  <a:off x="5963813" y="3635914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22" name="Oval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3" y="3635914"/>
                  <a:ext cx="613509" cy="533065"/>
                </a:xfrm>
                <a:prstGeom prst="ellipse">
                  <a:avLst/>
                </a:prstGeom>
                <a:blipFill>
                  <a:blip r:embed="rId6"/>
                  <a:stretch>
                    <a:fillRect r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val 22"/>
                <p:cNvSpPr/>
                <p:nvPr/>
              </p:nvSpPr>
              <p:spPr>
                <a:xfrm>
                  <a:off x="5968074" y="4311048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23" name="Oval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8074" y="4311048"/>
                  <a:ext cx="613509" cy="533065"/>
                </a:xfrm>
                <a:prstGeom prst="ellipse">
                  <a:avLst/>
                </a:prstGeom>
                <a:blipFill>
                  <a:blip r:embed="rId7"/>
                  <a:stretch>
                    <a:fillRect r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val 23"/>
                <p:cNvSpPr/>
                <p:nvPr/>
              </p:nvSpPr>
              <p:spPr>
                <a:xfrm>
                  <a:off x="5963813" y="4986182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24" name="Oval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3" y="4986182"/>
                  <a:ext cx="613509" cy="533065"/>
                </a:xfrm>
                <a:prstGeom prst="ellipse">
                  <a:avLst/>
                </a:prstGeom>
                <a:blipFill>
                  <a:blip r:embed="rId8"/>
                  <a:stretch>
                    <a:fillRect r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val 24"/>
                <p:cNvSpPr/>
                <p:nvPr/>
              </p:nvSpPr>
              <p:spPr>
                <a:xfrm>
                  <a:off x="7674820" y="2146748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25" name="Oval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4820" y="2146748"/>
                  <a:ext cx="613509" cy="533065"/>
                </a:xfrm>
                <a:prstGeom prst="ellipse">
                  <a:avLst/>
                </a:prstGeom>
                <a:blipFill>
                  <a:blip r:embed="rId9"/>
                  <a:stretch>
                    <a:fillRect r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/>
            <p:cNvCxnSpPr>
              <a:stCxn id="21" idx="6"/>
              <a:endCxn id="25" idx="2"/>
            </p:cNvCxnSpPr>
            <p:nvPr/>
          </p:nvCxnSpPr>
          <p:spPr>
            <a:xfrm flipV="1">
              <a:off x="6577323" y="2413281"/>
              <a:ext cx="1097497" cy="8078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21" idx="6"/>
              <a:endCxn id="36" idx="2"/>
            </p:cNvCxnSpPr>
            <p:nvPr/>
          </p:nvCxnSpPr>
          <p:spPr>
            <a:xfrm>
              <a:off x="6577323" y="3221132"/>
              <a:ext cx="1094735" cy="777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23" idx="6"/>
              <a:endCxn id="37" idx="2"/>
            </p:cNvCxnSpPr>
            <p:nvPr/>
          </p:nvCxnSpPr>
          <p:spPr>
            <a:xfrm>
              <a:off x="6581583" y="4577581"/>
              <a:ext cx="1086214" cy="2284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9" idx="6"/>
              <a:endCxn id="35" idx="2"/>
            </p:cNvCxnSpPr>
            <p:nvPr/>
          </p:nvCxnSpPr>
          <p:spPr>
            <a:xfrm>
              <a:off x="6577323" y="1868217"/>
              <a:ext cx="1097497" cy="13172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val 29"/>
                <p:cNvSpPr/>
                <p:nvPr/>
              </p:nvSpPr>
              <p:spPr>
                <a:xfrm>
                  <a:off x="5963813" y="5661316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05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10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30" name="Oval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3" y="5661316"/>
                  <a:ext cx="613509" cy="533065"/>
                </a:xfrm>
                <a:prstGeom prst="ellipse">
                  <a:avLst/>
                </a:prstGeom>
                <a:blipFill>
                  <a:blip r:embed="rId10"/>
                  <a:stretch>
                    <a:fillRect r="-170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/>
            <p:cNvCxnSpPr>
              <a:stCxn id="30" idx="6"/>
              <a:endCxn id="25" idx="2"/>
            </p:cNvCxnSpPr>
            <p:nvPr/>
          </p:nvCxnSpPr>
          <p:spPr>
            <a:xfrm flipV="1">
              <a:off x="6577322" y="2413281"/>
              <a:ext cx="1097498" cy="35145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30" idx="6"/>
              <a:endCxn id="35" idx="2"/>
            </p:cNvCxnSpPr>
            <p:nvPr/>
          </p:nvCxnSpPr>
          <p:spPr>
            <a:xfrm flipV="1">
              <a:off x="6577322" y="3185431"/>
              <a:ext cx="1097498" cy="27424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30" idx="6"/>
              <a:endCxn id="36" idx="2"/>
            </p:cNvCxnSpPr>
            <p:nvPr/>
          </p:nvCxnSpPr>
          <p:spPr>
            <a:xfrm flipV="1">
              <a:off x="6577322" y="3998576"/>
              <a:ext cx="1094736" cy="19292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30" idx="6"/>
              <a:endCxn id="37" idx="2"/>
            </p:cNvCxnSpPr>
            <p:nvPr/>
          </p:nvCxnSpPr>
          <p:spPr>
            <a:xfrm flipV="1">
              <a:off x="6577322" y="4806015"/>
              <a:ext cx="1090475" cy="11218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val 34"/>
                <p:cNvSpPr/>
                <p:nvPr/>
              </p:nvSpPr>
              <p:spPr>
                <a:xfrm>
                  <a:off x="7674820" y="2918898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35" name="Oval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4820" y="2918898"/>
                  <a:ext cx="613509" cy="533065"/>
                </a:xfrm>
                <a:prstGeom prst="ellipse">
                  <a:avLst/>
                </a:prstGeom>
                <a:blipFill>
                  <a:blip r:embed="rId11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/>
                <p:cNvSpPr/>
                <p:nvPr/>
              </p:nvSpPr>
              <p:spPr>
                <a:xfrm>
                  <a:off x="7672058" y="3732043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36" name="Oval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2058" y="3732043"/>
                  <a:ext cx="613509" cy="533065"/>
                </a:xfrm>
                <a:prstGeom prst="ellipse">
                  <a:avLst/>
                </a:prstGeom>
                <a:blipFill>
                  <a:blip r:embed="rId12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/>
                <p:cNvSpPr/>
                <p:nvPr/>
              </p:nvSpPr>
              <p:spPr>
                <a:xfrm>
                  <a:off x="7667797" y="4539482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37" name="Oval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7797" y="4539482"/>
                  <a:ext cx="613509" cy="533065"/>
                </a:xfrm>
                <a:prstGeom prst="ellipse">
                  <a:avLst/>
                </a:prstGeom>
                <a:blipFill>
                  <a:blip r:embed="rId13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Oval 37"/>
                <p:cNvSpPr/>
                <p:nvPr/>
              </p:nvSpPr>
              <p:spPr>
                <a:xfrm>
                  <a:off x="9223220" y="1746400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38" name="Oval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220" y="1746400"/>
                  <a:ext cx="613509" cy="533065"/>
                </a:xfrm>
                <a:prstGeom prst="ellipse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val 38"/>
                <p:cNvSpPr/>
                <p:nvPr/>
              </p:nvSpPr>
              <p:spPr>
                <a:xfrm>
                  <a:off x="9223220" y="2556692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39" name="Oval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220" y="2556692"/>
                  <a:ext cx="613509" cy="533065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Oval 39"/>
                <p:cNvSpPr/>
                <p:nvPr/>
              </p:nvSpPr>
              <p:spPr>
                <a:xfrm>
                  <a:off x="9220458" y="3369837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40" name="Oval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458" y="3369837"/>
                  <a:ext cx="613509" cy="533065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Oval 40"/>
                <p:cNvSpPr/>
                <p:nvPr/>
              </p:nvSpPr>
              <p:spPr>
                <a:xfrm>
                  <a:off x="9216197" y="4177276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41" name="Oval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6197" y="4177276"/>
                  <a:ext cx="613509" cy="533065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val 41"/>
                <p:cNvSpPr/>
                <p:nvPr/>
              </p:nvSpPr>
              <p:spPr>
                <a:xfrm>
                  <a:off x="9223220" y="4984715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42" name="Oval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220" y="4984715"/>
                  <a:ext cx="613509" cy="533065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/>
            <p:cNvCxnSpPr>
              <a:stCxn id="25" idx="6"/>
              <a:endCxn id="38" idx="2"/>
            </p:cNvCxnSpPr>
            <p:nvPr/>
          </p:nvCxnSpPr>
          <p:spPr>
            <a:xfrm flipV="1">
              <a:off x="8288329" y="2012933"/>
              <a:ext cx="934891" cy="4003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25" idx="6"/>
              <a:endCxn id="39" idx="2"/>
            </p:cNvCxnSpPr>
            <p:nvPr/>
          </p:nvCxnSpPr>
          <p:spPr>
            <a:xfrm>
              <a:off x="8288329" y="2413281"/>
              <a:ext cx="934891" cy="4099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25" idx="6"/>
              <a:endCxn id="40" idx="2"/>
            </p:cNvCxnSpPr>
            <p:nvPr/>
          </p:nvCxnSpPr>
          <p:spPr>
            <a:xfrm>
              <a:off x="8288329" y="2413281"/>
              <a:ext cx="932129" cy="12230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25" idx="6"/>
              <a:endCxn id="41" idx="2"/>
            </p:cNvCxnSpPr>
            <p:nvPr/>
          </p:nvCxnSpPr>
          <p:spPr>
            <a:xfrm>
              <a:off x="8288329" y="2413281"/>
              <a:ext cx="927868" cy="20305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25" idx="6"/>
              <a:endCxn id="42" idx="2"/>
            </p:cNvCxnSpPr>
            <p:nvPr/>
          </p:nvCxnSpPr>
          <p:spPr>
            <a:xfrm>
              <a:off x="8288329" y="2413281"/>
              <a:ext cx="934891" cy="28379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35" idx="6"/>
              <a:endCxn id="38" idx="2"/>
            </p:cNvCxnSpPr>
            <p:nvPr/>
          </p:nvCxnSpPr>
          <p:spPr>
            <a:xfrm flipV="1">
              <a:off x="8288329" y="2012933"/>
              <a:ext cx="934891" cy="11724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35" idx="6"/>
              <a:endCxn id="39" idx="2"/>
            </p:cNvCxnSpPr>
            <p:nvPr/>
          </p:nvCxnSpPr>
          <p:spPr>
            <a:xfrm flipV="1">
              <a:off x="8288329" y="2823225"/>
              <a:ext cx="934891" cy="3622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35" idx="6"/>
              <a:endCxn id="40" idx="2"/>
            </p:cNvCxnSpPr>
            <p:nvPr/>
          </p:nvCxnSpPr>
          <p:spPr>
            <a:xfrm>
              <a:off x="8288329" y="3185431"/>
              <a:ext cx="932129" cy="4509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36" idx="6"/>
              <a:endCxn id="39" idx="2"/>
            </p:cNvCxnSpPr>
            <p:nvPr/>
          </p:nvCxnSpPr>
          <p:spPr>
            <a:xfrm flipV="1">
              <a:off x="8285567" y="2823225"/>
              <a:ext cx="937653" cy="1175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6" idx="6"/>
              <a:endCxn id="40" idx="2"/>
            </p:cNvCxnSpPr>
            <p:nvPr/>
          </p:nvCxnSpPr>
          <p:spPr>
            <a:xfrm flipV="1">
              <a:off x="8285567" y="3636370"/>
              <a:ext cx="934891" cy="3622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7" idx="6"/>
              <a:endCxn id="41" idx="2"/>
            </p:cNvCxnSpPr>
            <p:nvPr/>
          </p:nvCxnSpPr>
          <p:spPr>
            <a:xfrm flipV="1">
              <a:off x="8281306" y="4443809"/>
              <a:ext cx="934891" cy="3622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7" idx="6"/>
              <a:endCxn id="42" idx="2"/>
            </p:cNvCxnSpPr>
            <p:nvPr/>
          </p:nvCxnSpPr>
          <p:spPr>
            <a:xfrm>
              <a:off x="8281306" y="4806015"/>
              <a:ext cx="941914" cy="445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Oval 54"/>
            <p:cNvSpPr/>
            <p:nvPr/>
          </p:nvSpPr>
          <p:spPr>
            <a:xfrm>
              <a:off x="10627473" y="3360697"/>
              <a:ext cx="613509" cy="5330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108000" tIns="0" rIns="0" bIns="36000" rtlCol="0" anchor="ctr"/>
            <a:lstStyle/>
            <a:p>
              <a:pPr algn="ctr"/>
              <a:endParaRPr lang="en-US" sz="900"/>
            </a:p>
          </p:txBody>
        </p:sp>
        <p:cxnSp>
          <p:nvCxnSpPr>
            <p:cNvPr id="56" name="Straight Arrow Connector 55"/>
            <p:cNvCxnSpPr>
              <a:stCxn id="38" idx="6"/>
              <a:endCxn id="55" idx="2"/>
            </p:cNvCxnSpPr>
            <p:nvPr/>
          </p:nvCxnSpPr>
          <p:spPr>
            <a:xfrm>
              <a:off x="9836729" y="2012933"/>
              <a:ext cx="790744" cy="16142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39" idx="6"/>
              <a:endCxn id="55" idx="2"/>
            </p:cNvCxnSpPr>
            <p:nvPr/>
          </p:nvCxnSpPr>
          <p:spPr>
            <a:xfrm>
              <a:off x="9836729" y="2823225"/>
              <a:ext cx="790744" cy="8040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40" idx="6"/>
              <a:endCxn id="55" idx="2"/>
            </p:cNvCxnSpPr>
            <p:nvPr/>
          </p:nvCxnSpPr>
          <p:spPr>
            <a:xfrm flipV="1">
              <a:off x="9833967" y="3627230"/>
              <a:ext cx="793506" cy="91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41" idx="6"/>
              <a:endCxn id="55" idx="2"/>
            </p:cNvCxnSpPr>
            <p:nvPr/>
          </p:nvCxnSpPr>
          <p:spPr>
            <a:xfrm flipV="1">
              <a:off x="9829706" y="3627230"/>
              <a:ext cx="797767" cy="816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42" idx="6"/>
              <a:endCxn id="55" idx="2"/>
            </p:cNvCxnSpPr>
            <p:nvPr/>
          </p:nvCxnSpPr>
          <p:spPr>
            <a:xfrm flipV="1">
              <a:off x="9836729" y="3627230"/>
              <a:ext cx="790744" cy="16240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2" name="Group 61"/>
          <p:cNvGrpSpPr/>
          <p:nvPr/>
        </p:nvGrpSpPr>
        <p:grpSpPr>
          <a:xfrm>
            <a:off x="8196670" y="2378934"/>
            <a:ext cx="2039331" cy="1774821"/>
            <a:chOff x="5963813" y="1601684"/>
            <a:chExt cx="5277169" cy="4592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Oval 62"/>
                <p:cNvSpPr/>
                <p:nvPr/>
              </p:nvSpPr>
              <p:spPr>
                <a:xfrm>
                  <a:off x="5963814" y="1601684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63" name="Oval 6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4" y="1601684"/>
                  <a:ext cx="613509" cy="533065"/>
                </a:xfrm>
                <a:prstGeom prst="ellipse">
                  <a:avLst/>
                </a:prstGeom>
                <a:blipFill>
                  <a:blip r:embed="rId19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Oval 63"/>
                <p:cNvSpPr/>
                <p:nvPr/>
              </p:nvSpPr>
              <p:spPr>
                <a:xfrm>
                  <a:off x="5963814" y="2279465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64" name="Oval 6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4" y="2279465"/>
                  <a:ext cx="613509" cy="533065"/>
                </a:xfrm>
                <a:prstGeom prst="ellipse">
                  <a:avLst/>
                </a:prstGeom>
                <a:blipFill>
                  <a:blip r:embed="rId20"/>
                  <a:stretch>
                    <a:fillRect r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Oval 64"/>
                <p:cNvSpPr/>
                <p:nvPr/>
              </p:nvSpPr>
              <p:spPr>
                <a:xfrm>
                  <a:off x="5963814" y="2954599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65" name="Oval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4" y="2954599"/>
                  <a:ext cx="613509" cy="533065"/>
                </a:xfrm>
                <a:prstGeom prst="ellipse">
                  <a:avLst/>
                </a:prstGeom>
                <a:blipFill>
                  <a:blip r:embed="rId21"/>
                  <a:stretch>
                    <a:fillRect r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Oval 65"/>
                <p:cNvSpPr/>
                <p:nvPr/>
              </p:nvSpPr>
              <p:spPr>
                <a:xfrm>
                  <a:off x="5963813" y="3635914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66" name="Oval 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3" y="3635914"/>
                  <a:ext cx="613509" cy="533065"/>
                </a:xfrm>
                <a:prstGeom prst="ellipse">
                  <a:avLst/>
                </a:prstGeom>
                <a:blipFill>
                  <a:blip r:embed="rId22"/>
                  <a:stretch>
                    <a:fillRect r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Oval 66"/>
                <p:cNvSpPr/>
                <p:nvPr/>
              </p:nvSpPr>
              <p:spPr>
                <a:xfrm>
                  <a:off x="5968074" y="4311048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67" name="Oval 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8074" y="4311048"/>
                  <a:ext cx="613509" cy="533065"/>
                </a:xfrm>
                <a:prstGeom prst="ellipse">
                  <a:avLst/>
                </a:prstGeom>
                <a:blipFill>
                  <a:blip r:embed="rId23"/>
                  <a:stretch>
                    <a:fillRect r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Oval 67"/>
                <p:cNvSpPr/>
                <p:nvPr/>
              </p:nvSpPr>
              <p:spPr>
                <a:xfrm>
                  <a:off x="5963813" y="4986182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68" name="Oval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3" y="4986182"/>
                  <a:ext cx="613509" cy="533065"/>
                </a:xfrm>
                <a:prstGeom prst="ellipse">
                  <a:avLst/>
                </a:prstGeom>
                <a:blipFill>
                  <a:blip r:embed="rId24"/>
                  <a:stretch>
                    <a:fillRect r="-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Oval 68"/>
                <p:cNvSpPr/>
                <p:nvPr/>
              </p:nvSpPr>
              <p:spPr>
                <a:xfrm>
                  <a:off x="7674820" y="2146748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69" name="Oval 6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4820" y="2146748"/>
                  <a:ext cx="613509" cy="533065"/>
                </a:xfrm>
                <a:prstGeom prst="ellipse">
                  <a:avLst/>
                </a:prstGeom>
                <a:blipFill>
                  <a:blip r:embed="rId25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Straight Arrow Connector 69"/>
            <p:cNvCxnSpPr>
              <a:stCxn id="65" idx="6"/>
              <a:endCxn id="69" idx="2"/>
            </p:cNvCxnSpPr>
            <p:nvPr/>
          </p:nvCxnSpPr>
          <p:spPr>
            <a:xfrm flipV="1">
              <a:off x="6577323" y="2413281"/>
              <a:ext cx="1097497" cy="8078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stCxn id="65" idx="6"/>
              <a:endCxn id="80" idx="2"/>
            </p:cNvCxnSpPr>
            <p:nvPr/>
          </p:nvCxnSpPr>
          <p:spPr>
            <a:xfrm>
              <a:off x="6577323" y="3221132"/>
              <a:ext cx="1094735" cy="777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67" idx="6"/>
              <a:endCxn id="81" idx="2"/>
            </p:cNvCxnSpPr>
            <p:nvPr/>
          </p:nvCxnSpPr>
          <p:spPr>
            <a:xfrm>
              <a:off x="6581583" y="4577581"/>
              <a:ext cx="1086214" cy="2284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>
              <a:stCxn id="63" idx="6"/>
              <a:endCxn id="79" idx="2"/>
            </p:cNvCxnSpPr>
            <p:nvPr/>
          </p:nvCxnSpPr>
          <p:spPr>
            <a:xfrm>
              <a:off x="6577323" y="1868217"/>
              <a:ext cx="1097497" cy="13172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Oval 73"/>
                <p:cNvSpPr/>
                <p:nvPr/>
              </p:nvSpPr>
              <p:spPr>
                <a:xfrm>
                  <a:off x="5963813" y="5661316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05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10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74" name="Oval 7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3" y="5661316"/>
                  <a:ext cx="613509" cy="533065"/>
                </a:xfrm>
                <a:prstGeom prst="ellipse">
                  <a:avLst/>
                </a:prstGeom>
                <a:blipFill>
                  <a:blip r:embed="rId26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Straight Arrow Connector 74"/>
            <p:cNvCxnSpPr>
              <a:stCxn id="74" idx="6"/>
              <a:endCxn id="69" idx="2"/>
            </p:cNvCxnSpPr>
            <p:nvPr/>
          </p:nvCxnSpPr>
          <p:spPr>
            <a:xfrm flipV="1">
              <a:off x="6577322" y="2413281"/>
              <a:ext cx="1097498" cy="35145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>
              <a:stCxn id="74" idx="6"/>
              <a:endCxn id="79" idx="2"/>
            </p:cNvCxnSpPr>
            <p:nvPr/>
          </p:nvCxnSpPr>
          <p:spPr>
            <a:xfrm flipV="1">
              <a:off x="6577322" y="3185431"/>
              <a:ext cx="1097498" cy="27424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74" idx="6"/>
              <a:endCxn id="80" idx="2"/>
            </p:cNvCxnSpPr>
            <p:nvPr/>
          </p:nvCxnSpPr>
          <p:spPr>
            <a:xfrm flipV="1">
              <a:off x="6577322" y="3998576"/>
              <a:ext cx="1094736" cy="19292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>
              <a:stCxn id="74" idx="6"/>
              <a:endCxn id="81" idx="2"/>
            </p:cNvCxnSpPr>
            <p:nvPr/>
          </p:nvCxnSpPr>
          <p:spPr>
            <a:xfrm flipV="1">
              <a:off x="6577322" y="4806015"/>
              <a:ext cx="1090475" cy="11218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Oval 78"/>
                <p:cNvSpPr/>
                <p:nvPr/>
              </p:nvSpPr>
              <p:spPr>
                <a:xfrm>
                  <a:off x="7674820" y="2918898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79" name="Oval 7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4820" y="2918898"/>
                  <a:ext cx="613509" cy="533065"/>
                </a:xfrm>
                <a:prstGeom prst="ellipse">
                  <a:avLst/>
                </a:prstGeom>
                <a:blipFill>
                  <a:blip r:embed="rId27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Oval 79"/>
                <p:cNvSpPr/>
                <p:nvPr/>
              </p:nvSpPr>
              <p:spPr>
                <a:xfrm>
                  <a:off x="7672058" y="3732043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80" name="Oval 7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2058" y="3732043"/>
                  <a:ext cx="613509" cy="533065"/>
                </a:xfrm>
                <a:prstGeom prst="ellipse">
                  <a:avLst/>
                </a:prstGeom>
                <a:blipFill>
                  <a:blip r:embed="rId12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Oval 80"/>
                <p:cNvSpPr/>
                <p:nvPr/>
              </p:nvSpPr>
              <p:spPr>
                <a:xfrm>
                  <a:off x="7667797" y="4539482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81" name="Oval 8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7797" y="4539482"/>
                  <a:ext cx="613509" cy="533065"/>
                </a:xfrm>
                <a:prstGeom prst="ellipse">
                  <a:avLst/>
                </a:prstGeom>
                <a:blipFill>
                  <a:blip r:embed="rId13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Oval 81"/>
                <p:cNvSpPr/>
                <p:nvPr/>
              </p:nvSpPr>
              <p:spPr>
                <a:xfrm>
                  <a:off x="9223220" y="1746400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82" name="Oval 8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220" y="1746400"/>
                  <a:ext cx="613509" cy="533065"/>
                </a:xfrm>
                <a:prstGeom prst="ellipse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Oval 82"/>
                <p:cNvSpPr/>
                <p:nvPr/>
              </p:nvSpPr>
              <p:spPr>
                <a:xfrm>
                  <a:off x="9223220" y="2556692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83" name="Oval 8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220" y="2556692"/>
                  <a:ext cx="613509" cy="533065"/>
                </a:xfrm>
                <a:prstGeom prst="ellipse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Oval 83"/>
                <p:cNvSpPr/>
                <p:nvPr/>
              </p:nvSpPr>
              <p:spPr>
                <a:xfrm>
                  <a:off x="9220458" y="3369837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84" name="Oval 8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458" y="3369837"/>
                  <a:ext cx="613509" cy="533065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Oval 84"/>
                <p:cNvSpPr/>
                <p:nvPr/>
              </p:nvSpPr>
              <p:spPr>
                <a:xfrm>
                  <a:off x="9216197" y="4177276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85" name="Oval 8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6197" y="4177276"/>
                  <a:ext cx="613509" cy="533065"/>
                </a:xfrm>
                <a:prstGeom prst="ellipse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Oval 85"/>
                <p:cNvSpPr/>
                <p:nvPr/>
              </p:nvSpPr>
              <p:spPr>
                <a:xfrm>
                  <a:off x="9223220" y="4984715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86" name="Oval 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220" y="4984715"/>
                  <a:ext cx="613509" cy="533065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Straight Arrow Connector 86"/>
            <p:cNvCxnSpPr>
              <a:stCxn id="69" idx="6"/>
              <a:endCxn id="82" idx="2"/>
            </p:cNvCxnSpPr>
            <p:nvPr/>
          </p:nvCxnSpPr>
          <p:spPr>
            <a:xfrm flipV="1">
              <a:off x="8288329" y="2012933"/>
              <a:ext cx="934891" cy="4003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>
              <a:stCxn id="69" idx="6"/>
              <a:endCxn id="83" idx="2"/>
            </p:cNvCxnSpPr>
            <p:nvPr/>
          </p:nvCxnSpPr>
          <p:spPr>
            <a:xfrm>
              <a:off x="8288329" y="2413281"/>
              <a:ext cx="934891" cy="4099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69" idx="6"/>
              <a:endCxn id="84" idx="2"/>
            </p:cNvCxnSpPr>
            <p:nvPr/>
          </p:nvCxnSpPr>
          <p:spPr>
            <a:xfrm>
              <a:off x="8288329" y="2413281"/>
              <a:ext cx="932129" cy="12230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69" idx="6"/>
              <a:endCxn id="85" idx="2"/>
            </p:cNvCxnSpPr>
            <p:nvPr/>
          </p:nvCxnSpPr>
          <p:spPr>
            <a:xfrm>
              <a:off x="8288329" y="2413281"/>
              <a:ext cx="927868" cy="20305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stCxn id="69" idx="6"/>
              <a:endCxn id="86" idx="2"/>
            </p:cNvCxnSpPr>
            <p:nvPr/>
          </p:nvCxnSpPr>
          <p:spPr>
            <a:xfrm>
              <a:off x="8288329" y="2413281"/>
              <a:ext cx="934891" cy="28379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>
              <a:stCxn id="79" idx="6"/>
              <a:endCxn id="82" idx="2"/>
            </p:cNvCxnSpPr>
            <p:nvPr/>
          </p:nvCxnSpPr>
          <p:spPr>
            <a:xfrm flipV="1">
              <a:off x="8288329" y="2012933"/>
              <a:ext cx="934891" cy="11724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>
              <a:stCxn id="79" idx="6"/>
              <a:endCxn id="83" idx="2"/>
            </p:cNvCxnSpPr>
            <p:nvPr/>
          </p:nvCxnSpPr>
          <p:spPr>
            <a:xfrm flipV="1">
              <a:off x="8288329" y="2823225"/>
              <a:ext cx="934891" cy="3622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>
              <a:stCxn id="79" idx="6"/>
              <a:endCxn id="84" idx="2"/>
            </p:cNvCxnSpPr>
            <p:nvPr/>
          </p:nvCxnSpPr>
          <p:spPr>
            <a:xfrm>
              <a:off x="8288329" y="3185431"/>
              <a:ext cx="932129" cy="4509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>
              <a:stCxn id="80" idx="6"/>
              <a:endCxn id="83" idx="2"/>
            </p:cNvCxnSpPr>
            <p:nvPr/>
          </p:nvCxnSpPr>
          <p:spPr>
            <a:xfrm flipV="1">
              <a:off x="8285567" y="2823225"/>
              <a:ext cx="937653" cy="1175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>
              <a:stCxn id="80" idx="6"/>
              <a:endCxn id="84" idx="2"/>
            </p:cNvCxnSpPr>
            <p:nvPr/>
          </p:nvCxnSpPr>
          <p:spPr>
            <a:xfrm flipV="1">
              <a:off x="8285567" y="3636370"/>
              <a:ext cx="934891" cy="3622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>
              <a:stCxn id="81" idx="6"/>
              <a:endCxn id="85" idx="2"/>
            </p:cNvCxnSpPr>
            <p:nvPr/>
          </p:nvCxnSpPr>
          <p:spPr>
            <a:xfrm flipV="1">
              <a:off x="8281306" y="4443809"/>
              <a:ext cx="934891" cy="3622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>
              <a:stCxn id="81" idx="6"/>
              <a:endCxn id="86" idx="2"/>
            </p:cNvCxnSpPr>
            <p:nvPr/>
          </p:nvCxnSpPr>
          <p:spPr>
            <a:xfrm>
              <a:off x="8281306" y="4806015"/>
              <a:ext cx="941914" cy="445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Oval 98"/>
            <p:cNvSpPr/>
            <p:nvPr/>
          </p:nvSpPr>
          <p:spPr>
            <a:xfrm>
              <a:off x="10627473" y="3360697"/>
              <a:ext cx="613509" cy="5330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108000" tIns="0" rIns="0" bIns="36000" rtlCol="0" anchor="ctr"/>
            <a:lstStyle/>
            <a:p>
              <a:pPr algn="ctr"/>
              <a:endParaRPr lang="en-US" sz="900"/>
            </a:p>
          </p:txBody>
        </p:sp>
        <p:cxnSp>
          <p:nvCxnSpPr>
            <p:cNvPr id="100" name="Straight Arrow Connector 99"/>
            <p:cNvCxnSpPr>
              <a:stCxn id="82" idx="6"/>
              <a:endCxn id="99" idx="2"/>
            </p:cNvCxnSpPr>
            <p:nvPr/>
          </p:nvCxnSpPr>
          <p:spPr>
            <a:xfrm>
              <a:off x="9836729" y="2012933"/>
              <a:ext cx="790744" cy="16142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stCxn id="83" idx="6"/>
              <a:endCxn id="99" idx="2"/>
            </p:cNvCxnSpPr>
            <p:nvPr/>
          </p:nvCxnSpPr>
          <p:spPr>
            <a:xfrm>
              <a:off x="9836729" y="2823225"/>
              <a:ext cx="790744" cy="8040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84" idx="6"/>
              <a:endCxn id="99" idx="2"/>
            </p:cNvCxnSpPr>
            <p:nvPr/>
          </p:nvCxnSpPr>
          <p:spPr>
            <a:xfrm flipV="1">
              <a:off x="9833967" y="3627230"/>
              <a:ext cx="793506" cy="91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stCxn id="85" idx="6"/>
              <a:endCxn id="99" idx="2"/>
            </p:cNvCxnSpPr>
            <p:nvPr/>
          </p:nvCxnSpPr>
          <p:spPr>
            <a:xfrm flipV="1">
              <a:off x="9829706" y="3627230"/>
              <a:ext cx="797767" cy="816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>
              <a:stCxn id="86" idx="6"/>
              <a:endCxn id="99" idx="2"/>
            </p:cNvCxnSpPr>
            <p:nvPr/>
          </p:nvCxnSpPr>
          <p:spPr>
            <a:xfrm flipV="1">
              <a:off x="9836729" y="3627230"/>
              <a:ext cx="790744" cy="16240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5" name="Group 104"/>
          <p:cNvGrpSpPr/>
          <p:nvPr/>
        </p:nvGrpSpPr>
        <p:grpSpPr>
          <a:xfrm>
            <a:off x="9750188" y="2533239"/>
            <a:ext cx="2039331" cy="1774821"/>
            <a:chOff x="5963813" y="1601684"/>
            <a:chExt cx="5277169" cy="4592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Oval 105"/>
                <p:cNvSpPr/>
                <p:nvPr/>
              </p:nvSpPr>
              <p:spPr>
                <a:xfrm>
                  <a:off x="5963814" y="1601684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106" name="Oval 10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4" y="1601684"/>
                  <a:ext cx="613509" cy="533065"/>
                </a:xfrm>
                <a:prstGeom prst="ellipse">
                  <a:avLst/>
                </a:prstGeom>
                <a:blipFill>
                  <a:blip r:embed="rId30"/>
                  <a:stretch>
                    <a:fillRect r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Oval 106"/>
                <p:cNvSpPr/>
                <p:nvPr/>
              </p:nvSpPr>
              <p:spPr>
                <a:xfrm>
                  <a:off x="5963814" y="2279465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107" name="Oval 10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4" y="2279465"/>
                  <a:ext cx="613509" cy="533065"/>
                </a:xfrm>
                <a:prstGeom prst="ellipse">
                  <a:avLst/>
                </a:prstGeom>
                <a:blipFill>
                  <a:blip r:embed="rId31"/>
                  <a:stretch>
                    <a:fillRect r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Oval 107"/>
                <p:cNvSpPr/>
                <p:nvPr/>
              </p:nvSpPr>
              <p:spPr>
                <a:xfrm>
                  <a:off x="5963814" y="2954599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108" name="Oval 10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4" y="2954599"/>
                  <a:ext cx="613509" cy="533065"/>
                </a:xfrm>
                <a:prstGeom prst="ellipse">
                  <a:avLst/>
                </a:prstGeom>
                <a:blipFill>
                  <a:blip r:embed="rId32"/>
                  <a:stretch>
                    <a:fillRect r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Oval 108"/>
                <p:cNvSpPr/>
                <p:nvPr/>
              </p:nvSpPr>
              <p:spPr>
                <a:xfrm>
                  <a:off x="5963813" y="3635914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109" name="Oval 10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3" y="3635914"/>
                  <a:ext cx="613509" cy="533065"/>
                </a:xfrm>
                <a:prstGeom prst="ellipse">
                  <a:avLst/>
                </a:prstGeom>
                <a:blipFill>
                  <a:blip r:embed="rId33"/>
                  <a:stretch>
                    <a:fillRect r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Oval 109"/>
                <p:cNvSpPr/>
                <p:nvPr/>
              </p:nvSpPr>
              <p:spPr>
                <a:xfrm>
                  <a:off x="5968074" y="4311048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110" name="Oval 10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8074" y="4311048"/>
                  <a:ext cx="613509" cy="533065"/>
                </a:xfrm>
                <a:prstGeom prst="ellipse">
                  <a:avLst/>
                </a:prstGeom>
                <a:blipFill>
                  <a:blip r:embed="rId23"/>
                  <a:stretch>
                    <a:fillRect r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Oval 110"/>
                <p:cNvSpPr/>
                <p:nvPr/>
              </p:nvSpPr>
              <p:spPr>
                <a:xfrm>
                  <a:off x="5963813" y="4986182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𝕩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111" name="Oval 1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3" y="4986182"/>
                  <a:ext cx="613509" cy="533065"/>
                </a:xfrm>
                <a:prstGeom prst="ellipse">
                  <a:avLst/>
                </a:prstGeom>
                <a:blipFill>
                  <a:blip r:embed="rId34"/>
                  <a:stretch>
                    <a:fillRect r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Oval 111"/>
                <p:cNvSpPr/>
                <p:nvPr/>
              </p:nvSpPr>
              <p:spPr>
                <a:xfrm>
                  <a:off x="7674820" y="2146748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112" name="Oval 1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4820" y="2146748"/>
                  <a:ext cx="613509" cy="533065"/>
                </a:xfrm>
                <a:prstGeom prst="ellipse">
                  <a:avLst/>
                </a:prstGeom>
                <a:blipFill>
                  <a:blip r:embed="rId35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3" name="Straight Arrow Connector 112"/>
            <p:cNvCxnSpPr>
              <a:stCxn id="108" idx="6"/>
              <a:endCxn id="112" idx="2"/>
            </p:cNvCxnSpPr>
            <p:nvPr/>
          </p:nvCxnSpPr>
          <p:spPr>
            <a:xfrm flipV="1">
              <a:off x="6577323" y="2413281"/>
              <a:ext cx="1097497" cy="8078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>
              <a:stCxn id="108" idx="6"/>
              <a:endCxn id="123" idx="2"/>
            </p:cNvCxnSpPr>
            <p:nvPr/>
          </p:nvCxnSpPr>
          <p:spPr>
            <a:xfrm>
              <a:off x="6577323" y="3221132"/>
              <a:ext cx="1094735" cy="777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Straight Arrow Connector 114"/>
            <p:cNvCxnSpPr>
              <a:stCxn id="110" idx="6"/>
              <a:endCxn id="124" idx="2"/>
            </p:cNvCxnSpPr>
            <p:nvPr/>
          </p:nvCxnSpPr>
          <p:spPr>
            <a:xfrm>
              <a:off x="6581583" y="4577581"/>
              <a:ext cx="1086214" cy="2284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Arrow Connector 115"/>
            <p:cNvCxnSpPr>
              <a:stCxn id="106" idx="6"/>
              <a:endCxn id="122" idx="2"/>
            </p:cNvCxnSpPr>
            <p:nvPr/>
          </p:nvCxnSpPr>
          <p:spPr>
            <a:xfrm>
              <a:off x="6577323" y="1868217"/>
              <a:ext cx="1097497" cy="13172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Oval 116"/>
                <p:cNvSpPr/>
                <p:nvPr/>
              </p:nvSpPr>
              <p:spPr>
                <a:xfrm>
                  <a:off x="5963813" y="5661316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05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10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900"/>
                </a:p>
              </p:txBody>
            </p:sp>
          </mc:Choice>
          <mc:Fallback xmlns="">
            <p:sp>
              <p:nvSpPr>
                <p:cNvPr id="117" name="Oval 1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813" y="5661316"/>
                  <a:ext cx="613509" cy="533065"/>
                </a:xfrm>
                <a:prstGeom prst="ellipse">
                  <a:avLst/>
                </a:prstGeom>
                <a:blipFill>
                  <a:blip r:embed="rId36"/>
                  <a:stretch>
                    <a:fillRect r="-195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Straight Arrow Connector 117"/>
            <p:cNvCxnSpPr>
              <a:stCxn id="117" idx="6"/>
              <a:endCxn id="112" idx="2"/>
            </p:cNvCxnSpPr>
            <p:nvPr/>
          </p:nvCxnSpPr>
          <p:spPr>
            <a:xfrm flipV="1">
              <a:off x="6577322" y="2413281"/>
              <a:ext cx="1097498" cy="35145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>
              <a:stCxn id="117" idx="6"/>
              <a:endCxn id="122" idx="2"/>
            </p:cNvCxnSpPr>
            <p:nvPr/>
          </p:nvCxnSpPr>
          <p:spPr>
            <a:xfrm flipV="1">
              <a:off x="6577322" y="3185431"/>
              <a:ext cx="1097498" cy="27424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>
              <a:stCxn id="117" idx="6"/>
              <a:endCxn id="123" idx="2"/>
            </p:cNvCxnSpPr>
            <p:nvPr/>
          </p:nvCxnSpPr>
          <p:spPr>
            <a:xfrm flipV="1">
              <a:off x="6577322" y="3998576"/>
              <a:ext cx="1094736" cy="19292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>
              <a:stCxn id="117" idx="6"/>
              <a:endCxn id="124" idx="2"/>
            </p:cNvCxnSpPr>
            <p:nvPr/>
          </p:nvCxnSpPr>
          <p:spPr>
            <a:xfrm flipV="1">
              <a:off x="6577322" y="4806015"/>
              <a:ext cx="1090475" cy="11218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Oval 121"/>
                <p:cNvSpPr/>
                <p:nvPr/>
              </p:nvSpPr>
              <p:spPr>
                <a:xfrm>
                  <a:off x="7674820" y="2918898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122" name="Oval 1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4820" y="2918898"/>
                  <a:ext cx="613509" cy="533065"/>
                </a:xfrm>
                <a:prstGeom prst="ellipse">
                  <a:avLst/>
                </a:prstGeom>
                <a:blipFill>
                  <a:blip r:embed="rId37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Oval 122"/>
                <p:cNvSpPr/>
                <p:nvPr/>
              </p:nvSpPr>
              <p:spPr>
                <a:xfrm>
                  <a:off x="7672058" y="3732043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123" name="Oval 1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2058" y="3732043"/>
                  <a:ext cx="613509" cy="533065"/>
                </a:xfrm>
                <a:prstGeom prst="ellipse">
                  <a:avLst/>
                </a:prstGeom>
                <a:blipFill>
                  <a:blip r:embed="rId38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Oval 123"/>
                <p:cNvSpPr/>
                <p:nvPr/>
              </p:nvSpPr>
              <p:spPr>
                <a:xfrm>
                  <a:off x="7667797" y="4539482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124" name="Oval 1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7797" y="4539482"/>
                  <a:ext cx="613509" cy="533065"/>
                </a:xfrm>
                <a:prstGeom prst="ellipse">
                  <a:avLst/>
                </a:prstGeom>
                <a:blipFill>
                  <a:blip r:embed="rId39"/>
                  <a:stretch>
                    <a:fillRect r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Oval 124"/>
                <p:cNvSpPr/>
                <p:nvPr/>
              </p:nvSpPr>
              <p:spPr>
                <a:xfrm>
                  <a:off x="9223220" y="1746400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125" name="Oval 1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220" y="1746400"/>
                  <a:ext cx="613509" cy="533065"/>
                </a:xfrm>
                <a:prstGeom prst="ellipse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Oval 125"/>
                <p:cNvSpPr/>
                <p:nvPr/>
              </p:nvSpPr>
              <p:spPr>
                <a:xfrm>
                  <a:off x="9223220" y="2556692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126" name="Oval 1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220" y="2556692"/>
                  <a:ext cx="613509" cy="533065"/>
                </a:xfrm>
                <a:prstGeom prst="ellipse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Oval 126"/>
                <p:cNvSpPr/>
                <p:nvPr/>
              </p:nvSpPr>
              <p:spPr>
                <a:xfrm>
                  <a:off x="9220458" y="3369837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127" name="Oval 1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458" y="3369837"/>
                  <a:ext cx="613509" cy="533065"/>
                </a:xfrm>
                <a:prstGeom prst="ellipse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Oval 127"/>
                <p:cNvSpPr/>
                <p:nvPr/>
              </p:nvSpPr>
              <p:spPr>
                <a:xfrm>
                  <a:off x="9216197" y="4177276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128" name="Oval 1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6197" y="4177276"/>
                  <a:ext cx="613509" cy="533065"/>
                </a:xfrm>
                <a:prstGeom prst="ellipse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Oval 128"/>
                <p:cNvSpPr/>
                <p:nvPr/>
              </p:nvSpPr>
              <p:spPr>
                <a:xfrm>
                  <a:off x="9223220" y="4984715"/>
                  <a:ext cx="613509" cy="533065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108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000"/>
                </a:p>
              </p:txBody>
            </p:sp>
          </mc:Choice>
          <mc:Fallback xmlns="">
            <p:sp>
              <p:nvSpPr>
                <p:cNvPr id="129" name="Oval 1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3220" y="4984715"/>
                  <a:ext cx="613509" cy="533065"/>
                </a:xfrm>
                <a:prstGeom prst="ellipse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0" name="Straight Arrow Connector 129"/>
            <p:cNvCxnSpPr>
              <a:stCxn id="112" idx="6"/>
              <a:endCxn id="125" idx="2"/>
            </p:cNvCxnSpPr>
            <p:nvPr/>
          </p:nvCxnSpPr>
          <p:spPr>
            <a:xfrm flipV="1">
              <a:off x="8288329" y="2012933"/>
              <a:ext cx="934891" cy="4003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Arrow Connector 130"/>
            <p:cNvCxnSpPr>
              <a:stCxn id="112" idx="6"/>
              <a:endCxn id="126" idx="2"/>
            </p:cNvCxnSpPr>
            <p:nvPr/>
          </p:nvCxnSpPr>
          <p:spPr>
            <a:xfrm>
              <a:off x="8288329" y="2413281"/>
              <a:ext cx="934891" cy="4099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112" idx="6"/>
              <a:endCxn id="127" idx="2"/>
            </p:cNvCxnSpPr>
            <p:nvPr/>
          </p:nvCxnSpPr>
          <p:spPr>
            <a:xfrm>
              <a:off x="8288329" y="2413281"/>
              <a:ext cx="932129" cy="12230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12" idx="6"/>
              <a:endCxn id="128" idx="2"/>
            </p:cNvCxnSpPr>
            <p:nvPr/>
          </p:nvCxnSpPr>
          <p:spPr>
            <a:xfrm>
              <a:off x="8288329" y="2413281"/>
              <a:ext cx="927868" cy="20305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>
              <a:stCxn id="112" idx="6"/>
              <a:endCxn id="129" idx="2"/>
            </p:cNvCxnSpPr>
            <p:nvPr/>
          </p:nvCxnSpPr>
          <p:spPr>
            <a:xfrm>
              <a:off x="8288329" y="2413281"/>
              <a:ext cx="934891" cy="28379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22" idx="6"/>
              <a:endCxn id="125" idx="2"/>
            </p:cNvCxnSpPr>
            <p:nvPr/>
          </p:nvCxnSpPr>
          <p:spPr>
            <a:xfrm flipV="1">
              <a:off x="8288329" y="2012933"/>
              <a:ext cx="934891" cy="11724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2" idx="6"/>
              <a:endCxn id="126" idx="2"/>
            </p:cNvCxnSpPr>
            <p:nvPr/>
          </p:nvCxnSpPr>
          <p:spPr>
            <a:xfrm flipV="1">
              <a:off x="8288329" y="2823225"/>
              <a:ext cx="934891" cy="3622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22" idx="6"/>
              <a:endCxn id="127" idx="2"/>
            </p:cNvCxnSpPr>
            <p:nvPr/>
          </p:nvCxnSpPr>
          <p:spPr>
            <a:xfrm>
              <a:off x="8288329" y="3185431"/>
              <a:ext cx="932129" cy="4509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>
              <a:stCxn id="123" idx="6"/>
              <a:endCxn id="126" idx="2"/>
            </p:cNvCxnSpPr>
            <p:nvPr/>
          </p:nvCxnSpPr>
          <p:spPr>
            <a:xfrm flipV="1">
              <a:off x="8285567" y="2823225"/>
              <a:ext cx="937653" cy="1175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3" idx="6"/>
              <a:endCxn id="127" idx="2"/>
            </p:cNvCxnSpPr>
            <p:nvPr/>
          </p:nvCxnSpPr>
          <p:spPr>
            <a:xfrm flipV="1">
              <a:off x="8285567" y="3636370"/>
              <a:ext cx="934891" cy="3622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stCxn id="124" idx="6"/>
              <a:endCxn id="128" idx="2"/>
            </p:cNvCxnSpPr>
            <p:nvPr/>
          </p:nvCxnSpPr>
          <p:spPr>
            <a:xfrm flipV="1">
              <a:off x="8281306" y="4443809"/>
              <a:ext cx="934891" cy="3622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stCxn id="124" idx="6"/>
              <a:endCxn id="129" idx="2"/>
            </p:cNvCxnSpPr>
            <p:nvPr/>
          </p:nvCxnSpPr>
          <p:spPr>
            <a:xfrm>
              <a:off x="8281306" y="4806015"/>
              <a:ext cx="941914" cy="445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2" name="Oval 141"/>
            <p:cNvSpPr/>
            <p:nvPr/>
          </p:nvSpPr>
          <p:spPr>
            <a:xfrm>
              <a:off x="10627473" y="3360697"/>
              <a:ext cx="613509" cy="53306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lIns="108000" tIns="0" rIns="0" bIns="36000" rtlCol="0" anchor="ctr"/>
            <a:lstStyle/>
            <a:p>
              <a:pPr algn="ctr"/>
              <a:endParaRPr lang="en-US" sz="900"/>
            </a:p>
          </p:txBody>
        </p:sp>
        <p:cxnSp>
          <p:nvCxnSpPr>
            <p:cNvPr id="143" name="Straight Arrow Connector 142"/>
            <p:cNvCxnSpPr>
              <a:stCxn id="125" idx="6"/>
              <a:endCxn id="142" idx="2"/>
            </p:cNvCxnSpPr>
            <p:nvPr/>
          </p:nvCxnSpPr>
          <p:spPr>
            <a:xfrm>
              <a:off x="9836729" y="2012933"/>
              <a:ext cx="790744" cy="16142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26" idx="6"/>
              <a:endCxn id="142" idx="2"/>
            </p:cNvCxnSpPr>
            <p:nvPr/>
          </p:nvCxnSpPr>
          <p:spPr>
            <a:xfrm>
              <a:off x="9836729" y="2823225"/>
              <a:ext cx="790744" cy="8040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Arrow Connector 144"/>
            <p:cNvCxnSpPr>
              <a:stCxn id="127" idx="6"/>
              <a:endCxn id="142" idx="2"/>
            </p:cNvCxnSpPr>
            <p:nvPr/>
          </p:nvCxnSpPr>
          <p:spPr>
            <a:xfrm flipV="1">
              <a:off x="9833967" y="3627230"/>
              <a:ext cx="793506" cy="91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Arrow Connector 145"/>
            <p:cNvCxnSpPr>
              <a:stCxn id="128" idx="6"/>
              <a:endCxn id="142" idx="2"/>
            </p:cNvCxnSpPr>
            <p:nvPr/>
          </p:nvCxnSpPr>
          <p:spPr>
            <a:xfrm flipV="1">
              <a:off x="9829706" y="3627230"/>
              <a:ext cx="797767" cy="816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>
              <a:stCxn id="129" idx="6"/>
              <a:endCxn id="142" idx="2"/>
            </p:cNvCxnSpPr>
            <p:nvPr/>
          </p:nvCxnSpPr>
          <p:spPr>
            <a:xfrm flipV="1">
              <a:off x="9836729" y="3627230"/>
              <a:ext cx="790744" cy="16240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8" name="Straight Arrow Connector 147"/>
          <p:cNvCxnSpPr/>
          <p:nvPr/>
        </p:nvCxnSpPr>
        <p:spPr>
          <a:xfrm>
            <a:off x="7680550" y="3946743"/>
            <a:ext cx="1320040" cy="1196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9092252" y="4104974"/>
            <a:ext cx="0" cy="1038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 flipH="1">
            <a:off x="9171709" y="4308060"/>
            <a:ext cx="1236976" cy="835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 flipH="1">
            <a:off x="8620323" y="5120891"/>
            <a:ext cx="1090378" cy="363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57508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57D74C26-928C-462C-B7F0-939131B406E6}"/>
              </a:ext>
            </a:extLst>
          </p:cNvPr>
          <p:cNvSpPr txBox="1">
            <a:spLocks/>
          </p:cNvSpPr>
          <p:nvPr/>
        </p:nvSpPr>
        <p:spPr>
          <a:xfrm>
            <a:off x="-3185210" y="366469"/>
            <a:ext cx="10515600" cy="69131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/>
              <a:t>What we get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EC999A3-63B2-4857-A6BF-DBBB2C04E1DA}"/>
              </a:ext>
            </a:extLst>
          </p:cNvPr>
          <p:cNvSpPr txBox="1">
            <a:spLocks/>
          </p:cNvSpPr>
          <p:nvPr/>
        </p:nvSpPr>
        <p:spPr>
          <a:xfrm>
            <a:off x="369934" y="1443789"/>
            <a:ext cx="11145559" cy="4965297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Competitive CPU performance</a:t>
            </a:r>
            <a:endParaRPr lang="en-US" sz="2400" dirty="0">
              <a:latin typeface="Segoe UI (Body)"/>
              <a:cs typeface="Segoe UI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Seamless GPU acceleration---comparable to custom </a:t>
            </a:r>
            <a:r>
              <a:rPr lang="en-US" sz="2400" dirty="0" err="1"/>
              <a:t>cuML</a:t>
            </a:r>
            <a:r>
              <a:rPr lang="en-US" sz="2400" dirty="0"/>
              <a:t> kernels</a:t>
            </a:r>
            <a:endParaRPr lang="en-US" sz="2400" dirty="0">
              <a:cs typeface="Segoe UI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Large reduction in engineering effort---one single implementation for CPU \ GPU (and eventually IPU \ TPU \ FPGA) executions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Segoe UI (Body)"/>
                <a:cs typeface="Segoe UI"/>
              </a:rPr>
              <a:t>Performance</a:t>
            </a:r>
            <a:endParaRPr lang="en-US" sz="24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sz="2400" dirty="0">
              <a:latin typeface="Segoe UI (Body)"/>
              <a:cs typeface="Segoe UI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latin typeface="Segoe UI (Body)"/>
              <a:cs typeface="Segoe UI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latin typeface="Segoe UI (Body)"/>
              <a:cs typeface="Segoe UI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latin typeface="Segoe UI (Body)"/>
              <a:cs typeface="Segoe 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lvl="1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37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57D74C26-928C-462C-B7F0-939131B406E6}"/>
              </a:ext>
            </a:extLst>
          </p:cNvPr>
          <p:cNvSpPr txBox="1">
            <a:spLocks/>
          </p:cNvSpPr>
          <p:nvPr/>
        </p:nvSpPr>
        <p:spPr>
          <a:xfrm>
            <a:off x="526850" y="446319"/>
            <a:ext cx="10515600" cy="69131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900" dirty="0"/>
              <a:t>Hummingbird: Status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EC999A3-63B2-4857-A6BF-DBBB2C04E1DA}"/>
              </a:ext>
            </a:extLst>
          </p:cNvPr>
          <p:cNvSpPr txBox="1">
            <a:spLocks/>
          </p:cNvSpPr>
          <p:nvPr/>
        </p:nvSpPr>
        <p:spPr>
          <a:xfrm>
            <a:off x="848905" y="1784073"/>
            <a:ext cx="11145559" cy="1644927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Segoe UI (Body)"/>
                <a:cs typeface="Segoe UI"/>
              </a:rPr>
              <a:t>Open sourced in May: </a:t>
            </a:r>
            <a:r>
              <a:rPr lang="en-US" sz="2800" dirty="0">
                <a:ea typeface="+mn-lt"/>
                <a:cs typeface="+mn-lt"/>
                <a:hlinkClick r:id="rId3"/>
              </a:rPr>
              <a:t>https://aka.ms/hb-code</a:t>
            </a:r>
            <a:r>
              <a:rPr lang="en-US" sz="2800" dirty="0">
                <a:solidFill>
                  <a:srgbClr val="FDEFE7"/>
                </a:solidFill>
                <a:latin typeface="Segoe UI Semilight"/>
                <a:ea typeface="+mn-lt"/>
                <a:cs typeface="+mn-lt"/>
              </a:rPr>
              <a:t> </a:t>
            </a:r>
            <a:r>
              <a:rPr lang="en-US" sz="2200" dirty="0">
                <a:latin typeface="Segoe UI Semilight"/>
                <a:ea typeface="+mn-lt"/>
                <a:cs typeface="+mn-lt"/>
              </a:rPr>
              <a:t>(See also: </a:t>
            </a:r>
            <a:r>
              <a:rPr lang="en-US" sz="2200" dirty="0">
                <a:latin typeface="Segoe UI (Body)"/>
                <a:cs typeface="Segoe UI"/>
                <a:hlinkClick r:id="rId4"/>
              </a:rPr>
              <a:t>Blog</a:t>
            </a:r>
            <a:r>
              <a:rPr lang="en-US" sz="2200" dirty="0">
                <a:latin typeface="Segoe UI (Body)"/>
                <a:cs typeface="Segoe UI"/>
              </a:rPr>
              <a:t> </a:t>
            </a:r>
            <a:r>
              <a:rPr lang="en-US" sz="2200" dirty="0">
                <a:latin typeface="Segoe UI (Body)"/>
                <a:cs typeface="Segoe UI"/>
                <a:hlinkClick r:id="rId5"/>
              </a:rPr>
              <a:t>Paper</a:t>
            </a:r>
            <a:r>
              <a:rPr lang="en-US" sz="2200" dirty="0">
                <a:latin typeface="Segoe UI (Body)"/>
                <a:cs typeface="Segoe UI"/>
              </a:rPr>
              <a:t> </a:t>
            </a:r>
            <a:r>
              <a:rPr lang="en-US" sz="2200" dirty="0">
                <a:latin typeface="Segoe UI (Body)"/>
                <a:cs typeface="Segoe UI"/>
                <a:hlinkClick r:id="rId6"/>
              </a:rPr>
              <a:t>Demo</a:t>
            </a:r>
            <a:r>
              <a:rPr lang="en-US" sz="2200" dirty="0">
                <a:latin typeface="Segoe UI (Body)"/>
                <a:cs typeface="Segoe UI"/>
              </a:rPr>
              <a:t>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Segoe UI (Body)"/>
                <a:cs typeface="Segoe UI"/>
              </a:rPr>
              <a:t>Integration with ONNX converters (</a:t>
            </a:r>
            <a:r>
              <a:rPr lang="en-US" sz="2400" dirty="0" err="1">
                <a:latin typeface="Segoe UI (Body)"/>
                <a:cs typeface="Segoe UI"/>
              </a:rPr>
              <a:t>LightGBM</a:t>
            </a:r>
            <a:r>
              <a:rPr lang="en-US" sz="2400" dirty="0">
                <a:latin typeface="Segoe UI (Body)"/>
                <a:cs typeface="Segoe UI"/>
              </a:rPr>
              <a:t>): </a:t>
            </a:r>
            <a:r>
              <a:rPr lang="en-US" sz="2400" dirty="0">
                <a:latin typeface="Segoe UI (Body)"/>
                <a:cs typeface="Segoe UI"/>
                <a:hlinkClick r:id="rId7"/>
              </a:rPr>
              <a:t>Blog</a:t>
            </a:r>
            <a:endParaRPr lang="en-US" dirty="0">
              <a:latin typeface="Segoe UI (Body)"/>
              <a:cs typeface="Segoe UI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Hummingbird is part of the </a:t>
            </a:r>
            <a:r>
              <a:rPr lang="en-US" sz="2400" u="sng" dirty="0">
                <a:hlinkClick r:id="rId8" tooltip="https://nam06.safelinks.protection.outlook.com/?url=https%3A%2F%2Fpytorch.org%2Fecosystem%2F&amp;data=02%7C01%7CKarla.Saur%40microsoft.com%7C12502ece7bb04432cbb108d818a4aefc%7C72f988bf86f141af91ab2d7cd011db47%7C1%7C0%7C637286443150545991&amp;sdata=oZ2SILNAHrK2U6x9q6x5YtMzdxaqXV8yzGNn9vX8eJY%3D&amp;reserved=0"/>
              </a:rPr>
              <a:t>PyTorch Ecosystem</a:t>
            </a:r>
            <a:endParaRPr lang="en-US" sz="2400" u="sng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Paper will be presented at OSDI 2020</a:t>
            </a:r>
            <a:endParaRPr lang="en-US" dirty="0"/>
          </a:p>
        </p:txBody>
      </p:sp>
      <p:pic>
        <p:nvPicPr>
          <p:cNvPr id="3" name="Picture 2">
            <a:hlinkClick r:id="rId9"/>
            <a:extLst>
              <a:ext uri="{FF2B5EF4-FFF2-40B4-BE49-F238E27FC236}">
                <a16:creationId xmlns:a16="http://schemas.microsoft.com/office/drawing/2014/main" id="{51987929-8314-A84D-BAAF-A96F6EDBF4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460" y="3752772"/>
            <a:ext cx="1371600" cy="1323474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5BCA76D8-A547-6942-9BF7-CAE96D447510}"/>
              </a:ext>
            </a:extLst>
          </p:cNvPr>
          <p:cNvGrpSpPr/>
          <p:nvPr/>
        </p:nvGrpSpPr>
        <p:grpSpPr>
          <a:xfrm>
            <a:off x="3276991" y="3748637"/>
            <a:ext cx="1385577" cy="1444505"/>
            <a:chOff x="2486528" y="3651448"/>
            <a:chExt cx="1385577" cy="144450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B4E7D6B-7006-F448-BD1F-54F5AC86AD3A}"/>
                </a:ext>
              </a:extLst>
            </p:cNvPr>
            <p:cNvSpPr/>
            <p:nvPr/>
          </p:nvSpPr>
          <p:spPr>
            <a:xfrm>
              <a:off x="2486528" y="3651448"/>
              <a:ext cx="1385577" cy="1444505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hlinkClick r:id="rId11"/>
              <a:extLst>
                <a:ext uri="{FF2B5EF4-FFF2-40B4-BE49-F238E27FC236}">
                  <a16:creationId xmlns:a16="http://schemas.microsoft.com/office/drawing/2014/main" id="{82F78293-7C05-704A-93EF-67ADB789B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732314" y="3895504"/>
              <a:ext cx="963670" cy="929857"/>
            </a:xfrm>
            <a:prstGeom prst="rect">
              <a:avLst/>
            </a:prstGeom>
          </p:spPr>
        </p:pic>
      </p:grpSp>
      <p:pic>
        <p:nvPicPr>
          <p:cNvPr id="6" name="Picture 5">
            <a:hlinkClick r:id="rId13"/>
            <a:extLst>
              <a:ext uri="{FF2B5EF4-FFF2-40B4-BE49-F238E27FC236}">
                <a16:creationId xmlns:a16="http://schemas.microsoft.com/office/drawing/2014/main" id="{BE9698AC-9AD1-134F-BD23-202B6579651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22192" y="3748637"/>
            <a:ext cx="1374270" cy="1399032"/>
          </a:xfrm>
          <a:prstGeom prst="rect">
            <a:avLst/>
          </a:prstGeom>
        </p:spPr>
      </p:pic>
      <p:pic>
        <p:nvPicPr>
          <p:cNvPr id="8" name="Picture 7">
            <a:hlinkClick r:id="rId15"/>
            <a:extLst>
              <a:ext uri="{FF2B5EF4-FFF2-40B4-BE49-F238E27FC236}">
                <a16:creationId xmlns:a16="http://schemas.microsoft.com/office/drawing/2014/main" id="{2AA989CC-A7B8-7144-AE99-0956258DF20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64723" y="3704646"/>
            <a:ext cx="1371600" cy="1371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B0F9DA-B05A-B94D-B810-3C5F942A9335}"/>
              </a:ext>
            </a:extLst>
          </p:cNvPr>
          <p:cNvSpPr txBox="1"/>
          <p:nvPr/>
        </p:nvSpPr>
        <p:spPr>
          <a:xfrm>
            <a:off x="767034" y="5177791"/>
            <a:ext cx="180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1.7K GitHub stars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38C2BF-5CE4-AE4E-B42C-010F8BFF97B4}"/>
              </a:ext>
            </a:extLst>
          </p:cNvPr>
          <p:cNvSpPr txBox="1"/>
          <p:nvPr/>
        </p:nvSpPr>
        <p:spPr>
          <a:xfrm>
            <a:off x="3052944" y="5160155"/>
            <a:ext cx="1833669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/>
              <a:t>136 GitHub forks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8B94C6-06EB-BA4E-AE8F-313B48625204}"/>
              </a:ext>
            </a:extLst>
          </p:cNvPr>
          <p:cNvSpPr txBox="1"/>
          <p:nvPr/>
        </p:nvSpPr>
        <p:spPr>
          <a:xfrm>
            <a:off x="5053410" y="5200836"/>
            <a:ext cx="236252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&gt;20 external PRs </a:t>
            </a:r>
            <a:br>
              <a:rPr lang="en-US"/>
            </a:br>
            <a:r>
              <a:rPr lang="en-US" sz="1000"/>
              <a:t>(~5 regular/repeat contributors,</a:t>
            </a:r>
            <a:br>
              <a:rPr lang="en-US" sz="1000"/>
            </a:br>
            <a:r>
              <a:rPr lang="en-US" sz="1000"/>
              <a:t>10 total external contributors),</a:t>
            </a:r>
            <a:br>
              <a:rPr lang="en-US"/>
            </a:br>
            <a:r>
              <a:rPr lang="en-US"/>
              <a:t>20 issues filed by external users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B84E4A-2A60-7B45-98B1-A1C646C0A461}"/>
              </a:ext>
            </a:extLst>
          </p:cNvPr>
          <p:cNvSpPr txBox="1"/>
          <p:nvPr/>
        </p:nvSpPr>
        <p:spPr>
          <a:xfrm>
            <a:off x="7647486" y="5177791"/>
            <a:ext cx="1684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6 user-created blog posts and a video tutorial with &gt;1k views</a:t>
            </a:r>
          </a:p>
          <a:p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BF517A1-2FBC-9849-A74C-8CC72BF298AD}"/>
              </a:ext>
            </a:extLst>
          </p:cNvPr>
          <p:cNvGrpSpPr/>
          <p:nvPr/>
        </p:nvGrpSpPr>
        <p:grpSpPr>
          <a:xfrm>
            <a:off x="10017211" y="3760806"/>
            <a:ext cx="1374270" cy="1374693"/>
            <a:chOff x="9932730" y="3671623"/>
            <a:chExt cx="1374270" cy="1374693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A5C5CFC-3952-564F-863A-D2C84FEEC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932730" y="3671623"/>
              <a:ext cx="1374270" cy="1374693"/>
            </a:xfrm>
            <a:prstGeom prst="rect">
              <a:avLst/>
            </a:prstGeom>
          </p:spPr>
        </p:pic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ECAF6D1-AB9C-A044-9BC3-3921DDE37527}"/>
                </a:ext>
              </a:extLst>
            </p:cNvPr>
            <p:cNvSpPr/>
            <p:nvPr/>
          </p:nvSpPr>
          <p:spPr>
            <a:xfrm>
              <a:off x="9956211" y="3671623"/>
              <a:ext cx="1311927" cy="1323474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FDA2C490-4AA5-334C-BBBC-C51CE39DEE4B}"/>
              </a:ext>
            </a:extLst>
          </p:cNvPr>
          <p:cNvSpPr/>
          <p:nvPr/>
        </p:nvSpPr>
        <p:spPr>
          <a:xfrm>
            <a:off x="1020483" y="3748638"/>
            <a:ext cx="1385577" cy="1444505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55690F-2282-0748-A57A-9373292E128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02132" y="5147669"/>
            <a:ext cx="19685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290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8F629-2DE5-4060-B6AC-4975039FA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35" y="197436"/>
            <a:ext cx="11235557" cy="553998"/>
          </a:xfrm>
        </p:spPr>
        <p:txBody>
          <a:bodyPr>
            <a:normAutofit fontScale="90000"/>
          </a:bodyPr>
          <a:lstStyle/>
          <a:p>
            <a:r>
              <a:rPr lang="en-US" dirty="0"/>
              <a:t>Future work: Integration with other ONNX converters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2CAB4BD-0630-4F80-980E-B48416BE1561}"/>
              </a:ext>
            </a:extLst>
          </p:cNvPr>
          <p:cNvGraphicFramePr>
            <a:graphicFrameLocks noGrp="1"/>
          </p:cNvGraphicFramePr>
          <p:nvPr/>
        </p:nvGraphicFramePr>
        <p:xfrm>
          <a:off x="980691" y="1290412"/>
          <a:ext cx="10230618" cy="5109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6945">
                  <a:extLst>
                    <a:ext uri="{9D8B030D-6E8A-4147-A177-3AD203B41FA5}">
                      <a16:colId xmlns:a16="http://schemas.microsoft.com/office/drawing/2014/main" val="928059777"/>
                    </a:ext>
                  </a:extLst>
                </a:gridCol>
                <a:gridCol w="7803673">
                  <a:extLst>
                    <a:ext uri="{9D8B030D-6E8A-4147-A177-3AD203B41FA5}">
                      <a16:colId xmlns:a16="http://schemas.microsoft.com/office/drawing/2014/main" val="2643658678"/>
                    </a:ext>
                  </a:extLst>
                </a:gridCol>
              </a:tblGrid>
              <a:tr h="443152">
                <a:tc>
                  <a:txBody>
                    <a:bodyPr/>
                    <a:lstStyle/>
                    <a:p>
                      <a:r>
                        <a:rPr lang="en-US" dirty="0"/>
                        <a:t>Operator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Supported Operators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739136"/>
                  </a:ext>
                </a:extLst>
              </a:tr>
              <a:tr h="443152">
                <a:tc>
                  <a:txBody>
                    <a:bodyPr/>
                    <a:lstStyle/>
                    <a:p>
                      <a:r>
                        <a:rPr lang="en-US"/>
                        <a:t>Linear Classifiers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/>
                        <a:t>Logistic Regression, Linear SVC, SVC, </a:t>
                      </a:r>
                      <a:r>
                        <a:rPr lang="en-US" u="sng" err="1"/>
                        <a:t>NuSVC</a:t>
                      </a:r>
                      <a:r>
                        <a:rPr lang="en-US" u="sng"/>
                        <a:t>, </a:t>
                      </a:r>
                      <a:r>
                        <a:rPr lang="en-US" u="sng" err="1"/>
                        <a:t>SGDClassifier</a:t>
                      </a:r>
                      <a:r>
                        <a:rPr lang="en-US" u="sng"/>
                        <a:t>, </a:t>
                      </a:r>
                      <a:r>
                        <a:rPr lang="en-US" u="sng" err="1"/>
                        <a:t>LogisticRegressionCV</a:t>
                      </a:r>
                      <a:endParaRPr lang="en-US" u="sn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497354"/>
                  </a:ext>
                </a:extLst>
              </a:tr>
              <a:tr h="764892">
                <a:tc>
                  <a:txBody>
                    <a:bodyPr/>
                    <a:lstStyle/>
                    <a:p>
                      <a:r>
                        <a:rPr lang="en-US"/>
                        <a:t>Tree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err="1"/>
                        <a:t>DecisionTreeClassifier</a:t>
                      </a:r>
                      <a:r>
                        <a:rPr lang="en-US" u="sng"/>
                        <a:t>/Regressor, </a:t>
                      </a:r>
                      <a:r>
                        <a:rPr lang="en-US" u="sng" err="1"/>
                        <a:t>RandomForestClassifier</a:t>
                      </a:r>
                      <a:r>
                        <a:rPr lang="en-US" u="sng"/>
                        <a:t>/Regressor, (Hist)</a:t>
                      </a:r>
                      <a:r>
                        <a:rPr lang="en-US" u="sng" err="1"/>
                        <a:t>GradientBoostingClassifier</a:t>
                      </a:r>
                      <a:r>
                        <a:rPr lang="en-US" u="sng"/>
                        <a:t>/Regressor, </a:t>
                      </a:r>
                      <a:r>
                        <a:rPr lang="en-US" u="sng" err="1"/>
                        <a:t>ExtraTreesClassifier</a:t>
                      </a:r>
                      <a:r>
                        <a:rPr lang="en-US" u="sng"/>
                        <a:t>/Regressor, </a:t>
                      </a:r>
                      <a:r>
                        <a:rPr lang="en-US" u="sng" err="1"/>
                        <a:t>XGBClassifier</a:t>
                      </a:r>
                      <a:r>
                        <a:rPr lang="en-US" u="sng"/>
                        <a:t>/Regressor, </a:t>
                      </a:r>
                      <a:r>
                        <a:rPr lang="en-US" u="sng" err="1"/>
                        <a:t>LGBMClassifier</a:t>
                      </a:r>
                      <a:r>
                        <a:rPr lang="en-US" u="sng"/>
                        <a:t>/Regressor/Ranker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479937"/>
                  </a:ext>
                </a:extLst>
              </a:tr>
              <a:tr h="443152">
                <a:tc>
                  <a:txBody>
                    <a:bodyPr/>
                    <a:lstStyle/>
                    <a:p>
                      <a:r>
                        <a:rPr lang="en-US"/>
                        <a:t>Neural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 err="1"/>
                        <a:t>MLPClassifier</a:t>
                      </a:r>
                      <a:endParaRPr lang="en-US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992082"/>
                  </a:ext>
                </a:extLst>
              </a:tr>
              <a:tr h="443152">
                <a:tc>
                  <a:txBody>
                    <a:bodyPr/>
                    <a:lstStyle/>
                    <a:p>
                      <a:r>
                        <a:rPr lang="en-US"/>
                        <a:t>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 err="1"/>
                        <a:t>BernouliNB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KMeans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577205"/>
                  </a:ext>
                </a:extLst>
              </a:tr>
              <a:tr h="443152">
                <a:tc>
                  <a:txBody>
                    <a:bodyPr/>
                    <a:lstStyle/>
                    <a:p>
                      <a:r>
                        <a:rPr lang="en-US"/>
                        <a:t>Feature Selectors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SelectKBest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43947"/>
                  </a:ext>
                </a:extLst>
              </a:tr>
              <a:tr h="443152">
                <a:tc>
                  <a:txBody>
                    <a:bodyPr/>
                    <a:lstStyle/>
                    <a:p>
                      <a:r>
                        <a:rPr lang="en-US"/>
                        <a:t>Decomposition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/>
                        <a:t>PCA</a:t>
                      </a:r>
                      <a:r>
                        <a:rPr lang="en-US" dirty="0"/>
                        <a:t>, </a:t>
                      </a:r>
                      <a:r>
                        <a:rPr lang="en-US" u="sng" dirty="0" err="1"/>
                        <a:t>TruncatedSVD</a:t>
                      </a:r>
                      <a:endParaRPr lang="en-US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089399"/>
                  </a:ext>
                </a:extLst>
              </a:tr>
              <a:tr h="1092704">
                <a:tc>
                  <a:txBody>
                    <a:bodyPr/>
                    <a:lstStyle/>
                    <a:p>
                      <a:r>
                        <a:rPr lang="en-US"/>
                        <a:t>Feature Pre-Processing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 err="1"/>
                        <a:t>SimpleImputer</a:t>
                      </a:r>
                      <a:r>
                        <a:rPr lang="en-US" dirty="0"/>
                        <a:t>, </a:t>
                      </a:r>
                      <a:r>
                        <a:rPr lang="en-US" u="sng" dirty="0"/>
                        <a:t>Imputer</a:t>
                      </a:r>
                      <a:r>
                        <a:rPr lang="en-US" dirty="0"/>
                        <a:t>, </a:t>
                      </a:r>
                      <a:r>
                        <a:rPr lang="en-US" u="sng" dirty="0" err="1"/>
                        <a:t>ColumnTransformer</a:t>
                      </a:r>
                      <a:r>
                        <a:rPr lang="en-US" dirty="0"/>
                        <a:t>, </a:t>
                      </a:r>
                      <a:r>
                        <a:rPr lang="en-US" u="sng" dirty="0" err="1"/>
                        <a:t>RobustScaler</a:t>
                      </a:r>
                      <a:r>
                        <a:rPr lang="en-US" dirty="0"/>
                        <a:t>, </a:t>
                      </a:r>
                      <a:r>
                        <a:rPr lang="en-US" u="sng" dirty="0" err="1"/>
                        <a:t>MaxAbsScaler</a:t>
                      </a:r>
                      <a:r>
                        <a:rPr lang="en-US" u="sng" dirty="0"/>
                        <a:t>, </a:t>
                      </a:r>
                      <a:r>
                        <a:rPr lang="en-US" u="sng" dirty="0" err="1"/>
                        <a:t>MinMaxScaler</a:t>
                      </a:r>
                      <a:r>
                        <a:rPr lang="en-US" u="sng" dirty="0"/>
                        <a:t>, </a:t>
                      </a:r>
                      <a:r>
                        <a:rPr lang="en-US" u="sng" dirty="0" err="1"/>
                        <a:t>StandardScaler</a:t>
                      </a:r>
                      <a:r>
                        <a:rPr lang="en-US" dirty="0"/>
                        <a:t>, </a:t>
                      </a:r>
                      <a:r>
                        <a:rPr lang="en-US" u="sng" dirty="0" err="1"/>
                        <a:t>Binarizer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KBinsDiscretizer</a:t>
                      </a:r>
                      <a:r>
                        <a:rPr lang="en-US" dirty="0"/>
                        <a:t>, </a:t>
                      </a:r>
                      <a:r>
                        <a:rPr lang="en-US" u="sng" dirty="0"/>
                        <a:t>Normalizer</a:t>
                      </a:r>
                      <a:r>
                        <a:rPr lang="en-US" dirty="0"/>
                        <a:t>, </a:t>
                      </a:r>
                      <a:r>
                        <a:rPr lang="en-US" u="sng" dirty="0" err="1"/>
                        <a:t>PolynomialFeatures</a:t>
                      </a:r>
                      <a:r>
                        <a:rPr lang="en-US" dirty="0"/>
                        <a:t>, </a:t>
                      </a:r>
                      <a:r>
                        <a:rPr lang="en-US" u="sng" dirty="0" err="1"/>
                        <a:t>OneHotEncoder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LabelEncoder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FeatureHasher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26654"/>
                  </a:ext>
                </a:extLst>
              </a:tr>
              <a:tr h="443152">
                <a:tc>
                  <a:txBody>
                    <a:bodyPr/>
                    <a:lstStyle/>
                    <a:p>
                      <a:r>
                        <a:rPr lang="en-US"/>
                        <a:t>Text Feature Extractor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CountVectorizer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78762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511BA76-585B-1948-800C-04D0B66D6965}"/>
              </a:ext>
            </a:extLst>
          </p:cNvPr>
          <p:cNvSpPr txBox="1"/>
          <p:nvPr/>
        </p:nvSpPr>
        <p:spPr>
          <a:xfrm>
            <a:off x="441435" y="751434"/>
            <a:ext cx="992579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latin typeface="Segoe UI (Body)"/>
              <a:cs typeface="Segoe U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latin typeface="Segoe UI (Body)"/>
              <a:cs typeface="Segoe U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latin typeface="Segoe UI (Body)"/>
              <a:cs typeface="Segoe U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latin typeface="Segoe UI (Body)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294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04CAD52-562B-492C-AD5B-29BD1F87732B}"/>
              </a:ext>
            </a:extLst>
          </p:cNvPr>
          <p:cNvSpPr txBox="1"/>
          <p:nvPr/>
        </p:nvSpPr>
        <p:spPr>
          <a:xfrm>
            <a:off x="584200" y="2044006"/>
            <a:ext cx="8807878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kumimoji="0" lang="en-US" sz="3600" b="0" i="0" u="none" strike="noStrike" kern="1200" cap="none" spc="-50" normalizeH="0" baseline="0" noProof="0">
              <a:ln w="3175">
                <a:noFill/>
              </a:ln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  <a:p>
            <a:pPr algn="l"/>
            <a:r>
              <a:rPr kumimoji="0" lang="en-US" sz="3600" b="0" i="0" u="none" strike="noStrike" kern="1200" cap="none" spc="-50" normalizeH="0" baseline="0" noProof="0">
                <a:ln w="3175">
                  <a:noFill/>
                </a:ln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Thank you!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748B7E-CC90-4E56-BD46-88AA4AA30870}"/>
              </a:ext>
            </a:extLst>
          </p:cNvPr>
          <p:cNvSpPr txBox="1"/>
          <p:nvPr/>
        </p:nvSpPr>
        <p:spPr>
          <a:xfrm>
            <a:off x="584200" y="3428999"/>
            <a:ext cx="8912412" cy="1371600"/>
          </a:xfrm>
          <a:prstGeom prst="rect">
            <a:avLst/>
          </a:prstGeom>
          <a:gradFill flip="none" rotWithShape="1">
            <a:gsLst>
              <a:gs pos="0">
                <a:srgbClr val="A586B3"/>
              </a:gs>
              <a:gs pos="100000">
                <a:srgbClr val="F08D4D"/>
              </a:gs>
            </a:gsLst>
            <a:lin ang="108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18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000" dirty="0"/>
              <a:t> </a:t>
            </a:r>
            <a:r>
              <a:rPr lang="en-US" sz="3200" dirty="0">
                <a:solidFill>
                  <a:srgbClr val="FDEFE7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t>hummingbird-dev@microsoft.com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1004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538EECA80EEB4392C8A3DD35D689D9" ma:contentTypeVersion="16" ma:contentTypeDescription="Create a new document." ma:contentTypeScope="" ma:versionID="efb79d7dd96ad6a77a42af1fce59bbd7">
  <xsd:schema xmlns:xsd="http://www.w3.org/2001/XMLSchema" xmlns:xs="http://www.w3.org/2001/XMLSchema" xmlns:p="http://schemas.microsoft.com/office/2006/metadata/properties" xmlns:ns1="http://schemas.microsoft.com/sharepoint/v3" xmlns:ns3="2550a25c-09a3-4cc4-b155-6aeb7779edea" xmlns:ns4="6453bff3-72b6-4020-831d-be002cd74179" targetNamespace="http://schemas.microsoft.com/office/2006/metadata/properties" ma:root="true" ma:fieldsID="97a24ae3908acc24c9d1241c94cec3c0" ns1:_="" ns3:_="" ns4:_="">
    <xsd:import namespace="http://schemas.microsoft.com/sharepoint/v3"/>
    <xsd:import namespace="2550a25c-09a3-4cc4-b155-6aeb7779edea"/>
    <xsd:import namespace="6453bff3-72b6-4020-831d-be002cd7417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4:LastSharedByUser" minOccurs="0"/>
                <xsd:element ref="ns4:LastSharedByTime" minOccurs="0"/>
                <xsd:element ref="ns3:MediaServiceAutoTags" minOccurs="0"/>
                <xsd:element ref="ns3:MediaServiceOCR" minOccurs="0"/>
                <xsd:element ref="ns3:MediaServiceDateTaken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0a25c-09a3-4cc4-b155-6aeb7779ed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6" nillable="true" ma:displayName="MediaServiceOCR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53bff3-72b6-4020-831d-be002cd741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description="" ma:hidden="true" ma:internalName="SharingHintHash" ma:readOnly="true">
      <xsd:simpleType>
        <xsd:restriction base="dms:Text"/>
      </xsd:simpleType>
    </xsd:element>
    <xsd:element name="LastSharedByUser" ma:index="13" nillable="true" ma:displayName="Last Shared By User" ma:description="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description="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2550a25c-09a3-4cc4-b155-6aeb7779edea" xsi:nil="true"/>
  </documentManagement>
</p:properties>
</file>

<file path=customXml/itemProps1.xml><?xml version="1.0" encoding="utf-8"?>
<ds:datastoreItem xmlns:ds="http://schemas.openxmlformats.org/officeDocument/2006/customXml" ds:itemID="{40E92F35-FFE5-4DEE-A9FD-74E93EF196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3511CE-EEC0-4F64-9A5D-B38B6A14D970}">
  <ds:schemaRefs>
    <ds:schemaRef ds:uri="2550a25c-09a3-4cc4-b155-6aeb7779edea"/>
    <ds:schemaRef ds:uri="6453bff3-72b6-4020-831d-be002cd7417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2532350-DCF3-482F-9B26-CB49201CFEE7}">
  <ds:schemaRefs>
    <ds:schemaRef ds:uri="http://schemas.openxmlformats.org/package/2006/metadata/core-properties"/>
    <ds:schemaRef ds:uri="http://schemas.microsoft.com/office/2006/metadata/properties"/>
    <ds:schemaRef ds:uri="2550a25c-09a3-4cc4-b155-6aeb7779edea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6453bff3-72b6-4020-831d-be002cd74179"/>
    <ds:schemaRef ds:uri="http://schemas.microsoft.com/sharepoint/v3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3216</TotalTime>
  <Words>1103</Words>
  <Application>Microsoft Macintosh PowerPoint</Application>
  <PresentationFormat>Widescreen</PresentationFormat>
  <Paragraphs>321</Paragraphs>
  <Slides>15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Atlas Grotesk Web</vt:lpstr>
      <vt:lpstr>Calibri</vt:lpstr>
      <vt:lpstr>Calibri Light</vt:lpstr>
      <vt:lpstr>Cambria Math</vt:lpstr>
      <vt:lpstr>inherit</vt:lpstr>
      <vt:lpstr>Segoe UI</vt:lpstr>
      <vt:lpstr>Segoe UI (Body)</vt:lpstr>
      <vt:lpstr>Segoe UI Light</vt:lpstr>
      <vt:lpstr>Segoe UI Semibold</vt:lpstr>
      <vt:lpstr>Segoe UI Semilight</vt:lpstr>
      <vt:lpstr>Office Theme</vt:lpstr>
      <vt:lpstr>Compiling Traditional ML Pipelines into Tensor Computations for Unified Machine Learning Prediction Serving</vt:lpstr>
      <vt:lpstr>Outline</vt:lpstr>
      <vt:lpstr>Motivation</vt:lpstr>
      <vt:lpstr>Traditional ML Models</vt:lpstr>
      <vt:lpstr>PowerPoint Presentation</vt:lpstr>
      <vt:lpstr>Traditional ML Operators</vt:lpstr>
      <vt:lpstr>Translating Trees</vt:lpstr>
      <vt:lpstr>Translating Trees</vt:lpstr>
      <vt:lpstr>Translating Trees</vt:lpstr>
      <vt:lpstr>Translating Trees</vt:lpstr>
      <vt:lpstr>Translating Trees</vt:lpstr>
      <vt:lpstr>PowerPoint Presentation</vt:lpstr>
      <vt:lpstr>PowerPoint Presentation</vt:lpstr>
      <vt:lpstr>Future work: Integration with other ONNX converters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Matteo Interlandi</dc:creator>
  <cp:lastModifiedBy>Matteo Interlandi</cp:lastModifiedBy>
  <cp:revision>6</cp:revision>
  <dcterms:created xsi:type="dcterms:W3CDTF">2020-04-17T00:34:59Z</dcterms:created>
  <dcterms:modified xsi:type="dcterms:W3CDTF">2020-10-06T00:47:48Z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mainterl@microsoft.com</vt:lpwstr>
  </property>
  <property fmtid="{D5CDD505-2E9C-101B-9397-08002B2CF9AE}" pid="5" name="MSIP_Label_f42aa342-8706-4288-bd11-ebb85995028c_SetDate">
    <vt:lpwstr>2020-04-17T01:05:00.8820816Z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dd2f63a0-c36c-473b-ad1f-538c2fa46688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ContentTypeId">
    <vt:lpwstr>0x0101002B538EECA80EEB4392C8A3DD35D689D9</vt:lpwstr>
  </property>
</Properties>
</file>