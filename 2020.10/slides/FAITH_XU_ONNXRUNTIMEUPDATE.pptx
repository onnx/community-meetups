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11116" r:id="rId6"/>
    <p:sldId id="11128" r:id="rId7"/>
    <p:sldId id="257" r:id="rId8"/>
    <p:sldId id="260" r:id="rId9"/>
    <p:sldId id="367" r:id="rId10"/>
    <p:sldId id="2076137293" r:id="rId11"/>
    <p:sldId id="2076137291" r:id="rId12"/>
    <p:sldId id="259" r:id="rId13"/>
    <p:sldId id="278" r:id="rId14"/>
    <p:sldId id="279" r:id="rId15"/>
    <p:sldId id="355" r:id="rId16"/>
    <p:sldId id="362" r:id="rId17"/>
    <p:sldId id="359" r:id="rId18"/>
    <p:sldId id="365" r:id="rId19"/>
    <p:sldId id="366" r:id="rId20"/>
    <p:sldId id="360" r:id="rId21"/>
    <p:sldId id="361" r:id="rId22"/>
    <p:sldId id="356" r:id="rId23"/>
    <p:sldId id="35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5" autoAdjust="0"/>
    <p:restoredTop sz="65762" autoAdjust="0"/>
  </p:normalViewPr>
  <p:slideViewPr>
    <p:cSldViewPr snapToGrid="0">
      <p:cViewPr>
        <p:scale>
          <a:sx n="76" d="100"/>
          <a:sy n="76" d="100"/>
        </p:scale>
        <p:origin x="84" y="2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1959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microsoft.sharepoint.com/teams/ONNX2/Shared%20Documents/General/Mobile/ORT%201.5.1%20Mobile%20Build%20Siz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ONNX Runtime</a:t>
            </a:r>
            <a:r>
              <a:rPr lang="en-US" baseline="0"/>
              <a:t> Mobile package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graphs!$D$6</c:f>
              <c:strCache>
                <c:ptCount val="1"/>
                <c:pt idx="0">
                  <c:v>ORT-Mobile base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graphs!$E$5:$H$5</c:f>
              <c:strCache>
                <c:ptCount val="4"/>
                <c:pt idx="0">
                  <c:v>ARM64/Android</c:v>
                </c:pt>
                <c:pt idx="1">
                  <c:v>ARM64/iOS</c:v>
                </c:pt>
                <c:pt idx="2">
                  <c:v>X86 Windows</c:v>
                </c:pt>
                <c:pt idx="3">
                  <c:v>X86 Linux</c:v>
                </c:pt>
              </c:strCache>
            </c:strRef>
          </c:cat>
          <c:val>
            <c:numRef>
              <c:f>graphs!$E$6:$H$6</c:f>
              <c:numCache>
                <c:formatCode>0.00</c:formatCode>
                <c:ptCount val="4"/>
                <c:pt idx="0">
                  <c:v>245.806640625</c:v>
                </c:pt>
                <c:pt idx="1">
                  <c:v>221.1689453125</c:v>
                </c:pt>
                <c:pt idx="2">
                  <c:v>305.19140625</c:v>
                </c:pt>
                <c:pt idx="3">
                  <c:v>244.2353515625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4C-4B2D-A178-61187222A374}"/>
            </c:ext>
          </c:extLst>
        </c:ser>
        <c:ser>
          <c:idx val="1"/>
          <c:order val="1"/>
          <c:tx>
            <c:strRef>
              <c:f>graphs!$D$7</c:f>
              <c:strCache>
                <c:ptCount val="1"/>
                <c:pt idx="0">
                  <c:v>+ MobileBERT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graphs!$E$5:$H$5</c:f>
              <c:strCache>
                <c:ptCount val="4"/>
                <c:pt idx="0">
                  <c:v>ARM64/Android</c:v>
                </c:pt>
                <c:pt idx="1">
                  <c:v>ARM64/iOS</c:v>
                </c:pt>
                <c:pt idx="2">
                  <c:v>X86 Windows</c:v>
                </c:pt>
                <c:pt idx="3">
                  <c:v>X86 Linux</c:v>
                </c:pt>
              </c:strCache>
            </c:strRef>
          </c:cat>
          <c:val>
            <c:numRef>
              <c:f>graphs!$E$7:$H$7</c:f>
              <c:numCache>
                <c:formatCode>0.00</c:formatCode>
                <c:ptCount val="4"/>
                <c:pt idx="0">
                  <c:v>365.89453125</c:v>
                </c:pt>
                <c:pt idx="1">
                  <c:v>331</c:v>
                </c:pt>
                <c:pt idx="2">
                  <c:v>412.0400390625</c:v>
                </c:pt>
                <c:pt idx="3">
                  <c:v>335.3017578125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4C-4B2D-A178-61187222A374}"/>
            </c:ext>
          </c:extLst>
        </c:ser>
        <c:ser>
          <c:idx val="2"/>
          <c:order val="2"/>
          <c:tx>
            <c:strRef>
              <c:f>graphs!$D$8</c:f>
              <c:strCache>
                <c:ptCount val="1"/>
                <c:pt idx="0">
                  <c:v>+ MobilenetSSD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graphs!$E$5:$H$5</c:f>
              <c:strCache>
                <c:ptCount val="4"/>
                <c:pt idx="0">
                  <c:v>ARM64/Android</c:v>
                </c:pt>
                <c:pt idx="1">
                  <c:v>ARM64/iOS</c:v>
                </c:pt>
                <c:pt idx="2">
                  <c:v>X86 Windows</c:v>
                </c:pt>
                <c:pt idx="3">
                  <c:v>X86 Linux</c:v>
                </c:pt>
              </c:strCache>
            </c:strRef>
          </c:cat>
          <c:val>
            <c:numRef>
              <c:f>graphs!$E$8:$H$8</c:f>
              <c:numCache>
                <c:formatCode>0.00</c:formatCode>
                <c:ptCount val="4"/>
                <c:pt idx="0">
                  <c:v>413.7607421875</c:v>
                </c:pt>
                <c:pt idx="1">
                  <c:v>348.3984375</c:v>
                </c:pt>
                <c:pt idx="2">
                  <c:v>487.265625</c:v>
                </c:pt>
                <c:pt idx="3">
                  <c:v>394.240234375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4C-4B2D-A178-61187222A374}"/>
            </c:ext>
          </c:extLst>
        </c:ser>
        <c:ser>
          <c:idx val="3"/>
          <c:order val="3"/>
          <c:tx>
            <c:strRef>
              <c:f>graphs!$D$9</c:f>
              <c:strCache>
                <c:ptCount val="1"/>
                <c:pt idx="0">
                  <c:v>+ MobileBERT + MobilenetSSD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graphs!$E$5:$H$5</c:f>
              <c:strCache>
                <c:ptCount val="4"/>
                <c:pt idx="0">
                  <c:v>ARM64/Android</c:v>
                </c:pt>
                <c:pt idx="1">
                  <c:v>ARM64/iOS</c:v>
                </c:pt>
                <c:pt idx="2">
                  <c:v>X86 Windows</c:v>
                </c:pt>
                <c:pt idx="3">
                  <c:v>X86 Linux</c:v>
                </c:pt>
              </c:strCache>
            </c:strRef>
          </c:cat>
          <c:val>
            <c:numRef>
              <c:f>graphs!$E$9:$H$9</c:f>
              <c:numCache>
                <c:formatCode>0.00</c:formatCode>
                <c:ptCount val="4"/>
                <c:pt idx="0">
                  <c:v>468.0361328125</c:v>
                </c:pt>
                <c:pt idx="1">
                  <c:v>398.3955078125</c:v>
                </c:pt>
                <c:pt idx="2">
                  <c:v>527.646484375</c:v>
                </c:pt>
                <c:pt idx="3">
                  <c:v>429.1064453125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94C-4B2D-A178-61187222A3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511952"/>
        <c:axId val="19533648"/>
      </c:barChart>
      <c:catAx>
        <c:axId val="26511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33648"/>
        <c:crosses val="autoZero"/>
        <c:auto val="1"/>
        <c:lblAlgn val="ctr"/>
        <c:lblOffset val="100"/>
        <c:noMultiLvlLbl val="0"/>
      </c:catAx>
      <c:valAx>
        <c:axId val="19533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Compressed Size (in KB)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511952"/>
        <c:crosses val="autoZero"/>
        <c:crossBetween val="between"/>
        <c:min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2637C7-CC48-41AB-8A81-9D8FB6496D80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C05D8-E304-4603-9757-EADF8742C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57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47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B6B43-0244-4FF6-990A-A969E3BAF2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69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B6B43-0244-4FF6-990A-A969E3BAF2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81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41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17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13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8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36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98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FB714-7025-4A83-A470-A8AE279526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19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FB714-7025-4A83-A470-A8AE279526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75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422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588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6846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442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421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670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60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789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C05D8-E304-4603-9757-EADF8742C6D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48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0B085-025B-4162-9853-7F6A36D92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EC02A-9011-4130-AA53-2FFA7E884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CE47D-BB85-45CC-93B2-92B6705E1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D873-FFDB-448F-B1E6-A6A1A1B62282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23C8D-AA34-4E2C-86E4-B7181A64F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816E3-B719-4429-B257-8B85E276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56C1-B215-443D-9FF9-66335387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08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783B9-3CC0-4511-8B16-7EF442811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A173A-83D6-46CE-90E6-CD46AF125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5BE1E-FFCD-481F-BA1F-3CC639EDE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D873-FFDB-448F-B1E6-A6A1A1B62282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1D1EB-BD2A-45F2-AD2D-C09C583D9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AB110-47E8-4EC8-B814-FE0A923F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56C1-B215-443D-9FF9-66335387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17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37C8-0397-4423-9F7E-AED1133D4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EAD9B-339F-4B05-9CCE-9F2848F29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13376-D09A-447D-8579-AA3518326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D873-FFDB-448F-B1E6-A6A1A1B62282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AB6A-8D64-432B-87FF-C2EB6C0FE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D228E-2F0B-447D-B43E-E8FDDE4B1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56C1-B215-443D-9FF9-66335387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7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A671-E78D-4C7A-9C3E-1C0DC599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32CC4-8630-4B37-A0E2-DB1F8E044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3ADF3-B558-42A9-BB22-19DAAF511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8AB25-3522-40DE-A4C4-F3944BA13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D873-FFDB-448F-B1E6-A6A1A1B62282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C88A3-E21B-43F9-8404-00B7FF2E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7DD71-8FF9-4633-A62E-3E47D24D4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56C1-B215-443D-9FF9-66335387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16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C5152-A92F-4696-BD7D-AEDB4392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37F14-335B-4B8C-A65D-CEDC1C64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1103D-88D3-4690-9497-C7163E1BC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68199-F96A-4533-90A1-8980AA852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9D7CF-77F8-4B61-9DB8-16C4AFCD9B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601585-A274-434B-A45A-FF6BDE25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D873-FFDB-448F-B1E6-A6A1A1B62282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71D5D0-C1CF-4197-B886-495DA198C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220B18-8F12-4F59-8775-017A2F17E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56C1-B215-443D-9FF9-66335387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85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662AF-03DD-413B-8D20-912E8EAEE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1F6B53-2E67-4139-8193-AB5A4C91F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D873-FFDB-448F-B1E6-A6A1A1B62282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533696-D66B-4B1F-8D48-433392B4C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EE2D2-E6C1-4B5F-A0C1-10E5937EC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56C1-B215-443D-9FF9-66335387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68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FB2253-BEA1-4967-9AA5-A25C51382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D873-FFDB-448F-B1E6-A6A1A1B62282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A0D2C-DDF8-4108-A069-46A293CF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6C704-B96C-4689-A97B-7898DC55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56C1-B215-443D-9FF9-66335387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6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20627-D364-42AC-8E32-D2A9A081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751E9-6234-45E7-85B9-298247F61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5363F-FE6A-4F46-80D5-69BCAD059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35316-3060-4841-89AD-D65106E83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D873-FFDB-448F-B1E6-A6A1A1B62282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E1C5C-AF28-422F-91C4-683062F04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0564D-BCD6-4432-8A19-40DFB22CC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56C1-B215-443D-9FF9-66335387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00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04614-4922-433A-83F2-2E23B02D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C0E7B6-6BDA-4887-A7CD-80D62F4B7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EDBBA-8EE5-4A91-80C6-90C1DAC18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07355-FED8-4B6F-B620-F0FF2AC53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D873-FFDB-448F-B1E6-A6A1A1B62282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5B60C-251B-416F-86E0-EEAE7C88D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E3A8A-FFBB-4F78-A9F1-93CA879E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56C1-B215-443D-9FF9-66335387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7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563FD-862D-4A03-A608-7505B626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C75BE-1FBB-48E5-BEE6-590A6A2E2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8D04C-DA53-4D05-AEFD-281B02753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D873-FFDB-448F-B1E6-A6A1A1B62282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F89E0-9653-456A-B735-3F9B032D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E740B-31B7-4824-A046-3E920BA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56C1-B215-443D-9FF9-66335387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712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EB81F2-4078-451C-A072-7A8087826F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B8A4D-1E1F-448F-B154-4A5BB7A76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70B1A-ACB9-45CE-AF3A-74D3660A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AD873-FFDB-448F-B1E6-A6A1A1B62282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F424D-C720-4594-95EA-6F3F5AA1C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F0070-AE1B-4921-B857-988A8E545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856C1-B215-443D-9FF9-66335387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31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334541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B7B5-9BB0-4B74-B2F2-AAAA69F65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" y="365126"/>
            <a:ext cx="10933886" cy="935674"/>
          </a:xfrm>
        </p:spPr>
        <p:txBody>
          <a:bodyPr/>
          <a:lstStyle>
            <a:lvl1pPr>
              <a:defRPr>
                <a:solidFill>
                  <a:srgbClr val="168FD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D5191E2-E00C-426D-AE94-F83A03C8D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1335088"/>
            <a:ext cx="10933886" cy="435133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BF3C40A9-69A5-4C1C-95D0-1E8277E7F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24339" y="6583680"/>
            <a:ext cx="367661" cy="27432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AD86CF49-6971-4508-8862-A2909EA0DB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2F23C23-9E3D-4D80-8BD4-7ABA3A4BF7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33103" y="6583680"/>
            <a:ext cx="10823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fld id="{A832D968-65BA-43C9-AD29-5A3F48D1B46D}" type="datetime1">
              <a:rPr lang="en-US" smtClean="0"/>
              <a:pPr/>
              <a:t>10/13/2020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76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3528D-652F-490F-AA47-E125A58847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20127427">
            <a:off x="1517649" y="3240088"/>
            <a:ext cx="3703707" cy="36933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2765990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78A70-CEEB-40C4-BA0A-A80B1237F4BE}"/>
              </a:ext>
            </a:extLst>
          </p:cNvPr>
          <p:cNvSpPr txBox="1"/>
          <p:nvPr userDrawn="1"/>
        </p:nvSpPr>
        <p:spPr>
          <a:xfrm>
            <a:off x="584200" y="6375921"/>
            <a:ext cx="175116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fld id="{6251796F-9FD0-4D86-8389-47457FF180D0}" type="slidenum">
              <a:rPr lang="en-US" sz="1200" smtClean="0">
                <a:solidFill>
                  <a:schemeClr val="tx1"/>
                </a:solidFill>
              </a:rPr>
              <a:t>‹#›</a:t>
            </a:fld>
            <a:endParaRPr 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6805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08DE8B-3D81-454B-94A8-36EA62BDB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9E236-D7B7-4197-BA45-58C78886D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4E93E-FF86-44D5-879B-E946658F6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AD873-FFDB-448F-B1E6-A6A1A1B62282}" type="datetimeFigureOut">
              <a:rPr lang="en-US" smtClean="0"/>
              <a:t>10/13/2020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FB0E2-F672-496B-8AE2-B4C6171A7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0C8C0-A05D-4728-9015-E6F777E1F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856C1-B215-443D-9FF9-66335387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5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7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2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7" Type="http://schemas.openxmlformats.org/officeDocument/2006/relationships/chart" Target="../charts/char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9.png"/><Relationship Id="rId5" Type="http://schemas.openxmlformats.org/officeDocument/2006/relationships/hyperlink" Target="https://www.tensorflow.org/lite/guide/reduce_binary_size" TargetMode="Externa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2.png"/><Relationship Id="rId5" Type="http://schemas.openxmlformats.org/officeDocument/2006/relationships/image" Target="../media/image11.jpe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2.png"/><Relationship Id="rId5" Type="http://schemas.openxmlformats.org/officeDocument/2006/relationships/image" Target="../media/image12.jpe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2.png"/><Relationship Id="rId5" Type="http://schemas.openxmlformats.org/officeDocument/2006/relationships/image" Target="../media/image12.jpe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hyperlink" Target="https://github.com/microsoft/onnxruntime/blob/master/onnxruntime/python/tools/quantization/notebooks/Bert-GLUE_OnnxRuntime_quantization.ipynb" TargetMode="External"/><Relationship Id="rId5" Type="http://schemas.openxmlformats.org/officeDocument/2006/relationships/hyperlink" Target="https://medium.com/microsoftazure/faster-and-smaller-quantized-nlp-with-hugging-face-and-onnx-runtime-ec5525473bb7" TargetMode="Externa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media19.m4a"/><Relationship Id="rId2" Type="http://schemas.microsoft.com/office/2007/relationships/media" Target="../media/media19.m4a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E48E8D1-A3EC-45F8-8569-C06D874EB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679" y="1179032"/>
            <a:ext cx="7568641" cy="2606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F6B1C4-F5B7-4A49-AE49-D510CB482F50}"/>
              </a:ext>
            </a:extLst>
          </p:cNvPr>
          <p:cNvSpPr txBox="1"/>
          <p:nvPr/>
        </p:nvSpPr>
        <p:spPr>
          <a:xfrm>
            <a:off x="3326260" y="4198770"/>
            <a:ext cx="55394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UPDATE (October 2020)</a:t>
            </a:r>
          </a:p>
          <a:p>
            <a:pPr algn="ctr"/>
            <a:r>
              <a:rPr lang="en-US" sz="3200" dirty="0"/>
              <a:t>Mobile, Training, Quantization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F8B7D-4801-4A01-B4D6-9576C516B603}"/>
              </a:ext>
            </a:extLst>
          </p:cNvPr>
          <p:cNvSpPr txBox="1"/>
          <p:nvPr/>
        </p:nvSpPr>
        <p:spPr>
          <a:xfrm>
            <a:off x="8123227" y="6488668"/>
            <a:ext cx="40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Faith Xu </a:t>
            </a:r>
            <a:r>
              <a:rPr lang="en-US" dirty="0"/>
              <a:t>| AI Frameworks @ Microsoft</a:t>
            </a: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E2983644-23B4-4661-8340-A2960E842C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56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1945">
        <p:fade/>
      </p:transition>
    </mc:Choice>
    <mc:Fallback xmlns="">
      <p:transition spd="med" advTm="1194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C2074D-98B2-403C-AA40-523A6120F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ONNX Runtime</a:t>
            </a:r>
            <a:br>
              <a:rPr lang="en-US" dirty="0"/>
            </a:br>
            <a:r>
              <a:rPr lang="en-US" sz="1800" b="1" dirty="0">
                <a:solidFill>
                  <a:srgbClr val="1A74D1"/>
                </a:solidFill>
              </a:rPr>
              <a:t>https://onnxruntime.ai</a:t>
            </a:r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2FA27-14F6-4513-BA4A-DEF1D66C1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cs typeface="Segoe UI"/>
              </a:rPr>
              <a:t>High performance c</a:t>
            </a:r>
            <a:r>
              <a:rPr lang="en-US" sz="2000" dirty="0"/>
              <a:t>ross-platform inferencing and training accelerator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cs typeface="Segoe UI"/>
              </a:rPr>
              <a:t>Open source and production-ready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cs typeface="Segoe UI"/>
              </a:rPr>
              <a:t>Supports full ONNX operator set with </a:t>
            </a:r>
            <a:r>
              <a:rPr lang="en-US" sz="2000" dirty="0">
                <a:ea typeface="+mn-lt"/>
                <a:cs typeface="+mn-lt"/>
              </a:rPr>
              <a:t>custom op option</a:t>
            </a:r>
            <a:endParaRPr lang="en-US" sz="2000" dirty="0">
              <a:cs typeface="Segoe UI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cs typeface="Segoe UI"/>
              </a:rPr>
              <a:t>Backwards compatible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cs typeface="Segoe UI"/>
              </a:rPr>
              <a:t>Pluggable execution provider interface for hardware acceleration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47B43F-80E0-45C0-AD9A-84FE9B60585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" b="-5"/>
          <a:stretch/>
        </p:blipFill>
        <p:spPr>
          <a:xfrm>
            <a:off x="9858567" y="0"/>
            <a:ext cx="2146799" cy="214679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400A0C-A267-46F1-A955-DCA610525D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4832" y="4182161"/>
            <a:ext cx="7562335" cy="2310714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14929A31-DF14-4D25-99BA-C5499B28F9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88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6266">
        <p:fade/>
      </p:transition>
    </mc:Choice>
    <mc:Fallback>
      <p:transition spd="med" advTm="3626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00B79A-4991-446A-8C38-45CF56351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34351" cy="1325563"/>
          </a:xfrm>
        </p:spPr>
        <p:txBody>
          <a:bodyPr/>
          <a:lstStyle/>
          <a:p>
            <a:r>
              <a:rPr lang="en-US" dirty="0"/>
              <a:t>Common problems ONNX Runtime can help with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E3CF304-A8FC-4CC5-BBA2-86D683BF6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Inference latency is too high to put into production​</a:t>
            </a:r>
          </a:p>
          <a:p>
            <a:r>
              <a:rPr lang="en-US" dirty="0"/>
              <a:t>Training in Python but need to deploy into a C#/C++/Java app​</a:t>
            </a:r>
          </a:p>
          <a:p>
            <a:r>
              <a:rPr lang="en-US" dirty="0"/>
              <a:t>Model needs to run on edge/IoT devices​</a:t>
            </a:r>
          </a:p>
          <a:p>
            <a:r>
              <a:rPr lang="en-US" dirty="0"/>
              <a:t>Same model needs to run on different hardware and operating systems​</a:t>
            </a:r>
          </a:p>
          <a:p>
            <a:r>
              <a:rPr lang="en-US" dirty="0"/>
              <a:t>Need to support running models created from several different frameworks​</a:t>
            </a:r>
          </a:p>
          <a:p>
            <a:r>
              <a:rPr lang="en-US" dirty="0"/>
              <a:t>Training very large models takes too long​</a:t>
            </a: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0F4B6031-93E4-447D-9E26-E32572D9E1B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9822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56202">
        <p:fade/>
      </p:transition>
    </mc:Choice>
    <mc:Fallback>
      <p:transition spd="med" advTm="5620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11827-27F1-4401-9594-43104C320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ONNX Runtime 1.5 Release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5D27E-7CD6-4F47-9108-55225DEDA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Highlights: Minimal Builds, Training, Quantization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75E09942-8AD9-43BA-ADF8-D4189A58A0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1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9770">
        <p:fade/>
      </p:transition>
    </mc:Choice>
    <mc:Fallback xmlns="">
      <p:transition spd="med" advTm="1977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7A35BD5-5E01-44A0-83E1-B336EE5CE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Builds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044B75-571C-4568-A425-23C972EE4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and Embedded scenarios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5A3B9572-7955-4169-AB5C-F854EB09E2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6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249">
        <p:fade/>
      </p:transition>
    </mc:Choice>
    <mc:Fallback xmlns="">
      <p:transition spd="med" advTm="1024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08EFAF-4D20-47B7-ADBF-F8566277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ONNX Runtime Minimal Build for Mobile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9B5309-9F04-4114-811C-9A2FA8170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Android, iOS, Linux</a:t>
            </a:r>
          </a:p>
          <a:p>
            <a:r>
              <a:rPr lang="en-US" dirty="0"/>
              <a:t>X86, ARM</a:t>
            </a:r>
          </a:p>
          <a:p>
            <a:r>
              <a:rPr lang="en-US" dirty="0"/>
              <a:t>Same API as existing ORT builds</a:t>
            </a:r>
          </a:p>
          <a:p>
            <a:r>
              <a:rPr lang="en-US" dirty="0"/>
              <a:t>Supports all ONNX models</a:t>
            </a:r>
          </a:p>
          <a:p>
            <a:r>
              <a:rPr lang="en-US" dirty="0"/>
              <a:t>Model-specific ORT build provides minimal footprint for inferencing on device</a:t>
            </a:r>
          </a:p>
          <a:p>
            <a:r>
              <a:rPr lang="en-US" dirty="0"/>
              <a:t>Uses an in</a:t>
            </a:r>
            <a:r>
              <a:rPr lang="en-US" b="0" i="0" dirty="0">
                <a:solidFill>
                  <a:srgbClr val="24292E"/>
                </a:solidFill>
                <a:effectLst/>
                <a:latin typeface="-apple-system"/>
              </a:rPr>
              <a:t>ternal model format to minimize the build size for usage in mobile and embedded scenarios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CC041E16-E264-4CA3-8C6E-182A0E063C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9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4697">
        <p:fade/>
      </p:transition>
    </mc:Choice>
    <mc:Fallback xmlns="">
      <p:transition spd="med" advTm="546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5707324-DAE5-4220-9855-C35E881AFFDF}"/>
              </a:ext>
            </a:extLst>
          </p:cNvPr>
          <p:cNvSpPr/>
          <p:nvPr/>
        </p:nvSpPr>
        <p:spPr>
          <a:xfrm>
            <a:off x="2840491" y="5444816"/>
            <a:ext cx="4794135" cy="8728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inference on device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5BB7B5-363B-4D7D-873A-362D84997491}"/>
              </a:ext>
            </a:extLst>
          </p:cNvPr>
          <p:cNvSpPr/>
          <p:nvPr/>
        </p:nvSpPr>
        <p:spPr>
          <a:xfrm>
            <a:off x="4008891" y="1320768"/>
            <a:ext cx="2336800" cy="461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Consolas" panose="020B0609020204030204" pitchFamily="49" charset="0"/>
              </a:rPr>
              <a:t>Convert model to ONNX</a:t>
            </a:r>
          </a:p>
        </p:txBody>
      </p:sp>
      <p:pic>
        <p:nvPicPr>
          <p:cNvPr id="6" name="Picture 5" descr="PyTorch">
            <a:extLst>
              <a:ext uri="{FF2B5EF4-FFF2-40B4-BE49-F238E27FC236}">
                <a16:creationId xmlns:a16="http://schemas.microsoft.com/office/drawing/2014/main" id="{5F8B2795-383D-4493-A4E7-DF17A2C271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490" y="743847"/>
            <a:ext cx="1364910" cy="274320"/>
          </a:xfrm>
          <a:prstGeom prst="rect">
            <a:avLst/>
          </a:prstGeom>
        </p:spPr>
      </p:pic>
      <p:pic>
        <p:nvPicPr>
          <p:cNvPr id="8" name="Picture 7" descr="Tensorflow">
            <a:extLst>
              <a:ext uri="{FF2B5EF4-FFF2-40B4-BE49-F238E27FC236}">
                <a16:creationId xmlns:a16="http://schemas.microsoft.com/office/drawing/2014/main" id="{E24B75E5-B2DD-48D8-BDEA-00E7A33896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212" y="698127"/>
            <a:ext cx="344860" cy="365760"/>
          </a:xfrm>
          <a:prstGeom prst="rect">
            <a:avLst/>
          </a:prstGeom>
        </p:spPr>
      </p:pic>
      <p:pic>
        <p:nvPicPr>
          <p:cNvPr id="10" name="Picture 9" descr="SciKitLearn">
            <a:extLst>
              <a:ext uri="{FF2B5EF4-FFF2-40B4-BE49-F238E27FC236}">
                <a16:creationId xmlns:a16="http://schemas.microsoft.com/office/drawing/2014/main" id="{8EE4172D-1F27-497F-AB91-D1F711ADA8E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" t="-5209" r="5197" b="-474"/>
          <a:stretch/>
        </p:blipFill>
        <p:spPr>
          <a:xfrm>
            <a:off x="6065125" y="698127"/>
            <a:ext cx="642720" cy="365760"/>
          </a:xfrm>
          <a:prstGeom prst="rect">
            <a:avLst/>
          </a:prstGeom>
        </p:spPr>
      </p:pic>
      <p:sp>
        <p:nvSpPr>
          <p:cNvPr id="12" name="Group 26">
            <a:extLst>
              <a:ext uri="{FF2B5EF4-FFF2-40B4-BE49-F238E27FC236}">
                <a16:creationId xmlns:a16="http://schemas.microsoft.com/office/drawing/2014/main" id="{6E44B4F2-2D4D-4431-A25C-1286986247F2}"/>
              </a:ext>
            </a:extLst>
          </p:cNvPr>
          <p:cNvSpPr/>
          <p:nvPr/>
        </p:nvSpPr>
        <p:spPr>
          <a:xfrm>
            <a:off x="5288590" y="652407"/>
            <a:ext cx="592627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2857" rIns="12857" anchor="ctr">
            <a:noAutofit/>
          </a:bodyPr>
          <a:lstStyle>
            <a:lvl1pPr algn="ctr" defTabSz="457200">
              <a:defRPr sz="3600">
                <a:solidFill>
                  <a:srgbClr val="000000"/>
                </a:solidFill>
                <a:latin typeface="FreightSans Pro Semibold"/>
                <a:ea typeface="FreightSans Pro Semibold"/>
                <a:cs typeface="FreightSans Pro Semibold"/>
                <a:sym typeface="FreightSans Pro Semibold"/>
              </a:defRPr>
            </a:lvl1pPr>
          </a:lstStyle>
          <a:p>
            <a:pPr marL="0" marR="0" lvl="0" indent="0" algn="l" defTabSz="12856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B1F73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FreightSans Pro Semibold"/>
              </a:rPr>
              <a:t>ML.NET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6B1F73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FreightSans Pro Semibold"/>
            </a:endParaRP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5DC955AE-CFEB-4952-8C9B-F701368B3D4C}"/>
              </a:ext>
            </a:extLst>
          </p:cNvPr>
          <p:cNvSpPr/>
          <p:nvPr/>
        </p:nvSpPr>
        <p:spPr>
          <a:xfrm rot="16200000">
            <a:off x="5026359" y="-459949"/>
            <a:ext cx="232593" cy="3209636"/>
          </a:xfrm>
          <a:prstGeom prst="leftBrace">
            <a:avLst>
              <a:gd name="adj1" fmla="val 4652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F47BE7-81F1-4B31-A954-B7AAD70A1362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5177291" y="1782586"/>
            <a:ext cx="0" cy="24959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75E249D-97FF-4CC2-AA19-30AC914DB944}"/>
              </a:ext>
            </a:extLst>
          </p:cNvPr>
          <p:cNvSpPr/>
          <p:nvPr/>
        </p:nvSpPr>
        <p:spPr>
          <a:xfrm>
            <a:off x="4008891" y="2775711"/>
            <a:ext cx="2336800" cy="461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Consolas" panose="020B0609020204030204" pitchFamily="49" charset="0"/>
              </a:rPr>
              <a:t>Optimization for Mobile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5BA5E4-7E33-4377-B1D4-76FB658CDAB5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5177291" y="2494002"/>
            <a:ext cx="0" cy="28170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9EE3F20-0257-4BF9-8228-C3046726E7E8}"/>
              </a:ext>
            </a:extLst>
          </p:cNvPr>
          <p:cNvSpPr txBox="1"/>
          <p:nvPr/>
        </p:nvSpPr>
        <p:spPr>
          <a:xfrm>
            <a:off x="5485694" y="2074553"/>
            <a:ext cx="1175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err="1"/>
              <a:t>model.onnx</a:t>
            </a:r>
            <a:endParaRPr lang="en-US" sz="1600"/>
          </a:p>
        </p:txBody>
      </p:sp>
      <p:pic>
        <p:nvPicPr>
          <p:cNvPr id="24" name="Picture 2" descr="See the source image">
            <a:extLst>
              <a:ext uri="{FF2B5EF4-FFF2-40B4-BE49-F238E27FC236}">
                <a16:creationId xmlns:a16="http://schemas.microsoft.com/office/drawing/2014/main" id="{04950DEB-1045-47A7-B93D-DD5077B218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48691" y="2023381"/>
            <a:ext cx="457200" cy="457200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2F0C527-4715-48C7-A911-C561946A3A93}"/>
              </a:ext>
            </a:extLst>
          </p:cNvPr>
          <p:cNvSpPr/>
          <p:nvPr/>
        </p:nvSpPr>
        <p:spPr>
          <a:xfrm>
            <a:off x="2840491" y="3944868"/>
            <a:ext cx="2336800" cy="461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Consolas" panose="020B0609020204030204" pitchFamily="49" charset="0"/>
              </a:rPr>
              <a:t>Optimized model file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5E2C348-D8F8-409D-8D6D-3B1827BF5D7B}"/>
              </a:ext>
            </a:extLst>
          </p:cNvPr>
          <p:cNvSpPr/>
          <p:nvPr/>
        </p:nvSpPr>
        <p:spPr>
          <a:xfrm>
            <a:off x="5297826" y="3916524"/>
            <a:ext cx="2336800" cy="461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Consolas" panose="020B0609020204030204" pitchFamily="49" charset="0"/>
              </a:rPr>
              <a:t>Operator config file</a:t>
            </a:r>
          </a:p>
        </p:txBody>
      </p:sp>
      <p:pic>
        <p:nvPicPr>
          <p:cNvPr id="28" name="Picture 2" descr="See the source image">
            <a:extLst>
              <a:ext uri="{FF2B5EF4-FFF2-40B4-BE49-F238E27FC236}">
                <a16:creationId xmlns:a16="http://schemas.microsoft.com/office/drawing/2014/main" id="{8DCA613E-CA1F-4CE2-BACE-ED023E39D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80291" y="5606930"/>
            <a:ext cx="457200" cy="457200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EF316D1-A07C-458F-85FB-2CCF7D9536F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" b="-5"/>
          <a:stretch/>
        </p:blipFill>
        <p:spPr>
          <a:xfrm>
            <a:off x="6198832" y="5561210"/>
            <a:ext cx="548640" cy="548640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</p:pic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59287BE7-D293-4BD1-BDD2-14EC0FE7B77F}"/>
              </a:ext>
            </a:extLst>
          </p:cNvPr>
          <p:cNvCxnSpPr>
            <a:stCxn id="18" idx="2"/>
            <a:endCxn id="25" idx="0"/>
          </p:cNvCxnSpPr>
          <p:nvPr/>
        </p:nvCxnSpPr>
        <p:spPr>
          <a:xfrm rot="5400000">
            <a:off x="4239422" y="3006998"/>
            <a:ext cx="707339" cy="1168400"/>
          </a:xfrm>
          <a:prstGeom prst="curvedConnector3">
            <a:avLst/>
          </a:prstGeom>
          <a:ln w="1905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BC9B276A-CB64-459E-A0D8-296365095EFA}"/>
              </a:ext>
            </a:extLst>
          </p:cNvPr>
          <p:cNvCxnSpPr>
            <a:stCxn id="18" idx="2"/>
            <a:endCxn id="26" idx="0"/>
          </p:cNvCxnSpPr>
          <p:nvPr/>
        </p:nvCxnSpPr>
        <p:spPr>
          <a:xfrm rot="16200000" flipH="1">
            <a:off x="5482261" y="2932558"/>
            <a:ext cx="678995" cy="1288935"/>
          </a:xfrm>
          <a:prstGeom prst="curvedConnector3">
            <a:avLst/>
          </a:prstGeom>
          <a:ln w="1905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F6491E7-A1AD-40B9-BC11-9F53B8A77A6F}"/>
              </a:ext>
            </a:extLst>
          </p:cNvPr>
          <p:cNvSpPr/>
          <p:nvPr/>
        </p:nvSpPr>
        <p:spPr>
          <a:xfrm>
            <a:off x="5297826" y="4706233"/>
            <a:ext cx="2336800" cy="461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Consolas" panose="020B0609020204030204" pitchFamily="49" charset="0"/>
              </a:rPr>
              <a:t>Build </a:t>
            </a:r>
            <a:r>
              <a:rPr lang="en-US" sz="1400" err="1">
                <a:latin typeface="Consolas" panose="020B0609020204030204" pitchFamily="49" charset="0"/>
              </a:rPr>
              <a:t>onnxruntime</a:t>
            </a:r>
            <a:r>
              <a:rPr lang="en-US" sz="1400">
                <a:latin typeface="Consolas" panose="020B0609020204030204" pitchFamily="49" charset="0"/>
              </a:rPr>
              <a:t> pkg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6966B7F-8566-4D8C-8EFB-330619B56602}"/>
              </a:ext>
            </a:extLst>
          </p:cNvPr>
          <p:cNvCxnSpPr>
            <a:cxnSpLocks/>
            <a:stCxn id="50" idx="2"/>
            <a:endCxn id="28" idx="0"/>
          </p:cNvCxnSpPr>
          <p:nvPr/>
        </p:nvCxnSpPr>
        <p:spPr>
          <a:xfrm>
            <a:off x="4008891" y="5168051"/>
            <a:ext cx="0" cy="43887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CBEF789-D3A5-461B-987A-112B16290651}"/>
              </a:ext>
            </a:extLst>
          </p:cNvPr>
          <p:cNvCxnSpPr>
            <a:cxnSpLocks/>
            <a:stCxn id="26" idx="2"/>
            <a:endCxn id="42" idx="0"/>
          </p:cNvCxnSpPr>
          <p:nvPr/>
        </p:nvCxnSpPr>
        <p:spPr>
          <a:xfrm>
            <a:off x="6466226" y="4378342"/>
            <a:ext cx="0" cy="3278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36E8252-7766-498F-A45F-1027681D1E5A}"/>
              </a:ext>
            </a:extLst>
          </p:cNvPr>
          <p:cNvSpPr/>
          <p:nvPr/>
        </p:nvSpPr>
        <p:spPr>
          <a:xfrm>
            <a:off x="2840491" y="4706233"/>
            <a:ext cx="2336800" cy="461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err="1">
                <a:latin typeface="Consolas" panose="020B0609020204030204" pitchFamily="49" charset="0"/>
              </a:rPr>
              <a:t>model.</a:t>
            </a:r>
            <a:r>
              <a:rPr lang="en-US" sz="1400" b="1" err="1">
                <a:latin typeface="Consolas" panose="020B0609020204030204" pitchFamily="49" charset="0"/>
              </a:rPr>
              <a:t>ort</a:t>
            </a:r>
            <a:endParaRPr lang="en-US" sz="1400" b="1">
              <a:latin typeface="Consolas" panose="020B06090202040302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13CAA04-63C5-422C-8B31-ABFF622255F1}"/>
              </a:ext>
            </a:extLst>
          </p:cNvPr>
          <p:cNvCxnSpPr>
            <a:cxnSpLocks/>
            <a:stCxn id="25" idx="2"/>
            <a:endCxn id="50" idx="0"/>
          </p:cNvCxnSpPr>
          <p:nvPr/>
        </p:nvCxnSpPr>
        <p:spPr>
          <a:xfrm>
            <a:off x="4008891" y="4406686"/>
            <a:ext cx="0" cy="29954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EB8AAEA-20E0-4708-9644-47A58036FE63}"/>
              </a:ext>
            </a:extLst>
          </p:cNvPr>
          <p:cNvCxnSpPr>
            <a:cxnSpLocks/>
            <a:stCxn id="42" idx="2"/>
            <a:endCxn id="30" idx="0"/>
          </p:cNvCxnSpPr>
          <p:nvPr/>
        </p:nvCxnSpPr>
        <p:spPr>
          <a:xfrm>
            <a:off x="6466226" y="5168051"/>
            <a:ext cx="6926" cy="39315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7AFF57BE-134E-4FBB-9728-51C5A8DD7E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7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962">
        <p:fade/>
      </p:transition>
    </mc:Choice>
    <mc:Fallback xmlns="">
      <p:transition spd="med" advTm="3096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C21F2-6021-4060-8DA8-987659CE0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800"/>
              <a:t>Size for ONNX Runtime Mobile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872EE-861F-42D9-81FA-C36993B126BF}"/>
              </a:ext>
            </a:extLst>
          </p:cNvPr>
          <p:cNvSpPr txBox="1"/>
          <p:nvPr/>
        </p:nvSpPr>
        <p:spPr>
          <a:xfrm>
            <a:off x="838200" y="5562682"/>
            <a:ext cx="518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solidFill>
                  <a:srgbClr val="41424E"/>
                </a:solidFill>
                <a:effectLst/>
              </a:rPr>
              <a:t>*</a:t>
            </a:r>
            <a:r>
              <a:rPr lang="en-US" sz="1200" b="0" i="1" dirty="0" err="1">
                <a:solidFill>
                  <a:srgbClr val="41424E"/>
                </a:solidFill>
                <a:effectLst/>
              </a:rPr>
              <a:t>TfLite</a:t>
            </a:r>
            <a:r>
              <a:rPr lang="en-US" sz="1200" b="0" i="1" dirty="0">
                <a:solidFill>
                  <a:srgbClr val="41424E"/>
                </a:solidFill>
                <a:effectLst/>
              </a:rPr>
              <a:t> package size from: </a:t>
            </a:r>
            <a:r>
              <a:rPr lang="en-US" sz="1200" b="0" i="1" u="sng" dirty="0">
                <a:solidFill>
                  <a:srgbClr val="0067B8"/>
                </a:solidFill>
                <a:effectLst/>
                <a:hlinkClick r:id="rId5"/>
              </a:rPr>
              <a:t>Reduce TensorFlow Lite binary size</a:t>
            </a:r>
            <a:br>
              <a:rPr lang="en-US" sz="1200" dirty="0"/>
            </a:br>
            <a:r>
              <a:rPr lang="en-US" sz="1200" b="0" i="1" dirty="0">
                <a:solidFill>
                  <a:srgbClr val="41424E"/>
                </a:solidFill>
                <a:effectLst/>
              </a:rPr>
              <a:t>†ONNX Runtime full build is 7,546,880 bytes</a:t>
            </a:r>
            <a:endParaRPr lang="en-US" sz="1200" dirty="0"/>
          </a:p>
        </p:txBody>
      </p:sp>
      <p:pic>
        <p:nvPicPr>
          <p:cNvPr id="8" name="Picture 2" descr="Package size for Mobilenet chart">
            <a:extLst>
              <a:ext uri="{FF2B5EF4-FFF2-40B4-BE49-F238E27FC236}">
                <a16:creationId xmlns:a16="http://schemas.microsoft.com/office/drawing/2014/main" id="{0831AF55-1BA7-40EF-9AC0-C4FB9411BFC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39905"/>
            <a:ext cx="5181600" cy="3122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42AC903-71A6-41E6-B319-FBC3E670490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4811926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D5D59305-5426-49B8-ACDF-9615F9499A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1746">
        <p:fade/>
      </p:transition>
    </mc:Choice>
    <mc:Fallback xmlns="">
      <p:transition spd="med" advTm="2174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9887E8-3E1A-46F5-8773-0A8538D00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Acceleration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FBC04-11F9-46B4-A26E-C65E777CB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Transformer models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F54726F3-AC63-476D-9E1C-F720EC8C8B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3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677">
        <p:fade/>
      </p:transition>
    </mc:Choice>
    <mc:Fallback xmlns="">
      <p:transition spd="med" advTm="467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0CDB-1356-4D4F-8017-01F04D014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ONNX Runtime Training (Public Preview)</a:t>
            </a:r>
          </a:p>
        </p:txBody>
      </p:sp>
      <p:sp>
        <p:nvSpPr>
          <p:cNvPr id="94" name="Text Placeholder 93">
            <a:extLst>
              <a:ext uri="{FF2B5EF4-FFF2-40B4-BE49-F238E27FC236}">
                <a16:creationId xmlns:a16="http://schemas.microsoft.com/office/drawing/2014/main" id="{D1E4E0FD-C39A-4B7D-AF7E-C1D7E9CEC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3927" y="2164793"/>
            <a:ext cx="4880535" cy="1931310"/>
          </a:xfrm>
          <a:ln>
            <a:solidFill>
              <a:schemeClr val="tx1"/>
            </a:solidFill>
          </a:ln>
        </p:spPr>
        <p:txBody>
          <a:bodyPr/>
          <a:lstStyle/>
          <a:p>
            <a:pPr marL="285750" indent="-285750"/>
            <a:r>
              <a:rPr lang="en-US" sz="1800" dirty="0">
                <a:solidFill>
                  <a:schemeClr val="tx1"/>
                </a:solidFill>
                <a:ea typeface="+mn-lt"/>
                <a:cs typeface="Segoe UI Light" panose="020B0502040204020203" pitchFamily="34" charset="0"/>
              </a:rPr>
              <a:t>Seamless integration with existing training frameworks for accelerated training and fine tuning of large transformer models</a:t>
            </a:r>
          </a:p>
          <a:p>
            <a:r>
              <a:rPr lang="en-US" sz="1800" dirty="0"/>
              <a:t>Incorporates latest algorithms and techniques such as </a:t>
            </a:r>
            <a:r>
              <a:rPr lang="en-US" sz="1800" dirty="0" err="1"/>
              <a:t>DeepSpeed</a:t>
            </a:r>
            <a:r>
              <a:rPr lang="en-US" sz="1800" dirty="0"/>
              <a:t>/</a:t>
            </a:r>
            <a:r>
              <a:rPr lang="en-US" sz="1800" dirty="0" err="1"/>
              <a:t>ZeRO</a:t>
            </a:r>
            <a:r>
              <a:rPr lang="en-US" sz="1800" dirty="0"/>
              <a:t> and Parasail/</a:t>
            </a:r>
            <a:r>
              <a:rPr lang="en-US" sz="1800" dirty="0" err="1"/>
              <a:t>Adasum</a:t>
            </a:r>
            <a:endParaRPr lang="en-US" sz="1800" dirty="0"/>
          </a:p>
          <a:p>
            <a:r>
              <a:rPr lang="en-US" sz="1800" dirty="0">
                <a:solidFill>
                  <a:schemeClr val="tx1"/>
                </a:solidFill>
                <a:ea typeface="+mn-lt"/>
                <a:cs typeface="Segoe UI Light" panose="020B0502040204020203" pitchFamily="34" charset="0"/>
              </a:rPr>
              <a:t>Integrates with GPU for distributed training</a:t>
            </a:r>
            <a:endParaRPr lang="en-US" sz="1800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983136" y="4584441"/>
            <a:ext cx="5264796" cy="57576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66197" y="3890367"/>
            <a:ext cx="5667996" cy="1693787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66198" y="3201327"/>
            <a:ext cx="5667995" cy="57576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766198" y="2512285"/>
            <a:ext cx="5667995" cy="57576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204603" y="2594220"/>
            <a:ext cx="1289925" cy="425806"/>
          </a:xfrm>
          <a:prstGeom prst="rect">
            <a:avLst/>
          </a:prstGeom>
          <a:solidFill>
            <a:srgbClr val="4472C4"/>
          </a:solidFill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PyTorch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766199" y="2512287"/>
            <a:ext cx="1111019" cy="575766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Frontend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766198" y="3890367"/>
            <a:ext cx="1111019" cy="1693787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Backend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766199" y="3201327"/>
            <a:ext cx="1111019" cy="575766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IR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2202966" y="3280291"/>
            <a:ext cx="3947107" cy="425806"/>
          </a:xfrm>
          <a:prstGeom prst="rect">
            <a:avLst/>
          </a:prstGeom>
          <a:solidFill>
            <a:srgbClr val="4472C4"/>
          </a:solidFill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ONNX</a:t>
            </a: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2202966" y="3965347"/>
            <a:ext cx="3947110" cy="1534612"/>
          </a:xfrm>
          <a:prstGeom prst="rect">
            <a:avLst/>
          </a:prstGeom>
          <a:solidFill>
            <a:srgbClr val="4472C4"/>
          </a:solidFill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ONNX Runtime</a:t>
            </a: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3533194" y="2591179"/>
            <a:ext cx="1289925" cy="425806"/>
          </a:xfrm>
          <a:prstGeom prst="rect">
            <a:avLst/>
          </a:prstGeom>
          <a:solidFill>
            <a:srgbClr val="4472C4"/>
          </a:solidFill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TF/</a:t>
            </a:r>
            <a:r>
              <a:rPr kumimoji="0" lang="en-US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Keras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4861785" y="2591179"/>
            <a:ext cx="1289925" cy="425806"/>
          </a:xfrm>
          <a:prstGeom prst="rect">
            <a:avLst/>
          </a:prstGeom>
          <a:solidFill>
            <a:srgbClr val="4472C4"/>
          </a:solidFill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</a:t>
            </a:r>
          </a:p>
        </p:txBody>
      </p:sp>
      <p:sp>
        <p:nvSpPr>
          <p:cNvPr id="39" name="Rectangle 5">
            <a:extLst>
              <a:ext uri="{FF2B5EF4-FFF2-40B4-BE49-F238E27FC236}">
                <a16:creationId xmlns:a16="http://schemas.microsoft.com/office/drawing/2014/main" id="{C8ACAB42-CF1B-404E-B956-0E12E91DC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197" y="5690776"/>
            <a:ext cx="5667996" cy="57576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2CAB353B-9BC0-40B8-90D6-6BD5BE54E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197" y="5685742"/>
            <a:ext cx="1111019" cy="575766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19050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Accelerator SDKs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id="{15E5C47A-EDED-420D-9958-BC2344C46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012" y="5750124"/>
            <a:ext cx="573785" cy="425806"/>
          </a:xfrm>
          <a:prstGeom prst="rect">
            <a:avLst/>
          </a:prstGeom>
          <a:solidFill>
            <a:srgbClr val="4472C4"/>
          </a:solidFill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CPU</a:t>
            </a: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9DDC0D74-7B2F-4EC5-8D28-3A18910AA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267" y="5750124"/>
            <a:ext cx="573785" cy="425806"/>
          </a:xfrm>
          <a:prstGeom prst="rect">
            <a:avLst/>
          </a:prstGeom>
          <a:solidFill>
            <a:srgbClr val="4472C4"/>
          </a:solidFill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400" kern="0">
                <a:solidFill>
                  <a:prstClr val="white"/>
                </a:solidFill>
                <a:latin typeface="Calibri" panose="020F0502020204030204"/>
              </a:rPr>
              <a:t>G</a:t>
            </a: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</a:t>
            </a:r>
          </a:p>
        </p:txBody>
      </p:sp>
      <p:sp>
        <p:nvSpPr>
          <p:cNvPr id="67" name="Rectangle 5">
            <a:extLst>
              <a:ext uri="{FF2B5EF4-FFF2-40B4-BE49-F238E27FC236}">
                <a16:creationId xmlns:a16="http://schemas.microsoft.com/office/drawing/2014/main" id="{62D36004-0ECE-446F-8287-B65ABF354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3522" y="5750124"/>
            <a:ext cx="573785" cy="425806"/>
          </a:xfrm>
          <a:prstGeom prst="rect">
            <a:avLst/>
          </a:prstGeom>
          <a:solidFill>
            <a:srgbClr val="4472C4"/>
          </a:solidFill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FPGA</a:t>
            </a:r>
          </a:p>
        </p:txBody>
      </p:sp>
      <p:sp>
        <p:nvSpPr>
          <p:cNvPr id="69" name="Rectangle 5">
            <a:extLst>
              <a:ext uri="{FF2B5EF4-FFF2-40B4-BE49-F238E27FC236}">
                <a16:creationId xmlns:a16="http://schemas.microsoft.com/office/drawing/2014/main" id="{556C66B7-ED46-49C0-960B-361CC3617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7777" y="5750124"/>
            <a:ext cx="573785" cy="425806"/>
          </a:xfrm>
          <a:prstGeom prst="rect">
            <a:avLst/>
          </a:prstGeom>
          <a:solidFill>
            <a:srgbClr val="4472C4"/>
          </a:solidFill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400" kern="0">
                <a:solidFill>
                  <a:prstClr val="white"/>
                </a:solidFill>
                <a:latin typeface="Calibri" panose="020F0502020204030204"/>
              </a:rPr>
              <a:t>V</a:t>
            </a: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</a:t>
            </a:r>
          </a:p>
        </p:txBody>
      </p:sp>
      <p:sp>
        <p:nvSpPr>
          <p:cNvPr id="71" name="Rectangle 5">
            <a:extLst>
              <a:ext uri="{FF2B5EF4-FFF2-40B4-BE49-F238E27FC236}">
                <a16:creationId xmlns:a16="http://schemas.microsoft.com/office/drawing/2014/main" id="{E230AAC4-616D-49B2-BC8B-E87776EE7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032" y="5750124"/>
            <a:ext cx="573785" cy="425806"/>
          </a:xfrm>
          <a:prstGeom prst="rect">
            <a:avLst/>
          </a:prstGeom>
          <a:solidFill>
            <a:srgbClr val="4472C4"/>
          </a:solidFill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400" kern="0">
                <a:solidFill>
                  <a:prstClr val="white"/>
                </a:solidFill>
                <a:latin typeface="Calibri" panose="020F0502020204030204"/>
              </a:rPr>
              <a:t>DML</a:t>
            </a:r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5">
            <a:extLst>
              <a:ext uri="{FF2B5EF4-FFF2-40B4-BE49-F238E27FC236}">
                <a16:creationId xmlns:a16="http://schemas.microsoft.com/office/drawing/2014/main" id="{92BB17F2-1057-4327-9EFD-A51ACB49D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797" y="4358972"/>
            <a:ext cx="2797491" cy="425806"/>
          </a:xfrm>
          <a:prstGeom prst="rect">
            <a:avLst/>
          </a:prstGeom>
          <a:solidFill>
            <a:srgbClr val="4472C4"/>
          </a:solidFill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Graph Compiler (MLIR)</a:t>
            </a:r>
          </a:p>
        </p:txBody>
      </p:sp>
      <p:sp>
        <p:nvSpPr>
          <p:cNvPr id="77" name="Rectangle 5">
            <a:extLst>
              <a:ext uri="{FF2B5EF4-FFF2-40B4-BE49-F238E27FC236}">
                <a16:creationId xmlns:a16="http://schemas.microsoft.com/office/drawing/2014/main" id="{CC755377-1401-4CF3-A358-E2896078A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6288" y="5750124"/>
            <a:ext cx="573785" cy="425806"/>
          </a:xfrm>
          <a:prstGeom prst="rect">
            <a:avLst/>
          </a:prstGeom>
          <a:solidFill>
            <a:srgbClr val="4472C4"/>
          </a:solidFill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NPU</a:t>
            </a:r>
          </a:p>
        </p:txBody>
      </p:sp>
      <p:sp>
        <p:nvSpPr>
          <p:cNvPr id="79" name="Rectangle 5">
            <a:extLst>
              <a:ext uri="{FF2B5EF4-FFF2-40B4-BE49-F238E27FC236}">
                <a16:creationId xmlns:a16="http://schemas.microsoft.com/office/drawing/2014/main" id="{C6ECAA85-8FCC-44BC-96A8-E450756D7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3927" y="4235138"/>
            <a:ext cx="2030304" cy="2026371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MSFT and 3P innovations</a:t>
            </a:r>
            <a:endParaRPr lang="en-US" sz="1200" kern="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0" dirty="0">
              <a:solidFill>
                <a:prstClr val="white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Rectangle 5">
            <a:extLst>
              <a:ext uri="{FF2B5EF4-FFF2-40B4-BE49-F238E27FC236}">
                <a16:creationId xmlns:a16="http://schemas.microsoft.com/office/drawing/2014/main" id="{4F2EBEDE-64BC-4E5D-9755-1F0837D7A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6174" y="4685504"/>
            <a:ext cx="865811" cy="425806"/>
          </a:xfrm>
          <a:prstGeom prst="rect">
            <a:avLst/>
          </a:prstGeom>
          <a:solidFill>
            <a:schemeClr val="tx2">
              <a:lumMod val="50000"/>
            </a:schemeClr>
          </a:solidFill>
          <a:ln w="19050">
            <a:solidFill>
              <a:schemeClr val="tx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MSR </a:t>
            </a:r>
            <a:r>
              <a:rPr kumimoji="0" lang="en-US" altLang="en-US" sz="1000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DeepSpeed</a:t>
            </a:r>
            <a:endParaRPr kumimoji="0" lang="en-US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Rectangle 5">
            <a:extLst>
              <a:ext uri="{FF2B5EF4-FFF2-40B4-BE49-F238E27FC236}">
                <a16:creationId xmlns:a16="http://schemas.microsoft.com/office/drawing/2014/main" id="{A14A18DD-BE3C-4193-A8CE-3B172DE9A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6174" y="5158348"/>
            <a:ext cx="865811" cy="425806"/>
          </a:xfrm>
          <a:prstGeom prst="rect">
            <a:avLst/>
          </a:prstGeom>
          <a:solidFill>
            <a:schemeClr val="tx2">
              <a:lumMod val="50000"/>
            </a:schemeClr>
          </a:solidFill>
          <a:ln w="19050">
            <a:solidFill>
              <a:schemeClr val="tx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MSR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Parasail</a:t>
            </a:r>
            <a:endParaRPr kumimoji="0" lang="en-US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Rectangle 5">
            <a:extLst>
              <a:ext uri="{FF2B5EF4-FFF2-40B4-BE49-F238E27FC236}">
                <a16:creationId xmlns:a16="http://schemas.microsoft.com/office/drawing/2014/main" id="{C216A621-45EF-416B-9796-35AFCF92F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6174" y="5693579"/>
            <a:ext cx="865811" cy="425806"/>
          </a:xfrm>
          <a:prstGeom prst="rect">
            <a:avLst/>
          </a:prstGeom>
          <a:solidFill>
            <a:schemeClr val="tx2">
              <a:lumMod val="50000"/>
            </a:schemeClr>
          </a:solidFill>
          <a:ln w="19050">
            <a:solidFill>
              <a:schemeClr val="tx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Nvidia Megatron</a:t>
            </a:r>
            <a:endParaRPr kumimoji="0" lang="en-US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ECBC923-D754-4AEA-8360-E89B08500DF4}"/>
              </a:ext>
            </a:extLst>
          </p:cNvPr>
          <p:cNvCxnSpPr>
            <a:cxnSpLocks/>
            <a:stCxn id="112" idx="3"/>
          </p:cNvCxnSpPr>
          <p:nvPr/>
        </p:nvCxnSpPr>
        <p:spPr>
          <a:xfrm>
            <a:off x="5576288" y="5133098"/>
            <a:ext cx="1217639" cy="4099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5">
            <a:extLst>
              <a:ext uri="{FF2B5EF4-FFF2-40B4-BE49-F238E27FC236}">
                <a16:creationId xmlns:a16="http://schemas.microsoft.com/office/drawing/2014/main" id="{CD46B988-DBAE-4AC7-AFD8-71CEE21A5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797" y="4920195"/>
            <a:ext cx="2797491" cy="425806"/>
          </a:xfrm>
          <a:prstGeom prst="rect">
            <a:avLst/>
          </a:prstGeom>
          <a:solidFill>
            <a:srgbClr val="4472C4"/>
          </a:solidFill>
          <a:ln w="1905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Distributed Execution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E824F5E8-4A9A-46B4-AF15-A5251E7D15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6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1851">
        <p:fade/>
      </p:transition>
    </mc:Choice>
    <mc:Fallback xmlns="">
      <p:transition spd="med" advTm="5185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3F49-5D83-4115-8838-227E43011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Usage of ORT Training at Microsoft</a:t>
            </a:r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BEC61024-684C-4055-A120-CAE5130DB18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11462860"/>
              </p:ext>
            </p:extLst>
          </p:nvPr>
        </p:nvGraphicFramePr>
        <p:xfrm>
          <a:off x="838200" y="1825625"/>
          <a:ext cx="5071647" cy="391568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29495">
                  <a:extLst>
                    <a:ext uri="{9D8B030D-6E8A-4147-A177-3AD203B41FA5}">
                      <a16:colId xmlns:a16="http://schemas.microsoft.com/office/drawing/2014/main" val="3308264176"/>
                    </a:ext>
                  </a:extLst>
                </a:gridCol>
                <a:gridCol w="1599024">
                  <a:extLst>
                    <a:ext uri="{9D8B030D-6E8A-4147-A177-3AD203B41FA5}">
                      <a16:colId xmlns:a16="http://schemas.microsoft.com/office/drawing/2014/main" val="3335596291"/>
                    </a:ext>
                  </a:extLst>
                </a:gridCol>
                <a:gridCol w="2143128">
                  <a:extLst>
                    <a:ext uri="{9D8B030D-6E8A-4147-A177-3AD203B41FA5}">
                      <a16:colId xmlns:a16="http://schemas.microsoft.com/office/drawing/2014/main" val="2632181969"/>
                    </a:ext>
                  </a:extLst>
                </a:gridCol>
              </a:tblGrid>
              <a:tr h="658052">
                <a:tc>
                  <a:txBody>
                    <a:bodyPr/>
                    <a:lstStyle/>
                    <a:p>
                      <a:r>
                        <a:rPr lang="en-US" sz="1600">
                          <a:latin typeface="+mn-lt"/>
                        </a:rPr>
                        <a:t>Team</a:t>
                      </a:r>
                    </a:p>
                  </a:txBody>
                  <a:tcPr marL="96716" marR="96716" marT="48360" marB="48360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+mn-lt"/>
                        </a:rPr>
                        <a:t>Scenario / Model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96716" marR="96716" marT="48360" marB="48360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Improvement</a:t>
                      </a:r>
                    </a:p>
                  </a:txBody>
                  <a:tcPr marL="96716" marR="96716" marT="48360" marB="48360" anchor="ctr"/>
                </a:tc>
                <a:extLst>
                  <a:ext uri="{0D108BD9-81ED-4DB2-BD59-A6C34878D82A}">
                    <a16:rowId xmlns:a16="http://schemas.microsoft.com/office/drawing/2014/main" val="68790938"/>
                  </a:ext>
                </a:extLst>
              </a:tr>
              <a:tr h="81388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Segoe UI Light"/>
                        </a:rPr>
                        <a:t>Office services</a:t>
                      </a:r>
                    </a:p>
                  </a:txBody>
                  <a:tcPr marL="92319" marR="92319" marT="46160" marB="461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n-lt"/>
                          <a:cs typeface="Segoe UI Light"/>
                        </a:rPr>
                        <a:t>Pre-training TuringNLR</a:t>
                      </a:r>
                    </a:p>
                  </a:txBody>
                  <a:tcPr marL="96716" marR="96716" marT="48360" marB="48360"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cs typeface="Segoe UI Light"/>
                        </a:rPr>
                        <a:t>From 4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Segoe UI Light"/>
                        </a:rPr>
                        <a:t> days to ~2 days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+mn-lt"/>
                          <a:cs typeface="Segoe UI Light"/>
                        </a:rPr>
                        <a:t> (1.4x higher throughput)</a:t>
                      </a:r>
                      <a:endParaRPr lang="en-US" sz="1400" b="0" dirty="0">
                        <a:latin typeface="+mn-lt"/>
                        <a:cs typeface="Segoe UI Light"/>
                      </a:endParaRPr>
                    </a:p>
                  </a:txBody>
                  <a:tcPr marL="96716" marR="96716" marT="48360" marB="48360" anchor="ctr"/>
                </a:tc>
                <a:extLst>
                  <a:ext uri="{0D108BD9-81ED-4DB2-BD59-A6C34878D82A}">
                    <a16:rowId xmlns:a16="http://schemas.microsoft.com/office/drawing/2014/main" val="2705342308"/>
                  </a:ext>
                </a:extLst>
              </a:tr>
              <a:tr h="742067">
                <a:tc>
                  <a:txBody>
                    <a:bodyPr/>
                    <a:lstStyle/>
                    <a:p>
                      <a:r>
                        <a:rPr lang="en-US" sz="1400">
                          <a:latin typeface="+mn-lt"/>
                          <a:cs typeface="Segoe UI Light"/>
                        </a:rPr>
                        <a:t>Bing Ads</a:t>
                      </a:r>
                    </a:p>
                  </a:txBody>
                  <a:tcPr marL="96716" marR="96716" marT="48360" marB="483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n-lt"/>
                          <a:cs typeface="Segoe UI Light"/>
                        </a:rPr>
                        <a:t>Pre-training RoBERTa-XL as base model</a:t>
                      </a:r>
                    </a:p>
                  </a:txBody>
                  <a:tcPr marL="96716" marR="96716" marT="48360" marB="48360" anchor="ctr"/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latin typeface="+mn-lt"/>
                          <a:cs typeface="Segoe UI Light"/>
                        </a:rPr>
                        <a:t>From 8 days to 4.5 days</a:t>
                      </a:r>
                    </a:p>
                    <a:p>
                      <a:pPr lvl="0">
                        <a:buNone/>
                      </a:pPr>
                      <a:r>
                        <a:rPr lang="en-US" sz="1400" b="0">
                          <a:latin typeface="+mn-lt"/>
                          <a:cs typeface="Segoe UI Light"/>
                        </a:rPr>
                        <a:t>(1.4x higher throughput)</a:t>
                      </a:r>
                    </a:p>
                  </a:txBody>
                  <a:tcPr marL="96716" marR="96716" marT="48360" marB="48360" anchor="ctr"/>
                </a:tc>
                <a:extLst>
                  <a:ext uri="{0D108BD9-81ED-4DB2-BD59-A6C34878D82A}">
                    <a16:rowId xmlns:a16="http://schemas.microsoft.com/office/drawing/2014/main" val="3448411065"/>
                  </a:ext>
                </a:extLst>
              </a:tr>
              <a:tr h="742067">
                <a:tc>
                  <a:txBody>
                    <a:bodyPr/>
                    <a:lstStyle/>
                    <a:p>
                      <a:r>
                        <a:rPr lang="en-US" sz="1400">
                          <a:latin typeface="+mn-lt"/>
                          <a:cs typeface="Segoe UI Light"/>
                        </a:rPr>
                        <a:t>Office apps</a:t>
                      </a:r>
                    </a:p>
                  </a:txBody>
                  <a:tcPr marL="96716" marR="96716" marT="48360" marB="483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n-lt"/>
                          <a:cs typeface="Segoe UI Light"/>
                        </a:rPr>
                        <a:t>Fine-tuning GPT-2 for word prediction</a:t>
                      </a:r>
                    </a:p>
                  </a:txBody>
                  <a:tcPr marL="96716" marR="96716" marT="48360" marB="48360" anchor="ctr"/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latin typeface="+mn-lt"/>
                          <a:cs typeface="Segoe UI Light"/>
                        </a:rPr>
                        <a:t>Now able to train; stock PyTorch could not train with data parallelism</a:t>
                      </a:r>
                    </a:p>
                  </a:txBody>
                  <a:tcPr marL="96716" marR="96716" marT="48360" marB="48360" anchor="ctr"/>
                </a:tc>
                <a:extLst>
                  <a:ext uri="{0D108BD9-81ED-4DB2-BD59-A6C34878D82A}">
                    <a16:rowId xmlns:a16="http://schemas.microsoft.com/office/drawing/2014/main" val="3085191863"/>
                  </a:ext>
                </a:extLst>
              </a:tr>
              <a:tr h="95961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Segoe UI Light"/>
                        </a:rPr>
                        <a:t>Visual Studio</a:t>
                      </a:r>
                    </a:p>
                  </a:txBody>
                  <a:tcPr marL="96716" marR="96716" marT="48360" marB="4836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+mn-lt"/>
                          <a:cs typeface="Segoe UI Light"/>
                        </a:rPr>
                        <a:t>Pre-training GPT-2 Medium for IntelliSense</a:t>
                      </a:r>
                    </a:p>
                  </a:txBody>
                  <a:tcPr marL="96716" marR="96716" marT="48360" marB="483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+mn-lt"/>
                          <a:cs typeface="Segoe UI Light"/>
                        </a:rPr>
                        <a:t>From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Segoe UI Light"/>
                        </a:rPr>
                        <a:t>8 days to 6.5 days </a:t>
                      </a:r>
                      <a:r>
                        <a:rPr lang="en-US" sz="1400" b="0" dirty="0">
                          <a:latin typeface="+mn-lt"/>
                          <a:cs typeface="Segoe UI Light"/>
                        </a:rPr>
                        <a:t>(1.19x higher throughput)</a:t>
                      </a:r>
                      <a:endParaRPr lang="en-US" dirty="0">
                        <a:latin typeface="+mn-lt"/>
                      </a:endParaRPr>
                    </a:p>
                  </a:txBody>
                  <a:tcPr marL="96716" marR="96716" marT="48360" marB="48360" anchor="ctr"/>
                </a:tc>
                <a:extLst>
                  <a:ext uri="{0D108BD9-81ED-4DB2-BD59-A6C34878D82A}">
                    <a16:rowId xmlns:a16="http://schemas.microsoft.com/office/drawing/2014/main" val="3865640624"/>
                  </a:ext>
                </a:extLst>
              </a:tr>
            </a:tbl>
          </a:graphicData>
        </a:graphic>
      </p:graphicFrame>
      <p:pic>
        <p:nvPicPr>
          <p:cNvPr id="21" name="Content Placeholder 8">
            <a:extLst>
              <a:ext uri="{FF2B5EF4-FFF2-40B4-BE49-F238E27FC236}">
                <a16:creationId xmlns:a16="http://schemas.microsoft.com/office/drawing/2014/main" id="{4F94DBEE-4DBB-4586-B972-A056CA07BA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16435"/>
            <a:ext cx="5181600" cy="2369718"/>
          </a:xfrm>
          <a:prstGeom prst="rect">
            <a:avLst/>
          </a:prstGeom>
        </p:spPr>
      </p:pic>
      <p:pic>
        <p:nvPicPr>
          <p:cNvPr id="22" name="Audio 21">
            <a:hlinkClick r:id="" action="ppaction://media"/>
            <a:extLst>
              <a:ext uri="{FF2B5EF4-FFF2-40B4-BE49-F238E27FC236}">
                <a16:creationId xmlns:a16="http://schemas.microsoft.com/office/drawing/2014/main" id="{22D58A6E-30D6-47FA-83C0-537FDBF854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9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5791">
        <p:fade/>
      </p:transition>
    </mc:Choice>
    <mc:Fallback xmlns="">
      <p:transition spd="med" advTm="3579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80EEDF-EAA8-4C2B-A049-E3F45964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6804D4-2415-422F-A50C-0E020BD3E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DEC08A6F-48D1-45E7-A7F9-1EA20BCDCA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1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72">
        <p:fade/>
      </p:transition>
    </mc:Choice>
    <mc:Fallback xmlns="">
      <p:transition spd="med" advTm="507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F821CB-0C67-45ED-BC71-FF2462F2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 improvement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1FF3598-6F8A-46A2-99B5-20C0A5590F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422" y="1825625"/>
            <a:ext cx="881915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841C5DAC-219D-4674-88AC-CF80CEF36D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94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6171">
        <p:fade/>
      </p:transition>
    </mc:Choice>
    <mc:Fallback xmlns="">
      <p:transition spd="med" advTm="1617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A108E1-CD13-43A1-842B-1B82499E6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size reduction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88C12C8-9284-415D-AC9A-20910D963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53438" y="1825625"/>
            <a:ext cx="340036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Int8 quantization for 4x reduction in size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5EF14CAE-A345-434D-884F-FFFB5C641A9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06" y="2000072"/>
            <a:ext cx="6894310" cy="369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8F28B0F-01C8-41B8-A714-FFB1B081FC88}"/>
              </a:ext>
            </a:extLst>
          </p:cNvPr>
          <p:cNvSpPr/>
          <p:nvPr/>
        </p:nvSpPr>
        <p:spPr>
          <a:xfrm>
            <a:off x="2318857" y="3803271"/>
            <a:ext cx="344563" cy="897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5A1843-77F4-480A-9140-E7767E04904A}"/>
              </a:ext>
            </a:extLst>
          </p:cNvPr>
          <p:cNvSpPr/>
          <p:nvPr/>
        </p:nvSpPr>
        <p:spPr>
          <a:xfrm>
            <a:off x="4361937" y="3583957"/>
            <a:ext cx="344563" cy="11169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CA2BD9-9176-4C6C-A82D-0902D93B9210}"/>
              </a:ext>
            </a:extLst>
          </p:cNvPr>
          <p:cNvSpPr/>
          <p:nvPr/>
        </p:nvSpPr>
        <p:spPr>
          <a:xfrm>
            <a:off x="6405018" y="3583957"/>
            <a:ext cx="344563" cy="1116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8CDED0-EC44-4687-8C60-CC37C4271530}"/>
              </a:ext>
            </a:extLst>
          </p:cNvPr>
          <p:cNvSpPr/>
          <p:nvPr/>
        </p:nvSpPr>
        <p:spPr>
          <a:xfrm>
            <a:off x="1562994" y="3050046"/>
            <a:ext cx="344563" cy="16508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A6FB58-D002-4B34-9369-0945835009E0}"/>
              </a:ext>
            </a:extLst>
          </p:cNvPr>
          <p:cNvSpPr/>
          <p:nvPr/>
        </p:nvSpPr>
        <p:spPr>
          <a:xfrm>
            <a:off x="3636183" y="2816843"/>
            <a:ext cx="344563" cy="18840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2045FA-874A-49D5-8405-C7E72BFAAC4C}"/>
              </a:ext>
            </a:extLst>
          </p:cNvPr>
          <p:cNvSpPr/>
          <p:nvPr/>
        </p:nvSpPr>
        <p:spPr>
          <a:xfrm>
            <a:off x="5679263" y="2761611"/>
            <a:ext cx="344563" cy="19392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B4E588E-79A5-4BF3-B52D-D3503921E23C}"/>
              </a:ext>
            </a:extLst>
          </p:cNvPr>
          <p:cNvSpPr/>
          <p:nvPr/>
        </p:nvSpPr>
        <p:spPr>
          <a:xfrm>
            <a:off x="2281783" y="5093638"/>
            <a:ext cx="1633567" cy="4725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Audio 44">
            <a:hlinkClick r:id="" action="ppaction://media"/>
            <a:extLst>
              <a:ext uri="{FF2B5EF4-FFF2-40B4-BE49-F238E27FC236}">
                <a16:creationId xmlns:a16="http://schemas.microsoft.com/office/drawing/2014/main" id="{B40C7747-56EA-4A61-BD07-97BA79F6DA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30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7704">
        <p:fade/>
      </p:transition>
    </mc:Choice>
    <mc:Fallback xmlns="">
      <p:transition spd="med" advTm="1770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A108E1-CD13-43A1-842B-1B82499E6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size reduction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88C12C8-9284-415D-AC9A-20910D963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53438" y="1825625"/>
            <a:ext cx="340036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Int8 quantization for 4x reduction in size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Half the size of quantized </a:t>
            </a:r>
            <a:r>
              <a:rPr lang="en-US" dirty="0" err="1"/>
              <a:t>PyTorch</a:t>
            </a:r>
            <a:r>
              <a:rPr lang="en-US" dirty="0"/>
              <a:t> model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5EF14CAE-A345-434D-884F-FFFB5C641A9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06" y="2000072"/>
            <a:ext cx="6894310" cy="369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C8CDED0-EC44-4687-8C60-CC37C4271530}"/>
              </a:ext>
            </a:extLst>
          </p:cNvPr>
          <p:cNvSpPr/>
          <p:nvPr/>
        </p:nvSpPr>
        <p:spPr>
          <a:xfrm>
            <a:off x="1562994" y="3050046"/>
            <a:ext cx="344563" cy="16508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A6FB58-D002-4B34-9369-0945835009E0}"/>
              </a:ext>
            </a:extLst>
          </p:cNvPr>
          <p:cNvSpPr/>
          <p:nvPr/>
        </p:nvSpPr>
        <p:spPr>
          <a:xfrm>
            <a:off x="3636183" y="2816843"/>
            <a:ext cx="344563" cy="18840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2045FA-874A-49D5-8405-C7E72BFAAC4C}"/>
              </a:ext>
            </a:extLst>
          </p:cNvPr>
          <p:cNvSpPr/>
          <p:nvPr/>
        </p:nvSpPr>
        <p:spPr>
          <a:xfrm>
            <a:off x="5679263" y="2761611"/>
            <a:ext cx="344563" cy="19392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425C9F-8B9B-41E9-BC7F-84B29A0C3ADB}"/>
              </a:ext>
            </a:extLst>
          </p:cNvPr>
          <p:cNvSpPr/>
          <p:nvPr/>
        </p:nvSpPr>
        <p:spPr>
          <a:xfrm>
            <a:off x="1949493" y="3050046"/>
            <a:ext cx="344563" cy="16508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883AAD-E98D-463A-8076-3584C8526295}"/>
              </a:ext>
            </a:extLst>
          </p:cNvPr>
          <p:cNvSpPr/>
          <p:nvPr/>
        </p:nvSpPr>
        <p:spPr>
          <a:xfrm>
            <a:off x="4003950" y="2761611"/>
            <a:ext cx="344563" cy="19392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E5351E-B32A-4D29-A012-E00861FD40E5}"/>
              </a:ext>
            </a:extLst>
          </p:cNvPr>
          <p:cNvSpPr/>
          <p:nvPr/>
        </p:nvSpPr>
        <p:spPr>
          <a:xfrm>
            <a:off x="6047224" y="2816843"/>
            <a:ext cx="344563" cy="18840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677BB2-BA26-4756-B809-24EE6E392174}"/>
              </a:ext>
            </a:extLst>
          </p:cNvPr>
          <p:cNvSpPr/>
          <p:nvPr/>
        </p:nvSpPr>
        <p:spPr>
          <a:xfrm>
            <a:off x="2281783" y="5093638"/>
            <a:ext cx="4020826" cy="1963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A82F99E7-78A8-47BE-A55B-CF6D3A8D33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64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430">
        <p:fade/>
      </p:transition>
    </mc:Choice>
    <mc:Fallback xmlns="">
      <p:transition spd="med" advTm="643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A108E1-CD13-43A1-842B-1B82499E6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size reduction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88C12C8-9284-415D-AC9A-20910D963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53438" y="1825625"/>
            <a:ext cx="340036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Int8 quantization for 4x reduction in size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Half the size of quantized </a:t>
            </a:r>
            <a:r>
              <a:rPr lang="en-US" dirty="0" err="1"/>
              <a:t>PyTorch</a:t>
            </a:r>
            <a:r>
              <a:rPr lang="en-US" dirty="0"/>
              <a:t> model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5EF14CAE-A345-434D-884F-FFFB5C641A9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06" y="2000072"/>
            <a:ext cx="6894310" cy="369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83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D525-AC3C-4A65-8F1F-F1F0051D4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…with minimal accuracy tradeoff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0B481-607E-4297-8A51-8A42A2E31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512871" cy="4351338"/>
          </a:xfrm>
        </p:spPr>
        <p:txBody>
          <a:bodyPr anchor="ctr"/>
          <a:lstStyle/>
          <a:p>
            <a:pPr marL="0" indent="0">
              <a:buNone/>
            </a:pPr>
            <a:r>
              <a:rPr lang="en-US" dirty="0"/>
              <a:t>Same accuracy as </a:t>
            </a:r>
            <a:r>
              <a:rPr lang="en-US" dirty="0" err="1"/>
              <a:t>PyTorch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Slightly higher F1 score (precision + recall)</a:t>
            </a:r>
          </a:p>
          <a:p>
            <a:pPr algn="ctr"/>
            <a:endParaRPr lang="en-US" dirty="0"/>
          </a:p>
        </p:txBody>
      </p:sp>
      <p:pic>
        <p:nvPicPr>
          <p:cNvPr id="7" name="Picture 4" descr="Image for post">
            <a:extLst>
              <a:ext uri="{FF2B5EF4-FFF2-40B4-BE49-F238E27FC236}">
                <a16:creationId xmlns:a16="http://schemas.microsoft.com/office/drawing/2014/main" id="{DD54F61C-6F06-40A9-98D2-B55FC58BF74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369" y="1825625"/>
            <a:ext cx="6720431" cy="453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62D234F6-2F9A-43BE-8EC5-36CD1ABF5B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53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6589">
        <p:fade/>
      </p:transition>
    </mc:Choice>
    <mc:Fallback xmlns="">
      <p:transition spd="med" advTm="1658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BC7010-6784-4418-8D77-17C0ECE22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97387" cy="1325563"/>
          </a:xfrm>
        </p:spPr>
        <p:txBody>
          <a:bodyPr>
            <a:normAutofit/>
          </a:bodyPr>
          <a:lstStyle/>
          <a:p>
            <a:r>
              <a:rPr lang="en-US" dirty="0">
                <a:hlinkClick r:id="rId5"/>
              </a:rPr>
              <a:t>Blog post </a:t>
            </a:r>
            <a:r>
              <a:rPr lang="en-US" dirty="0"/>
              <a:t>with more details and </a:t>
            </a:r>
            <a:r>
              <a:rPr lang="en-US" i="0" u="sng" strike="noStrike" dirty="0">
                <a:solidFill>
                  <a:srgbClr val="000000"/>
                </a:solidFill>
                <a:effectLst/>
                <a:hlinkClick r:id="rId6"/>
              </a:rPr>
              <a:t>E2E Notebook</a:t>
            </a:r>
            <a:r>
              <a:rPr lang="en-US" i="0" dirty="0">
                <a:effectLst/>
              </a:rPr>
              <a:t>​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DA54B4-B5C0-4765-B201-BB4F7055E5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2780313" y="1825625"/>
            <a:ext cx="6631374" cy="4351338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BD1413E2-1E3D-4777-B899-5D94640B32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001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868">
        <p:fade/>
      </p:transition>
    </mc:Choice>
    <mc:Fallback xmlns="">
      <p:transition spd="med" advTm="786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AD9E-17F5-4CDE-9AFD-D4BCF3533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updates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DA080-B150-4A07-9258-1EFB4D9A2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B435C0EB-6E74-4125-9377-301CD9FD4C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8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887">
        <p:fade/>
      </p:transition>
    </mc:Choice>
    <mc:Fallback xmlns="">
      <p:transition spd="med" advTm="388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74C6C87-432B-496B-AE28-1A71707141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95459"/>
            <a:ext cx="5181600" cy="5481504"/>
          </a:xfrm>
        </p:spPr>
        <p:txBody>
          <a:bodyPr>
            <a:normAutofit fontScale="92500" lnSpcReduction="10000"/>
          </a:bodyPr>
          <a:lstStyle/>
          <a:p>
            <a:pPr marL="0" indent="0" font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alibri" panose="020F0502020204030204" pitchFamily="34" charset="0"/>
              </a:rPr>
              <a:t>General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effectLst/>
                <a:latin typeface="Calibri" panose="020F0502020204030204" pitchFamily="34" charset="0"/>
              </a:rPr>
              <a:t>ONNX 1.7 (</a:t>
            </a:r>
            <a:r>
              <a:rPr lang="en-US" sz="1600" dirty="0" err="1">
                <a:effectLst/>
                <a:latin typeface="Calibri" panose="020F0502020204030204" pitchFamily="34" charset="0"/>
              </a:rPr>
              <a:t>opset</a:t>
            </a:r>
            <a:r>
              <a:rPr lang="en-US" sz="1600" dirty="0">
                <a:effectLst/>
                <a:latin typeface="Calibri" panose="020F0502020204030204" pitchFamily="34" charset="0"/>
              </a:rPr>
              <a:t> 12)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effectLst/>
                <a:latin typeface="Calibri" panose="020F0502020204030204" pitchFamily="34" charset="0"/>
              </a:rPr>
              <a:t>Function expansion support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effectLst/>
                <a:latin typeface="Calibri" panose="020F0502020204030204" pitchFamily="34" charset="0"/>
              </a:rPr>
              <a:t>Binary Size: Reduced Ops kernel, m</a:t>
            </a:r>
            <a:r>
              <a:rPr lang="en-US" sz="1600" dirty="0">
                <a:latin typeface="Calibri" panose="020F0502020204030204" pitchFamily="34" charset="0"/>
              </a:rPr>
              <a:t>inimal build for mobile and embedded usage</a:t>
            </a:r>
            <a:endParaRPr lang="en-US" sz="1600" dirty="0">
              <a:effectLst/>
              <a:latin typeface="Calibri" panose="020F0502020204030204" pitchFamily="34" charset="0"/>
            </a:endParaRPr>
          </a:p>
          <a:p>
            <a:pPr marL="0" indent="0" font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effectLst/>
                <a:latin typeface="Calibri" panose="020F0502020204030204" pitchFamily="34" charset="0"/>
              </a:rPr>
              <a:t>Performance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effectLst/>
                <a:latin typeface="Calibri" panose="020F0502020204030204" pitchFamily="34" charset="0"/>
              </a:rPr>
              <a:t>Transformer models (</a:t>
            </a:r>
            <a:r>
              <a:rPr lang="en-US" sz="1600" dirty="0" err="1">
                <a:effectLst/>
                <a:latin typeface="Calibri" panose="020F0502020204030204" pitchFamily="34" charset="0"/>
              </a:rPr>
              <a:t>DistilBERT</a:t>
            </a:r>
            <a:r>
              <a:rPr lang="en-US" sz="1600" dirty="0">
                <a:effectLst/>
                <a:latin typeface="Calibri" panose="020F0502020204030204" pitchFamily="34" charset="0"/>
              </a:rPr>
              <a:t>, GPT2, BERT)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effectLst/>
                <a:latin typeface="Calibri" panose="020F0502020204030204" pitchFamily="34" charset="0"/>
              </a:rPr>
              <a:t>Improved </a:t>
            </a:r>
            <a:r>
              <a:rPr lang="en-US" sz="1600" dirty="0" err="1">
                <a:effectLst/>
                <a:latin typeface="Calibri" panose="020F0502020204030204" pitchFamily="34" charset="0"/>
              </a:rPr>
              <a:t>threadpool</a:t>
            </a:r>
            <a:r>
              <a:rPr lang="en-US" sz="1600" dirty="0">
                <a:effectLst/>
                <a:latin typeface="Calibri" panose="020F0502020204030204" pitchFamily="34" charset="0"/>
              </a:rPr>
              <a:t> support for better resource utilization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effectLst/>
                <a:latin typeface="Calibri" panose="020F0502020204030204" pitchFamily="34" charset="0"/>
              </a:rPr>
              <a:t>Improved performance for inferencing large batch sizes for traditional ML models</a:t>
            </a:r>
          </a:p>
          <a:p>
            <a:pPr marL="0" indent="0" font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effectLst/>
                <a:latin typeface="Calibri" panose="020F0502020204030204" pitchFamily="34" charset="0"/>
              </a:rPr>
              <a:t>APIs and Packages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effectLst/>
                <a:latin typeface="Calibri" panose="020F0502020204030204" pitchFamily="34" charset="0"/>
              </a:rPr>
              <a:t>IO Bindings 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effectLst/>
                <a:latin typeface="Calibri" panose="020F0502020204030204" pitchFamily="34" charset="0"/>
              </a:rPr>
              <a:t>Allocator sharing between sessions (memory utilization)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effectLst/>
                <a:latin typeface="Calibri" panose="020F0502020204030204" pitchFamily="34" charset="0"/>
              </a:rPr>
              <a:t>Java API and packages on Maven Central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effectLst/>
                <a:latin typeface="Calibri" panose="020F0502020204030204" pitchFamily="34" charset="0"/>
              </a:rPr>
              <a:t>NodeJS API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effectLst/>
                <a:latin typeface="Calibri" panose="020F0502020204030204" pitchFamily="34" charset="0"/>
              </a:rPr>
              <a:t>ARM64 Linux Python package</a:t>
            </a:r>
          </a:p>
          <a:p>
            <a:pPr marL="0" indent="0" font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effectLst/>
                <a:latin typeface="Calibri" panose="020F0502020204030204" pitchFamily="34" charset="0"/>
              </a:rPr>
              <a:t>Windows ML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effectLst/>
                <a:latin typeface="Calibri" panose="020F0502020204030204" pitchFamily="34" charset="0"/>
              </a:rPr>
              <a:t>UWP apps targeting Windows Store deployment, .NET and .NET Framework applications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DE532C8-0A8D-43CE-8E4F-5DA5E2E69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695459"/>
            <a:ext cx="5181600" cy="5481504"/>
          </a:xfrm>
        </p:spPr>
        <p:txBody>
          <a:bodyPr>
            <a:normAutofit fontScale="92500" lnSpcReduction="10000"/>
          </a:bodyPr>
          <a:lstStyle/>
          <a:p>
            <a:pPr marL="0" indent="0" font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effectLst/>
                <a:latin typeface="Calibri" panose="020F0502020204030204" pitchFamily="34" charset="0"/>
              </a:rPr>
              <a:t>Execution Providers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effectLst/>
                <a:latin typeface="Calibri" panose="020F0502020204030204" pitchFamily="34" charset="0"/>
              </a:rPr>
              <a:t>Select Eps buildable as separate </a:t>
            </a:r>
            <a:r>
              <a:rPr lang="en-US" sz="1600" dirty="0" err="1">
                <a:effectLst/>
                <a:latin typeface="Calibri" panose="020F0502020204030204" pitchFamily="34" charset="0"/>
              </a:rPr>
              <a:t>dll</a:t>
            </a:r>
            <a:r>
              <a:rPr lang="en-US" sz="1600" dirty="0">
                <a:effectLst/>
                <a:latin typeface="Calibri" panose="020F0502020204030204" pitchFamily="34" charset="0"/>
              </a:rPr>
              <a:t> (TRT, DNNL, others to come) 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b="1" dirty="0">
                <a:effectLst/>
                <a:latin typeface="Calibri" panose="020F0502020204030204" pitchFamily="34" charset="0"/>
              </a:rPr>
              <a:t>CUDA</a:t>
            </a:r>
            <a:r>
              <a:rPr lang="en-US" sz="1600" dirty="0">
                <a:effectLst/>
                <a:latin typeface="Calibri" panose="020F0502020204030204" pitchFamily="34" charset="0"/>
              </a:rPr>
              <a:t>: 10.2/</a:t>
            </a:r>
            <a:r>
              <a:rPr lang="en-US" sz="1600" dirty="0" err="1">
                <a:effectLst/>
                <a:latin typeface="Calibri" panose="020F0502020204030204" pitchFamily="34" charset="0"/>
              </a:rPr>
              <a:t>cuDNN</a:t>
            </a:r>
            <a:r>
              <a:rPr lang="en-US" sz="1600" dirty="0">
                <a:effectLst/>
                <a:latin typeface="Calibri" panose="020F0502020204030204" pitchFamily="34" charset="0"/>
              </a:rPr>
              <a:t> 8.0, CUDA 11 buildable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b="1" dirty="0" err="1">
                <a:effectLst/>
                <a:latin typeface="Calibri" panose="020F0502020204030204" pitchFamily="34" charset="0"/>
              </a:rPr>
              <a:t>TensorRT</a:t>
            </a:r>
            <a:r>
              <a:rPr lang="en-US" sz="1600" dirty="0">
                <a:effectLst/>
                <a:latin typeface="Calibri" panose="020F0502020204030204" pitchFamily="34" charset="0"/>
              </a:rPr>
              <a:t>: 7.1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b="1" dirty="0" err="1">
                <a:effectLst/>
                <a:latin typeface="Calibri" panose="020F0502020204030204" pitchFamily="34" charset="0"/>
              </a:rPr>
              <a:t>OpenVINO</a:t>
            </a:r>
            <a:r>
              <a:rPr lang="en-US" sz="1600" dirty="0">
                <a:latin typeface="Calibri" panose="020F0502020204030204" pitchFamily="34" charset="0"/>
              </a:rPr>
              <a:t>:</a:t>
            </a:r>
            <a:r>
              <a:rPr lang="en-US" sz="1600" b="1" dirty="0">
                <a:latin typeface="Calibri" panose="020F0502020204030204" pitchFamily="34" charset="0"/>
              </a:rPr>
              <a:t> </a:t>
            </a:r>
            <a:r>
              <a:rPr lang="en-US" sz="1600" dirty="0">
                <a:effectLst/>
                <a:latin typeface="Calibri" panose="020F0502020204030204" pitchFamily="34" charset="0"/>
              </a:rPr>
              <a:t>2020.4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b="1" dirty="0" err="1">
                <a:effectLst/>
                <a:latin typeface="Calibri" panose="020F0502020204030204" pitchFamily="34" charset="0"/>
              </a:rPr>
              <a:t>DirectML</a:t>
            </a:r>
            <a:r>
              <a:rPr lang="en-US" sz="1600" dirty="0">
                <a:effectLst/>
                <a:latin typeface="Calibri" panose="020F0502020204030204" pitchFamily="34" charset="0"/>
              </a:rPr>
              <a:t>: operator coverage and performance improvements, package available on </a:t>
            </a:r>
            <a:r>
              <a:rPr lang="en-US" sz="1600" dirty="0" err="1">
                <a:effectLst/>
                <a:latin typeface="Calibri" panose="020F0502020204030204" pitchFamily="34" charset="0"/>
              </a:rPr>
              <a:t>Nuget</a:t>
            </a:r>
            <a:endParaRPr lang="en-US" sz="1600" dirty="0">
              <a:effectLst/>
              <a:latin typeface="Calibri" panose="020F0502020204030204" pitchFamily="34" charset="0"/>
            </a:endParaRP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b="1" dirty="0">
                <a:effectLst/>
                <a:latin typeface="Calibri" panose="020F0502020204030204" pitchFamily="34" charset="0"/>
              </a:rPr>
              <a:t>NNAPI</a:t>
            </a:r>
            <a:r>
              <a:rPr lang="en-US" sz="1600" dirty="0">
                <a:effectLst/>
                <a:latin typeface="Calibri" panose="020F0502020204030204" pitchFamily="34" charset="0"/>
              </a:rPr>
              <a:t>: rewritten for broader Android support with more data type and operator coverage, CPU fallback, and improved performance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b="1" dirty="0">
                <a:effectLst/>
                <a:latin typeface="Calibri" panose="020F0502020204030204" pitchFamily="34" charset="0"/>
              </a:rPr>
              <a:t>AMD </a:t>
            </a:r>
            <a:r>
              <a:rPr lang="en-US" sz="1600" b="1" dirty="0" err="1">
                <a:effectLst/>
                <a:latin typeface="Calibri" panose="020F0502020204030204" pitchFamily="34" charset="0"/>
              </a:rPr>
              <a:t>MiGraphX</a:t>
            </a:r>
            <a:r>
              <a:rPr lang="en-US" sz="1600" dirty="0">
                <a:latin typeface="Calibri" panose="020F0502020204030204" pitchFamily="34" charset="0"/>
              </a:rPr>
              <a:t>:</a:t>
            </a:r>
            <a:r>
              <a:rPr lang="en-US" sz="1600" dirty="0">
                <a:effectLst/>
                <a:latin typeface="Calibri" panose="020F0502020204030204" pitchFamily="34" charset="0"/>
              </a:rPr>
              <a:t> additional data type and operator support, graph optimizations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b="1" dirty="0">
                <a:effectLst/>
                <a:latin typeface="Calibri" panose="020F0502020204030204" pitchFamily="34" charset="0"/>
              </a:rPr>
              <a:t>ARM NN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b="1" dirty="0" err="1">
                <a:effectLst/>
                <a:latin typeface="Calibri" panose="020F0502020204030204" pitchFamily="34" charset="0"/>
              </a:rPr>
              <a:t>Rockchip</a:t>
            </a:r>
            <a:r>
              <a:rPr lang="en-US" sz="1600" b="1" dirty="0">
                <a:effectLst/>
                <a:latin typeface="Calibri" panose="020F0502020204030204" pitchFamily="34" charset="0"/>
              </a:rPr>
              <a:t> NPU </a:t>
            </a:r>
          </a:p>
          <a:p>
            <a:pPr lvl="1" fontAlgn="ctr">
              <a:lnSpc>
                <a:spcPct val="120000"/>
              </a:lnSpc>
              <a:spcBef>
                <a:spcPts val="0"/>
              </a:spcBef>
            </a:pPr>
            <a:r>
              <a:rPr lang="en-US" sz="1600" b="1" dirty="0">
                <a:effectLst/>
                <a:latin typeface="Calibri" panose="020F0502020204030204" pitchFamily="34" charset="0"/>
              </a:rPr>
              <a:t>Xilinx FGPA Vitis-AI</a:t>
            </a:r>
          </a:p>
          <a:p>
            <a:endParaRPr lang="en-US" sz="3600" dirty="0"/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361BCFB5-A03E-4B8F-A6FE-FB5127BEA8D9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734800" y="6400800"/>
            <a:ext cx="304800" cy="304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794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6031">
        <p:fade/>
      </p:transition>
    </mc:Choice>
    <mc:Fallback xmlns="">
      <p:transition spd="med" advTm="1603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10" grpId="0" build="p"/>
      <p:bldP spid="1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5.4|8.9|6.5|9.1|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6|2.1|3.9|2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04B84C71260944B40183487BA20524" ma:contentTypeVersion="6" ma:contentTypeDescription="Create a new document." ma:contentTypeScope="" ma:versionID="213db93011d46fe06334fb86c75b31e8">
  <xsd:schema xmlns:xsd="http://www.w3.org/2001/XMLSchema" xmlns:xs="http://www.w3.org/2001/XMLSchema" xmlns:p="http://schemas.microsoft.com/office/2006/metadata/properties" xmlns:ns2="adef327b-c790-4c26-bdcd-96f631d58537" xmlns:ns3="ba06a0ff-6142-4a4a-acb9-e18a5ca78231" targetNamespace="http://schemas.microsoft.com/office/2006/metadata/properties" ma:root="true" ma:fieldsID="69e87a3f5736edf8f4c90a2feb6a8b7e" ns2:_="" ns3:_="">
    <xsd:import namespace="adef327b-c790-4c26-bdcd-96f631d58537"/>
    <xsd:import namespace="ba06a0ff-6142-4a4a-acb9-e18a5ca782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ef327b-c790-4c26-bdcd-96f631d585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06a0ff-6142-4a4a-acb9-e18a5ca7823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07185C-3D91-4956-87E5-8F6A8C3836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D973E4-DE8D-48BF-B603-F2148C0D74FB}">
  <ds:schemaRefs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ba06a0ff-6142-4a4a-acb9-e18a5ca78231"/>
    <ds:schemaRef ds:uri="http://purl.org/dc/elements/1.1/"/>
    <ds:schemaRef ds:uri="http://schemas.openxmlformats.org/package/2006/metadata/core-properties"/>
    <ds:schemaRef ds:uri="adef327b-c790-4c26-bdcd-96f631d58537"/>
  </ds:schemaRefs>
</ds:datastoreItem>
</file>

<file path=customXml/itemProps3.xml><?xml version="1.0" encoding="utf-8"?>
<ds:datastoreItem xmlns:ds="http://schemas.openxmlformats.org/officeDocument/2006/customXml" ds:itemID="{7E5641E5-43B7-4AC6-A9D3-7524E0ACAB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ef327b-c790-4c26-bdcd-96f631d58537"/>
    <ds:schemaRef ds:uri="ba06a0ff-6142-4a4a-acb9-e18a5ca782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7094</TotalTime>
  <Words>701</Words>
  <Application>Microsoft Office PowerPoint</Application>
  <PresentationFormat>Widescreen</PresentationFormat>
  <Paragraphs>160</Paragraphs>
  <Slides>20</Slides>
  <Notes>20</Notes>
  <HiddenSlides>0</HiddenSlides>
  <MMClips>19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-apple-system</vt:lpstr>
      <vt:lpstr>Arial</vt:lpstr>
      <vt:lpstr>Calibri</vt:lpstr>
      <vt:lpstr>Calibri Light</vt:lpstr>
      <vt:lpstr>Consolas</vt:lpstr>
      <vt:lpstr>Segoe UI</vt:lpstr>
      <vt:lpstr>Office Theme</vt:lpstr>
      <vt:lpstr>PowerPoint Presentation</vt:lpstr>
      <vt:lpstr>ONNX Runtime https://onnxruntime.ai</vt:lpstr>
      <vt:lpstr>Common problems ONNX Runtime can help with</vt:lpstr>
      <vt:lpstr>ONNX Runtime 1.5 Release</vt:lpstr>
      <vt:lpstr>Minimal Builds </vt:lpstr>
      <vt:lpstr>ONNX Runtime Minimal Build for Mobile </vt:lpstr>
      <vt:lpstr>PowerPoint Presentation</vt:lpstr>
      <vt:lpstr>Size for ONNX Runtime Mobile</vt:lpstr>
      <vt:lpstr>Training Acceleration</vt:lpstr>
      <vt:lpstr>ONNX Runtime Training (Public Preview)</vt:lpstr>
      <vt:lpstr>Usage of ORT Training at Microsoft</vt:lpstr>
      <vt:lpstr>Quantization</vt:lpstr>
      <vt:lpstr>Latency improvement</vt:lpstr>
      <vt:lpstr>Model size reduction</vt:lpstr>
      <vt:lpstr>Model size reduction</vt:lpstr>
      <vt:lpstr>Model size reduction</vt:lpstr>
      <vt:lpstr>…with minimal accuracy tradeoff</vt:lpstr>
      <vt:lpstr>Blog post with more details and E2E Notebook​</vt:lpstr>
      <vt:lpstr>Other updates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Faith Xu</dc:creator>
  <cp:lastModifiedBy>Faith Xu</cp:lastModifiedBy>
  <cp:revision>22</cp:revision>
  <dcterms:created xsi:type="dcterms:W3CDTF">2020-10-09T00:04:15Z</dcterms:created>
  <dcterms:modified xsi:type="dcterms:W3CDTF">2020-10-13T22:50:43Z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etDate">
    <vt:lpwstr>2020-10-09T00:04:15Z</vt:lpwstr>
  </property>
  <property fmtid="{D5CDD505-2E9C-101B-9397-08002B2CF9AE}" pid="4" name="MSIP_Label_f42aa342-8706-4288-bd11-ebb85995028c_Method">
    <vt:lpwstr>Standard</vt:lpwstr>
  </property>
  <property fmtid="{D5CDD505-2E9C-101B-9397-08002B2CF9AE}" pid="5" name="MSIP_Label_f42aa342-8706-4288-bd11-ebb85995028c_Name">
    <vt:lpwstr>Internal</vt:lpwstr>
  </property>
  <property fmtid="{D5CDD505-2E9C-101B-9397-08002B2CF9AE}" pid="6" name="MSIP_Label_f42aa342-8706-4288-bd11-ebb85995028c_SiteId">
    <vt:lpwstr>72f988bf-86f1-41af-91ab-2d7cd011db47</vt:lpwstr>
  </property>
  <property fmtid="{D5CDD505-2E9C-101B-9397-08002B2CF9AE}" pid="7" name="MSIP_Label_f42aa342-8706-4288-bd11-ebb85995028c_ActionId">
    <vt:lpwstr>87c617de-2102-48df-bcc9-85851f106528</vt:lpwstr>
  </property>
  <property fmtid="{D5CDD505-2E9C-101B-9397-08002B2CF9AE}" pid="8" name="MSIP_Label_f42aa342-8706-4288-bd11-ebb85995028c_ContentBits">
    <vt:lpwstr>0</vt:lpwstr>
  </property>
  <property fmtid="{D5CDD505-2E9C-101B-9397-08002B2CF9AE}" pid="9" name="ContentTypeId">
    <vt:lpwstr>0x010100A004B84C71260944B40183487BA20524</vt:lpwstr>
  </property>
</Properties>
</file>