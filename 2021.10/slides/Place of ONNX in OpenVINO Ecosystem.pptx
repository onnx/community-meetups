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6" r:id="rId10"/>
    <p:sldId id="271" r:id="rId11"/>
    <p:sldId id="265" r:id="rId12"/>
    <p:sldId id="267" r:id="rId13"/>
    <p:sldId id="274" r:id="rId14"/>
    <p:sldId id="275" r:id="rId15"/>
    <p:sldId id="269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F3D8E-50FA-4D28-8B0F-119A8E960773}" v="77" dt="2021-10-20T11:57:04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alin, Sergey" userId="e9e77e34-0d0a-496e-8120-db9e55a63ce8" providerId="ADAL" clId="{943F3D8E-50FA-4D28-8B0F-119A8E960773}"/>
    <pc:docChg chg="custSel addSld modSld">
      <pc:chgData name="Lyalin, Sergey" userId="e9e77e34-0d0a-496e-8120-db9e55a63ce8" providerId="ADAL" clId="{943F3D8E-50FA-4D28-8B0F-119A8E960773}" dt="2021-10-20T11:57:04.670" v="127"/>
      <pc:docMkLst>
        <pc:docMk/>
      </pc:docMkLst>
      <pc:sldChg chg="addSp delSp modSp mod modAnim">
        <pc:chgData name="Lyalin, Sergey" userId="e9e77e34-0d0a-496e-8120-db9e55a63ce8" providerId="ADAL" clId="{943F3D8E-50FA-4D28-8B0F-119A8E960773}" dt="2021-10-20T11:30:59.048" v="117"/>
        <pc:sldMkLst>
          <pc:docMk/>
          <pc:sldMk cId="3043957952" sldId="265"/>
        </pc:sldMkLst>
        <pc:spChg chg="add mod">
          <ac:chgData name="Lyalin, Sergey" userId="e9e77e34-0d0a-496e-8120-db9e55a63ce8" providerId="ADAL" clId="{943F3D8E-50FA-4D28-8B0F-119A8E960773}" dt="2021-10-20T11:12:36.056" v="59" actId="1076"/>
          <ac:spMkLst>
            <pc:docMk/>
            <pc:sldMk cId="3043957952" sldId="265"/>
            <ac:spMk id="25" creationId="{649ED4AA-E54B-4BAF-A8BC-9AA0F63878CD}"/>
          </ac:spMkLst>
        </pc:spChg>
        <pc:spChg chg="del">
          <ac:chgData name="Lyalin, Sergey" userId="e9e77e34-0d0a-496e-8120-db9e55a63ce8" providerId="ADAL" clId="{943F3D8E-50FA-4D28-8B0F-119A8E960773}" dt="2021-10-20T11:12:32.924" v="57" actId="478"/>
          <ac:spMkLst>
            <pc:docMk/>
            <pc:sldMk cId="3043957952" sldId="265"/>
            <ac:spMk id="113" creationId="{28BBE70B-8622-493F-9203-74106FA449B8}"/>
          </ac:spMkLst>
        </pc:spChg>
      </pc:sldChg>
      <pc:sldChg chg="modSp mod">
        <pc:chgData name="Lyalin, Sergey" userId="e9e77e34-0d0a-496e-8120-db9e55a63ce8" providerId="ADAL" clId="{943F3D8E-50FA-4D28-8B0F-119A8E960773}" dt="2021-10-20T06:35:57.686" v="47" actId="13926"/>
        <pc:sldMkLst>
          <pc:docMk/>
          <pc:sldMk cId="1993650727" sldId="267"/>
        </pc:sldMkLst>
        <pc:spChg chg="mod">
          <ac:chgData name="Lyalin, Sergey" userId="e9e77e34-0d0a-496e-8120-db9e55a63ce8" providerId="ADAL" clId="{943F3D8E-50FA-4D28-8B0F-119A8E960773}" dt="2021-10-20T06:35:52.893" v="46" actId="13926"/>
          <ac:spMkLst>
            <pc:docMk/>
            <pc:sldMk cId="1993650727" sldId="267"/>
            <ac:spMk id="4" creationId="{DF58EDFF-1778-477D-AB36-DFA9A4EC151C}"/>
          </ac:spMkLst>
        </pc:spChg>
        <pc:spChg chg="mod">
          <ac:chgData name="Lyalin, Sergey" userId="e9e77e34-0d0a-496e-8120-db9e55a63ce8" providerId="ADAL" clId="{943F3D8E-50FA-4D28-8B0F-119A8E960773}" dt="2021-10-20T06:35:57.686" v="47" actId="13926"/>
          <ac:spMkLst>
            <pc:docMk/>
            <pc:sldMk cId="1993650727" sldId="267"/>
            <ac:spMk id="7" creationId="{153C135F-5396-4E01-8F0A-A32B2EC031C2}"/>
          </ac:spMkLst>
        </pc:spChg>
      </pc:sldChg>
      <pc:sldChg chg="modAnim">
        <pc:chgData name="Lyalin, Sergey" userId="e9e77e34-0d0a-496e-8120-db9e55a63ce8" providerId="ADAL" clId="{943F3D8E-50FA-4D28-8B0F-119A8E960773}" dt="2021-10-20T11:57:04.670" v="127"/>
        <pc:sldMkLst>
          <pc:docMk/>
          <pc:sldMk cId="686852741" sldId="268"/>
        </pc:sldMkLst>
      </pc:sldChg>
      <pc:sldChg chg="modSp mod modAnim">
        <pc:chgData name="Lyalin, Sergey" userId="e9e77e34-0d0a-496e-8120-db9e55a63ce8" providerId="ADAL" clId="{943F3D8E-50FA-4D28-8B0F-119A8E960773}" dt="2021-10-20T11:49:23.402" v="126"/>
        <pc:sldMkLst>
          <pc:docMk/>
          <pc:sldMk cId="2283038001" sldId="271"/>
        </pc:sldMkLst>
        <pc:spChg chg="mod">
          <ac:chgData name="Lyalin, Sergey" userId="e9e77e34-0d0a-496e-8120-db9e55a63ce8" providerId="ADAL" clId="{943F3D8E-50FA-4D28-8B0F-119A8E960773}" dt="2021-10-20T11:12:21.782" v="56" actId="1076"/>
          <ac:spMkLst>
            <pc:docMk/>
            <pc:sldMk cId="2283038001" sldId="271"/>
            <ac:spMk id="35" creationId="{F355219A-0A98-4955-93D9-91E1A720E58A}"/>
          </ac:spMkLst>
        </pc:spChg>
      </pc:sldChg>
      <pc:sldChg chg="modSp add mod">
        <pc:chgData name="Lyalin, Sergey" userId="e9e77e34-0d0a-496e-8120-db9e55a63ce8" providerId="ADAL" clId="{943F3D8E-50FA-4D28-8B0F-119A8E960773}" dt="2021-10-20T06:35:48.413" v="45" actId="13926"/>
        <pc:sldMkLst>
          <pc:docMk/>
          <pc:sldMk cId="2798273395" sldId="274"/>
        </pc:sldMkLst>
        <pc:spChg chg="mod">
          <ac:chgData name="Lyalin, Sergey" userId="e9e77e34-0d0a-496e-8120-db9e55a63ce8" providerId="ADAL" clId="{943F3D8E-50FA-4D28-8B0F-119A8E960773}" dt="2021-10-20T06:35:23.305" v="42" actId="20577"/>
          <ac:spMkLst>
            <pc:docMk/>
            <pc:sldMk cId="2798273395" sldId="274"/>
            <ac:spMk id="2" creationId="{046FA500-7E91-4E33-8F9D-4DC79EB2684F}"/>
          </ac:spMkLst>
        </pc:spChg>
        <pc:spChg chg="mod">
          <ac:chgData name="Lyalin, Sergey" userId="e9e77e34-0d0a-496e-8120-db9e55a63ce8" providerId="ADAL" clId="{943F3D8E-50FA-4D28-8B0F-119A8E960773}" dt="2021-10-20T06:35:43.164" v="44" actId="13926"/>
          <ac:spMkLst>
            <pc:docMk/>
            <pc:sldMk cId="2798273395" sldId="274"/>
            <ac:spMk id="4" creationId="{DF58EDFF-1778-477D-AB36-DFA9A4EC151C}"/>
          </ac:spMkLst>
        </pc:spChg>
        <pc:spChg chg="mod">
          <ac:chgData name="Lyalin, Sergey" userId="e9e77e34-0d0a-496e-8120-db9e55a63ce8" providerId="ADAL" clId="{943F3D8E-50FA-4D28-8B0F-119A8E960773}" dt="2021-10-20T06:35:48.413" v="45" actId="13926"/>
          <ac:spMkLst>
            <pc:docMk/>
            <pc:sldMk cId="2798273395" sldId="274"/>
            <ac:spMk id="7" creationId="{153C135F-5396-4E01-8F0A-A32B2EC031C2}"/>
          </ac:spMkLst>
        </pc:spChg>
      </pc:sldChg>
      <pc:sldChg chg="modSp add mod">
        <pc:chgData name="Lyalin, Sergey" userId="e9e77e34-0d0a-496e-8120-db9e55a63ce8" providerId="ADAL" clId="{943F3D8E-50FA-4D28-8B0F-119A8E960773}" dt="2021-10-20T11:14:23.085" v="116" actId="1076"/>
        <pc:sldMkLst>
          <pc:docMk/>
          <pc:sldMk cId="3321377404" sldId="275"/>
        </pc:sldMkLst>
        <pc:spChg chg="mod">
          <ac:chgData name="Lyalin, Sergey" userId="e9e77e34-0d0a-496e-8120-db9e55a63ce8" providerId="ADAL" clId="{943F3D8E-50FA-4D28-8B0F-119A8E960773}" dt="2021-10-20T11:14:23.085" v="116" actId="1076"/>
          <ac:spMkLst>
            <pc:docMk/>
            <pc:sldMk cId="3321377404" sldId="275"/>
            <ac:spMk id="81" creationId="{C518AD3D-0076-49CA-B9DF-C01BA9B224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4263-515E-4C13-96B0-3B64918C1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2CF96-FA6E-45AC-88A6-ABB471BFF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A7759-C5C7-4F81-9EA2-A765AB6E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8F5C-2AA5-404A-8AE0-B618698B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D5EF4-1637-4027-ACAB-ACC871E5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9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B668-81F4-4D27-84FB-26E261820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9E919-0EC6-4E19-98AA-DCB59ED40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08DC-2C15-4544-A9AF-233C97DC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919E2-5139-4ABE-857E-4A96B3E7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BFE8E-10DE-482E-9CF6-8D98061A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5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772A-77EA-4443-B105-E27CC510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3E7E9-8A78-406F-B838-BF11819C1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1C7D-CA2A-4403-B3D0-466F8704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0076-61DA-4077-86EB-CD565D78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9607-A1B8-4B49-91A6-75D038C6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08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0BD0-5721-48CD-90E1-7111B9DA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7C5D5-E2C6-472B-B7C6-C22C0A027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15652-2E56-4606-B790-8FCF67023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1FB79-21C7-469F-A591-D2B7E90A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8E229-122D-4D59-80C1-2DE5C772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6AA6D-2BBC-4D7D-B630-420DB9AA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9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2208-1AB1-4C91-8A5E-C22312511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4ACB7-D8F7-4346-98C3-BF0479C42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8DCF5-F86A-4F18-A3D3-DAE4C20A0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E5D37-B4AA-4CB1-BA64-5F3BDCEBD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67140-E6A6-42E4-93B3-AD26AFB57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17606-E4D3-47FB-931B-3A3E805F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FD102-C89C-49B6-8951-4F7FA568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0A5D4-D07D-49E8-B0FE-A27FA77E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8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6E96-2E5C-47F5-95C8-44E9DD8A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47310-9482-4E6E-A404-82953D16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54943-71B3-4666-8796-64923DEF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70-7F37-41A8-A0BF-BD1BD80D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5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9360C-C0B0-4BD6-B3DC-C5DFA195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2DA10-71DB-42FE-B10E-82CCD5FE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94E7B-F1FB-4076-9356-4EBC250F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1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4AC03-2DE0-450E-9D45-DBE7C7CD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05D0-B514-413C-B242-0A27E34E6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4030B-3DA1-462D-A352-4134FC756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74ADA-F3D0-4F06-AB2B-F52191BA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45F74-EDD3-447C-95DF-E7952088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2B26D-9259-4378-A916-9C761238D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9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6964-0B6D-43EF-90E3-AAA2E6E8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DD573-E925-41CB-916F-0CFF7270B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2DB08-2E65-4A29-806B-6F26998BF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CC000-6D43-45A9-9B2B-A6397F99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EEDFF-6650-409A-B73F-12245CF0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1629-9C28-4654-BA12-829741B5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6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8C36-6BA7-477F-B709-F4C604A0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EB93B-7A1B-4374-9886-362470B9F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7C79B-C5E2-4ED3-B743-8C4EB2D5C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B6B31-FD54-4204-BBB7-7C326C23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49FE5-2D88-4722-BE35-ADF3E19D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6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00DA1-99DF-42F7-91D3-9D59CBF9C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274BD-A282-4E4D-AC97-925CC48A5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2D926-99BD-45CD-9B00-01B457B9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6095-ABB6-4411-AEFE-07424BAB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7B8FF-CA84-4E5E-AAEA-FFD1B3A4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FC561-A41E-4506-86C5-2B5005F5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1F683-25B9-48CA-86C7-BB0C984F7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80A92-1D93-404B-9799-89BCBB073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F5F5C-C266-435C-853D-C081FF9B83C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76F81-1CFE-4E1F-8732-529F5F6E0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362BF-AD8E-46BD-8809-F921BCD1B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B2563-4C9D-489D-8211-48AA1CF72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3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penvinotoolkit.org/latest/openvino_docs_IE_DG_supported_plugins_Supported_Devices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vinotoolkit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penvinotoolkit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penvinotoolkit.org/latest/openvino_docs_IE_DG_ONNX_Support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vinotoolkit/openvino/issue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FC3C-9860-4520-97CF-9A90413421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Place of ONNX in </a:t>
            </a:r>
            <a:r>
              <a:rPr lang="en-US" dirty="0" err="1"/>
              <a:t>OpenVINO</a:t>
            </a:r>
            <a:r>
              <a:rPr lang="en-US" dirty="0"/>
              <a:t> Ecosystem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E1031-9052-4331-99B2-76B61F822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Sergey Lyalin (Intel)</a:t>
            </a:r>
          </a:p>
        </p:txBody>
      </p:sp>
    </p:spTree>
    <p:extLst>
      <p:ext uri="{BB962C8B-B14F-4D97-AF65-F5344CB8AC3E}">
        <p14:creationId xmlns:p14="http://schemas.microsoft.com/office/powerpoint/2010/main" val="330222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4C91-D4BA-4726-86FA-F5FE97A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274" y="332368"/>
            <a:ext cx="4682924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OpenVINO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9C03-D2D3-4B21-9FF6-0B47042A2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25" y="1839357"/>
            <a:ext cx="9048750" cy="612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End-to-end solution for fast inference across Intel® hardware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0145-D5A6-4FB8-97F1-599AE33A680F}"/>
              </a:ext>
            </a:extLst>
          </p:cNvPr>
          <p:cNvSpPr txBox="1"/>
          <p:nvPr/>
        </p:nvSpPr>
        <p:spPr>
          <a:xfrm>
            <a:off x="4658737" y="3231671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8B61-D842-4A02-BB0E-4E51EBF18993}"/>
              </a:ext>
            </a:extLst>
          </p:cNvPr>
          <p:cNvSpPr txBox="1"/>
          <p:nvPr/>
        </p:nvSpPr>
        <p:spPr>
          <a:xfrm>
            <a:off x="2412230" y="4316639"/>
            <a:ext cx="133081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CPU Plugin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1B5EF-9276-45E0-9CA4-93546A218F97}"/>
              </a:ext>
            </a:extLst>
          </p:cNvPr>
          <p:cNvSpPr txBox="1"/>
          <p:nvPr/>
        </p:nvSpPr>
        <p:spPr>
          <a:xfrm>
            <a:off x="3666844" y="4892654"/>
            <a:ext cx="134524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GPU Plugin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E6951-9E0D-4AB0-8D46-3F26C1E6A9F2}"/>
              </a:ext>
            </a:extLst>
          </p:cNvPr>
          <p:cNvSpPr txBox="1"/>
          <p:nvPr/>
        </p:nvSpPr>
        <p:spPr>
          <a:xfrm>
            <a:off x="6920476" y="4881774"/>
            <a:ext cx="158729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Myriad Plugin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B831-6361-4931-BF5E-E94364E5B187}"/>
              </a:ext>
            </a:extLst>
          </p:cNvPr>
          <p:cNvSpPr txBox="1"/>
          <p:nvPr/>
        </p:nvSpPr>
        <p:spPr>
          <a:xfrm>
            <a:off x="8316492" y="4316639"/>
            <a:ext cx="1516762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HDDL Plugin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2DD6-34A5-4403-9D16-9A1AA06C0C76}"/>
              </a:ext>
            </a:extLst>
          </p:cNvPr>
          <p:cNvSpPr txBox="1"/>
          <p:nvPr/>
        </p:nvSpPr>
        <p:spPr>
          <a:xfrm>
            <a:off x="5266661" y="5122587"/>
            <a:ext cx="1367682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GNA Plugin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3671F-DF8F-41A2-B237-9D48ACD6AC19}"/>
              </a:ext>
            </a:extLst>
          </p:cNvPr>
          <p:cNvCxnSpPr>
            <a:cxnSpLocks/>
          </p:cNvCxnSpPr>
          <p:nvPr/>
        </p:nvCxnSpPr>
        <p:spPr>
          <a:xfrm flipH="1">
            <a:off x="3743045" y="3731810"/>
            <a:ext cx="1115954" cy="56482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0ECBDE-DBEF-4438-9975-810204FC7B5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339464" y="3749451"/>
            <a:ext cx="1172014" cy="114320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1ABAA-A44F-44C1-96B2-A99C0D129C89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flipH="1">
            <a:off x="5950502" y="3754891"/>
            <a:ext cx="18177" cy="1367696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8FA0E2-32C1-4141-A997-5CFA80B9F34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508066" y="3754891"/>
            <a:ext cx="1206057" cy="112688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BCE6F-8BB8-4B7E-BA5B-439903996542}"/>
              </a:ext>
            </a:extLst>
          </p:cNvPr>
          <p:cNvCxnSpPr>
            <a:cxnSpLocks/>
          </p:cNvCxnSpPr>
          <p:nvPr/>
        </p:nvCxnSpPr>
        <p:spPr>
          <a:xfrm>
            <a:off x="7111094" y="3731810"/>
            <a:ext cx="1205398" cy="58482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E361D2C-4C71-4524-86F7-F5AFAD7FBAB1}"/>
              </a:ext>
            </a:extLst>
          </p:cNvPr>
          <p:cNvSpPr txBox="1"/>
          <p:nvPr/>
        </p:nvSpPr>
        <p:spPr>
          <a:xfrm>
            <a:off x="3889328" y="6019537"/>
            <a:ext cx="4122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more about supported devices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7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3671F-DF8F-41A2-B237-9D48ACD6AC19}"/>
              </a:ext>
            </a:extLst>
          </p:cNvPr>
          <p:cNvCxnSpPr>
            <a:cxnSpLocks/>
          </p:cNvCxnSpPr>
          <p:nvPr/>
        </p:nvCxnSpPr>
        <p:spPr>
          <a:xfrm flipH="1">
            <a:off x="3604550" y="3141502"/>
            <a:ext cx="1347046" cy="142784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0ECBDE-DBEF-4438-9975-810204FC7B5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432061" y="3141502"/>
            <a:ext cx="1058922" cy="197878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1ABAA-A44F-44C1-96B2-A99C0D129C89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flipH="1">
            <a:off x="6043099" y="3164583"/>
            <a:ext cx="18177" cy="218563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8FA0E2-32C1-4141-A997-5CFA80B9F34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632154" y="3164583"/>
            <a:ext cx="1174566" cy="1944826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BCE6F-8BB8-4B7E-BA5B-439903996542}"/>
              </a:ext>
            </a:extLst>
          </p:cNvPr>
          <p:cNvCxnSpPr>
            <a:cxnSpLocks/>
          </p:cNvCxnSpPr>
          <p:nvPr/>
        </p:nvCxnSpPr>
        <p:spPr>
          <a:xfrm>
            <a:off x="7203691" y="3141502"/>
            <a:ext cx="1523620" cy="140277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546DF-0F1B-4BEB-BB59-D896F04FEEFA}"/>
              </a:ext>
            </a:extLst>
          </p:cNvPr>
          <p:cNvSpPr/>
          <p:nvPr/>
        </p:nvSpPr>
        <p:spPr>
          <a:xfrm>
            <a:off x="3422763" y="3565468"/>
            <a:ext cx="5304548" cy="644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B4C91-D4BA-4726-86FA-F5FE97A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274" y="332368"/>
            <a:ext cx="4682924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OpenVINO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0145-D5A6-4FB8-97F1-599AE33A680F}"/>
              </a:ext>
            </a:extLst>
          </p:cNvPr>
          <p:cNvSpPr txBox="1"/>
          <p:nvPr/>
        </p:nvSpPr>
        <p:spPr>
          <a:xfrm>
            <a:off x="4751334" y="2641363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8B61-D842-4A02-BB0E-4E51EBF18993}"/>
              </a:ext>
            </a:extLst>
          </p:cNvPr>
          <p:cNvSpPr txBox="1"/>
          <p:nvPr/>
        </p:nvSpPr>
        <p:spPr>
          <a:xfrm>
            <a:off x="2504827" y="4544274"/>
            <a:ext cx="133081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CPU Plugin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1B5EF-9276-45E0-9CA4-93546A218F97}"/>
              </a:ext>
            </a:extLst>
          </p:cNvPr>
          <p:cNvSpPr txBox="1"/>
          <p:nvPr/>
        </p:nvSpPr>
        <p:spPr>
          <a:xfrm>
            <a:off x="3759441" y="5120289"/>
            <a:ext cx="134524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GPU Plugin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E6951-9E0D-4AB0-8D46-3F26C1E6A9F2}"/>
              </a:ext>
            </a:extLst>
          </p:cNvPr>
          <p:cNvSpPr txBox="1"/>
          <p:nvPr/>
        </p:nvSpPr>
        <p:spPr>
          <a:xfrm>
            <a:off x="7013073" y="5109409"/>
            <a:ext cx="158729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Myriad Plugin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B831-6361-4931-BF5E-E94364E5B187}"/>
              </a:ext>
            </a:extLst>
          </p:cNvPr>
          <p:cNvSpPr txBox="1"/>
          <p:nvPr/>
        </p:nvSpPr>
        <p:spPr>
          <a:xfrm>
            <a:off x="8409089" y="4544274"/>
            <a:ext cx="1516762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HDDL Plugin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2DD6-34A5-4403-9D16-9A1AA06C0C76}"/>
              </a:ext>
            </a:extLst>
          </p:cNvPr>
          <p:cNvSpPr txBox="1"/>
          <p:nvPr/>
        </p:nvSpPr>
        <p:spPr>
          <a:xfrm>
            <a:off x="5359258" y="5350222"/>
            <a:ext cx="1367682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GNA Plugin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14E42-0353-4CD6-B160-6887FE98862B}"/>
              </a:ext>
            </a:extLst>
          </p:cNvPr>
          <p:cNvSpPr txBox="1"/>
          <p:nvPr/>
        </p:nvSpPr>
        <p:spPr>
          <a:xfrm>
            <a:off x="3642582" y="3724769"/>
            <a:ext cx="158729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Hetero Plugin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4D6E5-7C65-4632-92E0-54B912422E67}"/>
              </a:ext>
            </a:extLst>
          </p:cNvPr>
          <p:cNvSpPr txBox="1"/>
          <p:nvPr/>
        </p:nvSpPr>
        <p:spPr>
          <a:xfrm>
            <a:off x="5452332" y="3724769"/>
            <a:ext cx="136768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Auto Plugin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F324-DB25-4C6D-AAF2-5B08443A34B1}"/>
              </a:ext>
            </a:extLst>
          </p:cNvPr>
          <p:cNvSpPr txBox="1"/>
          <p:nvPr/>
        </p:nvSpPr>
        <p:spPr>
          <a:xfrm>
            <a:off x="7042470" y="3724769"/>
            <a:ext cx="140615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Multi Plugin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440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3671F-DF8F-41A2-B237-9D48ACD6AC19}"/>
              </a:ext>
            </a:extLst>
          </p:cNvPr>
          <p:cNvCxnSpPr>
            <a:cxnSpLocks/>
          </p:cNvCxnSpPr>
          <p:nvPr/>
        </p:nvCxnSpPr>
        <p:spPr>
          <a:xfrm flipH="1">
            <a:off x="3760587" y="4240500"/>
            <a:ext cx="1138075" cy="110036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0ECBDE-DBEF-4438-9975-810204FC7B5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661299" y="4240500"/>
            <a:ext cx="697713" cy="137195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1ABAA-A44F-44C1-96B2-A99C0D129C89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6080311" y="4240500"/>
            <a:ext cx="48885" cy="15881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8FA0E2-32C1-4141-A997-5CFA80B9F34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734957" y="4240500"/>
            <a:ext cx="966474" cy="140351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BCE6F-8BB8-4B7E-BA5B-439903996542}"/>
              </a:ext>
            </a:extLst>
          </p:cNvPr>
          <p:cNvCxnSpPr>
            <a:cxnSpLocks/>
          </p:cNvCxnSpPr>
          <p:nvPr/>
        </p:nvCxnSpPr>
        <p:spPr>
          <a:xfrm>
            <a:off x="7218194" y="4240500"/>
            <a:ext cx="1473849" cy="111822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546DF-0F1B-4BEB-BB59-D896F04FEEFA}"/>
              </a:ext>
            </a:extLst>
          </p:cNvPr>
          <p:cNvSpPr/>
          <p:nvPr/>
        </p:nvSpPr>
        <p:spPr>
          <a:xfrm>
            <a:off x="3443726" y="4456719"/>
            <a:ext cx="5304548" cy="644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B4C91-D4BA-4726-86FA-F5FE97A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274" y="332368"/>
            <a:ext cx="4682924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OpenVINO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0145-D5A6-4FB8-97F1-599AE33A680F}"/>
              </a:ext>
            </a:extLst>
          </p:cNvPr>
          <p:cNvSpPr txBox="1"/>
          <p:nvPr/>
        </p:nvSpPr>
        <p:spPr>
          <a:xfrm>
            <a:off x="4770369" y="3717280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8B61-D842-4A02-BB0E-4E51EBF18993}"/>
              </a:ext>
            </a:extLst>
          </p:cNvPr>
          <p:cNvSpPr txBox="1"/>
          <p:nvPr/>
        </p:nvSpPr>
        <p:spPr>
          <a:xfrm>
            <a:off x="2570094" y="5340863"/>
            <a:ext cx="133081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CPU Plugin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1B5EF-9276-45E0-9CA4-93546A218F97}"/>
              </a:ext>
            </a:extLst>
          </p:cNvPr>
          <p:cNvSpPr txBox="1"/>
          <p:nvPr/>
        </p:nvSpPr>
        <p:spPr>
          <a:xfrm>
            <a:off x="3988679" y="5612458"/>
            <a:ext cx="134524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GPU Plugin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E6951-9E0D-4AB0-8D46-3F26C1E6A9F2}"/>
              </a:ext>
            </a:extLst>
          </p:cNvPr>
          <p:cNvSpPr txBox="1"/>
          <p:nvPr/>
        </p:nvSpPr>
        <p:spPr>
          <a:xfrm>
            <a:off x="6907784" y="5644011"/>
            <a:ext cx="158729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Myriad Plugin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B831-6361-4931-BF5E-E94364E5B187}"/>
              </a:ext>
            </a:extLst>
          </p:cNvPr>
          <p:cNvSpPr txBox="1"/>
          <p:nvPr/>
        </p:nvSpPr>
        <p:spPr>
          <a:xfrm>
            <a:off x="8589825" y="5340863"/>
            <a:ext cx="1516762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HDDL Plugin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2DD6-34A5-4403-9D16-9A1AA06C0C76}"/>
              </a:ext>
            </a:extLst>
          </p:cNvPr>
          <p:cNvSpPr txBox="1"/>
          <p:nvPr/>
        </p:nvSpPr>
        <p:spPr>
          <a:xfrm>
            <a:off x="5445355" y="5828677"/>
            <a:ext cx="1367682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GNA Plugin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14E42-0353-4CD6-B160-6887FE98862B}"/>
              </a:ext>
            </a:extLst>
          </p:cNvPr>
          <p:cNvSpPr txBox="1"/>
          <p:nvPr/>
        </p:nvSpPr>
        <p:spPr>
          <a:xfrm>
            <a:off x="3663545" y="4616020"/>
            <a:ext cx="158729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Hetero Plugin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4D6E5-7C65-4632-92E0-54B912422E67}"/>
              </a:ext>
            </a:extLst>
          </p:cNvPr>
          <p:cNvSpPr txBox="1"/>
          <p:nvPr/>
        </p:nvSpPr>
        <p:spPr>
          <a:xfrm>
            <a:off x="5473295" y="4616020"/>
            <a:ext cx="136768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Auto Plugin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F324-DB25-4C6D-AAF2-5B08443A34B1}"/>
              </a:ext>
            </a:extLst>
          </p:cNvPr>
          <p:cNvSpPr txBox="1"/>
          <p:nvPr/>
        </p:nvSpPr>
        <p:spPr>
          <a:xfrm>
            <a:off x="7063433" y="4616020"/>
            <a:ext cx="140615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Multi Plugin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BF321-9D49-4BE7-A487-CAA5697E9CC5}"/>
              </a:ext>
            </a:extLst>
          </p:cNvPr>
          <p:cNvSpPr txBox="1"/>
          <p:nvPr/>
        </p:nvSpPr>
        <p:spPr>
          <a:xfrm>
            <a:off x="5845311" y="2852800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79C60A-C5BB-4240-82B9-16DE4ADED783}"/>
              </a:ext>
            </a:extLst>
          </p:cNvPr>
          <p:cNvCxnSpPr>
            <a:cxnSpLocks/>
            <a:stCxn id="26" idx="2"/>
            <a:endCxn id="6" idx="0"/>
          </p:cNvCxnSpPr>
          <p:nvPr/>
        </p:nvCxnSpPr>
        <p:spPr>
          <a:xfrm>
            <a:off x="6080311" y="3376020"/>
            <a:ext cx="0" cy="34126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2E6080-AEFC-414E-9B2C-F3857B9EC8E8}"/>
              </a:ext>
            </a:extLst>
          </p:cNvPr>
          <p:cNvSpPr txBox="1"/>
          <p:nvPr/>
        </p:nvSpPr>
        <p:spPr>
          <a:xfrm>
            <a:off x="4758506" y="1975637"/>
            <a:ext cx="2643609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Model Optimizer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3641D5-746B-4A4E-91B3-B719BE560D12}"/>
              </a:ext>
            </a:extLst>
          </p:cNvPr>
          <p:cNvCxnSpPr>
            <a:cxnSpLocks/>
            <a:stCxn id="33" idx="2"/>
            <a:endCxn id="26" idx="0"/>
          </p:cNvCxnSpPr>
          <p:nvPr/>
        </p:nvCxnSpPr>
        <p:spPr>
          <a:xfrm>
            <a:off x="6080311" y="2498857"/>
            <a:ext cx="0" cy="35394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072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3671F-DF8F-41A2-B237-9D48ACD6AC19}"/>
              </a:ext>
            </a:extLst>
          </p:cNvPr>
          <p:cNvCxnSpPr>
            <a:cxnSpLocks/>
          </p:cNvCxnSpPr>
          <p:nvPr/>
        </p:nvCxnSpPr>
        <p:spPr>
          <a:xfrm flipH="1">
            <a:off x="3760587" y="4240500"/>
            <a:ext cx="1138075" cy="110036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0ECBDE-DBEF-4438-9975-810204FC7B5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661299" y="4240500"/>
            <a:ext cx="697713" cy="137195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1ABAA-A44F-44C1-96B2-A99C0D129C89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6080311" y="4240500"/>
            <a:ext cx="48885" cy="15881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8FA0E2-32C1-4141-A997-5CFA80B9F34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734957" y="4240500"/>
            <a:ext cx="966474" cy="140351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BCE6F-8BB8-4B7E-BA5B-439903996542}"/>
              </a:ext>
            </a:extLst>
          </p:cNvPr>
          <p:cNvCxnSpPr>
            <a:cxnSpLocks/>
          </p:cNvCxnSpPr>
          <p:nvPr/>
        </p:nvCxnSpPr>
        <p:spPr>
          <a:xfrm>
            <a:off x="7218194" y="4240500"/>
            <a:ext cx="1473849" cy="111822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546DF-0F1B-4BEB-BB59-D896F04FEEFA}"/>
              </a:ext>
            </a:extLst>
          </p:cNvPr>
          <p:cNvSpPr/>
          <p:nvPr/>
        </p:nvSpPr>
        <p:spPr>
          <a:xfrm>
            <a:off x="3443726" y="4456719"/>
            <a:ext cx="5304548" cy="644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B4C91-D4BA-4726-86FA-F5FE97A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274" y="332368"/>
            <a:ext cx="4682924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OpenVINO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0145-D5A6-4FB8-97F1-599AE33A680F}"/>
              </a:ext>
            </a:extLst>
          </p:cNvPr>
          <p:cNvSpPr txBox="1"/>
          <p:nvPr/>
        </p:nvSpPr>
        <p:spPr>
          <a:xfrm>
            <a:off x="4770369" y="3717280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8B61-D842-4A02-BB0E-4E51EBF18993}"/>
              </a:ext>
            </a:extLst>
          </p:cNvPr>
          <p:cNvSpPr txBox="1"/>
          <p:nvPr/>
        </p:nvSpPr>
        <p:spPr>
          <a:xfrm>
            <a:off x="2570094" y="5340863"/>
            <a:ext cx="133081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CPU Plugin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1B5EF-9276-45E0-9CA4-93546A218F97}"/>
              </a:ext>
            </a:extLst>
          </p:cNvPr>
          <p:cNvSpPr txBox="1"/>
          <p:nvPr/>
        </p:nvSpPr>
        <p:spPr>
          <a:xfrm>
            <a:off x="3988679" y="5612458"/>
            <a:ext cx="134524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GPU Plugin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E6951-9E0D-4AB0-8D46-3F26C1E6A9F2}"/>
              </a:ext>
            </a:extLst>
          </p:cNvPr>
          <p:cNvSpPr txBox="1"/>
          <p:nvPr/>
        </p:nvSpPr>
        <p:spPr>
          <a:xfrm>
            <a:off x="6907784" y="5644011"/>
            <a:ext cx="158729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Myriad Plugin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B831-6361-4931-BF5E-E94364E5B187}"/>
              </a:ext>
            </a:extLst>
          </p:cNvPr>
          <p:cNvSpPr txBox="1"/>
          <p:nvPr/>
        </p:nvSpPr>
        <p:spPr>
          <a:xfrm>
            <a:off x="8589825" y="5340863"/>
            <a:ext cx="1516762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HDDL Plugin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2DD6-34A5-4403-9D16-9A1AA06C0C76}"/>
              </a:ext>
            </a:extLst>
          </p:cNvPr>
          <p:cNvSpPr txBox="1"/>
          <p:nvPr/>
        </p:nvSpPr>
        <p:spPr>
          <a:xfrm>
            <a:off x="5445355" y="5828677"/>
            <a:ext cx="1367682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GNA Plugin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14E42-0353-4CD6-B160-6887FE98862B}"/>
              </a:ext>
            </a:extLst>
          </p:cNvPr>
          <p:cNvSpPr txBox="1"/>
          <p:nvPr/>
        </p:nvSpPr>
        <p:spPr>
          <a:xfrm>
            <a:off x="3663545" y="4616020"/>
            <a:ext cx="158729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Hetero Plugin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4D6E5-7C65-4632-92E0-54B912422E67}"/>
              </a:ext>
            </a:extLst>
          </p:cNvPr>
          <p:cNvSpPr txBox="1"/>
          <p:nvPr/>
        </p:nvSpPr>
        <p:spPr>
          <a:xfrm>
            <a:off x="5473295" y="4616020"/>
            <a:ext cx="136768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Auto Plugin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F324-DB25-4C6D-AAF2-5B08443A34B1}"/>
              </a:ext>
            </a:extLst>
          </p:cNvPr>
          <p:cNvSpPr txBox="1"/>
          <p:nvPr/>
        </p:nvSpPr>
        <p:spPr>
          <a:xfrm>
            <a:off x="7063433" y="4616020"/>
            <a:ext cx="140615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Multi Plugin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BF321-9D49-4BE7-A487-CAA5697E9CC5}"/>
              </a:ext>
            </a:extLst>
          </p:cNvPr>
          <p:cNvSpPr txBox="1"/>
          <p:nvPr/>
        </p:nvSpPr>
        <p:spPr>
          <a:xfrm>
            <a:off x="5845311" y="2840515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79C60A-C5BB-4240-82B9-16DE4ADED783}"/>
              </a:ext>
            </a:extLst>
          </p:cNvPr>
          <p:cNvCxnSpPr>
            <a:cxnSpLocks/>
            <a:stCxn id="26" idx="2"/>
            <a:endCxn id="6" idx="0"/>
          </p:cNvCxnSpPr>
          <p:nvPr/>
        </p:nvCxnSpPr>
        <p:spPr>
          <a:xfrm>
            <a:off x="6080311" y="3363735"/>
            <a:ext cx="0" cy="353545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2E6080-AEFC-414E-9B2C-F3857B9EC8E8}"/>
              </a:ext>
            </a:extLst>
          </p:cNvPr>
          <p:cNvSpPr txBox="1"/>
          <p:nvPr/>
        </p:nvSpPr>
        <p:spPr>
          <a:xfrm>
            <a:off x="4758506" y="1959837"/>
            <a:ext cx="2643609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Model Optimizer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3641D5-746B-4A4E-91B3-B719BE560D12}"/>
              </a:ext>
            </a:extLst>
          </p:cNvPr>
          <p:cNvCxnSpPr>
            <a:cxnSpLocks/>
            <a:stCxn id="33" idx="2"/>
            <a:endCxn id="26" idx="0"/>
          </p:cNvCxnSpPr>
          <p:nvPr/>
        </p:nvCxnSpPr>
        <p:spPr>
          <a:xfrm>
            <a:off x="6080311" y="2483057"/>
            <a:ext cx="0" cy="35745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40F1F5-FBFF-4092-B66E-218215D63645}"/>
              </a:ext>
            </a:extLst>
          </p:cNvPr>
          <p:cNvSpPr txBox="1"/>
          <p:nvPr/>
        </p:nvSpPr>
        <p:spPr>
          <a:xfrm>
            <a:off x="264579" y="1396321"/>
            <a:ext cx="286841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TensorFlow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827DD9-BCA8-44FA-958F-8DD02E94367F}"/>
              </a:ext>
            </a:extLst>
          </p:cNvPr>
          <p:cNvSpPr txBox="1"/>
          <p:nvPr/>
        </p:nvSpPr>
        <p:spPr>
          <a:xfrm>
            <a:off x="9622612" y="2072484"/>
            <a:ext cx="1955856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Caffe 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558672-0729-4A69-8CCB-3E4588E7BF0F}"/>
              </a:ext>
            </a:extLst>
          </p:cNvPr>
          <p:cNvSpPr txBox="1"/>
          <p:nvPr/>
        </p:nvSpPr>
        <p:spPr>
          <a:xfrm>
            <a:off x="9269413" y="2905780"/>
            <a:ext cx="2234586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err="1"/>
              <a:t>MXNet</a:t>
            </a:r>
            <a:r>
              <a:rPr lang="en-US" sz="2800" dirty="0"/>
              <a:t>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848A8F-7F57-40D0-998A-3E076DA73EFC}"/>
              </a:ext>
            </a:extLst>
          </p:cNvPr>
          <p:cNvSpPr txBox="1"/>
          <p:nvPr/>
        </p:nvSpPr>
        <p:spPr>
          <a:xfrm>
            <a:off x="613532" y="2491957"/>
            <a:ext cx="2100255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ONNX 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0DFF68-385B-40F5-BC64-369B4EBE2AAC}"/>
              </a:ext>
            </a:extLst>
          </p:cNvPr>
          <p:cNvSpPr txBox="1"/>
          <p:nvPr/>
        </p:nvSpPr>
        <p:spPr>
          <a:xfrm>
            <a:off x="9334761" y="1147805"/>
            <a:ext cx="1916358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Kaldi Model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FE072F-E280-4054-9F69-2F1FAE8E9B71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3132993" y="1657931"/>
            <a:ext cx="1625513" cy="44678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5466FF9-AF6C-4C86-9B50-8CE92741E98B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2713787" y="2366329"/>
            <a:ext cx="2044719" cy="38723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3B83BB9-339C-42CA-8B88-6B8547145A5F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7390253" y="1409415"/>
            <a:ext cx="1944508" cy="66306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21B97C4-43FA-4711-BB05-384E30A69B8D}"/>
              </a:ext>
            </a:extLst>
          </p:cNvPr>
          <p:cNvCxnSpPr>
            <a:cxnSpLocks/>
            <a:stCxn id="25" idx="1"/>
            <a:endCxn id="33" idx="3"/>
          </p:cNvCxnSpPr>
          <p:nvPr/>
        </p:nvCxnSpPr>
        <p:spPr>
          <a:xfrm flipH="1" flipV="1">
            <a:off x="7402115" y="2221447"/>
            <a:ext cx="2220497" cy="11264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8828A8-4519-4A47-816F-F334D4037F86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7402115" y="2363332"/>
            <a:ext cx="1867298" cy="80405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139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3671F-DF8F-41A2-B237-9D48ACD6AC19}"/>
              </a:ext>
            </a:extLst>
          </p:cNvPr>
          <p:cNvCxnSpPr>
            <a:cxnSpLocks/>
          </p:cNvCxnSpPr>
          <p:nvPr/>
        </p:nvCxnSpPr>
        <p:spPr>
          <a:xfrm flipH="1">
            <a:off x="3760587" y="4240500"/>
            <a:ext cx="1138075" cy="110036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0ECBDE-DBEF-4438-9975-810204FC7B5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661299" y="4240500"/>
            <a:ext cx="697713" cy="137195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1ABAA-A44F-44C1-96B2-A99C0D129C89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6080311" y="4240500"/>
            <a:ext cx="48885" cy="15881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8FA0E2-32C1-4141-A997-5CFA80B9F34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734957" y="4240500"/>
            <a:ext cx="966474" cy="140351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BCE6F-8BB8-4B7E-BA5B-439903996542}"/>
              </a:ext>
            </a:extLst>
          </p:cNvPr>
          <p:cNvCxnSpPr>
            <a:cxnSpLocks/>
          </p:cNvCxnSpPr>
          <p:nvPr/>
        </p:nvCxnSpPr>
        <p:spPr>
          <a:xfrm>
            <a:off x="7218194" y="4240500"/>
            <a:ext cx="1473849" cy="111822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546DF-0F1B-4BEB-BB59-D896F04FEEFA}"/>
              </a:ext>
            </a:extLst>
          </p:cNvPr>
          <p:cNvSpPr/>
          <p:nvPr/>
        </p:nvSpPr>
        <p:spPr>
          <a:xfrm>
            <a:off x="3443726" y="4456719"/>
            <a:ext cx="5304548" cy="644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B4C91-D4BA-4726-86FA-F5FE97A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274" y="332368"/>
            <a:ext cx="4682924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OpenVINO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0145-D5A6-4FB8-97F1-599AE33A680F}"/>
              </a:ext>
            </a:extLst>
          </p:cNvPr>
          <p:cNvSpPr txBox="1"/>
          <p:nvPr/>
        </p:nvSpPr>
        <p:spPr>
          <a:xfrm>
            <a:off x="4770369" y="3717280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8B61-D842-4A02-BB0E-4E51EBF18993}"/>
              </a:ext>
            </a:extLst>
          </p:cNvPr>
          <p:cNvSpPr txBox="1"/>
          <p:nvPr/>
        </p:nvSpPr>
        <p:spPr>
          <a:xfrm>
            <a:off x="2570094" y="5340863"/>
            <a:ext cx="133081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CPU Plugin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1B5EF-9276-45E0-9CA4-93546A218F97}"/>
              </a:ext>
            </a:extLst>
          </p:cNvPr>
          <p:cNvSpPr txBox="1"/>
          <p:nvPr/>
        </p:nvSpPr>
        <p:spPr>
          <a:xfrm>
            <a:off x="3988679" y="5612458"/>
            <a:ext cx="134524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GPU Plugin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E6951-9E0D-4AB0-8D46-3F26C1E6A9F2}"/>
              </a:ext>
            </a:extLst>
          </p:cNvPr>
          <p:cNvSpPr txBox="1"/>
          <p:nvPr/>
        </p:nvSpPr>
        <p:spPr>
          <a:xfrm>
            <a:off x="6907784" y="5644011"/>
            <a:ext cx="158729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Myriad Plugin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B831-6361-4931-BF5E-E94364E5B187}"/>
              </a:ext>
            </a:extLst>
          </p:cNvPr>
          <p:cNvSpPr txBox="1"/>
          <p:nvPr/>
        </p:nvSpPr>
        <p:spPr>
          <a:xfrm>
            <a:off x="8589825" y="5340863"/>
            <a:ext cx="1516762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HDDL Plugin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2DD6-34A5-4403-9D16-9A1AA06C0C76}"/>
              </a:ext>
            </a:extLst>
          </p:cNvPr>
          <p:cNvSpPr txBox="1"/>
          <p:nvPr/>
        </p:nvSpPr>
        <p:spPr>
          <a:xfrm>
            <a:off x="5445355" y="5828677"/>
            <a:ext cx="1367682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GNA Plugin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14E42-0353-4CD6-B160-6887FE98862B}"/>
              </a:ext>
            </a:extLst>
          </p:cNvPr>
          <p:cNvSpPr txBox="1"/>
          <p:nvPr/>
        </p:nvSpPr>
        <p:spPr>
          <a:xfrm>
            <a:off x="3663545" y="4616020"/>
            <a:ext cx="158729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Hetero Plugin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4D6E5-7C65-4632-92E0-54B912422E67}"/>
              </a:ext>
            </a:extLst>
          </p:cNvPr>
          <p:cNvSpPr txBox="1"/>
          <p:nvPr/>
        </p:nvSpPr>
        <p:spPr>
          <a:xfrm>
            <a:off x="5473295" y="4616020"/>
            <a:ext cx="136768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Auto Plugin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F324-DB25-4C6D-AAF2-5B08443A34B1}"/>
              </a:ext>
            </a:extLst>
          </p:cNvPr>
          <p:cNvSpPr txBox="1"/>
          <p:nvPr/>
        </p:nvSpPr>
        <p:spPr>
          <a:xfrm>
            <a:off x="7063433" y="4616020"/>
            <a:ext cx="140615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Multi Plugin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BF321-9D49-4BE7-A487-CAA5697E9CC5}"/>
              </a:ext>
            </a:extLst>
          </p:cNvPr>
          <p:cNvSpPr txBox="1"/>
          <p:nvPr/>
        </p:nvSpPr>
        <p:spPr>
          <a:xfrm>
            <a:off x="5845311" y="2840515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79C60A-C5BB-4240-82B9-16DE4ADED783}"/>
              </a:ext>
            </a:extLst>
          </p:cNvPr>
          <p:cNvCxnSpPr>
            <a:cxnSpLocks/>
            <a:stCxn id="26" idx="2"/>
            <a:endCxn id="6" idx="0"/>
          </p:cNvCxnSpPr>
          <p:nvPr/>
        </p:nvCxnSpPr>
        <p:spPr>
          <a:xfrm>
            <a:off x="6080311" y="3363735"/>
            <a:ext cx="0" cy="353545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2E6080-AEFC-414E-9B2C-F3857B9EC8E8}"/>
              </a:ext>
            </a:extLst>
          </p:cNvPr>
          <p:cNvSpPr txBox="1"/>
          <p:nvPr/>
        </p:nvSpPr>
        <p:spPr>
          <a:xfrm>
            <a:off x="5272269" y="1532863"/>
            <a:ext cx="1616083" cy="954107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Model</a:t>
            </a:r>
          </a:p>
          <a:p>
            <a:pPr algn="ctr"/>
            <a:r>
              <a:rPr lang="en-US" sz="2800" dirty="0"/>
              <a:t>Optimizer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3641D5-746B-4A4E-91B3-B719BE560D12}"/>
              </a:ext>
            </a:extLst>
          </p:cNvPr>
          <p:cNvCxnSpPr>
            <a:cxnSpLocks/>
            <a:stCxn id="33" idx="2"/>
            <a:endCxn id="26" idx="0"/>
          </p:cNvCxnSpPr>
          <p:nvPr/>
        </p:nvCxnSpPr>
        <p:spPr>
          <a:xfrm>
            <a:off x="6080311" y="2486970"/>
            <a:ext cx="0" cy="353545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3F9EC2D-949C-4739-BD6F-4F3BC052CDE6}"/>
              </a:ext>
            </a:extLst>
          </p:cNvPr>
          <p:cNvSpPr txBox="1"/>
          <p:nvPr/>
        </p:nvSpPr>
        <p:spPr>
          <a:xfrm>
            <a:off x="2310407" y="1350242"/>
            <a:ext cx="1249060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TensorFlow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76BD84-D9FD-4085-891B-85E41536B5AE}"/>
              </a:ext>
            </a:extLst>
          </p:cNvPr>
          <p:cNvSpPr txBox="1"/>
          <p:nvPr/>
        </p:nvSpPr>
        <p:spPr>
          <a:xfrm>
            <a:off x="2006384" y="1960765"/>
            <a:ext cx="886781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Caffe Model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A44F01-B52A-4589-9B45-2C9A0A3D29C0}"/>
              </a:ext>
            </a:extLst>
          </p:cNvPr>
          <p:cNvSpPr txBox="1"/>
          <p:nvPr/>
        </p:nvSpPr>
        <p:spPr>
          <a:xfrm>
            <a:off x="2435768" y="2589805"/>
            <a:ext cx="989373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MXNet</a:t>
            </a:r>
            <a:r>
              <a:rPr lang="en-US" sz="1100" dirty="0"/>
              <a:t> 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BCE119-F85C-4780-8775-FB95042DF586}"/>
              </a:ext>
            </a:extLst>
          </p:cNvPr>
          <p:cNvSpPr txBox="1"/>
          <p:nvPr/>
        </p:nvSpPr>
        <p:spPr>
          <a:xfrm>
            <a:off x="2198838" y="2295088"/>
            <a:ext cx="9364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ONNX 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B1763A-B261-4AC7-9280-1B42039DBC29}"/>
              </a:ext>
            </a:extLst>
          </p:cNvPr>
          <p:cNvSpPr txBox="1"/>
          <p:nvPr/>
        </p:nvSpPr>
        <p:spPr>
          <a:xfrm>
            <a:off x="2198838" y="1652604"/>
            <a:ext cx="865943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Kaldi Model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F83D1A-DAFF-47E9-B36E-688423B12DC0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559467" y="1481047"/>
            <a:ext cx="1712802" cy="22650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2DD691-BC95-42DF-9B48-E7D236614EFA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3135313" y="2150572"/>
            <a:ext cx="2136956" cy="27532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8CD5616-A667-42D8-9F14-5EFFAB3C17CD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3064781" y="1783409"/>
            <a:ext cx="2207488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75F51B-F9E0-4C97-AF4E-7AC2FDF3E14F}"/>
              </a:ext>
            </a:extLst>
          </p:cNvPr>
          <p:cNvCxnSpPr>
            <a:cxnSpLocks/>
            <a:stCxn id="40" idx="3"/>
            <a:endCxn id="33" idx="1"/>
          </p:cNvCxnSpPr>
          <p:nvPr/>
        </p:nvCxnSpPr>
        <p:spPr>
          <a:xfrm flipV="1">
            <a:off x="2893165" y="2009917"/>
            <a:ext cx="2379104" cy="8165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EBBCF1-AE9D-4B73-822B-98C2D666F2FC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3425141" y="2288629"/>
            <a:ext cx="1847128" cy="43198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207370E-8A5A-44CF-B054-8C481AF13366}"/>
              </a:ext>
            </a:extLst>
          </p:cNvPr>
          <p:cNvCxnSpPr>
            <a:cxnSpLocks/>
          </p:cNvCxnSpPr>
          <p:nvPr/>
        </p:nvCxnSpPr>
        <p:spPr>
          <a:xfrm>
            <a:off x="521606" y="3117668"/>
            <a:ext cx="5231494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19DE15F-44B6-490C-8C3A-D3E8D8F6262C}"/>
              </a:ext>
            </a:extLst>
          </p:cNvPr>
          <p:cNvCxnSpPr>
            <a:cxnSpLocks/>
          </p:cNvCxnSpPr>
          <p:nvPr/>
        </p:nvCxnSpPr>
        <p:spPr>
          <a:xfrm>
            <a:off x="6410325" y="3117668"/>
            <a:ext cx="5149394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22E3FD3-6075-4C8E-99ED-F4B19E3DE03A}"/>
              </a:ext>
            </a:extLst>
          </p:cNvPr>
          <p:cNvSpPr txBox="1"/>
          <p:nvPr/>
        </p:nvSpPr>
        <p:spPr>
          <a:xfrm>
            <a:off x="9816814" y="2112449"/>
            <a:ext cx="1742905" cy="8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Offline IR Preparation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98D1FE-C772-41D1-A8AD-FBD4E3A4D4EA}"/>
              </a:ext>
            </a:extLst>
          </p:cNvPr>
          <p:cNvSpPr txBox="1"/>
          <p:nvPr/>
        </p:nvSpPr>
        <p:spPr>
          <a:xfrm>
            <a:off x="9816814" y="3196247"/>
            <a:ext cx="1827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Deployed Application Runtime</a:t>
            </a:r>
          </a:p>
        </p:txBody>
      </p:sp>
    </p:spTree>
    <p:extLst>
      <p:ext uri="{BB962C8B-B14F-4D97-AF65-F5344CB8AC3E}">
        <p14:creationId xmlns:p14="http://schemas.microsoft.com/office/powerpoint/2010/main" val="2328826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3671F-DF8F-41A2-B237-9D48ACD6AC19}"/>
              </a:ext>
            </a:extLst>
          </p:cNvPr>
          <p:cNvCxnSpPr>
            <a:cxnSpLocks/>
          </p:cNvCxnSpPr>
          <p:nvPr/>
        </p:nvCxnSpPr>
        <p:spPr>
          <a:xfrm flipH="1">
            <a:off x="3760587" y="4568123"/>
            <a:ext cx="1138075" cy="110036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0ECBDE-DBEF-4438-9975-810204FC7B5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661299" y="4568123"/>
            <a:ext cx="697713" cy="137195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1ABAA-A44F-44C1-96B2-A99C0D129C89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6080311" y="4568123"/>
            <a:ext cx="48885" cy="15881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8FA0E2-32C1-4141-A997-5CFA80B9F34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734957" y="4568123"/>
            <a:ext cx="966474" cy="140351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BCE6F-8BB8-4B7E-BA5B-439903996542}"/>
              </a:ext>
            </a:extLst>
          </p:cNvPr>
          <p:cNvCxnSpPr>
            <a:cxnSpLocks/>
          </p:cNvCxnSpPr>
          <p:nvPr/>
        </p:nvCxnSpPr>
        <p:spPr>
          <a:xfrm>
            <a:off x="7218194" y="4568123"/>
            <a:ext cx="1473849" cy="111822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546DF-0F1B-4BEB-BB59-D896F04FEEFA}"/>
              </a:ext>
            </a:extLst>
          </p:cNvPr>
          <p:cNvSpPr/>
          <p:nvPr/>
        </p:nvSpPr>
        <p:spPr>
          <a:xfrm>
            <a:off x="3443726" y="4784342"/>
            <a:ext cx="5304548" cy="644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B4C91-D4BA-4726-86FA-F5FE97A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274" y="332368"/>
            <a:ext cx="4682924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OpenVINO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0145-D5A6-4FB8-97F1-599AE33A680F}"/>
              </a:ext>
            </a:extLst>
          </p:cNvPr>
          <p:cNvSpPr txBox="1"/>
          <p:nvPr/>
        </p:nvSpPr>
        <p:spPr>
          <a:xfrm>
            <a:off x="4770369" y="4044903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8B61-D842-4A02-BB0E-4E51EBF18993}"/>
              </a:ext>
            </a:extLst>
          </p:cNvPr>
          <p:cNvSpPr txBox="1"/>
          <p:nvPr/>
        </p:nvSpPr>
        <p:spPr>
          <a:xfrm>
            <a:off x="2570094" y="5668486"/>
            <a:ext cx="133081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CPU Plugin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1B5EF-9276-45E0-9CA4-93546A218F97}"/>
              </a:ext>
            </a:extLst>
          </p:cNvPr>
          <p:cNvSpPr txBox="1"/>
          <p:nvPr/>
        </p:nvSpPr>
        <p:spPr>
          <a:xfrm>
            <a:off x="3988679" y="5940081"/>
            <a:ext cx="134524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GPU Plugin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E6951-9E0D-4AB0-8D46-3F26C1E6A9F2}"/>
              </a:ext>
            </a:extLst>
          </p:cNvPr>
          <p:cNvSpPr txBox="1"/>
          <p:nvPr/>
        </p:nvSpPr>
        <p:spPr>
          <a:xfrm>
            <a:off x="6907784" y="5971634"/>
            <a:ext cx="158729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Myriad Plugin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B831-6361-4931-BF5E-E94364E5B187}"/>
              </a:ext>
            </a:extLst>
          </p:cNvPr>
          <p:cNvSpPr txBox="1"/>
          <p:nvPr/>
        </p:nvSpPr>
        <p:spPr>
          <a:xfrm>
            <a:off x="8589825" y="5668486"/>
            <a:ext cx="1516762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HDDL Plugin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2DD6-34A5-4403-9D16-9A1AA06C0C76}"/>
              </a:ext>
            </a:extLst>
          </p:cNvPr>
          <p:cNvSpPr txBox="1"/>
          <p:nvPr/>
        </p:nvSpPr>
        <p:spPr>
          <a:xfrm>
            <a:off x="5445355" y="6156300"/>
            <a:ext cx="1367682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GNA Plugin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14E42-0353-4CD6-B160-6887FE98862B}"/>
              </a:ext>
            </a:extLst>
          </p:cNvPr>
          <p:cNvSpPr txBox="1"/>
          <p:nvPr/>
        </p:nvSpPr>
        <p:spPr>
          <a:xfrm>
            <a:off x="3663545" y="4943643"/>
            <a:ext cx="158729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Hetero Plugin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4D6E5-7C65-4632-92E0-54B912422E67}"/>
              </a:ext>
            </a:extLst>
          </p:cNvPr>
          <p:cNvSpPr txBox="1"/>
          <p:nvPr/>
        </p:nvSpPr>
        <p:spPr>
          <a:xfrm>
            <a:off x="5473295" y="4943643"/>
            <a:ext cx="136768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Auto Plugin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F324-DB25-4C6D-AAF2-5B08443A34B1}"/>
              </a:ext>
            </a:extLst>
          </p:cNvPr>
          <p:cNvSpPr txBox="1"/>
          <p:nvPr/>
        </p:nvSpPr>
        <p:spPr>
          <a:xfrm>
            <a:off x="7063433" y="4943643"/>
            <a:ext cx="140615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Multi Plugin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BF321-9D49-4BE7-A487-CAA5697E9CC5}"/>
              </a:ext>
            </a:extLst>
          </p:cNvPr>
          <p:cNvSpPr txBox="1"/>
          <p:nvPr/>
        </p:nvSpPr>
        <p:spPr>
          <a:xfrm>
            <a:off x="3764188" y="2008945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79C60A-C5BB-4240-82B9-16DE4ADED783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4234188" y="2270555"/>
            <a:ext cx="471965" cy="28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2E6080-AEFC-414E-9B2C-F3857B9EC8E8}"/>
              </a:ext>
            </a:extLst>
          </p:cNvPr>
          <p:cNvSpPr txBox="1"/>
          <p:nvPr/>
        </p:nvSpPr>
        <p:spPr>
          <a:xfrm>
            <a:off x="1559674" y="1793790"/>
            <a:ext cx="1732549" cy="95410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 Optimizer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3641D5-746B-4A4E-91B3-B719BE560D12}"/>
              </a:ext>
            </a:extLst>
          </p:cNvPr>
          <p:cNvCxnSpPr>
            <a:cxnSpLocks/>
            <a:stCxn id="33" idx="3"/>
            <a:endCxn id="26" idx="1"/>
          </p:cNvCxnSpPr>
          <p:nvPr/>
        </p:nvCxnSpPr>
        <p:spPr>
          <a:xfrm flipV="1">
            <a:off x="3292223" y="2270555"/>
            <a:ext cx="471965" cy="28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6C214B-D7D9-4395-93F7-ED35301E27BE}"/>
              </a:ext>
            </a:extLst>
          </p:cNvPr>
          <p:cNvSpPr txBox="1"/>
          <p:nvPr/>
        </p:nvSpPr>
        <p:spPr>
          <a:xfrm>
            <a:off x="4706153" y="1793790"/>
            <a:ext cx="2748316" cy="954107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Post-Training</a:t>
            </a:r>
          </a:p>
          <a:p>
            <a:pPr algn="ctr"/>
            <a:r>
              <a:rPr lang="en-US" sz="2800" dirty="0"/>
              <a:t>Optimization Tool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EDC0CB-5EAC-4787-BA36-99CD3C026B34}"/>
              </a:ext>
            </a:extLst>
          </p:cNvPr>
          <p:cNvSpPr txBox="1"/>
          <p:nvPr/>
        </p:nvSpPr>
        <p:spPr>
          <a:xfrm>
            <a:off x="5410159" y="3158126"/>
            <a:ext cx="1340303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 (int8)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F78753-4C7F-47C8-95A2-A90CFF46777D}"/>
              </a:ext>
            </a:extLst>
          </p:cNvPr>
          <p:cNvCxnSpPr>
            <a:cxnSpLocks/>
            <a:stCxn id="25" idx="2"/>
            <a:endCxn id="32" idx="0"/>
          </p:cNvCxnSpPr>
          <p:nvPr/>
        </p:nvCxnSpPr>
        <p:spPr>
          <a:xfrm>
            <a:off x="6080311" y="2747897"/>
            <a:ext cx="0" cy="41022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A97C91-0EFA-4B67-976F-27C4E8557321}"/>
              </a:ext>
            </a:extLst>
          </p:cNvPr>
          <p:cNvCxnSpPr>
            <a:cxnSpLocks/>
            <a:stCxn id="32" idx="2"/>
            <a:endCxn id="6" idx="0"/>
          </p:cNvCxnSpPr>
          <p:nvPr/>
        </p:nvCxnSpPr>
        <p:spPr>
          <a:xfrm>
            <a:off x="6080311" y="3681346"/>
            <a:ext cx="0" cy="36355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003194D-E95A-46FB-A28E-7FB425DB5C4E}"/>
              </a:ext>
            </a:extLst>
          </p:cNvPr>
          <p:cNvSpPr txBox="1"/>
          <p:nvPr/>
        </p:nvSpPr>
        <p:spPr>
          <a:xfrm>
            <a:off x="454119" y="1306951"/>
            <a:ext cx="1249060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TensorFlow Model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833E6D-E9C8-405A-82F5-6FB6877F7068}"/>
              </a:ext>
            </a:extLst>
          </p:cNvPr>
          <p:cNvSpPr txBox="1"/>
          <p:nvPr/>
        </p:nvSpPr>
        <p:spPr>
          <a:xfrm>
            <a:off x="74033" y="2116339"/>
            <a:ext cx="886781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Caffe Model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477A81-10D3-43AE-AC5F-AB3462DE125B}"/>
              </a:ext>
            </a:extLst>
          </p:cNvPr>
          <p:cNvSpPr txBox="1"/>
          <p:nvPr/>
        </p:nvSpPr>
        <p:spPr>
          <a:xfrm>
            <a:off x="474193" y="2948754"/>
            <a:ext cx="989373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 err="1"/>
              <a:t>MXNet</a:t>
            </a:r>
            <a:r>
              <a:rPr lang="en-US" sz="1100" dirty="0"/>
              <a:t> Model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DAEF24-E916-4B39-84A0-0D1E605D2977}"/>
              </a:ext>
            </a:extLst>
          </p:cNvPr>
          <p:cNvSpPr txBox="1"/>
          <p:nvPr/>
        </p:nvSpPr>
        <p:spPr>
          <a:xfrm>
            <a:off x="263047" y="2517445"/>
            <a:ext cx="9364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ONNX Model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FC3953-11FC-4725-A660-C4CA37C31666}"/>
              </a:ext>
            </a:extLst>
          </p:cNvPr>
          <p:cNvSpPr txBox="1"/>
          <p:nvPr/>
        </p:nvSpPr>
        <p:spPr>
          <a:xfrm>
            <a:off x="212706" y="1723314"/>
            <a:ext cx="865943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Kaldi Model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9D4E026-7369-4C83-9848-95B2E7116C6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703179" y="1437756"/>
            <a:ext cx="198380" cy="35603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7B07589-0727-4EAF-B38D-61C8C4C83AE6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1199522" y="2578198"/>
            <a:ext cx="360152" cy="7005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6DEC49-AA77-4ADE-A651-E57C1888F77B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1078649" y="1854119"/>
            <a:ext cx="481025" cy="130805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287C33D-9520-4AEF-B7E8-052EA7CC202A}"/>
              </a:ext>
            </a:extLst>
          </p:cNvPr>
          <p:cNvCxnSpPr>
            <a:cxnSpLocks/>
            <a:stCxn id="60" idx="3"/>
            <a:endCxn id="33" idx="1"/>
          </p:cNvCxnSpPr>
          <p:nvPr/>
        </p:nvCxnSpPr>
        <p:spPr>
          <a:xfrm>
            <a:off x="960814" y="2247144"/>
            <a:ext cx="598860" cy="2370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AF05DE0-C4A3-4778-B541-A4699110794B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1463566" y="2747897"/>
            <a:ext cx="437993" cy="33166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600E3E7-EC90-4B78-B607-CB4001D0A4F1}"/>
              </a:ext>
            </a:extLst>
          </p:cNvPr>
          <p:cNvSpPr txBox="1"/>
          <p:nvPr/>
        </p:nvSpPr>
        <p:spPr>
          <a:xfrm>
            <a:off x="8322198" y="1874150"/>
            <a:ext cx="1377387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Accuracy Checker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F73BBCF-5E0F-44E5-9E16-0874DBF38165}"/>
              </a:ext>
            </a:extLst>
          </p:cNvPr>
          <p:cNvCxnSpPr>
            <a:cxnSpLocks/>
          </p:cNvCxnSpPr>
          <p:nvPr/>
        </p:nvCxnSpPr>
        <p:spPr>
          <a:xfrm>
            <a:off x="7454469" y="2008945"/>
            <a:ext cx="867729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6CEFD58-45DB-4323-A108-C3902C3F14CA}"/>
              </a:ext>
            </a:extLst>
          </p:cNvPr>
          <p:cNvCxnSpPr>
            <a:cxnSpLocks/>
          </p:cNvCxnSpPr>
          <p:nvPr/>
        </p:nvCxnSpPr>
        <p:spPr>
          <a:xfrm flipH="1">
            <a:off x="7454469" y="2463023"/>
            <a:ext cx="867729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7A38122-904A-4ABC-97E9-752D977DBEC5}"/>
              </a:ext>
            </a:extLst>
          </p:cNvPr>
          <p:cNvCxnSpPr>
            <a:cxnSpLocks/>
          </p:cNvCxnSpPr>
          <p:nvPr/>
        </p:nvCxnSpPr>
        <p:spPr>
          <a:xfrm>
            <a:off x="501766" y="3429000"/>
            <a:ext cx="4832153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F098564-09E1-466B-AE79-CC33EC3FA6D2}"/>
              </a:ext>
            </a:extLst>
          </p:cNvPr>
          <p:cNvCxnSpPr>
            <a:cxnSpLocks/>
          </p:cNvCxnSpPr>
          <p:nvPr/>
        </p:nvCxnSpPr>
        <p:spPr>
          <a:xfrm>
            <a:off x="6840977" y="3429000"/>
            <a:ext cx="4698902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69A9526-3660-4AE1-B3E4-6D946276E582}"/>
              </a:ext>
            </a:extLst>
          </p:cNvPr>
          <p:cNvSpPr txBox="1"/>
          <p:nvPr/>
        </p:nvSpPr>
        <p:spPr>
          <a:xfrm>
            <a:off x="9796974" y="2423781"/>
            <a:ext cx="1742905" cy="8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Offline IR Preparation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B9E2B72-17B9-4AD3-8405-C1DE853F2A44}"/>
              </a:ext>
            </a:extLst>
          </p:cNvPr>
          <p:cNvSpPr txBox="1"/>
          <p:nvPr/>
        </p:nvSpPr>
        <p:spPr>
          <a:xfrm>
            <a:off x="9796974" y="3507579"/>
            <a:ext cx="1827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Deployed Application Runtime</a:t>
            </a:r>
          </a:p>
        </p:txBody>
      </p:sp>
    </p:spTree>
    <p:extLst>
      <p:ext uri="{BB962C8B-B14F-4D97-AF65-F5344CB8AC3E}">
        <p14:creationId xmlns:p14="http://schemas.microsoft.com/office/powerpoint/2010/main" val="3768311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3671F-DF8F-41A2-B237-9D48ACD6AC19}"/>
              </a:ext>
            </a:extLst>
          </p:cNvPr>
          <p:cNvCxnSpPr>
            <a:cxnSpLocks/>
          </p:cNvCxnSpPr>
          <p:nvPr/>
        </p:nvCxnSpPr>
        <p:spPr>
          <a:xfrm flipH="1">
            <a:off x="3760587" y="4568123"/>
            <a:ext cx="1138075" cy="110036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0ECBDE-DBEF-4438-9975-810204FC7B5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661299" y="4568123"/>
            <a:ext cx="697713" cy="137195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1ABAA-A44F-44C1-96B2-A99C0D129C89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6080311" y="4568123"/>
            <a:ext cx="48885" cy="15881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8FA0E2-32C1-4141-A997-5CFA80B9F34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734957" y="4568123"/>
            <a:ext cx="966474" cy="140351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BCE6F-8BB8-4B7E-BA5B-439903996542}"/>
              </a:ext>
            </a:extLst>
          </p:cNvPr>
          <p:cNvCxnSpPr>
            <a:cxnSpLocks/>
          </p:cNvCxnSpPr>
          <p:nvPr/>
        </p:nvCxnSpPr>
        <p:spPr>
          <a:xfrm>
            <a:off x="7218194" y="4568123"/>
            <a:ext cx="1473849" cy="111822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546DF-0F1B-4BEB-BB59-D896F04FEEFA}"/>
              </a:ext>
            </a:extLst>
          </p:cNvPr>
          <p:cNvSpPr/>
          <p:nvPr/>
        </p:nvSpPr>
        <p:spPr>
          <a:xfrm>
            <a:off x="3443726" y="4784342"/>
            <a:ext cx="5304548" cy="644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B4C91-D4BA-4726-86FA-F5FE97A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979" y="263076"/>
            <a:ext cx="7239443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OpenVINO</a:t>
            </a:r>
            <a:r>
              <a:rPr lang="en-US" dirty="0"/>
              <a:t> Ecosystem?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0145-D5A6-4FB8-97F1-599AE33A680F}"/>
              </a:ext>
            </a:extLst>
          </p:cNvPr>
          <p:cNvSpPr txBox="1"/>
          <p:nvPr/>
        </p:nvSpPr>
        <p:spPr>
          <a:xfrm>
            <a:off x="4770369" y="4044903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8B61-D842-4A02-BB0E-4E51EBF18993}"/>
              </a:ext>
            </a:extLst>
          </p:cNvPr>
          <p:cNvSpPr txBox="1"/>
          <p:nvPr/>
        </p:nvSpPr>
        <p:spPr>
          <a:xfrm>
            <a:off x="2570094" y="5668486"/>
            <a:ext cx="133081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CPU Plugin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1B5EF-9276-45E0-9CA4-93546A218F97}"/>
              </a:ext>
            </a:extLst>
          </p:cNvPr>
          <p:cNvSpPr txBox="1"/>
          <p:nvPr/>
        </p:nvSpPr>
        <p:spPr>
          <a:xfrm>
            <a:off x="3988679" y="5940081"/>
            <a:ext cx="1345240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GPU Plugin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E6951-9E0D-4AB0-8D46-3F26C1E6A9F2}"/>
              </a:ext>
            </a:extLst>
          </p:cNvPr>
          <p:cNvSpPr txBox="1"/>
          <p:nvPr/>
        </p:nvSpPr>
        <p:spPr>
          <a:xfrm>
            <a:off x="6907784" y="5971634"/>
            <a:ext cx="1587294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it-IT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Myriad Plugin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B831-6361-4931-BF5E-E94364E5B187}"/>
              </a:ext>
            </a:extLst>
          </p:cNvPr>
          <p:cNvSpPr txBox="1"/>
          <p:nvPr/>
        </p:nvSpPr>
        <p:spPr>
          <a:xfrm>
            <a:off x="8589825" y="5668486"/>
            <a:ext cx="1516762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HDDL Plugin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2DD6-34A5-4403-9D16-9A1AA06C0C76}"/>
              </a:ext>
            </a:extLst>
          </p:cNvPr>
          <p:cNvSpPr txBox="1"/>
          <p:nvPr/>
        </p:nvSpPr>
        <p:spPr>
          <a:xfrm>
            <a:off x="5445355" y="6156300"/>
            <a:ext cx="1367682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GNA Plugin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14E42-0353-4CD6-B160-6887FE98862B}"/>
              </a:ext>
            </a:extLst>
          </p:cNvPr>
          <p:cNvSpPr txBox="1"/>
          <p:nvPr/>
        </p:nvSpPr>
        <p:spPr>
          <a:xfrm>
            <a:off x="3663545" y="4943643"/>
            <a:ext cx="158729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Hetero Plugin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4D6E5-7C65-4632-92E0-54B912422E67}"/>
              </a:ext>
            </a:extLst>
          </p:cNvPr>
          <p:cNvSpPr txBox="1"/>
          <p:nvPr/>
        </p:nvSpPr>
        <p:spPr>
          <a:xfrm>
            <a:off x="5473295" y="4943643"/>
            <a:ext cx="136768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Auto Plugin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F324-DB25-4C6D-AAF2-5B08443A34B1}"/>
              </a:ext>
            </a:extLst>
          </p:cNvPr>
          <p:cNvSpPr txBox="1"/>
          <p:nvPr/>
        </p:nvSpPr>
        <p:spPr>
          <a:xfrm>
            <a:off x="7063433" y="4943643"/>
            <a:ext cx="140615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Multi Plugin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BF321-9D49-4BE7-A487-CAA5697E9CC5}"/>
              </a:ext>
            </a:extLst>
          </p:cNvPr>
          <p:cNvSpPr txBox="1"/>
          <p:nvPr/>
        </p:nvSpPr>
        <p:spPr>
          <a:xfrm>
            <a:off x="3764188" y="2008945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79C60A-C5BB-4240-82B9-16DE4ADED783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4234188" y="2270555"/>
            <a:ext cx="471965" cy="28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2E6080-AEFC-414E-9B2C-F3857B9EC8E8}"/>
              </a:ext>
            </a:extLst>
          </p:cNvPr>
          <p:cNvSpPr txBox="1"/>
          <p:nvPr/>
        </p:nvSpPr>
        <p:spPr>
          <a:xfrm>
            <a:off x="1559674" y="1793790"/>
            <a:ext cx="1732549" cy="95410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 Optimizer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3641D5-746B-4A4E-91B3-B719BE560D12}"/>
              </a:ext>
            </a:extLst>
          </p:cNvPr>
          <p:cNvCxnSpPr>
            <a:cxnSpLocks/>
            <a:stCxn id="33" idx="3"/>
            <a:endCxn id="26" idx="1"/>
          </p:cNvCxnSpPr>
          <p:nvPr/>
        </p:nvCxnSpPr>
        <p:spPr>
          <a:xfrm flipV="1">
            <a:off x="3292223" y="2270555"/>
            <a:ext cx="471965" cy="28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6C214B-D7D9-4395-93F7-ED35301E27BE}"/>
              </a:ext>
            </a:extLst>
          </p:cNvPr>
          <p:cNvSpPr txBox="1"/>
          <p:nvPr/>
        </p:nvSpPr>
        <p:spPr>
          <a:xfrm>
            <a:off x="4706153" y="1793790"/>
            <a:ext cx="2748316" cy="954107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Post-Training</a:t>
            </a:r>
          </a:p>
          <a:p>
            <a:pPr algn="ctr"/>
            <a:r>
              <a:rPr lang="en-US" sz="2800" dirty="0"/>
              <a:t>Optimization Tool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EDC0CB-5EAC-4787-BA36-99CD3C026B34}"/>
              </a:ext>
            </a:extLst>
          </p:cNvPr>
          <p:cNvSpPr txBox="1"/>
          <p:nvPr/>
        </p:nvSpPr>
        <p:spPr>
          <a:xfrm>
            <a:off x="5410159" y="3158126"/>
            <a:ext cx="1340303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 (int8)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F78753-4C7F-47C8-95A2-A90CFF46777D}"/>
              </a:ext>
            </a:extLst>
          </p:cNvPr>
          <p:cNvCxnSpPr>
            <a:cxnSpLocks/>
            <a:stCxn id="25" idx="2"/>
            <a:endCxn id="32" idx="0"/>
          </p:cNvCxnSpPr>
          <p:nvPr/>
        </p:nvCxnSpPr>
        <p:spPr>
          <a:xfrm>
            <a:off x="6080311" y="2747897"/>
            <a:ext cx="0" cy="41022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A97C91-0EFA-4B67-976F-27C4E8557321}"/>
              </a:ext>
            </a:extLst>
          </p:cNvPr>
          <p:cNvCxnSpPr>
            <a:cxnSpLocks/>
            <a:stCxn id="32" idx="2"/>
            <a:endCxn id="6" idx="0"/>
          </p:cNvCxnSpPr>
          <p:nvPr/>
        </p:nvCxnSpPr>
        <p:spPr>
          <a:xfrm>
            <a:off x="6080311" y="3681346"/>
            <a:ext cx="0" cy="36355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003194D-E95A-46FB-A28E-7FB425DB5C4E}"/>
              </a:ext>
            </a:extLst>
          </p:cNvPr>
          <p:cNvSpPr txBox="1"/>
          <p:nvPr/>
        </p:nvSpPr>
        <p:spPr>
          <a:xfrm>
            <a:off x="454119" y="1306951"/>
            <a:ext cx="1249060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TensorFlow Model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833E6D-E9C8-405A-82F5-6FB6877F7068}"/>
              </a:ext>
            </a:extLst>
          </p:cNvPr>
          <p:cNvSpPr txBox="1"/>
          <p:nvPr/>
        </p:nvSpPr>
        <p:spPr>
          <a:xfrm>
            <a:off x="74033" y="2116339"/>
            <a:ext cx="886781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Caffe Model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477A81-10D3-43AE-AC5F-AB3462DE125B}"/>
              </a:ext>
            </a:extLst>
          </p:cNvPr>
          <p:cNvSpPr txBox="1"/>
          <p:nvPr/>
        </p:nvSpPr>
        <p:spPr>
          <a:xfrm>
            <a:off x="474193" y="2948754"/>
            <a:ext cx="989373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 err="1"/>
              <a:t>MXNet</a:t>
            </a:r>
            <a:r>
              <a:rPr lang="en-US" sz="1100" dirty="0"/>
              <a:t> Model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DAEF24-E916-4B39-84A0-0D1E605D2977}"/>
              </a:ext>
            </a:extLst>
          </p:cNvPr>
          <p:cNvSpPr txBox="1"/>
          <p:nvPr/>
        </p:nvSpPr>
        <p:spPr>
          <a:xfrm>
            <a:off x="263047" y="2517445"/>
            <a:ext cx="9364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ONNX Model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FC3953-11FC-4725-A660-C4CA37C31666}"/>
              </a:ext>
            </a:extLst>
          </p:cNvPr>
          <p:cNvSpPr txBox="1"/>
          <p:nvPr/>
        </p:nvSpPr>
        <p:spPr>
          <a:xfrm>
            <a:off x="212706" y="1723314"/>
            <a:ext cx="865943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Kaldi Model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9D4E026-7369-4C83-9848-95B2E7116C6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703179" y="1437756"/>
            <a:ext cx="198380" cy="35603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7B07589-0727-4EAF-B38D-61C8C4C83AE6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1199522" y="2578198"/>
            <a:ext cx="360152" cy="7005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6DEC49-AA77-4ADE-A651-E57C1888F77B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1078649" y="1854119"/>
            <a:ext cx="481025" cy="130805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287C33D-9520-4AEF-B7E8-052EA7CC202A}"/>
              </a:ext>
            </a:extLst>
          </p:cNvPr>
          <p:cNvCxnSpPr>
            <a:cxnSpLocks/>
            <a:stCxn id="60" idx="3"/>
            <a:endCxn id="33" idx="1"/>
          </p:cNvCxnSpPr>
          <p:nvPr/>
        </p:nvCxnSpPr>
        <p:spPr>
          <a:xfrm>
            <a:off x="960814" y="2247144"/>
            <a:ext cx="598860" cy="2370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AF05DE0-C4A3-4778-B541-A4699110794B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1463566" y="2747897"/>
            <a:ext cx="437993" cy="33166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F73BBCF-5E0F-44E5-9E16-0874DBF38165}"/>
              </a:ext>
            </a:extLst>
          </p:cNvPr>
          <p:cNvCxnSpPr>
            <a:cxnSpLocks/>
          </p:cNvCxnSpPr>
          <p:nvPr/>
        </p:nvCxnSpPr>
        <p:spPr>
          <a:xfrm>
            <a:off x="7454469" y="2008945"/>
            <a:ext cx="867729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6CEFD58-45DB-4323-A108-C3902C3F14CA}"/>
              </a:ext>
            </a:extLst>
          </p:cNvPr>
          <p:cNvCxnSpPr>
            <a:cxnSpLocks/>
          </p:cNvCxnSpPr>
          <p:nvPr/>
        </p:nvCxnSpPr>
        <p:spPr>
          <a:xfrm flipH="1">
            <a:off x="7454469" y="2463023"/>
            <a:ext cx="867729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9001119-B2D2-4392-985F-D9FACF0D3C28}"/>
              </a:ext>
            </a:extLst>
          </p:cNvPr>
          <p:cNvSpPr txBox="1"/>
          <p:nvPr/>
        </p:nvSpPr>
        <p:spPr>
          <a:xfrm>
            <a:off x="279290" y="4641559"/>
            <a:ext cx="1642510" cy="858023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Neural Network Compression Framework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CBBCE62-C095-46C4-A05B-2F666E3642FC}"/>
              </a:ext>
            </a:extLst>
          </p:cNvPr>
          <p:cNvSpPr txBox="1"/>
          <p:nvPr/>
        </p:nvSpPr>
        <p:spPr>
          <a:xfrm>
            <a:off x="558343" y="3809144"/>
            <a:ext cx="164251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Training Extensions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1C6754-2EE4-4721-9051-01BA698D9D40}"/>
              </a:ext>
            </a:extLst>
          </p:cNvPr>
          <p:cNvSpPr txBox="1"/>
          <p:nvPr/>
        </p:nvSpPr>
        <p:spPr>
          <a:xfrm>
            <a:off x="1794353" y="3258437"/>
            <a:ext cx="1642510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Open Model Zoo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4DE249-B005-4888-B923-A6E8D40CBB0E}"/>
              </a:ext>
            </a:extLst>
          </p:cNvPr>
          <p:cNvSpPr txBox="1"/>
          <p:nvPr/>
        </p:nvSpPr>
        <p:spPr>
          <a:xfrm>
            <a:off x="7955118" y="3179706"/>
            <a:ext cx="1642510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Model Server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595F62-1E19-497B-9034-62337FCB8171}"/>
              </a:ext>
            </a:extLst>
          </p:cNvPr>
          <p:cNvSpPr txBox="1"/>
          <p:nvPr/>
        </p:nvSpPr>
        <p:spPr>
          <a:xfrm>
            <a:off x="9845791" y="3540486"/>
            <a:ext cx="2180178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 CVAT - Computer Vision Annotation Tool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F92B33-71E7-4EB9-831E-893EA5AA302F}"/>
              </a:ext>
            </a:extLst>
          </p:cNvPr>
          <p:cNvSpPr txBox="1"/>
          <p:nvPr/>
        </p:nvSpPr>
        <p:spPr>
          <a:xfrm>
            <a:off x="10106587" y="4633458"/>
            <a:ext cx="1842930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Datumaro</a:t>
            </a:r>
            <a:r>
              <a:rPr lang="en-US" sz="1600" dirty="0"/>
              <a:t> - Dataset Management Framework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111B19-07BC-4FEE-AB03-7D6B903A46AF}"/>
              </a:ext>
            </a:extLst>
          </p:cNvPr>
          <p:cNvSpPr txBox="1"/>
          <p:nvPr/>
        </p:nvSpPr>
        <p:spPr>
          <a:xfrm>
            <a:off x="10168688" y="1698402"/>
            <a:ext cx="1642510" cy="120032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Deep Learning Workbench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42B499-A0E2-4A47-BFD7-C08138ADC018}"/>
              </a:ext>
            </a:extLst>
          </p:cNvPr>
          <p:cNvSpPr txBox="1"/>
          <p:nvPr/>
        </p:nvSpPr>
        <p:spPr>
          <a:xfrm>
            <a:off x="457490" y="5872099"/>
            <a:ext cx="1642510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Compile Tool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37E89B-5ED6-40F9-A799-A7875E86F3F7}"/>
              </a:ext>
            </a:extLst>
          </p:cNvPr>
          <p:cNvSpPr txBox="1"/>
          <p:nvPr/>
        </p:nvSpPr>
        <p:spPr>
          <a:xfrm>
            <a:off x="2525471" y="3887951"/>
            <a:ext cx="1138074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Demos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C34130-64D2-4071-8B28-2EDE7208E172}"/>
              </a:ext>
            </a:extLst>
          </p:cNvPr>
          <p:cNvSpPr txBox="1"/>
          <p:nvPr/>
        </p:nvSpPr>
        <p:spPr>
          <a:xfrm>
            <a:off x="8322198" y="1874150"/>
            <a:ext cx="1377387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Accuracy Checker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6CB73F-C1C7-4074-840E-26195E21F1E6}"/>
              </a:ext>
            </a:extLst>
          </p:cNvPr>
          <p:cNvSpPr txBox="1"/>
          <p:nvPr/>
        </p:nvSpPr>
        <p:spPr>
          <a:xfrm>
            <a:off x="8400035" y="3820275"/>
            <a:ext cx="1138074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Samples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9DDAFB-3C3B-455E-A9BF-594B35DC2DC1}"/>
              </a:ext>
            </a:extLst>
          </p:cNvPr>
          <p:cNvSpPr txBox="1"/>
          <p:nvPr/>
        </p:nvSpPr>
        <p:spPr>
          <a:xfrm>
            <a:off x="10438675" y="5905136"/>
            <a:ext cx="1587294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DL Streamer</a:t>
            </a:r>
          </a:p>
        </p:txBody>
      </p:sp>
    </p:spTree>
    <p:extLst>
      <p:ext uri="{BB962C8B-B14F-4D97-AF65-F5344CB8AC3E}">
        <p14:creationId xmlns:p14="http://schemas.microsoft.com/office/powerpoint/2010/main" val="3729343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0" grpId="0" animBg="1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@openvinotoolkit">
            <a:extLst>
              <a:ext uri="{FF2B5EF4-FFF2-40B4-BE49-F238E27FC236}">
                <a16:creationId xmlns:a16="http://schemas.microsoft.com/office/drawing/2014/main" id="{F2FECE97-A530-4C88-AC98-754A29B53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841" y="732937"/>
            <a:ext cx="3836317" cy="366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83B4-0D70-4305-A9AC-1702D8C1E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11" y="3429001"/>
            <a:ext cx="11273742" cy="189535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60000"/>
              </a:lnSpc>
              <a:spcBef>
                <a:spcPts val="1200"/>
              </a:spcBef>
              <a:buNone/>
            </a:pPr>
            <a:r>
              <a:rPr lang="en-US" dirty="0">
                <a:hlinkClick r:id="rId3"/>
              </a:rPr>
              <a:t>https://docs.openvinotoolkit.org</a:t>
            </a:r>
            <a:endParaRPr lang="en-US" dirty="0"/>
          </a:p>
          <a:p>
            <a:pPr marL="0" indent="0" algn="ctr">
              <a:lnSpc>
                <a:spcPct val="160000"/>
              </a:lnSpc>
              <a:spcBef>
                <a:spcPts val="1200"/>
              </a:spcBef>
              <a:buNone/>
            </a:pPr>
            <a:r>
              <a:rPr lang="en-US" dirty="0">
                <a:hlinkClick r:id="rId4"/>
              </a:rPr>
              <a:t>https://github.com/openvinotoolkit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365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782E-7B20-4C20-90E9-7FCA42E6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001" y="387674"/>
            <a:ext cx="4740797" cy="1325563"/>
          </a:xfrm>
        </p:spPr>
        <p:txBody>
          <a:bodyPr/>
          <a:lstStyle/>
          <a:p>
            <a:r>
              <a:rPr lang="en-US" dirty="0"/>
              <a:t>ONNX in </a:t>
            </a:r>
            <a:r>
              <a:rPr lang="en-US" dirty="0" err="1"/>
              <a:t>OpenVINO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8579-6960-4F5F-BFA0-02F3BD5D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001" y="1724768"/>
            <a:ext cx="4925992" cy="581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not like other model formats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552FA-967F-4EAE-A84F-18446F784DFB}"/>
              </a:ext>
            </a:extLst>
          </p:cNvPr>
          <p:cNvSpPr txBox="1"/>
          <p:nvPr/>
        </p:nvSpPr>
        <p:spPr>
          <a:xfrm>
            <a:off x="4786057" y="4894127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8833A-0E2F-4E48-ABCB-F063FE68B3F4}"/>
              </a:ext>
            </a:extLst>
          </p:cNvPr>
          <p:cNvSpPr txBox="1"/>
          <p:nvPr/>
        </p:nvSpPr>
        <p:spPr>
          <a:xfrm>
            <a:off x="5860998" y="3779527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6A5A0E-732D-4F14-9210-94FCA7D06D97}"/>
              </a:ext>
            </a:extLst>
          </p:cNvPr>
          <p:cNvCxnSpPr>
            <a:cxnSpLocks/>
            <a:stCxn id="19" idx="2"/>
            <a:endCxn id="10" idx="0"/>
          </p:cNvCxnSpPr>
          <p:nvPr/>
        </p:nvCxnSpPr>
        <p:spPr>
          <a:xfrm>
            <a:off x="6095998" y="4302747"/>
            <a:ext cx="1" cy="59138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08C721-6E59-49DE-89E1-CEDA95BF5240}"/>
              </a:ext>
            </a:extLst>
          </p:cNvPr>
          <p:cNvSpPr txBox="1"/>
          <p:nvPr/>
        </p:nvSpPr>
        <p:spPr>
          <a:xfrm>
            <a:off x="4774193" y="2897469"/>
            <a:ext cx="2643609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Model Optimizer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E0A298-8E44-4E31-B4C8-7C31A5280C18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>
            <a:off x="6095998" y="3420689"/>
            <a:ext cx="0" cy="35883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E4980B-BD05-4CCD-8B2A-92D93D641575}"/>
              </a:ext>
            </a:extLst>
          </p:cNvPr>
          <p:cNvSpPr txBox="1"/>
          <p:nvPr/>
        </p:nvSpPr>
        <p:spPr>
          <a:xfrm>
            <a:off x="8670787" y="3465230"/>
            <a:ext cx="1337417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TensorFlow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B6B31-72C3-41AE-9E99-75AD0246584D}"/>
              </a:ext>
            </a:extLst>
          </p:cNvPr>
          <p:cNvSpPr txBox="1"/>
          <p:nvPr/>
        </p:nvSpPr>
        <p:spPr>
          <a:xfrm>
            <a:off x="8897031" y="2790627"/>
            <a:ext cx="944682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Caffe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22EED1-757F-4AD1-AF89-A15D9221D1DE}"/>
              </a:ext>
            </a:extLst>
          </p:cNvPr>
          <p:cNvSpPr txBox="1"/>
          <p:nvPr/>
        </p:nvSpPr>
        <p:spPr>
          <a:xfrm>
            <a:off x="8952033" y="3142617"/>
            <a:ext cx="1063881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MXNet</a:t>
            </a:r>
            <a:r>
              <a:rPr lang="en-US" sz="1200" dirty="0"/>
              <a:t> 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1CA377-AC56-4D7B-975D-94D2C72D382A}"/>
              </a:ext>
            </a:extLst>
          </p:cNvPr>
          <p:cNvSpPr txBox="1"/>
          <p:nvPr/>
        </p:nvSpPr>
        <p:spPr>
          <a:xfrm>
            <a:off x="2127648" y="2881007"/>
            <a:ext cx="2100255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ONNX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0B0467-A8BA-456F-864B-D6AAE6874031}"/>
              </a:ext>
            </a:extLst>
          </p:cNvPr>
          <p:cNvSpPr txBox="1"/>
          <p:nvPr/>
        </p:nvSpPr>
        <p:spPr>
          <a:xfrm>
            <a:off x="8670787" y="2429350"/>
            <a:ext cx="927498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Kaldi Model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A19FB8-6D16-4C5C-A819-C770A1A850C3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7446280" y="3392770"/>
            <a:ext cx="1224507" cy="21096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D60094-7142-4430-B657-63E035CBCF61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4227903" y="3142617"/>
            <a:ext cx="546290" cy="1646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1B6794-2931-4094-BB62-75E30436CBBD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7417802" y="2567850"/>
            <a:ext cx="1252985" cy="3612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D9ECE42-B620-4774-AC37-563C712290CA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7417802" y="2929127"/>
            <a:ext cx="1479229" cy="858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8CA312-5036-481C-BA35-3864B683BF6B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7446280" y="3281117"/>
            <a:ext cx="1505753" cy="83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08B994-0F6E-449B-BC4C-EC5BF8BE87E0}"/>
              </a:ext>
            </a:extLst>
          </p:cNvPr>
          <p:cNvCxnSpPr>
            <a:cxnSpLocks/>
          </p:cNvCxnSpPr>
          <p:nvPr/>
        </p:nvCxnSpPr>
        <p:spPr>
          <a:xfrm>
            <a:off x="519105" y="4070975"/>
            <a:ext cx="5224470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F5298-DC99-4BCF-AA8F-1F271A4828B1}"/>
              </a:ext>
            </a:extLst>
          </p:cNvPr>
          <p:cNvCxnSpPr>
            <a:cxnSpLocks/>
          </p:cNvCxnSpPr>
          <p:nvPr/>
        </p:nvCxnSpPr>
        <p:spPr>
          <a:xfrm>
            <a:off x="6429375" y="4041137"/>
            <a:ext cx="5127843" cy="29838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355219A-0A98-4955-93D9-91E1A720E58A}"/>
              </a:ext>
            </a:extLst>
          </p:cNvPr>
          <p:cNvSpPr txBox="1"/>
          <p:nvPr/>
        </p:nvSpPr>
        <p:spPr>
          <a:xfrm>
            <a:off x="433181" y="2804062"/>
            <a:ext cx="1742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Offline Model Preparation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3344F0-6D9B-4BD5-9C0F-42478CA240FB}"/>
              </a:ext>
            </a:extLst>
          </p:cNvPr>
          <p:cNvSpPr txBox="1"/>
          <p:nvPr/>
        </p:nvSpPr>
        <p:spPr>
          <a:xfrm>
            <a:off x="433181" y="4217018"/>
            <a:ext cx="1827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Deployed Application Runtime</a:t>
            </a:r>
          </a:p>
        </p:txBody>
      </p:sp>
    </p:spTree>
    <p:extLst>
      <p:ext uri="{BB962C8B-B14F-4D97-AF65-F5344CB8AC3E}">
        <p14:creationId xmlns:p14="http://schemas.microsoft.com/office/powerpoint/2010/main" val="228303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9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5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782E-7B20-4C20-90E9-7FCA42E6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001" y="387674"/>
            <a:ext cx="4740797" cy="1325563"/>
          </a:xfrm>
        </p:spPr>
        <p:txBody>
          <a:bodyPr/>
          <a:lstStyle/>
          <a:p>
            <a:r>
              <a:rPr lang="en-US" dirty="0"/>
              <a:t>ONNX in </a:t>
            </a:r>
            <a:r>
              <a:rPr lang="en-US" dirty="0" err="1"/>
              <a:t>OpenVINO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8579-6960-4F5F-BFA0-02F3BD5D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001" y="1724768"/>
            <a:ext cx="4925992" cy="581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not like other model formats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552FA-967F-4EAE-A84F-18446F784DFB}"/>
              </a:ext>
            </a:extLst>
          </p:cNvPr>
          <p:cNvSpPr txBox="1"/>
          <p:nvPr/>
        </p:nvSpPr>
        <p:spPr>
          <a:xfrm>
            <a:off x="4786057" y="4894127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8833A-0E2F-4E48-ABCB-F063FE68B3F4}"/>
              </a:ext>
            </a:extLst>
          </p:cNvPr>
          <p:cNvSpPr txBox="1"/>
          <p:nvPr/>
        </p:nvSpPr>
        <p:spPr>
          <a:xfrm>
            <a:off x="7432623" y="3641027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6A5A0E-732D-4F14-9210-94FCA7D06D97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6505575" y="4164247"/>
            <a:ext cx="1162048" cy="72988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08C721-6E59-49DE-89E1-CEDA95BF5240}"/>
              </a:ext>
            </a:extLst>
          </p:cNvPr>
          <p:cNvSpPr txBox="1"/>
          <p:nvPr/>
        </p:nvSpPr>
        <p:spPr>
          <a:xfrm>
            <a:off x="6345818" y="2758969"/>
            <a:ext cx="2643609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Model Optimizer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E0A298-8E44-4E31-B4C8-7C31A5280C18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>
            <a:off x="7667623" y="3282189"/>
            <a:ext cx="0" cy="35883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91CA377-AC56-4D7B-975D-94D2C72D382A}"/>
              </a:ext>
            </a:extLst>
          </p:cNvPr>
          <p:cNvSpPr txBox="1"/>
          <p:nvPr/>
        </p:nvSpPr>
        <p:spPr>
          <a:xfrm>
            <a:off x="2580684" y="2757896"/>
            <a:ext cx="2100255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ONNX Model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D60094-7142-4430-B657-63E035CBCF61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4680939" y="3019506"/>
            <a:ext cx="1664879" cy="107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497D897-8304-4AC5-9587-3D4630C1577C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3630812" y="3281116"/>
            <a:ext cx="1976002" cy="1623993"/>
          </a:xfrm>
          <a:prstGeom prst="straightConnector1">
            <a:avLst/>
          </a:prstGeom>
          <a:ln w="349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518AD3D-0076-49CA-B9DF-C01BA9B2244F}"/>
              </a:ext>
            </a:extLst>
          </p:cNvPr>
          <p:cNvSpPr txBox="1"/>
          <p:nvPr/>
        </p:nvSpPr>
        <p:spPr>
          <a:xfrm>
            <a:off x="1325204" y="5788240"/>
            <a:ext cx="9541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ONNX can be </a:t>
            </a:r>
            <a:r>
              <a:rPr lang="en-US" sz="2400" b="1" dirty="0">
                <a:solidFill>
                  <a:srgbClr val="C00000"/>
                </a:solidFill>
                <a:hlinkClick r:id="rId2"/>
              </a:rPr>
              <a:t>loaded directly to Inference Engine </a:t>
            </a:r>
            <a:r>
              <a:rPr lang="en-US" sz="2400" b="1" dirty="0">
                <a:solidFill>
                  <a:srgbClr val="C00000"/>
                </a:solidFill>
              </a:rPr>
              <a:t>w/o conversion to OV IR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4E8F34-807D-4E69-B69D-BC605521C2AA}"/>
              </a:ext>
            </a:extLst>
          </p:cNvPr>
          <p:cNvSpPr txBox="1"/>
          <p:nvPr/>
        </p:nvSpPr>
        <p:spPr>
          <a:xfrm>
            <a:off x="10223569" y="3349569"/>
            <a:ext cx="1337417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TensorFlow Model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92902D-E5A9-4CAD-981F-99D3AC147049}"/>
              </a:ext>
            </a:extLst>
          </p:cNvPr>
          <p:cNvSpPr txBox="1"/>
          <p:nvPr/>
        </p:nvSpPr>
        <p:spPr>
          <a:xfrm>
            <a:off x="10449813" y="2674966"/>
            <a:ext cx="944682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Caffe Model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229535C-B242-44AC-9044-AB5CAAC829D6}"/>
              </a:ext>
            </a:extLst>
          </p:cNvPr>
          <p:cNvSpPr txBox="1"/>
          <p:nvPr/>
        </p:nvSpPr>
        <p:spPr>
          <a:xfrm>
            <a:off x="10504815" y="3026956"/>
            <a:ext cx="1063881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MXNet</a:t>
            </a:r>
            <a:r>
              <a:rPr lang="en-US" sz="1200" dirty="0"/>
              <a:t> Model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489104-D512-44E9-B34B-71D0E51FCA34}"/>
              </a:ext>
            </a:extLst>
          </p:cNvPr>
          <p:cNvSpPr txBox="1"/>
          <p:nvPr/>
        </p:nvSpPr>
        <p:spPr>
          <a:xfrm>
            <a:off x="10223569" y="2313689"/>
            <a:ext cx="927498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Kaldi Model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D4D22A-5734-4E3B-B9D3-BDCCE69F078D}"/>
              </a:ext>
            </a:extLst>
          </p:cNvPr>
          <p:cNvCxnSpPr>
            <a:cxnSpLocks/>
            <a:stCxn id="103" idx="1"/>
          </p:cNvCxnSpPr>
          <p:nvPr/>
        </p:nvCxnSpPr>
        <p:spPr>
          <a:xfrm flipH="1" flipV="1">
            <a:off x="8999062" y="3277109"/>
            <a:ext cx="1224507" cy="21096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F5B00D5-A8D6-4FEC-B8A4-8635B84CA966}"/>
              </a:ext>
            </a:extLst>
          </p:cNvPr>
          <p:cNvCxnSpPr>
            <a:cxnSpLocks/>
            <a:stCxn id="106" idx="1"/>
          </p:cNvCxnSpPr>
          <p:nvPr/>
        </p:nvCxnSpPr>
        <p:spPr>
          <a:xfrm flipH="1">
            <a:off x="8970584" y="2452189"/>
            <a:ext cx="1252985" cy="3612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C8FEDB3-F730-4B32-ACF9-83673F63F1E3}"/>
              </a:ext>
            </a:extLst>
          </p:cNvPr>
          <p:cNvCxnSpPr>
            <a:cxnSpLocks/>
            <a:stCxn id="104" idx="1"/>
          </p:cNvCxnSpPr>
          <p:nvPr/>
        </p:nvCxnSpPr>
        <p:spPr>
          <a:xfrm flipH="1">
            <a:off x="8970584" y="2813466"/>
            <a:ext cx="1479229" cy="858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1C66F87-EC5D-4513-8099-42891B055FDC}"/>
              </a:ext>
            </a:extLst>
          </p:cNvPr>
          <p:cNvCxnSpPr>
            <a:cxnSpLocks/>
            <a:stCxn id="105" idx="1"/>
          </p:cNvCxnSpPr>
          <p:nvPr/>
        </p:nvCxnSpPr>
        <p:spPr>
          <a:xfrm flipH="1">
            <a:off x="8999062" y="3165456"/>
            <a:ext cx="1505753" cy="83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E03D259-3354-49DA-8185-549C373EE85F}"/>
              </a:ext>
            </a:extLst>
          </p:cNvPr>
          <p:cNvCxnSpPr>
            <a:cxnSpLocks/>
          </p:cNvCxnSpPr>
          <p:nvPr/>
        </p:nvCxnSpPr>
        <p:spPr>
          <a:xfrm flipV="1">
            <a:off x="522873" y="3865849"/>
            <a:ext cx="6801852" cy="906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72E4F8B-2D12-498E-A23B-A059F21452BB}"/>
              </a:ext>
            </a:extLst>
          </p:cNvPr>
          <p:cNvCxnSpPr>
            <a:cxnSpLocks/>
          </p:cNvCxnSpPr>
          <p:nvPr/>
        </p:nvCxnSpPr>
        <p:spPr>
          <a:xfrm>
            <a:off x="8029575" y="3865849"/>
            <a:ext cx="3531411" cy="906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1D2B255-12F0-4464-A2E2-50964EA2C414}"/>
              </a:ext>
            </a:extLst>
          </p:cNvPr>
          <p:cNvSpPr txBox="1"/>
          <p:nvPr/>
        </p:nvSpPr>
        <p:spPr>
          <a:xfrm>
            <a:off x="436949" y="4020952"/>
            <a:ext cx="1827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Deployed Application Runtime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9ED4AA-E54B-4BAF-A8BC-9AA0F63878CD}"/>
              </a:ext>
            </a:extLst>
          </p:cNvPr>
          <p:cNvSpPr txBox="1"/>
          <p:nvPr/>
        </p:nvSpPr>
        <p:spPr>
          <a:xfrm>
            <a:off x="431259" y="2623487"/>
            <a:ext cx="1742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Offline Model Preparation</a:t>
            </a:r>
          </a:p>
        </p:txBody>
      </p:sp>
    </p:spTree>
    <p:extLst>
      <p:ext uri="{BB962C8B-B14F-4D97-AF65-F5344CB8AC3E}">
        <p14:creationId xmlns:p14="http://schemas.microsoft.com/office/powerpoint/2010/main" val="3043957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A500-7E91-4E33-8F9D-4DC79EB2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3660" y="436077"/>
            <a:ext cx="6964680" cy="1325563"/>
          </a:xfrm>
        </p:spPr>
        <p:txBody>
          <a:bodyPr/>
          <a:lstStyle/>
          <a:p>
            <a:r>
              <a:rPr lang="en-US" dirty="0"/>
              <a:t>Direct Import of ONNX Model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58EDFF-1778-477D-AB36-DFA9A4EC151C}"/>
              </a:ext>
            </a:extLst>
          </p:cNvPr>
          <p:cNvSpPr/>
          <p:nvPr/>
        </p:nvSpPr>
        <p:spPr>
          <a:xfrm>
            <a:off x="352064" y="2516754"/>
            <a:ext cx="5578070" cy="2877049"/>
          </a:xfrm>
          <a:prstGeom prst="roundRect">
            <a:avLst>
              <a:gd name="adj" fmla="val 776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#include &lt;inference_engine.hpp&gt;</a:t>
            </a:r>
          </a:p>
          <a:p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InferenceEngine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::Core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auto network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ReadNetwork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model.onnx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optionally customize model here by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reshaping etc. then load to inference device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auto exe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LoadNetwork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(network, “CPU”);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ready for inference . . 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E2A96-95B4-43A5-87CE-EDB734207A68}"/>
              </a:ext>
            </a:extLst>
          </p:cNvPr>
          <p:cNvSpPr txBox="1"/>
          <p:nvPr/>
        </p:nvSpPr>
        <p:spPr>
          <a:xfrm>
            <a:off x="5555403" y="2332088"/>
            <a:ext cx="5405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С++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3C135F-5396-4E01-8F0A-A32B2EC031C2}"/>
              </a:ext>
            </a:extLst>
          </p:cNvPr>
          <p:cNvSpPr/>
          <p:nvPr/>
        </p:nvSpPr>
        <p:spPr>
          <a:xfrm>
            <a:off x="6348549" y="2516754"/>
            <a:ext cx="5491387" cy="2877049"/>
          </a:xfrm>
          <a:prstGeom prst="roundRect">
            <a:avLst>
              <a:gd name="adj" fmla="val 776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openvino.inference_engine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IECore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IECore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network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read_network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model.onnx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optionally customize model here by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reshaping etc., then load to inference device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exe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load_network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(network, “CPU”);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ready for inference . . 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EAD0F-18B0-46FF-A635-1DE02630D8B5}"/>
              </a:ext>
            </a:extLst>
          </p:cNvPr>
          <p:cNvSpPr txBox="1"/>
          <p:nvPr/>
        </p:nvSpPr>
        <p:spPr>
          <a:xfrm>
            <a:off x="11133473" y="2332088"/>
            <a:ext cx="84801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993650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A500-7E91-4E33-8F9D-4DC79EB2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3660" y="436077"/>
            <a:ext cx="6964680" cy="1325563"/>
          </a:xfrm>
        </p:spPr>
        <p:txBody>
          <a:bodyPr/>
          <a:lstStyle/>
          <a:p>
            <a:r>
              <a:rPr lang="en-US" dirty="0"/>
              <a:t>Identical to </a:t>
            </a:r>
            <a:r>
              <a:rPr lang="en-US" dirty="0" err="1"/>
              <a:t>OpenVINO</a:t>
            </a:r>
            <a:r>
              <a:rPr lang="en-US" dirty="0"/>
              <a:t> own IR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58EDFF-1778-477D-AB36-DFA9A4EC151C}"/>
              </a:ext>
            </a:extLst>
          </p:cNvPr>
          <p:cNvSpPr/>
          <p:nvPr/>
        </p:nvSpPr>
        <p:spPr>
          <a:xfrm>
            <a:off x="352064" y="2516754"/>
            <a:ext cx="5578070" cy="2877049"/>
          </a:xfrm>
          <a:prstGeom prst="roundRect">
            <a:avLst>
              <a:gd name="adj" fmla="val 776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#include &lt;inference_engine.hpp&gt;</a:t>
            </a:r>
          </a:p>
          <a:p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InferenceEngine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::Core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auto network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ReadNetwork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model.xml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optionally customize model here by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reshaping etc. then load to inference device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auto exe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LoadNetwork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(network, “CPU”);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ready for inference . . 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E2A96-95B4-43A5-87CE-EDB734207A68}"/>
              </a:ext>
            </a:extLst>
          </p:cNvPr>
          <p:cNvSpPr txBox="1"/>
          <p:nvPr/>
        </p:nvSpPr>
        <p:spPr>
          <a:xfrm>
            <a:off x="5555403" y="2332088"/>
            <a:ext cx="5405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С++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3C135F-5396-4E01-8F0A-A32B2EC031C2}"/>
              </a:ext>
            </a:extLst>
          </p:cNvPr>
          <p:cNvSpPr/>
          <p:nvPr/>
        </p:nvSpPr>
        <p:spPr>
          <a:xfrm>
            <a:off x="6348549" y="2516754"/>
            <a:ext cx="5491387" cy="2877049"/>
          </a:xfrm>
          <a:prstGeom prst="roundRect">
            <a:avLst>
              <a:gd name="adj" fmla="val 776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openvino.inference_engine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IECore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IECore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network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read_network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model.xml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optionally customize model here by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reshaping etc., then load to inference device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exe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load_network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(network, “CPU”);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ready for inference . . 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EAD0F-18B0-46FF-A635-1DE02630D8B5}"/>
              </a:ext>
            </a:extLst>
          </p:cNvPr>
          <p:cNvSpPr txBox="1"/>
          <p:nvPr/>
        </p:nvSpPr>
        <p:spPr>
          <a:xfrm>
            <a:off x="11133473" y="2332088"/>
            <a:ext cx="84801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798273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782E-7B20-4C20-90E9-7FCA42E6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001" y="387674"/>
            <a:ext cx="4740797" cy="1325563"/>
          </a:xfrm>
        </p:spPr>
        <p:txBody>
          <a:bodyPr/>
          <a:lstStyle/>
          <a:p>
            <a:r>
              <a:rPr lang="en-US" dirty="0"/>
              <a:t>ONNX in </a:t>
            </a:r>
            <a:r>
              <a:rPr lang="en-US" dirty="0" err="1"/>
              <a:t>OpenVINO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8579-6960-4F5F-BFA0-02F3BD5D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001" y="1724768"/>
            <a:ext cx="4925992" cy="581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not like other model formats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552FA-967F-4EAE-A84F-18446F784DFB}"/>
              </a:ext>
            </a:extLst>
          </p:cNvPr>
          <p:cNvSpPr txBox="1"/>
          <p:nvPr/>
        </p:nvSpPr>
        <p:spPr>
          <a:xfrm>
            <a:off x="4786057" y="4894127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8833A-0E2F-4E48-ABCB-F063FE68B3F4}"/>
              </a:ext>
            </a:extLst>
          </p:cNvPr>
          <p:cNvSpPr txBox="1"/>
          <p:nvPr/>
        </p:nvSpPr>
        <p:spPr>
          <a:xfrm>
            <a:off x="7432623" y="3641027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6A5A0E-732D-4F14-9210-94FCA7D06D97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6505575" y="4164247"/>
            <a:ext cx="1162048" cy="72988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08C721-6E59-49DE-89E1-CEDA95BF5240}"/>
              </a:ext>
            </a:extLst>
          </p:cNvPr>
          <p:cNvSpPr txBox="1"/>
          <p:nvPr/>
        </p:nvSpPr>
        <p:spPr>
          <a:xfrm>
            <a:off x="6345818" y="2758969"/>
            <a:ext cx="2643609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Model Optimizer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E0A298-8E44-4E31-B4C8-7C31A5280C18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>
            <a:off x="7667623" y="3282189"/>
            <a:ext cx="0" cy="35883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91CA377-AC56-4D7B-975D-94D2C72D382A}"/>
              </a:ext>
            </a:extLst>
          </p:cNvPr>
          <p:cNvSpPr txBox="1"/>
          <p:nvPr/>
        </p:nvSpPr>
        <p:spPr>
          <a:xfrm>
            <a:off x="2580684" y="2757896"/>
            <a:ext cx="2100255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ONNX Model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D60094-7142-4430-B657-63E035CBCF61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4680939" y="3019506"/>
            <a:ext cx="1664879" cy="1073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497D897-8304-4AC5-9587-3D4630C1577C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3630812" y="3281116"/>
            <a:ext cx="1976002" cy="1623993"/>
          </a:xfrm>
          <a:prstGeom prst="straightConnector1">
            <a:avLst/>
          </a:prstGeom>
          <a:ln w="349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518AD3D-0076-49CA-B9DF-C01BA9B2244F}"/>
              </a:ext>
            </a:extLst>
          </p:cNvPr>
          <p:cNvSpPr txBox="1"/>
          <p:nvPr/>
        </p:nvSpPr>
        <p:spPr>
          <a:xfrm>
            <a:off x="2897140" y="5970709"/>
            <a:ext cx="6397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Choose between left or right at any point in time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4E8F34-807D-4E69-B69D-BC605521C2AA}"/>
              </a:ext>
            </a:extLst>
          </p:cNvPr>
          <p:cNvSpPr txBox="1"/>
          <p:nvPr/>
        </p:nvSpPr>
        <p:spPr>
          <a:xfrm>
            <a:off x="10223569" y="3349569"/>
            <a:ext cx="1337417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TensorFlow Model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92902D-E5A9-4CAD-981F-99D3AC147049}"/>
              </a:ext>
            </a:extLst>
          </p:cNvPr>
          <p:cNvSpPr txBox="1"/>
          <p:nvPr/>
        </p:nvSpPr>
        <p:spPr>
          <a:xfrm>
            <a:off x="10449813" y="2674966"/>
            <a:ext cx="944682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Caffe Model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229535C-B242-44AC-9044-AB5CAAC829D6}"/>
              </a:ext>
            </a:extLst>
          </p:cNvPr>
          <p:cNvSpPr txBox="1"/>
          <p:nvPr/>
        </p:nvSpPr>
        <p:spPr>
          <a:xfrm>
            <a:off x="10504815" y="3026956"/>
            <a:ext cx="1063881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MXNet</a:t>
            </a:r>
            <a:r>
              <a:rPr lang="en-US" sz="1200" dirty="0"/>
              <a:t> Model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489104-D512-44E9-B34B-71D0E51FCA34}"/>
              </a:ext>
            </a:extLst>
          </p:cNvPr>
          <p:cNvSpPr txBox="1"/>
          <p:nvPr/>
        </p:nvSpPr>
        <p:spPr>
          <a:xfrm>
            <a:off x="10223569" y="2313689"/>
            <a:ext cx="927498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Kaldi Model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D4D22A-5734-4E3B-B9D3-BDCCE69F078D}"/>
              </a:ext>
            </a:extLst>
          </p:cNvPr>
          <p:cNvCxnSpPr>
            <a:cxnSpLocks/>
            <a:stCxn id="103" idx="1"/>
          </p:cNvCxnSpPr>
          <p:nvPr/>
        </p:nvCxnSpPr>
        <p:spPr>
          <a:xfrm flipH="1" flipV="1">
            <a:off x="8999062" y="3277109"/>
            <a:ext cx="1224507" cy="21096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F5B00D5-A8D6-4FEC-B8A4-8635B84CA966}"/>
              </a:ext>
            </a:extLst>
          </p:cNvPr>
          <p:cNvCxnSpPr>
            <a:cxnSpLocks/>
            <a:stCxn id="106" idx="1"/>
          </p:cNvCxnSpPr>
          <p:nvPr/>
        </p:nvCxnSpPr>
        <p:spPr>
          <a:xfrm flipH="1">
            <a:off x="8970584" y="2452189"/>
            <a:ext cx="1252985" cy="3612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C8FEDB3-F730-4B32-ACF9-83673F63F1E3}"/>
              </a:ext>
            </a:extLst>
          </p:cNvPr>
          <p:cNvCxnSpPr>
            <a:cxnSpLocks/>
            <a:stCxn id="104" idx="1"/>
          </p:cNvCxnSpPr>
          <p:nvPr/>
        </p:nvCxnSpPr>
        <p:spPr>
          <a:xfrm flipH="1">
            <a:off x="8970584" y="2813466"/>
            <a:ext cx="1479229" cy="85877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1C66F87-EC5D-4513-8099-42891B055FDC}"/>
              </a:ext>
            </a:extLst>
          </p:cNvPr>
          <p:cNvCxnSpPr>
            <a:cxnSpLocks/>
            <a:stCxn id="105" idx="1"/>
          </p:cNvCxnSpPr>
          <p:nvPr/>
        </p:nvCxnSpPr>
        <p:spPr>
          <a:xfrm flipH="1">
            <a:off x="8999062" y="3165456"/>
            <a:ext cx="1505753" cy="83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E03D259-3354-49DA-8185-549C373EE85F}"/>
              </a:ext>
            </a:extLst>
          </p:cNvPr>
          <p:cNvCxnSpPr>
            <a:cxnSpLocks/>
          </p:cNvCxnSpPr>
          <p:nvPr/>
        </p:nvCxnSpPr>
        <p:spPr>
          <a:xfrm flipV="1">
            <a:off x="522873" y="3865849"/>
            <a:ext cx="6801852" cy="906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72E4F8B-2D12-498E-A23B-A059F21452BB}"/>
              </a:ext>
            </a:extLst>
          </p:cNvPr>
          <p:cNvCxnSpPr>
            <a:cxnSpLocks/>
          </p:cNvCxnSpPr>
          <p:nvPr/>
        </p:nvCxnSpPr>
        <p:spPr>
          <a:xfrm>
            <a:off x="8029575" y="3865849"/>
            <a:ext cx="3531411" cy="906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28BBE70B-8622-493F-9203-74106FA449B8}"/>
              </a:ext>
            </a:extLst>
          </p:cNvPr>
          <p:cNvSpPr txBox="1"/>
          <p:nvPr/>
        </p:nvSpPr>
        <p:spPr>
          <a:xfrm>
            <a:off x="436949" y="2963013"/>
            <a:ext cx="1742905" cy="8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Offline IR Preparation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1D2B255-12F0-4464-A2E2-50964EA2C414}"/>
              </a:ext>
            </a:extLst>
          </p:cNvPr>
          <p:cNvSpPr txBox="1"/>
          <p:nvPr/>
        </p:nvSpPr>
        <p:spPr>
          <a:xfrm>
            <a:off x="436949" y="4020952"/>
            <a:ext cx="1827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Deployed Application Runtime</a:t>
            </a:r>
          </a:p>
        </p:txBody>
      </p:sp>
    </p:spTree>
    <p:extLst>
      <p:ext uri="{BB962C8B-B14F-4D97-AF65-F5344CB8AC3E}">
        <p14:creationId xmlns:p14="http://schemas.microsoft.com/office/powerpoint/2010/main" val="3321377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4A93-7D4D-46F2-995D-9489673D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654" y="391251"/>
            <a:ext cx="7382691" cy="1325563"/>
          </a:xfrm>
        </p:spPr>
        <p:txBody>
          <a:bodyPr/>
          <a:lstStyle/>
          <a:p>
            <a:r>
              <a:rPr lang="en-US" dirty="0" err="1"/>
              <a:t>OpenVINO</a:t>
            </a:r>
            <a:r>
              <a:rPr lang="en-US" dirty="0"/>
              <a:t> as an ONNX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482F5-A82F-4EC2-8644-49DD8046B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1087"/>
            <a:ext cx="10515600" cy="25257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Constantly growing support for operators</a:t>
            </a:r>
          </a:p>
          <a:p>
            <a:pPr lvl="1"/>
            <a:r>
              <a:rPr lang="en-US" dirty="0"/>
              <a:t>Focusing on operators in popular models from various domains based on customer requests and the results of internal research groups</a:t>
            </a:r>
          </a:p>
          <a:p>
            <a:pPr lvl="1"/>
            <a:r>
              <a:rPr lang="en-US" dirty="0"/>
              <a:t>Decompose operators to our internal </a:t>
            </a:r>
            <a:r>
              <a:rPr lang="en-US" dirty="0" err="1"/>
              <a:t>opset</a:t>
            </a:r>
            <a:r>
              <a:rPr lang="en-US" dirty="0"/>
              <a:t> if possible</a:t>
            </a:r>
          </a:p>
          <a:p>
            <a:pPr lvl="1"/>
            <a:r>
              <a:rPr lang="en-US" dirty="0"/>
              <a:t>Extending our internal </a:t>
            </a:r>
            <a:r>
              <a:rPr lang="en-US" dirty="0" err="1"/>
              <a:t>opset</a:t>
            </a:r>
            <a:r>
              <a:rPr lang="en-US" dirty="0"/>
              <a:t> to adopt more and more ONNX operators </a:t>
            </a:r>
          </a:p>
          <a:p>
            <a:pPr lvl="1"/>
            <a:endParaRPr lang="en-US" dirty="0"/>
          </a:p>
          <a:p>
            <a:r>
              <a:rPr lang="en-US" dirty="0"/>
              <a:t>Help us to grow faster and focus on your needs</a:t>
            </a:r>
          </a:p>
          <a:p>
            <a:pPr lvl="1"/>
            <a:r>
              <a:rPr lang="en-US" dirty="0"/>
              <a:t>Open bugs against </a:t>
            </a:r>
            <a:r>
              <a:rPr lang="en-US" dirty="0" err="1"/>
              <a:t>OpenVINO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https://github.com/openvinotoolkit/openvino/issues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647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4B5A-0007-4A84-ADA5-74DACE03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675" y="365125"/>
            <a:ext cx="9010650" cy="1325563"/>
          </a:xfrm>
        </p:spPr>
        <p:txBody>
          <a:bodyPr/>
          <a:lstStyle/>
          <a:p>
            <a:r>
              <a:rPr lang="en-US" dirty="0"/>
              <a:t>ONNX Connects </a:t>
            </a:r>
            <a:r>
              <a:rPr lang="en-US" dirty="0" err="1"/>
              <a:t>OpenVINO</a:t>
            </a:r>
            <a:r>
              <a:rPr lang="en-US" dirty="0"/>
              <a:t> to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4FE519-BF21-4965-93C7-7432CC77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4662" y="1690688"/>
            <a:ext cx="6162675" cy="5819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/>
              <a:t>PyTorch</a:t>
            </a:r>
            <a:r>
              <a:rPr lang="en-US" dirty="0"/>
              <a:t> support is one of the key directions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E9D8E-9E02-4490-918F-0254C17D488C}"/>
              </a:ext>
            </a:extLst>
          </p:cNvPr>
          <p:cNvSpPr txBox="1"/>
          <p:nvPr/>
        </p:nvSpPr>
        <p:spPr>
          <a:xfrm>
            <a:off x="6986332" y="5398952"/>
            <a:ext cx="2619884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Inference Engine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E0313-DDAF-49B8-8843-1CA7CC87E157}"/>
              </a:ext>
            </a:extLst>
          </p:cNvPr>
          <p:cNvSpPr txBox="1"/>
          <p:nvPr/>
        </p:nvSpPr>
        <p:spPr>
          <a:xfrm>
            <a:off x="9823398" y="4222052"/>
            <a:ext cx="470000" cy="52322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1DDFBD-0CBF-48D1-B3CF-CE3A4144F8F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177337" y="4745272"/>
            <a:ext cx="881061" cy="64021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5A3717-9972-4F08-97D2-CFE8736A8198}"/>
              </a:ext>
            </a:extLst>
          </p:cNvPr>
          <p:cNvSpPr txBox="1"/>
          <p:nvPr/>
        </p:nvSpPr>
        <p:spPr>
          <a:xfrm>
            <a:off x="8736593" y="3339994"/>
            <a:ext cx="2643609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Model Optimizer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16E705-9132-48BD-9DAA-32D8DC1EA328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10058398" y="3863214"/>
            <a:ext cx="0" cy="35883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1AD69C-8557-4726-85BC-C061091659E3}"/>
              </a:ext>
            </a:extLst>
          </p:cNvPr>
          <p:cNvSpPr txBox="1"/>
          <p:nvPr/>
        </p:nvSpPr>
        <p:spPr>
          <a:xfrm>
            <a:off x="5474292" y="3326533"/>
            <a:ext cx="2100255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ONNX 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1DAFC4-4121-48ED-8888-E5C929A0F518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7574547" y="3588143"/>
            <a:ext cx="1162046" cy="13461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6E9025-2EC7-465E-867A-CD395DBAE96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6524420" y="3849753"/>
            <a:ext cx="1050127" cy="1535738"/>
          </a:xfrm>
          <a:prstGeom prst="straightConnector1">
            <a:avLst/>
          </a:prstGeom>
          <a:ln w="349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BB06B8E-DF64-49AC-A2D4-09EC7C07A170}"/>
              </a:ext>
            </a:extLst>
          </p:cNvPr>
          <p:cNvSpPr txBox="1"/>
          <p:nvPr/>
        </p:nvSpPr>
        <p:spPr>
          <a:xfrm>
            <a:off x="925350" y="3326533"/>
            <a:ext cx="1330650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dirty="0" err="1"/>
              <a:t>PyTorch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7269A8-9B73-4E0E-A6EF-A380742C0A4A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>
            <a:off x="2256000" y="3588143"/>
            <a:ext cx="3218292" cy="0"/>
          </a:xfrm>
          <a:prstGeom prst="straightConnector1">
            <a:avLst/>
          </a:prstGeom>
          <a:ln w="349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A8BF61A-091B-4667-A14C-C116C19D3455}"/>
              </a:ext>
            </a:extLst>
          </p:cNvPr>
          <p:cNvSpPr txBox="1"/>
          <p:nvPr/>
        </p:nvSpPr>
        <p:spPr>
          <a:xfrm>
            <a:off x="2931236" y="3216005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torch.onnx.export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654D75-5AA7-436A-92C0-F1634C779A27}"/>
              </a:ext>
            </a:extLst>
          </p:cNvPr>
          <p:cNvSpPr txBox="1"/>
          <p:nvPr/>
        </p:nvSpPr>
        <p:spPr>
          <a:xfrm>
            <a:off x="345771" y="6267549"/>
            <a:ext cx="11500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You can run </a:t>
            </a:r>
            <a:r>
              <a:rPr lang="en-US" sz="2000" b="1" dirty="0" err="1">
                <a:solidFill>
                  <a:srgbClr val="C00000"/>
                </a:solidFill>
              </a:rPr>
              <a:t>OpenVINO</a:t>
            </a:r>
            <a:r>
              <a:rPr lang="en-US" sz="2000" b="1" dirty="0">
                <a:solidFill>
                  <a:srgbClr val="C00000"/>
                </a:solidFill>
              </a:rPr>
              <a:t> inference directly in your </a:t>
            </a:r>
            <a:r>
              <a:rPr lang="en-US" sz="2000" b="1" dirty="0" err="1">
                <a:solidFill>
                  <a:srgbClr val="C00000"/>
                </a:solidFill>
              </a:rPr>
              <a:t>PyTorch</a:t>
            </a:r>
            <a:r>
              <a:rPr lang="en-US" sz="2000" b="1" dirty="0">
                <a:solidFill>
                  <a:srgbClr val="C00000"/>
                </a:solidFill>
              </a:rPr>
              <a:t> application to evaluate the performance benefits</a:t>
            </a:r>
          </a:p>
        </p:txBody>
      </p:sp>
    </p:spTree>
    <p:extLst>
      <p:ext uri="{BB962C8B-B14F-4D97-AF65-F5344CB8AC3E}">
        <p14:creationId xmlns:p14="http://schemas.microsoft.com/office/powerpoint/2010/main" val="68685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AF6E-8F52-43A7-B1EA-61AB4E87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162" y="413336"/>
            <a:ext cx="7305675" cy="1325563"/>
          </a:xfrm>
        </p:spPr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ONNX  </a:t>
            </a:r>
            <a:r>
              <a:rPr lang="en-US" dirty="0" err="1">
                <a:sym typeface="Wingdings" panose="05000000000000000000" pitchFamily="2" charset="2"/>
              </a:rPr>
              <a:t>OpenVINO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D0E120-BED7-4FBF-B98E-8D18CB5E5156}"/>
              </a:ext>
            </a:extLst>
          </p:cNvPr>
          <p:cNvSpPr/>
          <p:nvPr/>
        </p:nvSpPr>
        <p:spPr>
          <a:xfrm>
            <a:off x="3017112" y="2494013"/>
            <a:ext cx="6157776" cy="3087637"/>
          </a:xfrm>
          <a:prstGeom prst="roundRect">
            <a:avLst>
              <a:gd name="adj" fmla="val 776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torch</a:t>
            </a: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torchvision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openvino.inference_engine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IECore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alexnet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torchvision.models.alexnet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(pretrained=True)</a:t>
            </a:r>
          </a:p>
          <a:p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dummy_input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torch.randn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(1, 3, 224, 224)</a:t>
            </a:r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torch.onnx.export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alexnet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dummy_input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, “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model.onnx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core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IECore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exe_network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ie.</a:t>
            </a:r>
            <a:r>
              <a:rPr lang="en-US" sz="14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load_network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model.onnx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”, “CPU”)</a:t>
            </a:r>
          </a:p>
          <a:p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// ready for inference . . 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3D1B8-C18A-4C51-8202-4DFFD0A3B0BE}"/>
              </a:ext>
            </a:extLst>
          </p:cNvPr>
          <p:cNvSpPr txBox="1"/>
          <p:nvPr/>
        </p:nvSpPr>
        <p:spPr>
          <a:xfrm>
            <a:off x="8447423" y="2309347"/>
            <a:ext cx="84801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617302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73DA-C1E4-4401-B2D1-E20456E4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465" y="2766218"/>
            <a:ext cx="2889069" cy="1325563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46014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893</Words>
  <Application>Microsoft Office PowerPoint</Application>
  <PresentationFormat>Widescreen</PresentationFormat>
  <Paragraphs>253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Lato</vt:lpstr>
      <vt:lpstr>Office Theme</vt:lpstr>
      <vt:lpstr>Place of ONNX in OpenVINO Ecosystem</vt:lpstr>
      <vt:lpstr>What is OpenVINO?</vt:lpstr>
      <vt:lpstr>What is OpenVINO?</vt:lpstr>
      <vt:lpstr>What is OpenVINO?</vt:lpstr>
      <vt:lpstr>What is OpenVINO?</vt:lpstr>
      <vt:lpstr>What is OpenVINO?</vt:lpstr>
      <vt:lpstr>What is OpenVINO?</vt:lpstr>
      <vt:lpstr>What is OpenVINO Ecosystem?</vt:lpstr>
      <vt:lpstr>PowerPoint Presentation</vt:lpstr>
      <vt:lpstr>ONNX in OpenVINO</vt:lpstr>
      <vt:lpstr>ONNX in OpenVINO</vt:lpstr>
      <vt:lpstr>Direct Import of ONNX Model</vt:lpstr>
      <vt:lpstr>Identical to OpenVINO own IR</vt:lpstr>
      <vt:lpstr>ONNX in OpenVINO</vt:lpstr>
      <vt:lpstr>OpenVINO as an ONNX Backend</vt:lpstr>
      <vt:lpstr>ONNX Connects OpenVINO to PyTorch</vt:lpstr>
      <vt:lpstr>PyTorch  ONNX  OpenVINO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ONNX in OpenVINO Ecosystem</dc:title>
  <dc:creator>Lyalin, Sergey</dc:creator>
  <cp:lastModifiedBy>Lyalin, Sergey</cp:lastModifiedBy>
  <cp:revision>10</cp:revision>
  <dcterms:created xsi:type="dcterms:W3CDTF">2021-10-15T14:58:45Z</dcterms:created>
  <dcterms:modified xsi:type="dcterms:W3CDTF">2021-10-20T11:57:15Z</dcterms:modified>
</cp:coreProperties>
</file>