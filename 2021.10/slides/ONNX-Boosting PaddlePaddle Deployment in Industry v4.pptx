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344" r:id="rId3"/>
    <p:sldId id="267" r:id="rId4"/>
    <p:sldId id="362" r:id="rId5"/>
    <p:sldId id="363" r:id="rId6"/>
    <p:sldId id="371" r:id="rId7"/>
    <p:sldId id="365" r:id="rId8"/>
    <p:sldId id="369" r:id="rId9"/>
    <p:sldId id="370" r:id="rId10"/>
    <p:sldId id="372" r:id="rId11"/>
    <p:sldId id="361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orient="horz" pos="4320">
          <p15:clr>
            <a:srgbClr val="A4A3A4"/>
          </p15:clr>
        </p15:guide>
        <p15:guide id="3" orient="horz" pos="1655">
          <p15:clr>
            <a:srgbClr val="A4A3A4"/>
          </p15:clr>
        </p15:guide>
        <p15:guide id="4" orient="horz" pos="623">
          <p15:clr>
            <a:srgbClr val="A4A3A4"/>
          </p15:clr>
        </p15:guide>
        <p15:guide id="5" orient="horz" pos="346">
          <p15:clr>
            <a:srgbClr val="A4A3A4"/>
          </p15:clr>
        </p15:guide>
        <p15:guide id="6" orient="horz" pos="4089">
          <p15:clr>
            <a:srgbClr val="A4A3A4"/>
          </p15:clr>
        </p15:guide>
        <p15:guide id="7" pos="7680">
          <p15:clr>
            <a:srgbClr val="A4A3A4"/>
          </p15:clr>
        </p15:guide>
        <p15:guide id="8" pos="610">
          <p15:clr>
            <a:srgbClr val="A4A3A4"/>
          </p15:clr>
        </p15:guide>
        <p15:guide id="9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emak Daksina" initials="D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0FF"/>
    <a:srgbClr val="3D20EF"/>
    <a:srgbClr val="0300F9"/>
    <a:srgbClr val="4101FF"/>
    <a:srgbClr val="DEE0F9"/>
    <a:srgbClr val="5C5BF8"/>
    <a:srgbClr val="F0F1FE"/>
    <a:srgbClr val="1918E8"/>
    <a:srgbClr val="0C0C88"/>
    <a:srgbClr val="6A6A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09"/>
    <p:restoredTop sz="83703" autoAdjust="0"/>
  </p:normalViewPr>
  <p:slideViewPr>
    <p:cSldViewPr snapToGrid="0" snapToObjects="1">
      <p:cViewPr varScale="1">
        <p:scale>
          <a:sx n="90" d="100"/>
          <a:sy n="90" d="100"/>
        </p:scale>
        <p:origin x="440" y="192"/>
      </p:cViewPr>
      <p:guideLst>
        <p:guide orient="horz"/>
        <p:guide orient="horz" pos="4320"/>
        <p:guide orient="horz" pos="1655"/>
        <p:guide orient="horz" pos="623"/>
        <p:guide orient="horz" pos="346"/>
        <p:guide orient="horz" pos="4089"/>
        <p:guide pos="7680"/>
        <p:guide pos="61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29" d="100"/>
          <a:sy n="129" d="100"/>
        </p:scale>
        <p:origin x="402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4AFC0-EEF9-8D48-9409-ED29905CCA5D}" type="datetimeFigureOut">
              <a:rPr kumimoji="1" lang="zh-CN" altLang="en-US" smtClean="0"/>
              <a:t>2021/10/18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78F34B-23BE-8749-B2B6-B7D8D7D7CE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0478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78F34B-23BE-8749-B2B6-B7D8D7D7CE78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3570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2016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223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0488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1284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28772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71423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78F34B-23BE-8749-B2B6-B7D8D7D7CE78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7669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86860F-0812-044B-B84D-9CBBC1F70D4F}" type="datetimeFigureOut">
              <a:rPr kumimoji="1" lang="zh-CN" altLang="en-US" smtClean="0"/>
              <a:t>2021/10/18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81ABD0-7210-1A40-825D-09EF125156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86860F-0812-044B-B84D-9CBBC1F70D4F}" type="datetimeFigureOut">
              <a:rPr kumimoji="1" lang="zh-CN" altLang="en-US" smtClean="0"/>
              <a:t>2021/10/18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81ABD0-7210-1A40-825D-09EF125156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86860F-0812-044B-B84D-9CBBC1F70D4F}" type="datetimeFigureOut">
              <a:rPr kumimoji="1" lang="zh-CN" altLang="en-US" smtClean="0"/>
              <a:t>2021/10/18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81ABD0-7210-1A40-825D-09EF125156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86860F-0812-044B-B84D-9CBBC1F70D4F}" type="datetimeFigureOut">
              <a:rPr kumimoji="1" lang="zh-CN" altLang="en-US" smtClean="0"/>
              <a:t>2021/10/18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81ABD0-7210-1A40-825D-09EF125156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86860F-0812-044B-B84D-9CBBC1F70D4F}" type="datetimeFigureOut">
              <a:rPr kumimoji="1" lang="zh-CN" altLang="en-US" smtClean="0"/>
              <a:t>2021/10/18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81ABD0-7210-1A40-825D-09EF125156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86860F-0812-044B-B84D-9CBBC1F70D4F}" type="datetimeFigureOut">
              <a:rPr kumimoji="1" lang="zh-CN" altLang="en-US" smtClean="0"/>
              <a:t>2021/10/18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81ABD0-7210-1A40-825D-09EF125156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86860F-0812-044B-B84D-9CBBC1F70D4F}" type="datetimeFigureOut">
              <a:rPr kumimoji="1" lang="zh-CN" altLang="en-US" smtClean="0"/>
              <a:t>2021/10/18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81ABD0-7210-1A40-825D-09EF125156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86860F-0812-044B-B84D-9CBBC1F70D4F}" type="datetimeFigureOut">
              <a:rPr kumimoji="1" lang="zh-CN" altLang="en-US" smtClean="0"/>
              <a:t>2021/10/18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81ABD0-7210-1A40-825D-09EF125156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86860F-0812-044B-B84D-9CBBC1F70D4F}" type="datetimeFigureOut">
              <a:rPr kumimoji="1" lang="zh-CN" altLang="en-US" smtClean="0"/>
              <a:t>2021/10/18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81ABD0-7210-1A40-825D-09EF125156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86860F-0812-044B-B84D-9CBBC1F70D4F}" type="datetimeFigureOut">
              <a:rPr kumimoji="1" lang="zh-CN" altLang="en-US" smtClean="0"/>
              <a:t>2021/10/18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81ABD0-7210-1A40-825D-09EF125156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86860F-0812-044B-B84D-9CBBC1F70D4F}" type="datetimeFigureOut">
              <a:rPr kumimoji="1" lang="zh-CN" altLang="en-US" smtClean="0"/>
              <a:t>2021/10/18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81ABD0-7210-1A40-825D-09EF1251569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ohu.com/a/442530632_104421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paddlepaddle.org.cn/support/news?action=detail&amp;id=2280" TargetMode="External"/><Relationship Id="rId5" Type="http://schemas.openxmlformats.org/officeDocument/2006/relationships/image" Target="../media/image19.png"/><Relationship Id="rId10" Type="http://schemas.openxmlformats.org/officeDocument/2006/relationships/image" Target="../media/image22.png"/><Relationship Id="rId4" Type="http://schemas.openxmlformats.org/officeDocument/2006/relationships/image" Target="../media/image3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" y="0"/>
            <a:ext cx="12187066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29920" y="2070231"/>
            <a:ext cx="92821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ONNX</a:t>
            </a:r>
            <a:r>
              <a:rPr kumimoji="1" lang="zh-CN" altLang="en-US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Boosting</a:t>
            </a:r>
            <a:r>
              <a:rPr kumimoji="1" lang="zh-CN" altLang="en-US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PaddlePaddle</a:t>
            </a:r>
            <a:r>
              <a:rPr kumimoji="1" lang="zh-CN" altLang="en-US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Deployment</a:t>
            </a:r>
            <a:r>
              <a:rPr kumimoji="1" lang="zh-CN" altLang="en-US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</a:t>
            </a:r>
            <a:r>
              <a:rPr kumimoji="1" lang="zh-CN" altLang="en-US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Industry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29920" y="3933825"/>
            <a:ext cx="5795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24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2021.</a:t>
            </a:r>
            <a:r>
              <a:rPr kumimoji="1" lang="en-US" altLang="zh-CN" sz="24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10.21</a:t>
            </a:r>
            <a:r>
              <a:rPr kumimoji="1" lang="en-US" sz="24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sz="24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Jason</a:t>
            </a:r>
            <a:r>
              <a:rPr kumimoji="1" lang="zh-CN" altLang="en-US" sz="24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sz="24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Jiang</a:t>
            </a:r>
            <a:endParaRPr kumimoji="1" lang="en-US" sz="2400" dirty="0">
              <a:solidFill>
                <a:schemeClr val="bg1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r>
              <a:rPr kumimoji="1" lang="en-US" altLang="zh-CN" sz="24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Staff</a:t>
            </a:r>
            <a:r>
              <a:rPr kumimoji="1" lang="zh-CN" altLang="en-US" sz="24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sz="24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R&amp;D</a:t>
            </a:r>
            <a:r>
              <a:rPr kumimoji="1" lang="zh-CN" altLang="en-US" sz="24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sz="2400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at PaddlePaddle </a:t>
            </a:r>
          </a:p>
        </p:txBody>
      </p:sp>
      <p:cxnSp>
        <p:nvCxnSpPr>
          <p:cNvPr id="14" name="直线连接符 13"/>
          <p:cNvCxnSpPr/>
          <p:nvPr/>
        </p:nvCxnSpPr>
        <p:spPr>
          <a:xfrm>
            <a:off x="746449" y="3610949"/>
            <a:ext cx="12876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/>
          <p:cNvSpPr txBox="1"/>
          <p:nvPr/>
        </p:nvSpPr>
        <p:spPr>
          <a:xfrm>
            <a:off x="3418038" y="932686"/>
            <a:ext cx="4898155" cy="6847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5000" b="1" dirty="0">
                <a:solidFill>
                  <a:srgbClr val="08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Outline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10380" y="2635885"/>
            <a:ext cx="6162675" cy="653760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 altLang="zh-CN" sz="3200" dirty="0">
                <a:solidFill>
                  <a:srgbClr val="C000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PaddlePaddle</a:t>
            </a:r>
            <a:r>
              <a:rPr lang="zh-CN" altLang="en-US" sz="3200" dirty="0">
                <a:solidFill>
                  <a:srgbClr val="C000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lang="en-US" altLang="zh-CN" sz="3200" dirty="0">
                <a:solidFill>
                  <a:srgbClr val="C000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&amp;</a:t>
            </a:r>
            <a:r>
              <a:rPr lang="zh-CN" altLang="en-US" sz="3200" dirty="0">
                <a:solidFill>
                  <a:srgbClr val="C000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lang="en-US" altLang="zh-CN" sz="3200" dirty="0">
                <a:solidFill>
                  <a:srgbClr val="C000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ONNX</a:t>
            </a:r>
            <a:endParaRPr lang="en-US" sz="3200" dirty="0">
              <a:solidFill>
                <a:srgbClr val="C00000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14" name="TextBox 9"/>
          <p:cNvSpPr txBox="1"/>
          <p:nvPr/>
        </p:nvSpPr>
        <p:spPr>
          <a:xfrm>
            <a:off x="3427680" y="2415483"/>
            <a:ext cx="435521" cy="1071245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 altLang="zh-CN" sz="5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27972"/>
            <a:ext cx="12192000" cy="33002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8972" y="443976"/>
            <a:ext cx="1953027" cy="545440"/>
          </a:xfrm>
          <a:prstGeom prst="rect">
            <a:avLst/>
          </a:prstGeom>
        </p:spPr>
      </p:pic>
      <p:sp>
        <p:nvSpPr>
          <p:cNvPr id="5" name="TextBox 9"/>
          <p:cNvSpPr txBox="1"/>
          <p:nvPr/>
        </p:nvSpPr>
        <p:spPr>
          <a:xfrm>
            <a:off x="4310380" y="3741420"/>
            <a:ext cx="5311775" cy="653760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 altLang="zh-CN" sz="3200" dirty="0">
                <a:solidFill>
                  <a:srgbClr val="0800F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Application</a:t>
            </a:r>
            <a:r>
              <a:rPr lang="zh-CN" altLang="en-US" sz="3200" dirty="0">
                <a:solidFill>
                  <a:srgbClr val="0800F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lang="en-US" altLang="zh-CN" sz="3200" dirty="0">
                <a:solidFill>
                  <a:srgbClr val="0800F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of</a:t>
            </a:r>
            <a:r>
              <a:rPr lang="zh-CN" altLang="en-US" sz="3200" dirty="0">
                <a:solidFill>
                  <a:srgbClr val="0800F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lang="en-US" altLang="zh-CN" sz="3200" dirty="0">
                <a:solidFill>
                  <a:srgbClr val="0800F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Baidu</a:t>
            </a:r>
            <a:r>
              <a:rPr lang="zh-CN" altLang="en-US" sz="3200" dirty="0">
                <a:solidFill>
                  <a:srgbClr val="0800F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lang="en-US" altLang="zh-CN" sz="3200" dirty="0">
                <a:solidFill>
                  <a:srgbClr val="0800F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HAVP</a:t>
            </a:r>
            <a:endParaRPr lang="en-US" sz="3200" dirty="0">
              <a:solidFill>
                <a:srgbClr val="0800FF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6" name="TextBox 9"/>
          <p:cNvSpPr txBox="1"/>
          <p:nvPr/>
        </p:nvSpPr>
        <p:spPr>
          <a:xfrm>
            <a:off x="3427680" y="3521018"/>
            <a:ext cx="435521" cy="1071245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 sz="5000" b="1" dirty="0">
                <a:solidFill>
                  <a:srgbClr val="0300F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 txBox="1"/>
          <p:nvPr/>
        </p:nvSpPr>
        <p:spPr>
          <a:xfrm>
            <a:off x="445450" y="179190"/>
            <a:ext cx="8764585" cy="8202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Overview of </a:t>
            </a:r>
            <a:r>
              <a:rPr lang="en-US" altLang="zh-CN" sz="3400" b="1" dirty="0" err="1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PaddlePaddle</a:t>
            </a:r>
            <a:endParaRPr lang="en-US" altLang="zh-CN" sz="3400" b="1" dirty="0">
              <a:solidFill>
                <a:srgbClr val="165D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527972"/>
            <a:ext cx="12192000" cy="330028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8972" y="443976"/>
            <a:ext cx="1953027" cy="54544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304011" y="2146808"/>
            <a:ext cx="11608933" cy="4248944"/>
            <a:chOff x="300300" y="1441606"/>
            <a:chExt cx="11608933" cy="4248944"/>
          </a:xfrm>
        </p:grpSpPr>
        <p:grpSp>
          <p:nvGrpSpPr>
            <p:cNvPr id="56" name="组合 55"/>
            <p:cNvGrpSpPr/>
            <p:nvPr/>
          </p:nvGrpSpPr>
          <p:grpSpPr>
            <a:xfrm>
              <a:off x="425164" y="1547394"/>
              <a:ext cx="11395989" cy="4143156"/>
              <a:chOff x="425164" y="1547394"/>
              <a:chExt cx="11395989" cy="4143156"/>
            </a:xfrm>
          </p:grpSpPr>
          <p:pic>
            <p:nvPicPr>
              <p:cNvPr id="57" name="图像" descr="图像"/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7"/>
              <a:stretch>
                <a:fillRect/>
              </a:stretch>
            </p:blipFill>
            <p:spPr>
              <a:xfrm>
                <a:off x="425164" y="1569512"/>
                <a:ext cx="11395989" cy="4121038"/>
              </a:xfrm>
              <a:prstGeom prst="rect">
                <a:avLst/>
              </a:prstGeom>
              <a:ln w="12700">
                <a:miter lim="400000"/>
                <a:headEnd/>
                <a:tailEnd/>
              </a:ln>
            </p:spPr>
          </p:pic>
          <p:sp>
            <p:nvSpPr>
              <p:cNvPr id="58" name="PaddleNLP"/>
              <p:cNvSpPr txBox="1"/>
              <p:nvPr/>
            </p:nvSpPr>
            <p:spPr>
              <a:xfrm>
                <a:off x="2383719" y="4324932"/>
                <a:ext cx="1212446" cy="42433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>
                <a:lvl1pPr>
                  <a:defRPr sz="2100"/>
                </a:lvl1pPr>
              </a:lstStyle>
              <a:p>
                <a:pPr algn="ctr"/>
                <a:r>
                  <a:rPr sz="1600" dirty="0" err="1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PaddleNLP</a:t>
                </a:r>
                <a:endParaRPr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9" name="PaddleCV"/>
              <p:cNvSpPr txBox="1"/>
              <p:nvPr/>
            </p:nvSpPr>
            <p:spPr>
              <a:xfrm>
                <a:off x="4532690" y="4324932"/>
                <a:ext cx="1102039" cy="42433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>
                <a:lvl1pPr>
                  <a:defRPr sz="2100"/>
                </a:lvl1pPr>
              </a:lstStyle>
              <a:p>
                <a:pPr algn="ctr"/>
                <a:r>
                  <a:rPr sz="1600" dirty="0" err="1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PaddleCV</a:t>
                </a:r>
                <a:endParaRPr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60" name="PaddleRec"/>
              <p:cNvSpPr txBox="1"/>
              <p:nvPr/>
            </p:nvSpPr>
            <p:spPr>
              <a:xfrm>
                <a:off x="6584005" y="4324932"/>
                <a:ext cx="1181889" cy="42433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>
                <a:lvl1pPr>
                  <a:defRPr sz="2100"/>
                </a:lvl1pPr>
              </a:lstStyle>
              <a:p>
                <a:pPr algn="ctr"/>
                <a:r>
                  <a:rPr sz="1600" dirty="0" err="1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PaddleRec</a:t>
                </a:r>
                <a:endParaRPr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61" name="PaddleSpeech"/>
              <p:cNvSpPr txBox="1"/>
              <p:nvPr/>
            </p:nvSpPr>
            <p:spPr>
              <a:xfrm>
                <a:off x="8523450" y="4324932"/>
                <a:ext cx="1512909" cy="42433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>
                <a:lvl1pPr>
                  <a:defRPr sz="2100"/>
                </a:lvl1pPr>
              </a:lstStyle>
              <a:p>
                <a:pPr algn="ctr"/>
                <a:r>
                  <a:rPr sz="1600" dirty="0" err="1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PaddleSpeech</a:t>
                </a:r>
                <a:endParaRPr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62" name="开发"/>
              <p:cNvSpPr txBox="1"/>
              <p:nvPr/>
            </p:nvSpPr>
            <p:spPr>
              <a:xfrm>
                <a:off x="1977163" y="4802625"/>
                <a:ext cx="1188461" cy="33969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>
                <a:lvl1pPr>
                  <a:defRPr sz="1900">
                    <a:latin typeface="FZLanTingKanHeiS-R-GB"/>
                    <a:ea typeface="FZLanTingKanHeiS-R-GB"/>
                    <a:cs typeface="FZLanTingKanHeiS-R-GB"/>
                    <a:sym typeface="FZLanTingKanHeiS-R-GB"/>
                  </a:defRPr>
                </a:lvl1pPr>
              </a:lstStyle>
              <a:p>
                <a:pPr algn="ctr"/>
                <a:r>
                  <a:rPr lang="en-US" altLang="zh-CN" sz="105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Network Building</a:t>
                </a:r>
                <a:endParaRPr sz="105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63" name="训练"/>
              <p:cNvSpPr txBox="1"/>
              <p:nvPr/>
            </p:nvSpPr>
            <p:spPr>
              <a:xfrm>
                <a:off x="4058269" y="4798778"/>
                <a:ext cx="682510" cy="34738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>
                <a:lvl1pPr>
                  <a:defRPr sz="1900">
                    <a:latin typeface="FZLanTingKanHeiS-R-GB"/>
                    <a:ea typeface="FZLanTingKanHeiS-R-GB"/>
                    <a:cs typeface="FZLanTingKanHeiS-R-GB"/>
                    <a:sym typeface="FZLanTingKanHeiS-R-GB"/>
                  </a:defRPr>
                </a:lvl1pPr>
              </a:lstStyle>
              <a:p>
                <a:pPr algn="ctr"/>
                <a:r>
                  <a:rPr lang="en-US" altLang="zh-CN" sz="105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Training</a:t>
                </a:r>
                <a:endParaRPr sz="105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64" name="推理部署"/>
              <p:cNvSpPr txBox="1"/>
              <p:nvPr/>
            </p:nvSpPr>
            <p:spPr>
              <a:xfrm>
                <a:off x="7555686" y="4808378"/>
                <a:ext cx="766267" cy="34738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>
                <a:lvl1pPr>
                  <a:defRPr sz="1900">
                    <a:latin typeface="FZLanTingKanHeiS-R-GB"/>
                    <a:ea typeface="FZLanTingKanHeiS-R-GB"/>
                    <a:cs typeface="FZLanTingKanHeiS-R-GB"/>
                    <a:sym typeface="FZLanTingKanHeiS-R-GB"/>
                  </a:defRPr>
                </a:lvl1pPr>
              </a:lstStyle>
              <a:p>
                <a:pPr algn="ctr"/>
                <a:r>
                  <a:rPr lang="en-US" altLang="zh-CN" sz="105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Inference</a:t>
                </a:r>
                <a:endParaRPr sz="105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65" name="动态图"/>
              <p:cNvSpPr txBox="1"/>
              <p:nvPr/>
            </p:nvSpPr>
            <p:spPr>
              <a:xfrm>
                <a:off x="1896343" y="5076724"/>
                <a:ext cx="698488" cy="48588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88193" tIns="88193" rIns="88193" bIns="88193" anchor="ctr">
                <a:spAutoFit/>
              </a:bodyPr>
              <a:lstStyle>
                <a:lvl1pPr>
                  <a:defRPr sz="2100"/>
                </a:lvl1pPr>
              </a:lstStyle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Dynamic Graph </a:t>
                </a:r>
              </a:p>
            </p:txBody>
          </p:sp>
          <p:sp>
            <p:nvSpPr>
              <p:cNvPr id="66" name="静态图"/>
              <p:cNvSpPr txBox="1"/>
              <p:nvPr/>
            </p:nvSpPr>
            <p:spPr>
              <a:xfrm>
                <a:off x="2584481" y="5093442"/>
                <a:ext cx="534526" cy="48588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>
                <a:lvl1pPr>
                  <a:defRPr sz="2100"/>
                </a:lvl1pPr>
              </a:lstStyle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Static</a:t>
                </a:r>
              </a:p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Graph </a:t>
                </a:r>
              </a:p>
            </p:txBody>
          </p:sp>
          <p:sp>
            <p:nvSpPr>
              <p:cNvPr id="67" name="大规模分布式训练"/>
              <p:cNvSpPr txBox="1"/>
              <p:nvPr/>
            </p:nvSpPr>
            <p:spPr>
              <a:xfrm>
                <a:off x="3290576" y="4986826"/>
                <a:ext cx="1046279" cy="639773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88193" tIns="88193" rIns="88193" bIns="88193" anchor="ctr">
                <a:spAutoFit/>
              </a:bodyPr>
              <a:lstStyle>
                <a:lvl1pPr>
                  <a:defRPr sz="2100"/>
                </a:lvl1pPr>
              </a:lstStyle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Large-scale Distributed Training</a:t>
                </a:r>
              </a:p>
            </p:txBody>
          </p:sp>
          <p:sp>
            <p:nvSpPr>
              <p:cNvPr id="68" name="工业级数据处理"/>
              <p:cNvSpPr txBox="1"/>
              <p:nvPr/>
            </p:nvSpPr>
            <p:spPr>
              <a:xfrm>
                <a:off x="4389752" y="5140714"/>
                <a:ext cx="1019184" cy="33199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>
                <a:lvl1pPr>
                  <a:defRPr sz="2100"/>
                </a:lvl1pPr>
              </a:lstStyle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Large-scale IO</a:t>
                </a:r>
              </a:p>
            </p:txBody>
          </p:sp>
          <p:sp>
            <p:nvSpPr>
              <p:cNvPr id="69" name="Paddle…"/>
              <p:cNvSpPr txBox="1"/>
              <p:nvPr/>
            </p:nvSpPr>
            <p:spPr>
              <a:xfrm>
                <a:off x="7177934" y="5072509"/>
                <a:ext cx="639559" cy="50127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88193" tIns="88193" rIns="88193" bIns="88193" anchor="ctr">
                <a:spAutoFit/>
              </a:bodyPr>
              <a:lstStyle/>
              <a:p>
                <a:pPr algn="ctr">
                  <a:defRPr sz="2100"/>
                </a:pPr>
                <a:r>
                  <a:rPr sz="10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Paddle</a:t>
                </a:r>
              </a:p>
              <a:p>
                <a:pPr algn="ctr">
                  <a:defRPr sz="2100"/>
                </a:pPr>
                <a:r>
                  <a:rPr sz="10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Serving</a:t>
                </a:r>
              </a:p>
            </p:txBody>
          </p:sp>
          <p:sp>
            <p:nvSpPr>
              <p:cNvPr id="70" name="Paddle…"/>
              <p:cNvSpPr txBox="1"/>
              <p:nvPr/>
            </p:nvSpPr>
            <p:spPr>
              <a:xfrm>
                <a:off x="6367895" y="5091346"/>
                <a:ext cx="712798" cy="48588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/>
              <a:p>
                <a:pPr algn="ctr">
                  <a:defRPr sz="2100"/>
                </a:pPr>
                <a:r>
                  <a:rPr sz="10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Paddle</a:t>
                </a:r>
              </a:p>
              <a:p>
                <a:pPr algn="ctr">
                  <a:defRPr sz="2100"/>
                </a:pPr>
                <a:r>
                  <a:rPr sz="10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Inference</a:t>
                </a:r>
              </a:p>
            </p:txBody>
          </p:sp>
          <p:sp>
            <p:nvSpPr>
              <p:cNvPr id="71" name="Paddle Lite"/>
              <p:cNvSpPr txBox="1"/>
              <p:nvPr/>
            </p:nvSpPr>
            <p:spPr>
              <a:xfrm>
                <a:off x="7847928" y="5157150"/>
                <a:ext cx="819811" cy="33199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>
                <a:lvl1pPr>
                  <a:defRPr sz="2100"/>
                </a:lvl1pPr>
              </a:lstStyle>
              <a:p>
                <a:pPr algn="ctr"/>
                <a:r>
                  <a:rPr sz="10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Paddle Lite</a:t>
                </a:r>
              </a:p>
            </p:txBody>
          </p:sp>
          <p:sp>
            <p:nvSpPr>
              <p:cNvPr id="72" name="PaddleSlim"/>
              <p:cNvSpPr txBox="1"/>
              <p:nvPr/>
            </p:nvSpPr>
            <p:spPr>
              <a:xfrm>
                <a:off x="5519109" y="5164178"/>
                <a:ext cx="826761" cy="33199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>
                <a:lvl1pPr>
                  <a:defRPr sz="2100"/>
                </a:lvl1pPr>
              </a:lstStyle>
              <a:p>
                <a:pPr algn="ctr"/>
                <a:r>
                  <a:rPr sz="1000" dirty="0" err="1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PaddleSlim</a:t>
                </a:r>
                <a:endParaRPr sz="10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73" name="Paddle.js"/>
              <p:cNvSpPr txBox="1"/>
              <p:nvPr/>
            </p:nvSpPr>
            <p:spPr>
              <a:xfrm>
                <a:off x="8644409" y="5150513"/>
                <a:ext cx="705659" cy="33199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>
                <a:lvl1pPr>
                  <a:defRPr sz="1900"/>
                </a:lvl1pPr>
              </a:lstStyle>
              <a:p>
                <a:pPr algn="ctr"/>
                <a:r>
                  <a:rPr sz="1000" dirty="0" err="1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Paddle.js</a:t>
                </a:r>
                <a:endParaRPr sz="10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74" name="安全与加密"/>
              <p:cNvSpPr txBox="1"/>
              <p:nvPr/>
            </p:nvSpPr>
            <p:spPr>
              <a:xfrm>
                <a:off x="9443129" y="5086918"/>
                <a:ext cx="813262" cy="48588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88193" tIns="88193" rIns="88193" bIns="88193" anchor="ctr">
                <a:spAutoFit/>
              </a:bodyPr>
              <a:lstStyle>
                <a:lvl1pPr>
                  <a:defRPr sz="2100"/>
                </a:lvl1pPr>
              </a:lstStyle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Security &amp; Encryption </a:t>
                </a:r>
              </a:p>
            </p:txBody>
          </p:sp>
          <p:sp>
            <p:nvSpPr>
              <p:cNvPr id="75" name="AI Studio…"/>
              <p:cNvSpPr txBox="1"/>
              <p:nvPr/>
            </p:nvSpPr>
            <p:spPr>
              <a:xfrm>
                <a:off x="10429704" y="3999951"/>
                <a:ext cx="1170225" cy="39355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88193" tIns="88193" rIns="88193" bIns="88193" anchor="ctr">
                <a:spAutoFit/>
              </a:bodyPr>
              <a:lstStyle/>
              <a:p>
                <a:pPr algn="ctr">
                  <a:lnSpc>
                    <a:spcPct val="120000"/>
                  </a:lnSpc>
                  <a:defRPr sz="2300"/>
                </a:pPr>
                <a:r>
                  <a:rPr sz="12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AI Studio</a:t>
                </a:r>
              </a:p>
            </p:txBody>
          </p:sp>
          <p:sp>
            <p:nvSpPr>
              <p:cNvPr id="76" name="工具组件"/>
              <p:cNvSpPr txBox="1"/>
              <p:nvPr/>
            </p:nvSpPr>
            <p:spPr>
              <a:xfrm>
                <a:off x="583600" y="2835980"/>
                <a:ext cx="1167304" cy="61515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88193" tIns="88193" rIns="88193" bIns="88193" anchor="ctr">
                <a:spAutoFit/>
              </a:bodyPr>
              <a:lstStyle>
                <a:lvl1pPr>
                  <a:lnSpc>
                    <a:spcPct val="120000"/>
                  </a:lnSpc>
                  <a:defRPr sz="2300"/>
                </a:lvl1pPr>
              </a:lstStyle>
              <a:p>
                <a:pPr algn="ctr"/>
                <a:r>
                  <a:rPr lang="en-US" altLang="zh-CN" sz="12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Tools &amp; Components</a:t>
                </a:r>
              </a:p>
            </p:txBody>
          </p:sp>
          <p:sp>
            <p:nvSpPr>
              <p:cNvPr id="77" name="端到端开发套件"/>
              <p:cNvSpPr txBox="1"/>
              <p:nvPr/>
            </p:nvSpPr>
            <p:spPr>
              <a:xfrm>
                <a:off x="468099" y="3682130"/>
                <a:ext cx="1509063" cy="61515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88193" tIns="88193" rIns="88193" bIns="88193" anchor="ctr">
                <a:spAutoFit/>
              </a:bodyPr>
              <a:lstStyle>
                <a:lvl1pPr>
                  <a:lnSpc>
                    <a:spcPct val="120000"/>
                  </a:lnSpc>
                  <a:defRPr sz="2300"/>
                </a:lvl1pPr>
              </a:lstStyle>
              <a:p>
                <a:pPr algn="ctr"/>
                <a:r>
                  <a:rPr lang="en-US" altLang="zh-CN" sz="12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End-to-End Development Kits</a:t>
                </a:r>
              </a:p>
            </p:txBody>
          </p:sp>
          <p:sp>
            <p:nvSpPr>
              <p:cNvPr id="78" name="基础模型库"/>
              <p:cNvSpPr txBox="1"/>
              <p:nvPr/>
            </p:nvSpPr>
            <p:spPr>
              <a:xfrm>
                <a:off x="541453" y="4198738"/>
                <a:ext cx="1310501" cy="61515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88193" tIns="88193" rIns="88193" bIns="88193" anchor="ctr">
                <a:spAutoFit/>
              </a:bodyPr>
              <a:lstStyle>
                <a:lvl1pPr>
                  <a:lnSpc>
                    <a:spcPct val="120000"/>
                  </a:lnSpc>
                  <a:defRPr sz="2300"/>
                </a:lvl1pPr>
              </a:lstStyle>
              <a:p>
                <a:pPr algn="ctr"/>
                <a:r>
                  <a:rPr lang="en-US" altLang="zh-CN" sz="12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Basic Models Bank</a:t>
                </a:r>
              </a:p>
            </p:txBody>
          </p:sp>
          <p:sp>
            <p:nvSpPr>
              <p:cNvPr id="79" name="核心框架"/>
              <p:cNvSpPr txBox="1"/>
              <p:nvPr/>
            </p:nvSpPr>
            <p:spPr>
              <a:xfrm>
                <a:off x="652264" y="4882578"/>
                <a:ext cx="1029894" cy="61515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88193" tIns="88193" rIns="88193" bIns="88193" anchor="ctr">
                <a:spAutoFit/>
              </a:bodyPr>
              <a:lstStyle>
                <a:lvl1pPr>
                  <a:lnSpc>
                    <a:spcPct val="120000"/>
                  </a:lnSpc>
                  <a:defRPr sz="2300"/>
                </a:lvl1pPr>
              </a:lstStyle>
              <a:p>
                <a:pPr algn="ctr"/>
                <a:r>
                  <a:rPr lang="en-US" altLang="zh-CN" sz="12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Core Framework</a:t>
                </a:r>
              </a:p>
            </p:txBody>
          </p:sp>
          <p:sp>
            <p:nvSpPr>
              <p:cNvPr id="80" name="BML 全功能AI开发平台"/>
              <p:cNvSpPr txBox="1"/>
              <p:nvPr/>
            </p:nvSpPr>
            <p:spPr>
              <a:xfrm>
                <a:off x="8032530" y="1689592"/>
                <a:ext cx="1755463" cy="56282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>
                <a:lvl1pPr>
                  <a:lnSpc>
                    <a:spcPct val="230000"/>
                  </a:lnSpc>
                  <a:defRPr sz="2100">
                    <a:solidFill>
                      <a:schemeClr val="accent1"/>
                    </a:solidFill>
                  </a:defRPr>
                </a:lvl1pPr>
              </a:lstStyle>
              <a:p>
                <a:pPr algn="ctr"/>
                <a:r>
                  <a:rPr sz="1200" dirty="0" err="1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BML全功能</a:t>
                </a:r>
                <a:r>
                  <a:rPr lang="zh-CN" altLang="en-US" sz="12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sz="1200" dirty="0" err="1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AI开发平台</a:t>
                </a:r>
                <a:endParaRPr sz="12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81" name="飞 桨 企 业 版"/>
              <p:cNvSpPr txBox="1"/>
              <p:nvPr/>
            </p:nvSpPr>
            <p:spPr>
              <a:xfrm>
                <a:off x="5545689" y="1547394"/>
                <a:ext cx="947550" cy="36277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>
                <a:lvl1pPr>
                  <a:lnSpc>
                    <a:spcPct val="250000"/>
                  </a:lnSpc>
                  <a:defRPr sz="2100">
                    <a:solidFill>
                      <a:schemeClr val="accent1"/>
                    </a:solidFill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sz="1200" dirty="0" err="1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飞桨企业版</a:t>
                </a:r>
                <a:endParaRPr sz="12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82" name="飞 桨 开 源 深 度 学 习 平 台"/>
              <p:cNvSpPr txBox="1"/>
              <p:nvPr/>
            </p:nvSpPr>
            <p:spPr>
              <a:xfrm>
                <a:off x="5489874" y="2351399"/>
                <a:ext cx="1136454" cy="36277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>
                <a:lvl1pPr>
                  <a:lnSpc>
                    <a:spcPct val="250000"/>
                  </a:lnSpc>
                  <a:defRPr sz="2100">
                    <a:solidFill>
                      <a:schemeClr val="accent1"/>
                    </a:solidFill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1200" dirty="0" err="1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PaddlePaddle</a:t>
                </a:r>
                <a:endParaRPr sz="12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83" name="文本框 82"/>
              <p:cNvSpPr txBox="1"/>
              <p:nvPr/>
            </p:nvSpPr>
            <p:spPr>
              <a:xfrm>
                <a:off x="1725480" y="1892848"/>
                <a:ext cx="395684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altLang="zh-CN" sz="1200" dirty="0" err="1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EasyDL</a:t>
                </a:r>
                <a:r>
                  <a:rPr lang="en-GB" altLang="zh-CN" sz="12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2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零门槛</a:t>
                </a:r>
                <a:r>
                  <a:rPr lang="en-GB" altLang="zh-CN" sz="12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AI</a:t>
                </a:r>
                <a:r>
                  <a:rPr lang="zh-CN" altLang="en-US" sz="12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开发平台 </a:t>
                </a:r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508000" y="4278422"/>
                <a:ext cx="9736764" cy="1288548"/>
              </a:xfrm>
              <a:prstGeom prst="rect">
                <a:avLst/>
              </a:prstGeom>
              <a:noFill/>
              <a:ln w="38100">
                <a:solidFill>
                  <a:srgbClr val="2234C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/>
              </a:p>
            </p:txBody>
          </p:sp>
          <p:cxnSp>
            <p:nvCxnSpPr>
              <p:cNvPr id="85" name="直接连接符 84"/>
              <p:cNvCxnSpPr/>
              <p:nvPr/>
            </p:nvCxnSpPr>
            <p:spPr>
              <a:xfrm>
                <a:off x="508000" y="4754103"/>
                <a:ext cx="9736764" cy="0"/>
              </a:xfrm>
              <a:prstGeom prst="line">
                <a:avLst/>
              </a:prstGeom>
              <a:ln w="57150">
                <a:solidFill>
                  <a:srgbClr val="2234C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6" name="图片 85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73852" y="3671632"/>
                <a:ext cx="7470910" cy="553201"/>
              </a:xfrm>
              <a:prstGeom prst="rect">
                <a:avLst/>
              </a:prstGeom>
            </p:spPr>
          </p:pic>
          <p:pic>
            <p:nvPicPr>
              <p:cNvPr id="87" name="图片 86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57687" y="3649691"/>
                <a:ext cx="6459865" cy="583092"/>
              </a:xfrm>
              <a:prstGeom prst="rect">
                <a:avLst/>
              </a:prstGeom>
            </p:spPr>
          </p:pic>
          <p:pic>
            <p:nvPicPr>
              <p:cNvPr id="88" name="图片 87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338271" y="3637319"/>
                <a:ext cx="918120" cy="598984"/>
              </a:xfrm>
              <a:prstGeom prst="rect">
                <a:avLst/>
              </a:prstGeom>
            </p:spPr>
          </p:pic>
          <p:sp>
            <p:nvSpPr>
              <p:cNvPr id="89" name="PaddleDetection…"/>
              <p:cNvSpPr txBox="1"/>
              <p:nvPr/>
            </p:nvSpPr>
            <p:spPr>
              <a:xfrm>
                <a:off x="3696179" y="3779990"/>
                <a:ext cx="1119184" cy="33199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/>
              <a:p>
                <a:pPr algn="ctr">
                  <a:defRPr sz="2100"/>
                </a:pPr>
                <a:r>
                  <a:rPr sz="1000" dirty="0" err="1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PaddleDetection</a:t>
                </a:r>
                <a:endParaRPr sz="10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90" name="PaddleSeg…"/>
              <p:cNvSpPr txBox="1"/>
              <p:nvPr/>
            </p:nvSpPr>
            <p:spPr>
              <a:xfrm>
                <a:off x="4753471" y="3779990"/>
                <a:ext cx="805597" cy="33199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/>
              <a:p>
                <a:pPr algn="ctr">
                  <a:defRPr sz="2100"/>
                </a:pPr>
                <a:r>
                  <a:rPr sz="1000" dirty="0" err="1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PaddleSeg</a:t>
                </a:r>
                <a:endParaRPr sz="10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91" name="PLSC…"/>
              <p:cNvSpPr txBox="1"/>
              <p:nvPr/>
            </p:nvSpPr>
            <p:spPr>
              <a:xfrm>
                <a:off x="7682696" y="3779990"/>
                <a:ext cx="513111" cy="33199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/>
              <a:p>
                <a:pPr algn="ctr">
                  <a:defRPr sz="2100"/>
                </a:pPr>
                <a:r>
                  <a:rPr sz="10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PLSC</a:t>
                </a:r>
              </a:p>
            </p:txBody>
          </p:sp>
          <p:sp>
            <p:nvSpPr>
              <p:cNvPr id="92" name="ElasticCTR…"/>
              <p:cNvSpPr txBox="1"/>
              <p:nvPr/>
            </p:nvSpPr>
            <p:spPr>
              <a:xfrm>
                <a:off x="8457516" y="3779990"/>
                <a:ext cx="819372" cy="33199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/>
              <a:p>
                <a:pPr algn="ctr">
                  <a:defRPr sz="2100"/>
                </a:pPr>
                <a:r>
                  <a:rPr sz="1000" dirty="0" err="1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ElasticCTR</a:t>
                </a:r>
                <a:endParaRPr sz="10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93" name="Parakeet…"/>
              <p:cNvSpPr txBox="1"/>
              <p:nvPr/>
            </p:nvSpPr>
            <p:spPr>
              <a:xfrm>
                <a:off x="9443129" y="3779990"/>
                <a:ext cx="691383" cy="33199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/>
              <a:p>
                <a:pPr algn="ctr">
                  <a:defRPr sz="2100"/>
                </a:pPr>
                <a:r>
                  <a:rPr sz="10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Parakeet</a:t>
                </a:r>
              </a:p>
            </p:txBody>
          </p:sp>
          <p:sp>
            <p:nvSpPr>
              <p:cNvPr id="94" name="PaddleSeg…"/>
              <p:cNvSpPr txBox="1"/>
              <p:nvPr/>
            </p:nvSpPr>
            <p:spPr>
              <a:xfrm>
                <a:off x="5658784" y="3779990"/>
                <a:ext cx="862390" cy="33199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/>
              <a:p>
                <a:pPr algn="ctr">
                  <a:defRPr sz="2100"/>
                </a:pPr>
                <a:r>
                  <a:rPr sz="1000" dirty="0" err="1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Paddle</a:t>
                </a:r>
                <a:r>
                  <a:rPr lang="en-US" sz="1000" dirty="0" err="1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OCR</a:t>
                </a:r>
                <a:endParaRPr sz="10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pic>
            <p:nvPicPr>
              <p:cNvPr id="95" name="图片 94"/>
              <p:cNvPicPr>
                <a:picLocks noChangeAspect="1"/>
              </p:cNvPicPr>
              <p:nvPr/>
            </p:nvPicPr>
            <p:blipFill rotWithShape="1">
              <a:blip r:embed="rId9"/>
              <a:srcRect r="85470"/>
              <a:stretch>
                <a:fillRect/>
              </a:stretch>
            </p:blipFill>
            <p:spPr>
              <a:xfrm>
                <a:off x="1905542" y="3652851"/>
                <a:ext cx="952145" cy="583092"/>
              </a:xfrm>
              <a:prstGeom prst="rect">
                <a:avLst/>
              </a:prstGeom>
            </p:spPr>
          </p:pic>
          <p:sp>
            <p:nvSpPr>
              <p:cNvPr id="96" name="ERNIE…"/>
              <p:cNvSpPr txBox="1"/>
              <p:nvPr/>
            </p:nvSpPr>
            <p:spPr>
              <a:xfrm>
                <a:off x="2093115" y="3779990"/>
                <a:ext cx="570030" cy="33199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/>
              <a:p>
                <a:pPr algn="ctr">
                  <a:defRPr sz="2100"/>
                </a:pPr>
                <a:r>
                  <a:rPr sz="10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ERNIE</a:t>
                </a:r>
              </a:p>
            </p:txBody>
          </p:sp>
          <p:sp>
            <p:nvSpPr>
              <p:cNvPr id="97" name="PaddleClas…"/>
              <p:cNvSpPr txBox="1"/>
              <p:nvPr/>
            </p:nvSpPr>
            <p:spPr>
              <a:xfrm>
                <a:off x="2884503" y="3779990"/>
                <a:ext cx="833962" cy="33199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/>
              <a:p>
                <a:pPr algn="ctr">
                  <a:defRPr sz="2100"/>
                </a:pPr>
                <a:r>
                  <a:rPr sz="1000" dirty="0" err="1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PaddleClas</a:t>
                </a:r>
                <a:endParaRPr sz="10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98" name="PaddleSeg…"/>
              <p:cNvSpPr txBox="1"/>
              <p:nvPr/>
            </p:nvSpPr>
            <p:spPr>
              <a:xfrm>
                <a:off x="6597999" y="3779990"/>
                <a:ext cx="855315" cy="33199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/>
              <a:p>
                <a:pPr algn="ctr">
                  <a:defRPr sz="2100"/>
                </a:pPr>
                <a:r>
                  <a:rPr sz="1000" dirty="0" err="1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Paddle</a:t>
                </a:r>
                <a:r>
                  <a:rPr lang="en-US" sz="1000" dirty="0" err="1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GAN</a:t>
                </a:r>
                <a:endParaRPr sz="10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99" name="PaddleHub 预训练模型应用工具"/>
              <p:cNvSpPr txBox="1"/>
              <p:nvPr/>
            </p:nvSpPr>
            <p:spPr>
              <a:xfrm>
                <a:off x="2506663" y="3218621"/>
                <a:ext cx="876129" cy="34738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>
                <a:lvl1pPr>
                  <a:defRPr sz="2100"/>
                </a:lvl1pPr>
              </a:lstStyle>
              <a:p>
                <a:pPr algn="ctr"/>
                <a:r>
                  <a:rPr sz="1050" dirty="0" err="1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PaddleHub</a:t>
                </a:r>
                <a:endParaRPr lang="en-US" altLang="zh-CN" sz="105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00" name="PaddleX 全流程开发工具"/>
              <p:cNvSpPr txBox="1"/>
              <p:nvPr/>
            </p:nvSpPr>
            <p:spPr>
              <a:xfrm>
                <a:off x="4688893" y="3218622"/>
                <a:ext cx="711439" cy="34738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>
                <a:lvl1pPr>
                  <a:defRPr sz="2100"/>
                </a:lvl1pPr>
              </a:lstStyle>
              <a:p>
                <a:pPr algn="ctr"/>
                <a:r>
                  <a:rPr sz="1050" dirty="0" err="1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PaddleX</a:t>
                </a:r>
                <a:endParaRPr lang="en-US" altLang="zh-CN" sz="105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01" name="VisualDL 可视化分析工具"/>
              <p:cNvSpPr txBox="1"/>
              <p:nvPr/>
            </p:nvSpPr>
            <p:spPr>
              <a:xfrm>
                <a:off x="6804093" y="3218622"/>
                <a:ext cx="747682" cy="34738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>
                <a:lvl1pPr>
                  <a:defRPr sz="2100"/>
                </a:lvl1pPr>
              </a:lstStyle>
              <a:p>
                <a:pPr algn="ctr"/>
                <a:r>
                  <a:rPr sz="1050" dirty="0" err="1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VisualDL</a:t>
                </a:r>
                <a:r>
                  <a:rPr sz="105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endParaRPr lang="en-US" altLang="zh-CN" sz="105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02" name="PaddleCloud 云上任务提交工具"/>
              <p:cNvSpPr txBox="1"/>
              <p:nvPr/>
            </p:nvSpPr>
            <p:spPr>
              <a:xfrm>
                <a:off x="8767971" y="3218622"/>
                <a:ext cx="985922" cy="34738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>
                <a:lvl1pPr>
                  <a:defRPr sz="2100"/>
                </a:lvl1pPr>
              </a:lstStyle>
              <a:p>
                <a:pPr algn="ctr"/>
                <a:r>
                  <a:rPr sz="1050" dirty="0" err="1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PaddleCloud</a:t>
                </a:r>
                <a:r>
                  <a:rPr sz="105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endParaRPr lang="en-US" altLang="zh-CN" sz="105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pic>
            <p:nvPicPr>
              <p:cNvPr id="103" name="图片 102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05543" y="2665750"/>
                <a:ext cx="7143208" cy="494959"/>
              </a:xfrm>
              <a:prstGeom prst="rect">
                <a:avLst/>
              </a:prstGeom>
            </p:spPr>
          </p:pic>
          <p:pic>
            <p:nvPicPr>
              <p:cNvPr id="104" name="图片 103"/>
              <p:cNvPicPr>
                <a:picLocks noChangeAspect="1"/>
              </p:cNvPicPr>
              <p:nvPr/>
            </p:nvPicPr>
            <p:blipFill rotWithShape="1">
              <a:blip r:embed="rId11"/>
              <a:srcRect l="83199"/>
              <a:stretch>
                <a:fillRect/>
              </a:stretch>
            </p:blipFill>
            <p:spPr>
              <a:xfrm>
                <a:off x="9047899" y="2665140"/>
                <a:ext cx="1200151" cy="494959"/>
              </a:xfrm>
              <a:prstGeom prst="rect">
                <a:avLst/>
              </a:prstGeom>
            </p:spPr>
          </p:pic>
          <p:sp>
            <p:nvSpPr>
              <p:cNvPr id="105" name="AutoDL 自动化深度学习"/>
              <p:cNvSpPr txBox="1"/>
              <p:nvPr/>
            </p:nvSpPr>
            <p:spPr>
              <a:xfrm>
                <a:off x="2203285" y="2749591"/>
                <a:ext cx="656210" cy="34738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>
                <a:lvl1pPr>
                  <a:defRPr sz="2100"/>
                </a:lvl1pPr>
              </a:lstStyle>
              <a:p>
                <a:pPr algn="ctr"/>
                <a:r>
                  <a:rPr sz="1050" dirty="0" err="1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AutoDL</a:t>
                </a:r>
                <a:r>
                  <a:rPr sz="105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endParaRPr lang="en-US" altLang="zh-CN" sz="105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06" name="PARL 强化学习"/>
              <p:cNvSpPr txBox="1"/>
              <p:nvPr/>
            </p:nvSpPr>
            <p:spPr>
              <a:xfrm>
                <a:off x="3278059" y="2749591"/>
                <a:ext cx="803419" cy="34738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88193" tIns="88193" rIns="88193" bIns="88193" anchor="ctr">
                <a:spAutoFit/>
              </a:bodyPr>
              <a:lstStyle>
                <a:lvl1pPr>
                  <a:defRPr sz="2100"/>
                </a:lvl1pPr>
              </a:lstStyle>
              <a:p>
                <a:pPr algn="ctr"/>
                <a:r>
                  <a:rPr sz="105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PARL </a:t>
                </a:r>
                <a:endParaRPr lang="en-US" altLang="zh-CN" sz="105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07" name="Paddle Quantum…"/>
              <p:cNvSpPr txBox="1"/>
              <p:nvPr/>
            </p:nvSpPr>
            <p:spPr>
              <a:xfrm>
                <a:off x="7854263" y="2753438"/>
                <a:ext cx="1188658" cy="33969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/>
              <a:p>
                <a:pPr algn="ctr">
                  <a:defRPr sz="2100"/>
                </a:pPr>
                <a:r>
                  <a:rPr sz="105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Paddle Quantum </a:t>
                </a:r>
              </a:p>
            </p:txBody>
          </p:sp>
          <p:sp>
            <p:nvSpPr>
              <p:cNvPr id="108" name="PALM 多任务学习"/>
              <p:cNvSpPr txBox="1"/>
              <p:nvPr/>
            </p:nvSpPr>
            <p:spPr>
              <a:xfrm>
                <a:off x="4629399" y="2749592"/>
                <a:ext cx="551777" cy="34738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>
                <a:lvl1pPr>
                  <a:defRPr sz="2100"/>
                </a:lvl1pPr>
              </a:lstStyle>
              <a:p>
                <a:pPr algn="ctr"/>
                <a:r>
                  <a:rPr sz="105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PALM </a:t>
                </a:r>
                <a:endParaRPr lang="en-US" altLang="zh-CN" sz="105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09" name="PaddleFL 联邦学习"/>
              <p:cNvSpPr txBox="1"/>
              <p:nvPr/>
            </p:nvSpPr>
            <p:spPr>
              <a:xfrm>
                <a:off x="5546751" y="2749591"/>
                <a:ext cx="1010904" cy="34738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88193" tIns="88193" rIns="88193" bIns="88193" anchor="ctr">
                <a:spAutoFit/>
              </a:bodyPr>
              <a:lstStyle>
                <a:lvl1pPr>
                  <a:defRPr sz="2100"/>
                </a:lvl1pPr>
              </a:lstStyle>
              <a:p>
                <a:pPr algn="ctr"/>
                <a:r>
                  <a:rPr sz="1050" dirty="0" err="1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PaddleFL</a:t>
                </a:r>
                <a:endParaRPr lang="en-US" altLang="zh-CN" sz="105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10" name="Paddle Quantum…"/>
              <p:cNvSpPr txBox="1"/>
              <p:nvPr/>
            </p:nvSpPr>
            <p:spPr>
              <a:xfrm>
                <a:off x="9135646" y="2749591"/>
                <a:ext cx="930887" cy="34738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/>
              <a:p>
                <a:pPr algn="ctr" defTabSz="913765">
                  <a:defRPr sz="2100"/>
                </a:pPr>
                <a:r>
                  <a:rPr sz="1050" dirty="0" err="1">
                    <a:solidFill>
                      <a:prstClr val="whit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Paddle</a:t>
                </a:r>
                <a:r>
                  <a:rPr lang="en-US" sz="1050" dirty="0" err="1">
                    <a:solidFill>
                      <a:prstClr val="whit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Helix</a:t>
                </a:r>
                <a:r>
                  <a:rPr sz="1050" dirty="0">
                    <a:solidFill>
                      <a:prstClr val="whit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</a:p>
            </p:txBody>
          </p:sp>
          <p:sp>
            <p:nvSpPr>
              <p:cNvPr id="111" name="PGL 图神经网络"/>
              <p:cNvSpPr txBox="1"/>
              <p:nvPr/>
            </p:nvSpPr>
            <p:spPr>
              <a:xfrm>
                <a:off x="7010374" y="2749592"/>
                <a:ext cx="455140" cy="34738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88193" tIns="88193" rIns="88193" bIns="88193" anchor="ctr">
                <a:spAutoFit/>
              </a:bodyPr>
              <a:lstStyle>
                <a:lvl1pPr>
                  <a:defRPr sz="2100"/>
                </a:lvl1pPr>
              </a:lstStyle>
              <a:p>
                <a:pPr algn="ctr"/>
                <a:r>
                  <a:rPr sz="105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PGL </a:t>
                </a:r>
                <a:endParaRPr lang="en-US" altLang="zh-CN" sz="105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pic>
          <p:nvPicPr>
            <p:cNvPr id="4" name="图片 3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00300" y="1441606"/>
              <a:ext cx="11608933" cy="874380"/>
            </a:xfrm>
            <a:prstGeom prst="rect">
              <a:avLst/>
            </a:prstGeom>
          </p:spPr>
        </p:pic>
      </p:grpSp>
      <p:sp>
        <p:nvSpPr>
          <p:cNvPr id="10" name="TextBox 3"/>
          <p:cNvSpPr txBox="1"/>
          <p:nvPr/>
        </p:nvSpPr>
        <p:spPr>
          <a:xfrm>
            <a:off x="612775" y="1119505"/>
            <a:ext cx="9979660" cy="2171065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marL="571500" indent="-285750" fontAlgn="auto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</a:pPr>
            <a:r>
              <a:rPr kumimoji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Agile </a:t>
            </a:r>
            <a:r>
              <a:rPr kumimoji="1"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f</a:t>
            </a:r>
            <a:r>
              <a:rPr kumimoji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ramework for Industrial</a:t>
            </a:r>
            <a:r>
              <a:rPr kumimoji="1"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-level d</a:t>
            </a:r>
            <a:r>
              <a:rPr kumimoji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evelopment of </a:t>
            </a:r>
            <a:r>
              <a:rPr kumimoji="1"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</a:t>
            </a:r>
            <a:r>
              <a:rPr kumimoji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eep </a:t>
            </a:r>
            <a:r>
              <a:rPr kumimoji="1"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n</a:t>
            </a:r>
            <a:r>
              <a:rPr kumimoji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eural </a:t>
            </a:r>
            <a:r>
              <a:rPr kumimoji="1"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n</a:t>
            </a:r>
            <a:r>
              <a:rPr kumimoji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etworks</a:t>
            </a:r>
          </a:p>
          <a:p>
            <a:pPr marL="571500" indent="-285750" fontAlgn="auto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</a:pPr>
            <a:r>
              <a:rPr kumimoji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Support</a:t>
            </a:r>
            <a:r>
              <a:rPr kumimoji="1"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</a:t>
            </a:r>
            <a:r>
              <a:rPr kumimoji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Ultra-Large-Scale </a:t>
            </a:r>
            <a:r>
              <a:rPr kumimoji="1"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t</a:t>
            </a:r>
            <a:r>
              <a:rPr kumimoji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raining of </a:t>
            </a:r>
            <a:r>
              <a:rPr kumimoji="1"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</a:t>
            </a:r>
            <a:r>
              <a:rPr kumimoji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eep </a:t>
            </a:r>
            <a:r>
              <a:rPr kumimoji="1"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n</a:t>
            </a:r>
            <a:r>
              <a:rPr kumimoji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eural</a:t>
            </a:r>
            <a:r>
              <a:rPr kumimoji="1"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n</a:t>
            </a:r>
            <a:r>
              <a:rPr kumimoji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etworks</a:t>
            </a:r>
          </a:p>
          <a:p>
            <a:pPr marL="571500" indent="-285750" fontAlgn="auto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</a:pPr>
            <a:r>
              <a:rPr kumimoji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High-Performance </a:t>
            </a:r>
            <a:r>
              <a:rPr kumimoji="1"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</a:t>
            </a:r>
            <a:r>
              <a:rPr kumimoji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nference over </a:t>
            </a:r>
            <a:r>
              <a:rPr kumimoji="1"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ubiquitous</a:t>
            </a:r>
            <a:r>
              <a:rPr kumimoji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environments</a:t>
            </a:r>
            <a:endParaRPr kumimoji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571500" indent="-285750" fontAlgn="auto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</a:pPr>
            <a:r>
              <a:rPr kumimoji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Industry-</a:t>
            </a:r>
            <a:r>
              <a:rPr kumimoji="1"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leading and fully open sourced</a:t>
            </a:r>
            <a:r>
              <a:rPr kumimoji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m</a:t>
            </a:r>
            <a:r>
              <a:rPr kumimoji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odels and </a:t>
            </a:r>
            <a:r>
              <a:rPr kumimoji="1" 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development kits</a:t>
            </a:r>
            <a:endParaRPr kumimoji="1" sz="1400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 fontAlgn="auto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</a:pPr>
            <a:endParaRPr kumimoji="1" sz="1400" dirty="0">
              <a:solidFill>
                <a:schemeClr val="tx1">
                  <a:lumMod val="50000"/>
                  <a:lumOff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 txBox="1"/>
          <p:nvPr/>
        </p:nvSpPr>
        <p:spPr>
          <a:xfrm>
            <a:off x="445450" y="179190"/>
            <a:ext cx="8764585" cy="8202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PaddlePaddle</a:t>
            </a:r>
            <a:r>
              <a:rPr lang="zh-CN" altLang="en-US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lang="zh-CN" altLang="en-US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ONNX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27972"/>
            <a:ext cx="12192000" cy="330028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8972" y="443976"/>
            <a:ext cx="1953027" cy="545440"/>
          </a:xfrm>
          <a:prstGeom prst="rect">
            <a:avLst/>
          </a:prstGeom>
        </p:spPr>
      </p:pic>
      <p:pic>
        <p:nvPicPr>
          <p:cNvPr id="114" name="图片 113">
            <a:extLst>
              <a:ext uri="{FF2B5EF4-FFF2-40B4-BE49-F238E27FC236}">
                <a16:creationId xmlns:a16="http://schemas.microsoft.com/office/drawing/2014/main" id="{062954E1-3740-8B4F-B9DC-073341C0F7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569" y="3404042"/>
            <a:ext cx="5357390" cy="1992581"/>
          </a:xfrm>
          <a:prstGeom prst="rect">
            <a:avLst/>
          </a:prstGeom>
        </p:spPr>
      </p:pic>
      <p:sp>
        <p:nvSpPr>
          <p:cNvPr id="115" name="圆角矩形 114">
            <a:extLst>
              <a:ext uri="{FF2B5EF4-FFF2-40B4-BE49-F238E27FC236}">
                <a16:creationId xmlns:a16="http://schemas.microsoft.com/office/drawing/2014/main" id="{FDCAD320-C833-6046-B9B7-2CAFBD6E0FA5}"/>
              </a:ext>
            </a:extLst>
          </p:cNvPr>
          <p:cNvSpPr/>
          <p:nvPr/>
        </p:nvSpPr>
        <p:spPr>
          <a:xfrm>
            <a:off x="346544" y="2977892"/>
            <a:ext cx="5357390" cy="2741465"/>
          </a:xfrm>
          <a:prstGeom prst="roundRect">
            <a:avLst>
              <a:gd name="adj" fmla="val 3086"/>
            </a:avLst>
          </a:prstGeom>
          <a:noFill/>
          <a:ln w="19050">
            <a:solidFill>
              <a:srgbClr val="0800FF"/>
            </a:solidFill>
            <a:prstDash val="lgDash"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A7569DDF-0590-C44F-8717-7EB4A043B1BC}"/>
              </a:ext>
            </a:extLst>
          </p:cNvPr>
          <p:cNvSpPr/>
          <p:nvPr/>
        </p:nvSpPr>
        <p:spPr>
          <a:xfrm>
            <a:off x="820201" y="2758867"/>
            <a:ext cx="4410075" cy="411480"/>
          </a:xfrm>
          <a:prstGeom prst="rect">
            <a:avLst/>
          </a:prstGeom>
          <a:solidFill>
            <a:srgbClr val="08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微软雅黑" charset="0"/>
                <a:ea typeface="微软雅黑" charset="0"/>
              </a:rPr>
              <a:t>Export ONNX model by PaddlePaddle 2.0</a:t>
            </a:r>
          </a:p>
        </p:txBody>
      </p:sp>
      <p:sp>
        <p:nvSpPr>
          <p:cNvPr id="118" name="圆角矩形 117">
            <a:extLst>
              <a:ext uri="{FF2B5EF4-FFF2-40B4-BE49-F238E27FC236}">
                <a16:creationId xmlns:a16="http://schemas.microsoft.com/office/drawing/2014/main" id="{F7A60A98-46CA-BE48-81B1-D796AE71B7AF}"/>
              </a:ext>
            </a:extLst>
          </p:cNvPr>
          <p:cNvSpPr/>
          <p:nvPr/>
        </p:nvSpPr>
        <p:spPr>
          <a:xfrm>
            <a:off x="6549031" y="2977893"/>
            <a:ext cx="5330190" cy="2741464"/>
          </a:xfrm>
          <a:prstGeom prst="roundRect">
            <a:avLst>
              <a:gd name="adj" fmla="val 3086"/>
            </a:avLst>
          </a:prstGeom>
          <a:noFill/>
          <a:ln w="19050">
            <a:solidFill>
              <a:srgbClr val="0800FF"/>
            </a:solidFill>
            <a:prstDash val="lgDash"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1A72B7A4-771D-6945-A805-FDED30BB91E7}"/>
              </a:ext>
            </a:extLst>
          </p:cNvPr>
          <p:cNvSpPr/>
          <p:nvPr/>
        </p:nvSpPr>
        <p:spPr>
          <a:xfrm>
            <a:off x="8341929" y="2758867"/>
            <a:ext cx="1767840" cy="411480"/>
          </a:xfrm>
          <a:prstGeom prst="rect">
            <a:avLst/>
          </a:prstGeom>
          <a:solidFill>
            <a:srgbClr val="08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微软雅黑" charset="0"/>
                <a:ea typeface="微软雅黑" charset="0"/>
              </a:rPr>
              <a:t>More Backends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EE4D4D-C2EC-774A-A437-E98B052325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683" y="3724946"/>
            <a:ext cx="5072886" cy="1610652"/>
          </a:xfrm>
          <a:prstGeom prst="rect">
            <a:avLst/>
          </a:prstGeom>
        </p:spPr>
      </p:pic>
      <p:sp>
        <p:nvSpPr>
          <p:cNvPr id="6" name="虚尾箭头 5">
            <a:extLst>
              <a:ext uri="{FF2B5EF4-FFF2-40B4-BE49-F238E27FC236}">
                <a16:creationId xmlns:a16="http://schemas.microsoft.com/office/drawing/2014/main" id="{A2B37C98-4A3B-E146-87E3-0EC265930759}"/>
              </a:ext>
            </a:extLst>
          </p:cNvPr>
          <p:cNvSpPr/>
          <p:nvPr/>
        </p:nvSpPr>
        <p:spPr>
          <a:xfrm>
            <a:off x="5842486" y="4101249"/>
            <a:ext cx="642219" cy="494749"/>
          </a:xfrm>
          <a:prstGeom prst="stripedRightArrow">
            <a:avLst/>
          </a:prstGeom>
          <a:solidFill>
            <a:srgbClr val="410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0" name="TextBox 3">
            <a:extLst>
              <a:ext uri="{FF2B5EF4-FFF2-40B4-BE49-F238E27FC236}">
                <a16:creationId xmlns:a16="http://schemas.microsoft.com/office/drawing/2014/main" id="{B5F6E353-47DB-B44D-893F-4CA76ADD289D}"/>
              </a:ext>
            </a:extLst>
          </p:cNvPr>
          <p:cNvSpPr txBox="1"/>
          <p:nvPr/>
        </p:nvSpPr>
        <p:spPr>
          <a:xfrm>
            <a:off x="664229" y="1135876"/>
            <a:ext cx="9979660" cy="1300027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marL="571500" indent="-285750" fontAlgn="auto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</a:pPr>
            <a:r>
              <a:rPr kumimoji="1" lang="en-US" altLang="zh-CN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Paddle2ONNX</a:t>
            </a:r>
            <a:r>
              <a:rPr kumimoji="1" lang="zh-CN" altLang="en-US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supports</a:t>
            </a:r>
            <a:r>
              <a:rPr kumimoji="1" lang="zh-CN" altLang="en-US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converting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PaddlePaddle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to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ONNX</a:t>
            </a:r>
          </a:p>
          <a:p>
            <a:pPr marL="571500" indent="-285750" fontAlgn="auto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</a:pPr>
            <a:r>
              <a:rPr kumimoji="1" lang="en-US" altLang="zh-CN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Integrat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with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PaddlePaddle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framework</a:t>
            </a:r>
          </a:p>
          <a:p>
            <a:pPr marL="571500" indent="-285750" fontAlgn="auto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</a:pP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Enrich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PaddlePaddle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model’s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deployment</a:t>
            </a:r>
            <a:endParaRPr kumimoji="1" dirty="0">
              <a:solidFill>
                <a:schemeClr val="tx1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5502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 txBox="1"/>
          <p:nvPr/>
        </p:nvSpPr>
        <p:spPr>
          <a:xfrm>
            <a:off x="445450" y="179190"/>
            <a:ext cx="8764585" cy="8202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News</a:t>
            </a:r>
            <a:r>
              <a:rPr lang="zh-CN" altLang="en-US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with</a:t>
            </a:r>
            <a:r>
              <a:rPr lang="zh-CN" altLang="en-US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Paddle2ONNX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27972"/>
            <a:ext cx="12192000" cy="330028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8972" y="443976"/>
            <a:ext cx="1953027" cy="545440"/>
          </a:xfrm>
          <a:prstGeom prst="rect">
            <a:avLst/>
          </a:prstGeom>
        </p:spPr>
      </p:pic>
      <p:sp>
        <p:nvSpPr>
          <p:cNvPr id="12" name="TextBox 3">
            <a:extLst>
              <a:ext uri="{FF2B5EF4-FFF2-40B4-BE49-F238E27FC236}">
                <a16:creationId xmlns:a16="http://schemas.microsoft.com/office/drawing/2014/main" id="{0E1B2FC6-0D5E-264A-BC7C-66268D93187B}"/>
              </a:ext>
            </a:extLst>
          </p:cNvPr>
          <p:cNvSpPr txBox="1"/>
          <p:nvPr/>
        </p:nvSpPr>
        <p:spPr>
          <a:xfrm>
            <a:off x="612775" y="1119505"/>
            <a:ext cx="9979660" cy="4856898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marL="571500" indent="-28575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Paddle2ONNX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V0.8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released</a:t>
            </a:r>
          </a:p>
          <a:p>
            <a:pPr marL="1028700" lvl="1" indent="-285750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</a:pP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160+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operators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supported</a:t>
            </a:r>
          </a:p>
          <a:p>
            <a:pPr marL="1028700" lvl="1" indent="-285750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</a:pP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About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100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networks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supported,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including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ppyolov2,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 err="1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ppocr</a:t>
            </a:r>
            <a:endParaRPr kumimoji="1"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1028700" lvl="1" indent="-285750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</a:pP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Custom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operators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is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supported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to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export</a:t>
            </a:r>
          </a:p>
          <a:p>
            <a:pPr marL="571500" indent="-285750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</a:pP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2021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PaddlePaddle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Hackathon</a:t>
            </a:r>
          </a:p>
          <a:p>
            <a:pPr marL="1028700" lvl="1" indent="-28575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50+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operators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supported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by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outside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contributors</a:t>
            </a:r>
          </a:p>
          <a:p>
            <a:pPr marL="571500" indent="-28575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Cooperation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with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Chip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Manufacturers</a:t>
            </a:r>
          </a:p>
          <a:p>
            <a:pPr marL="1028700" lvl="1" indent="-285750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</a:pP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Horizon Robotics,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Core Rain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support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PaddlePaddle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deployment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by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Paddle2ONNX</a:t>
            </a:r>
          </a:p>
          <a:p>
            <a:pPr marL="571500" indent="-285750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</a:pP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Applications</a:t>
            </a:r>
          </a:p>
          <a:p>
            <a:pPr marL="1028700" lvl="1" indent="-285750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</a:pP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20+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industry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manufacturers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deploy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PaddlePaddle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models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in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their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production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system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by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Paddle2ONNX</a:t>
            </a:r>
          </a:p>
        </p:txBody>
      </p:sp>
    </p:spTree>
    <p:extLst>
      <p:ext uri="{BB962C8B-B14F-4D97-AF65-F5344CB8AC3E}">
        <p14:creationId xmlns:p14="http://schemas.microsoft.com/office/powerpoint/2010/main" val="3282027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/>
          <p:cNvSpPr txBox="1"/>
          <p:nvPr/>
        </p:nvSpPr>
        <p:spPr>
          <a:xfrm>
            <a:off x="3418038" y="932686"/>
            <a:ext cx="4898155" cy="6847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5000" b="1" dirty="0">
                <a:solidFill>
                  <a:srgbClr val="08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Outline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10380" y="2635885"/>
            <a:ext cx="6162675" cy="653760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 altLang="zh-CN" sz="3200" dirty="0">
                <a:solidFill>
                  <a:srgbClr val="0800F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PaddlePaddle</a:t>
            </a:r>
            <a:r>
              <a:rPr lang="zh-CN" altLang="en-US" sz="3200" dirty="0">
                <a:solidFill>
                  <a:srgbClr val="0800F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lang="en-US" altLang="zh-CN" sz="3200" dirty="0">
                <a:solidFill>
                  <a:srgbClr val="0800F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&amp;</a:t>
            </a:r>
            <a:r>
              <a:rPr lang="zh-CN" altLang="en-US" sz="3200" dirty="0">
                <a:solidFill>
                  <a:srgbClr val="0800F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lang="en-US" altLang="zh-CN" sz="3200" dirty="0">
                <a:solidFill>
                  <a:srgbClr val="0800F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ONNX</a:t>
            </a:r>
            <a:endParaRPr lang="en-US" sz="3200" dirty="0">
              <a:solidFill>
                <a:srgbClr val="0800FF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14" name="TextBox 9"/>
          <p:cNvSpPr txBox="1"/>
          <p:nvPr/>
        </p:nvSpPr>
        <p:spPr>
          <a:xfrm>
            <a:off x="3427680" y="2415483"/>
            <a:ext cx="435521" cy="975451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 altLang="zh-CN" sz="5000" b="1" dirty="0">
                <a:solidFill>
                  <a:srgbClr val="08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27972"/>
            <a:ext cx="12192000" cy="33002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8972" y="443976"/>
            <a:ext cx="1953027" cy="545440"/>
          </a:xfrm>
          <a:prstGeom prst="rect">
            <a:avLst/>
          </a:prstGeom>
        </p:spPr>
      </p:pic>
      <p:sp>
        <p:nvSpPr>
          <p:cNvPr id="5" name="TextBox 9"/>
          <p:cNvSpPr txBox="1"/>
          <p:nvPr/>
        </p:nvSpPr>
        <p:spPr>
          <a:xfrm>
            <a:off x="4310380" y="3741420"/>
            <a:ext cx="5311775" cy="653760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 altLang="zh-CN" sz="3200" dirty="0">
                <a:solidFill>
                  <a:srgbClr val="C000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Application</a:t>
            </a:r>
            <a:r>
              <a:rPr lang="zh-CN" altLang="en-US" sz="3200" dirty="0">
                <a:solidFill>
                  <a:srgbClr val="C000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lang="en-US" altLang="zh-CN" sz="3200" dirty="0">
                <a:solidFill>
                  <a:srgbClr val="C000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of</a:t>
            </a:r>
            <a:r>
              <a:rPr lang="zh-CN" altLang="en-US" sz="3200" dirty="0">
                <a:solidFill>
                  <a:srgbClr val="C000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lang="en-US" altLang="zh-CN" sz="3200" dirty="0">
                <a:solidFill>
                  <a:srgbClr val="C000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Baidu</a:t>
            </a:r>
            <a:r>
              <a:rPr lang="zh-CN" altLang="en-US" sz="3200" dirty="0">
                <a:solidFill>
                  <a:srgbClr val="C000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lang="en-US" altLang="zh-CN" sz="3200" dirty="0">
                <a:solidFill>
                  <a:srgbClr val="C00000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HAVP</a:t>
            </a:r>
            <a:endParaRPr lang="en-US" sz="3200" dirty="0">
              <a:solidFill>
                <a:srgbClr val="C00000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6" name="TextBox 9"/>
          <p:cNvSpPr txBox="1"/>
          <p:nvPr/>
        </p:nvSpPr>
        <p:spPr>
          <a:xfrm>
            <a:off x="3427680" y="3521018"/>
            <a:ext cx="435521" cy="975451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 sz="5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40946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 txBox="1"/>
          <p:nvPr/>
        </p:nvSpPr>
        <p:spPr>
          <a:xfrm>
            <a:off x="445450" y="179190"/>
            <a:ext cx="9071479" cy="8202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HAVP</a:t>
            </a:r>
            <a:r>
              <a:rPr lang="zh-CN" altLang="en-US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lang="zh-CN" altLang="en-US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Home</a:t>
            </a:r>
            <a:r>
              <a:rPr lang="zh-CN" altLang="en-US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zone</a:t>
            </a:r>
            <a:r>
              <a:rPr lang="zh-CN" altLang="en-US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Apollo</a:t>
            </a:r>
            <a:r>
              <a:rPr lang="zh-CN" altLang="en-US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Valet</a:t>
            </a:r>
            <a:r>
              <a:rPr lang="zh-CN" altLang="en-US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Parking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27972"/>
            <a:ext cx="12192000" cy="330028"/>
          </a:xfrm>
          <a:prstGeom prst="rect">
            <a:avLst/>
          </a:prstGeom>
        </p:spPr>
      </p:pic>
      <p:sp>
        <p:nvSpPr>
          <p:cNvPr id="93" name="文本框 92">
            <a:extLst>
              <a:ext uri="{FF2B5EF4-FFF2-40B4-BE49-F238E27FC236}">
                <a16:creationId xmlns:a16="http://schemas.microsoft.com/office/drawing/2014/main" id="{C24C9E82-8590-F747-B816-447E71346E0F}"/>
              </a:ext>
            </a:extLst>
          </p:cNvPr>
          <p:cNvSpPr txBox="1"/>
          <p:nvPr/>
        </p:nvSpPr>
        <p:spPr>
          <a:xfrm>
            <a:off x="185999" y="4542808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spc="300" dirty="0">
                <a:solidFill>
                  <a:srgbClr val="F54237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Advantages</a:t>
            </a:r>
            <a:r>
              <a:rPr kumimoji="1" lang="zh-CN" altLang="en-US" b="1" spc="300" dirty="0">
                <a:solidFill>
                  <a:srgbClr val="F54237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kumimoji="1" lang="en-US" altLang="zh-CN" b="1" spc="300" dirty="0">
                <a:solidFill>
                  <a:srgbClr val="F54237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of</a:t>
            </a:r>
            <a:r>
              <a:rPr kumimoji="1" lang="zh-CN" altLang="en-US" b="1" spc="300" dirty="0">
                <a:solidFill>
                  <a:srgbClr val="F54237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kumimoji="1" lang="en-US" altLang="zh-CN" b="1" spc="300" dirty="0">
                <a:solidFill>
                  <a:srgbClr val="F54237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HAVP</a:t>
            </a:r>
            <a:endParaRPr kumimoji="1" lang="zh-CN" altLang="en-US" b="1" spc="300" dirty="0">
              <a:solidFill>
                <a:srgbClr val="F54237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9B84ABBA-CC53-A847-B982-8E4578C068F2}"/>
              </a:ext>
            </a:extLst>
          </p:cNvPr>
          <p:cNvSpPr/>
          <p:nvPr/>
        </p:nvSpPr>
        <p:spPr>
          <a:xfrm>
            <a:off x="475490" y="4971155"/>
            <a:ext cx="2494478" cy="1442869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33913E1D-1BCD-DB40-A848-2C68B5097C54}"/>
              </a:ext>
            </a:extLst>
          </p:cNvPr>
          <p:cNvSpPr/>
          <p:nvPr/>
        </p:nvSpPr>
        <p:spPr>
          <a:xfrm>
            <a:off x="3489303" y="4971155"/>
            <a:ext cx="2494478" cy="1442869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7EC7CF44-A000-894F-BBCC-06976336D553}"/>
              </a:ext>
            </a:extLst>
          </p:cNvPr>
          <p:cNvSpPr/>
          <p:nvPr/>
        </p:nvSpPr>
        <p:spPr>
          <a:xfrm>
            <a:off x="6503116" y="4971155"/>
            <a:ext cx="2494478" cy="1442869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6CAFA06C-0B7C-B644-A81E-6621C4DD3335}"/>
              </a:ext>
            </a:extLst>
          </p:cNvPr>
          <p:cNvSpPr/>
          <p:nvPr/>
        </p:nvSpPr>
        <p:spPr>
          <a:xfrm>
            <a:off x="9516929" y="4971155"/>
            <a:ext cx="2494478" cy="1442869"/>
          </a:xfrm>
          <a:prstGeom prst="rect">
            <a:avLst/>
          </a:prstGeom>
          <a:solidFill>
            <a:srgbClr val="F54237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31A41C96-E75A-AB4A-9556-DC3553DF7C2F}"/>
              </a:ext>
            </a:extLst>
          </p:cNvPr>
          <p:cNvSpPr txBox="1"/>
          <p:nvPr/>
        </p:nvSpPr>
        <p:spPr>
          <a:xfrm>
            <a:off x="535913" y="5428153"/>
            <a:ext cx="2492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spc="3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Performance</a:t>
            </a:r>
            <a:endParaRPr kumimoji="1" lang="zh-CN" altLang="en-US" sz="2400" b="1" spc="3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2B1F8311-EC02-C144-ABC6-B331312A972B}"/>
              </a:ext>
            </a:extLst>
          </p:cNvPr>
          <p:cNvSpPr txBox="1"/>
          <p:nvPr/>
        </p:nvSpPr>
        <p:spPr>
          <a:xfrm>
            <a:off x="3486830" y="5429135"/>
            <a:ext cx="2492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spc="300" dirty="0">
                <a:latin typeface="PingFang SC" panose="020B0400000000000000" pitchFamily="34" charset="-122"/>
                <a:ea typeface="PingFang SC" panose="020B0400000000000000" pitchFamily="34" charset="-122"/>
              </a:rPr>
              <a:t>Capability</a:t>
            </a:r>
            <a:endParaRPr kumimoji="1" lang="zh-CN" altLang="en-US" sz="2400" b="1" spc="3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pic>
        <p:nvPicPr>
          <p:cNvPr id="110" name="图像" descr="图像">
            <a:extLst>
              <a:ext uri="{FF2B5EF4-FFF2-40B4-BE49-F238E27FC236}">
                <a16:creationId xmlns:a16="http://schemas.microsoft.com/office/drawing/2014/main" id="{9B16CC03-BC3E-DE45-BC29-62507475A8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4894" b="34467"/>
          <a:stretch/>
        </p:blipFill>
        <p:spPr>
          <a:xfrm>
            <a:off x="10208764" y="310832"/>
            <a:ext cx="1845582" cy="642369"/>
          </a:xfrm>
          <a:prstGeom prst="rect">
            <a:avLst/>
          </a:prstGeom>
          <a:ln w="12700">
            <a:miter lim="400000"/>
          </a:ln>
          <a:effectLst/>
          <a:scene3d>
            <a:camera prst="orthographicFront"/>
            <a:lightRig rig="threePt" dir="t"/>
          </a:scene3d>
        </p:spPr>
      </p:pic>
      <p:sp>
        <p:nvSpPr>
          <p:cNvPr id="55" name="TextBox 3">
            <a:extLst>
              <a:ext uri="{FF2B5EF4-FFF2-40B4-BE49-F238E27FC236}">
                <a16:creationId xmlns:a16="http://schemas.microsoft.com/office/drawing/2014/main" id="{B85688A6-34F2-6043-89DB-547F1ACE5C13}"/>
              </a:ext>
            </a:extLst>
          </p:cNvPr>
          <p:cNvSpPr txBox="1"/>
          <p:nvPr/>
        </p:nvSpPr>
        <p:spPr>
          <a:xfrm>
            <a:off x="528755" y="1237729"/>
            <a:ext cx="9979660" cy="711148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marL="571500" indent="-28575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The functions of self parking and calling in common scenarios is fully complete by learning the inbound and outbound route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only once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8A9FB4B2-EB2F-2A4C-A2B3-8226052DE0EF}"/>
              </a:ext>
            </a:extLst>
          </p:cNvPr>
          <p:cNvGrpSpPr/>
          <p:nvPr/>
        </p:nvGrpSpPr>
        <p:grpSpPr>
          <a:xfrm>
            <a:off x="328482" y="2700481"/>
            <a:ext cx="1795761" cy="1793592"/>
            <a:chOff x="1222929" y="1176955"/>
            <a:chExt cx="1795761" cy="1793592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529FA2E4-F24F-C143-AC1C-352908B0B5B3}"/>
                </a:ext>
              </a:extLst>
            </p:cNvPr>
            <p:cNvGrpSpPr/>
            <p:nvPr/>
          </p:nvGrpSpPr>
          <p:grpSpPr>
            <a:xfrm>
              <a:off x="1222929" y="2101439"/>
              <a:ext cx="1795761" cy="869108"/>
              <a:chOff x="6462196" y="1927233"/>
              <a:chExt cx="2114802" cy="1023513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62CBE1D7-F0C5-3948-ACDB-8BA742E9B5C3}"/>
                  </a:ext>
                </a:extLst>
              </p:cNvPr>
              <p:cNvSpPr/>
              <p:nvPr/>
            </p:nvSpPr>
            <p:spPr>
              <a:xfrm>
                <a:off x="6695502" y="2070067"/>
                <a:ext cx="1286360" cy="156433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/>
              </a:p>
            </p:txBody>
          </p:sp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669F4B5B-E190-294C-B644-2EF95918C0F7}"/>
                  </a:ext>
                </a:extLst>
              </p:cNvPr>
              <p:cNvSpPr txBox="1"/>
              <p:nvPr/>
            </p:nvSpPr>
            <p:spPr>
              <a:xfrm>
                <a:off x="6462196" y="1927233"/>
                <a:ext cx="1914378" cy="3262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Commute–friendly</a:t>
                </a:r>
                <a:endParaRPr kumimoji="1" lang="zh-CN" altLang="en-US" sz="1200" b="1" dirty="0"/>
              </a:p>
            </p:txBody>
          </p:sp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7914D87B-FD13-004B-BEA4-52DD2F060968}"/>
                  </a:ext>
                </a:extLst>
              </p:cNvPr>
              <p:cNvSpPr/>
              <p:nvPr/>
            </p:nvSpPr>
            <p:spPr>
              <a:xfrm>
                <a:off x="6462196" y="2304743"/>
                <a:ext cx="2114802" cy="6460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105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Fetch–and–carry service right on cue</a:t>
                </a:r>
              </a:p>
            </p:txBody>
          </p:sp>
        </p:grpSp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9448E68D-94E5-FA4C-BACB-B0030EB53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38682" y="1176955"/>
              <a:ext cx="882550" cy="882550"/>
            </a:xfrm>
            <a:prstGeom prst="rect">
              <a:avLst/>
            </a:prstGeom>
          </p:spPr>
        </p:pic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6724EC56-1B23-7143-A0F9-8949762C3A8F}"/>
              </a:ext>
            </a:extLst>
          </p:cNvPr>
          <p:cNvGrpSpPr/>
          <p:nvPr/>
        </p:nvGrpSpPr>
        <p:grpSpPr>
          <a:xfrm>
            <a:off x="7961218" y="2601625"/>
            <a:ext cx="1865235" cy="1923916"/>
            <a:chOff x="6459840" y="623735"/>
            <a:chExt cx="2196613" cy="2265725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0951D6BE-650B-504A-9860-A9ED1142BCC1}"/>
                </a:ext>
              </a:extLst>
            </p:cNvPr>
            <p:cNvSpPr/>
            <p:nvPr/>
          </p:nvSpPr>
          <p:spPr>
            <a:xfrm>
              <a:off x="6896273" y="1953648"/>
              <a:ext cx="1286360" cy="15643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A4BF5E40-D399-2A40-88D3-ADECC4E78163}"/>
                </a:ext>
              </a:extLst>
            </p:cNvPr>
            <p:cNvSpPr txBox="1"/>
            <p:nvPr/>
          </p:nvSpPr>
          <p:spPr>
            <a:xfrm>
              <a:off x="6587004" y="1751642"/>
              <a:ext cx="2069449" cy="543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b="1" dirty="0"/>
                <a:t>No worries about the whether</a:t>
              </a:r>
              <a:endParaRPr kumimoji="1" lang="zh-CN" altLang="en-US" sz="1200" b="1" dirty="0"/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776D8CF9-FA44-C44A-9011-BD851515454C}"/>
                </a:ext>
              </a:extLst>
            </p:cNvPr>
            <p:cNvSpPr/>
            <p:nvPr/>
          </p:nvSpPr>
          <p:spPr>
            <a:xfrm>
              <a:off x="6459840" y="2239830"/>
              <a:ext cx="2134970" cy="6496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Pouring rain? Not a big deal</a:t>
              </a:r>
              <a:endPara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17" name="图片 116">
              <a:extLst>
                <a:ext uri="{FF2B5EF4-FFF2-40B4-BE49-F238E27FC236}">
                  <a16:creationId xmlns:a16="http://schemas.microsoft.com/office/drawing/2014/main" id="{1DDB2397-F09C-BA42-999F-499549B4B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27822" y="623735"/>
              <a:ext cx="1270000" cy="1270000"/>
            </a:xfrm>
            <a:prstGeom prst="rect">
              <a:avLst/>
            </a:prstGeom>
          </p:spPr>
        </p:pic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D620C14E-0417-454B-A2C5-A7D76E553137}"/>
              </a:ext>
            </a:extLst>
          </p:cNvPr>
          <p:cNvGrpSpPr/>
          <p:nvPr/>
        </p:nvGrpSpPr>
        <p:grpSpPr>
          <a:xfrm>
            <a:off x="5011729" y="2700481"/>
            <a:ext cx="2519132" cy="1785423"/>
            <a:chOff x="3477955" y="790414"/>
            <a:chExt cx="2966685" cy="2102626"/>
          </a:xfrm>
        </p:grpSpPr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E55EDF76-53A1-E545-9F60-45E66A515B1A}"/>
                </a:ext>
              </a:extLst>
            </p:cNvPr>
            <p:cNvSpPr/>
            <p:nvPr/>
          </p:nvSpPr>
          <p:spPr>
            <a:xfrm>
              <a:off x="3935924" y="2016224"/>
              <a:ext cx="2339101" cy="1518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0359CE6A-29DE-AC4C-8647-52764810CA22}"/>
                </a:ext>
              </a:extLst>
            </p:cNvPr>
            <p:cNvSpPr/>
            <p:nvPr/>
          </p:nvSpPr>
          <p:spPr>
            <a:xfrm>
              <a:off x="3477955" y="2242430"/>
              <a:ext cx="2966685" cy="650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Family</a:t>
              </a:r>
              <a:r>
                <a:rPr lang="zh-CN" altLang="en-US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r>
                <a:rPr lang="en-US" altLang="zh-CN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members</a:t>
              </a:r>
              <a:r>
                <a:rPr lang="zh-CN" altLang="en-US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r>
                <a:rPr lang="en-US" altLang="zh-CN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get</a:t>
              </a:r>
              <a:r>
                <a:rPr lang="zh-CN" altLang="en-US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r>
                <a:rPr lang="en-US" altLang="zh-CN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off</a:t>
              </a:r>
              <a:r>
                <a:rPr lang="zh-CN" altLang="en-US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r>
                <a:rPr lang="en-US" altLang="zh-CN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in</a:t>
              </a:r>
              <a:r>
                <a:rPr lang="zh-CN" altLang="en-US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r>
                <a:rPr lang="en-US" altLang="zh-CN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advance</a:t>
              </a:r>
              <a:r>
                <a:rPr lang="zh-CN" altLang="en-US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r>
                <a:rPr lang="en-US" altLang="zh-CN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waiting</a:t>
              </a:r>
              <a:r>
                <a:rPr lang="zh-CN" altLang="en-US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r>
                <a:rPr lang="en-US" altLang="zh-CN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for</a:t>
              </a:r>
              <a:r>
                <a:rPr lang="zh-CN" altLang="en-US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r>
                <a:rPr lang="en-US" altLang="zh-CN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parking?</a:t>
              </a:r>
              <a:r>
                <a:rPr lang="zh-CN" altLang="en-US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r>
                <a:rPr lang="en-US" altLang="zh-CN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Unnecessary</a:t>
              </a:r>
              <a:r>
                <a:rPr lang="zh-CN" altLang="en-US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r>
                <a:rPr lang="en-US" altLang="zh-CN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now</a:t>
              </a:r>
              <a:endParaRPr lang="zh-CN" altLang="en-US" sz="105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22" name="图片 121">
              <a:extLst>
                <a:ext uri="{FF2B5EF4-FFF2-40B4-BE49-F238E27FC236}">
                  <a16:creationId xmlns:a16="http://schemas.microsoft.com/office/drawing/2014/main" id="{1E707CBD-C17A-8B41-96A2-24D75A3EA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74860" y="790414"/>
              <a:ext cx="1030615" cy="1030615"/>
            </a:xfrm>
            <a:prstGeom prst="rect">
              <a:avLst/>
            </a:prstGeom>
          </p:spPr>
        </p:pic>
        <p:pic>
          <p:nvPicPr>
            <p:cNvPr id="123" name="图片 122">
              <a:extLst>
                <a:ext uri="{FF2B5EF4-FFF2-40B4-BE49-F238E27FC236}">
                  <a16:creationId xmlns:a16="http://schemas.microsoft.com/office/drawing/2014/main" id="{FBBD3B43-9A91-5747-8F6E-EC566350C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69453" y="934766"/>
              <a:ext cx="764281" cy="764281"/>
            </a:xfrm>
            <a:prstGeom prst="rect">
              <a:avLst/>
            </a:prstGeom>
          </p:spPr>
        </p:pic>
        <p:cxnSp>
          <p:nvCxnSpPr>
            <p:cNvPr id="124" name="直线连接符 123">
              <a:extLst>
                <a:ext uri="{FF2B5EF4-FFF2-40B4-BE49-F238E27FC236}">
                  <a16:creationId xmlns:a16="http://schemas.microsoft.com/office/drawing/2014/main" id="{0BB9CE50-1E77-DB4C-B854-08F787C185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9814" y="1174899"/>
              <a:ext cx="192353" cy="408414"/>
            </a:xfrm>
            <a:prstGeom prst="line">
              <a:avLst/>
            </a:prstGeom>
            <a:ln w="95250">
              <a:solidFill>
                <a:srgbClr val="58DB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EBA05C89-1742-2D42-B888-C237D46619E9}"/>
              </a:ext>
            </a:extLst>
          </p:cNvPr>
          <p:cNvGrpSpPr/>
          <p:nvPr/>
        </p:nvGrpSpPr>
        <p:grpSpPr>
          <a:xfrm>
            <a:off x="2514179" y="2748185"/>
            <a:ext cx="2312046" cy="1749291"/>
            <a:chOff x="1273268" y="898564"/>
            <a:chExt cx="2722810" cy="2060073"/>
          </a:xfrm>
        </p:grpSpPr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98F68759-8D1D-2542-9C75-CEE3FFC84330}"/>
                </a:ext>
              </a:extLst>
            </p:cNvPr>
            <p:cNvSpPr/>
            <p:nvPr/>
          </p:nvSpPr>
          <p:spPr>
            <a:xfrm>
              <a:off x="1789113" y="2102373"/>
              <a:ext cx="1286360" cy="15643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/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0B204B58-161C-F644-B459-2356192037EA}"/>
                </a:ext>
              </a:extLst>
            </p:cNvPr>
            <p:cNvSpPr txBox="1"/>
            <p:nvPr/>
          </p:nvSpPr>
          <p:spPr>
            <a:xfrm>
              <a:off x="1549916" y="1939267"/>
              <a:ext cx="1898217" cy="3262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Shopping–friendly</a:t>
              </a:r>
              <a:endParaRPr kumimoji="1" lang="zh-CN" altLang="en-US" sz="1200" b="1" dirty="0"/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3F55B05A-ED73-9041-AB63-D25ADAD04A8D}"/>
                </a:ext>
              </a:extLst>
            </p:cNvPr>
            <p:cNvSpPr/>
            <p:nvPr/>
          </p:nvSpPr>
          <p:spPr>
            <a:xfrm>
              <a:off x="1273268" y="2312633"/>
              <a:ext cx="2722810" cy="6460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Too heavy to carry? Get in / off right at the door</a:t>
              </a:r>
            </a:p>
          </p:txBody>
        </p:sp>
        <p:pic>
          <p:nvPicPr>
            <p:cNvPr id="129" name="图片 128">
              <a:extLst>
                <a:ext uri="{FF2B5EF4-FFF2-40B4-BE49-F238E27FC236}">
                  <a16:creationId xmlns:a16="http://schemas.microsoft.com/office/drawing/2014/main" id="{7FE59CD1-91CA-274C-AA00-6E6233FB795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945784" y="898564"/>
              <a:ext cx="912592" cy="912592"/>
            </a:xfrm>
            <a:prstGeom prst="rect">
              <a:avLst/>
            </a:prstGeom>
          </p:spPr>
        </p:pic>
      </p:grpSp>
      <p:sp>
        <p:nvSpPr>
          <p:cNvPr id="130" name="圆角矩形 129">
            <a:extLst>
              <a:ext uri="{FF2B5EF4-FFF2-40B4-BE49-F238E27FC236}">
                <a16:creationId xmlns:a16="http://schemas.microsoft.com/office/drawing/2014/main" id="{921E2D32-FC06-B744-A329-47B11A687797}"/>
              </a:ext>
            </a:extLst>
          </p:cNvPr>
          <p:cNvSpPr/>
          <p:nvPr/>
        </p:nvSpPr>
        <p:spPr>
          <a:xfrm>
            <a:off x="2284127" y="2950406"/>
            <a:ext cx="70170" cy="119429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/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AD1BB717-7DF9-0242-8FB2-1A8F0691E344}"/>
              </a:ext>
            </a:extLst>
          </p:cNvPr>
          <p:cNvSpPr/>
          <p:nvPr/>
        </p:nvSpPr>
        <p:spPr>
          <a:xfrm>
            <a:off x="4885855" y="2949125"/>
            <a:ext cx="70170" cy="119429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/>
          </a:p>
        </p:txBody>
      </p:sp>
      <p:sp>
        <p:nvSpPr>
          <p:cNvPr id="132" name="圆角矩形 131">
            <a:extLst>
              <a:ext uri="{FF2B5EF4-FFF2-40B4-BE49-F238E27FC236}">
                <a16:creationId xmlns:a16="http://schemas.microsoft.com/office/drawing/2014/main" id="{56D9FC31-A977-E94A-AEF6-EAFC66EBBF67}"/>
              </a:ext>
            </a:extLst>
          </p:cNvPr>
          <p:cNvSpPr/>
          <p:nvPr/>
        </p:nvSpPr>
        <p:spPr>
          <a:xfrm>
            <a:off x="7764944" y="3000541"/>
            <a:ext cx="70170" cy="119429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/>
          </a:p>
        </p:txBody>
      </p:sp>
      <p:sp>
        <p:nvSpPr>
          <p:cNvPr id="133" name="圆角矩形 132">
            <a:extLst>
              <a:ext uri="{FF2B5EF4-FFF2-40B4-BE49-F238E27FC236}">
                <a16:creationId xmlns:a16="http://schemas.microsoft.com/office/drawing/2014/main" id="{3846ABD4-D673-9048-B5FD-9868BF17E536}"/>
              </a:ext>
            </a:extLst>
          </p:cNvPr>
          <p:cNvSpPr/>
          <p:nvPr/>
        </p:nvSpPr>
        <p:spPr>
          <a:xfrm>
            <a:off x="9959612" y="3025475"/>
            <a:ext cx="70170" cy="119429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/>
          </a:p>
        </p:txBody>
      </p: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0FA0AB5C-61A7-2248-BD35-DB541A3C2D08}"/>
              </a:ext>
            </a:extLst>
          </p:cNvPr>
          <p:cNvGrpSpPr/>
          <p:nvPr/>
        </p:nvGrpSpPr>
        <p:grpSpPr>
          <a:xfrm>
            <a:off x="10215286" y="2750481"/>
            <a:ext cx="1812888" cy="1780011"/>
            <a:chOff x="10103958" y="3228675"/>
            <a:chExt cx="1812888" cy="1780011"/>
          </a:xfrm>
        </p:grpSpPr>
        <p:grpSp>
          <p:nvGrpSpPr>
            <p:cNvPr id="135" name="组合 134">
              <a:extLst>
                <a:ext uri="{FF2B5EF4-FFF2-40B4-BE49-F238E27FC236}">
                  <a16:creationId xmlns:a16="http://schemas.microsoft.com/office/drawing/2014/main" id="{8D83E898-5A1D-9942-8342-0C5E4B1CF7FB}"/>
                </a:ext>
              </a:extLst>
            </p:cNvPr>
            <p:cNvGrpSpPr/>
            <p:nvPr/>
          </p:nvGrpSpPr>
          <p:grpSpPr>
            <a:xfrm>
              <a:off x="10103958" y="4092056"/>
              <a:ext cx="1812888" cy="916630"/>
              <a:chOff x="1451365" y="1971698"/>
              <a:chExt cx="2134973" cy="1079481"/>
            </a:xfrm>
          </p:grpSpPr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D5401AC8-5DE2-C34F-B71D-F6B6544CE2DF}"/>
                  </a:ext>
                </a:extLst>
              </p:cNvPr>
              <p:cNvSpPr/>
              <p:nvPr/>
            </p:nvSpPr>
            <p:spPr>
              <a:xfrm>
                <a:off x="1636619" y="2125288"/>
                <a:ext cx="1949719" cy="158754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/>
              </a:p>
            </p:txBody>
          </p:sp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4CF8797A-876D-7246-801B-90FB81E75050}"/>
                  </a:ext>
                </a:extLst>
              </p:cNvPr>
              <p:cNvSpPr txBox="1"/>
              <p:nvPr/>
            </p:nvSpPr>
            <p:spPr>
              <a:xfrm>
                <a:off x="1764690" y="1971698"/>
                <a:ext cx="1580465" cy="3262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200" b="1" dirty="0"/>
                  <a:t>Rookies–friendly</a:t>
                </a:r>
                <a:endParaRPr kumimoji="1" lang="zh-CN" altLang="en-US" sz="1200" b="1" dirty="0"/>
              </a:p>
            </p:txBody>
          </p:sp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5241C02B-092F-EC4E-A1ED-A443DA735294}"/>
                  </a:ext>
                </a:extLst>
              </p:cNvPr>
              <p:cNvSpPr/>
              <p:nvPr/>
            </p:nvSpPr>
            <p:spPr>
              <a:xfrm>
                <a:off x="1451365" y="2401550"/>
                <a:ext cx="2134973" cy="6496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105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Tight parking space is no longer a problem</a:t>
                </a:r>
                <a:endParaRPr lang="zh-CN" alt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pic>
          <p:nvPicPr>
            <p:cNvPr id="136" name="图片 135">
              <a:extLst>
                <a:ext uri="{FF2B5EF4-FFF2-40B4-BE49-F238E27FC236}">
                  <a16:creationId xmlns:a16="http://schemas.microsoft.com/office/drawing/2014/main" id="{18832B08-BC05-0945-99C7-2C9B6EC08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569050" y="3228675"/>
              <a:ext cx="881129" cy="881129"/>
            </a:xfrm>
            <a:prstGeom prst="rect">
              <a:avLst/>
            </a:prstGeom>
          </p:spPr>
        </p:pic>
      </p:grpSp>
      <p:sp>
        <p:nvSpPr>
          <p:cNvPr id="140" name="文本框 139">
            <a:extLst>
              <a:ext uri="{FF2B5EF4-FFF2-40B4-BE49-F238E27FC236}">
                <a16:creationId xmlns:a16="http://schemas.microsoft.com/office/drawing/2014/main" id="{238360A3-04C5-F74A-B9DC-5475CFCAB893}"/>
              </a:ext>
            </a:extLst>
          </p:cNvPr>
          <p:cNvSpPr txBox="1"/>
          <p:nvPr/>
        </p:nvSpPr>
        <p:spPr>
          <a:xfrm>
            <a:off x="6532962" y="5424164"/>
            <a:ext cx="2464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spc="300" dirty="0">
                <a:latin typeface="PingFang SC" panose="020B0400000000000000" pitchFamily="34" charset="-122"/>
                <a:ea typeface="PingFang SC" panose="020B0400000000000000" pitchFamily="34" charset="-122"/>
              </a:rPr>
              <a:t>Creativity</a:t>
            </a:r>
            <a:endParaRPr kumimoji="1" lang="zh-CN" altLang="en-US" sz="2400" b="1" spc="300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351AD8F0-6078-4449-99E1-A9DCD0E83B9A}"/>
              </a:ext>
            </a:extLst>
          </p:cNvPr>
          <p:cNvSpPr txBox="1"/>
          <p:nvPr/>
        </p:nvSpPr>
        <p:spPr>
          <a:xfrm>
            <a:off x="9516929" y="5424164"/>
            <a:ext cx="2494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spc="3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Safety</a:t>
            </a:r>
            <a:endParaRPr kumimoji="1" lang="zh-CN" altLang="en-US" sz="2400" b="1" spc="3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FE5086B8-02C5-0B44-962B-C955BEB40C15}"/>
              </a:ext>
            </a:extLst>
          </p:cNvPr>
          <p:cNvSpPr txBox="1"/>
          <p:nvPr/>
        </p:nvSpPr>
        <p:spPr>
          <a:xfrm>
            <a:off x="5811269" y="3617203"/>
            <a:ext cx="9854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Easy</a:t>
            </a:r>
            <a:r>
              <a:rPr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to</a:t>
            </a:r>
            <a:r>
              <a:rPr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go</a:t>
            </a:r>
            <a:endParaRPr kumimoji="1"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869733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27972"/>
            <a:ext cx="12192000" cy="330028"/>
          </a:xfrm>
          <a:prstGeom prst="rect">
            <a:avLst/>
          </a:prstGeom>
        </p:spPr>
      </p:pic>
      <p:pic>
        <p:nvPicPr>
          <p:cNvPr id="110" name="图像" descr="图像">
            <a:extLst>
              <a:ext uri="{FF2B5EF4-FFF2-40B4-BE49-F238E27FC236}">
                <a16:creationId xmlns:a16="http://schemas.microsoft.com/office/drawing/2014/main" id="{9B16CC03-BC3E-DE45-BC29-62507475A8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4894" b="34467"/>
          <a:stretch/>
        </p:blipFill>
        <p:spPr>
          <a:xfrm>
            <a:off x="10208764" y="310832"/>
            <a:ext cx="1845582" cy="642369"/>
          </a:xfrm>
          <a:prstGeom prst="rect">
            <a:avLst/>
          </a:prstGeom>
          <a:ln w="12700">
            <a:miter lim="400000"/>
          </a:ln>
          <a:effectLst/>
          <a:scene3d>
            <a:camera prst="orthographicFront"/>
            <a:lightRig rig="threePt" dir="t"/>
          </a:scene3d>
        </p:spPr>
      </p:pic>
      <p:sp>
        <p:nvSpPr>
          <p:cNvPr id="55" name="圆角矩形 54">
            <a:extLst>
              <a:ext uri="{FF2B5EF4-FFF2-40B4-BE49-F238E27FC236}">
                <a16:creationId xmlns:a16="http://schemas.microsoft.com/office/drawing/2014/main" id="{44AF45D8-4F88-3A4D-B177-6129C764DF3C}"/>
              </a:ext>
            </a:extLst>
          </p:cNvPr>
          <p:cNvSpPr/>
          <p:nvPr/>
        </p:nvSpPr>
        <p:spPr>
          <a:xfrm>
            <a:off x="1482985" y="3622708"/>
            <a:ext cx="2590827" cy="2435403"/>
          </a:xfrm>
          <a:prstGeom prst="roundRect">
            <a:avLst>
              <a:gd name="adj" fmla="val 3086"/>
            </a:avLst>
          </a:prstGeom>
          <a:noFill/>
          <a:ln w="19050">
            <a:solidFill>
              <a:srgbClr val="0800FF"/>
            </a:solidFill>
            <a:prstDash val="lgDash"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AF7710E-9384-6540-8258-485B02CB6BDA}"/>
              </a:ext>
            </a:extLst>
          </p:cNvPr>
          <p:cNvSpPr/>
          <p:nvPr/>
        </p:nvSpPr>
        <p:spPr>
          <a:xfrm>
            <a:off x="1842905" y="3416968"/>
            <a:ext cx="1870986" cy="411480"/>
          </a:xfrm>
          <a:prstGeom prst="rect">
            <a:avLst/>
          </a:prstGeom>
          <a:solidFill>
            <a:srgbClr val="08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微软雅黑" charset="0"/>
                <a:ea typeface="微软雅黑" charset="0"/>
              </a:rPr>
              <a:t>Model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 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Training</a:t>
            </a: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AC091F04-99D5-C54D-8885-2F2358060BB4}"/>
              </a:ext>
            </a:extLst>
          </p:cNvPr>
          <p:cNvSpPr txBox="1"/>
          <p:nvPr/>
        </p:nvSpPr>
        <p:spPr>
          <a:xfrm>
            <a:off x="445450" y="179190"/>
            <a:ext cx="9071479" cy="8202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HAVP</a:t>
            </a:r>
            <a:r>
              <a:rPr lang="zh-CN" altLang="en-US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lang="zh-CN" altLang="en-US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Home</a:t>
            </a:r>
            <a:r>
              <a:rPr lang="zh-CN" altLang="en-US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zone</a:t>
            </a:r>
            <a:r>
              <a:rPr lang="zh-CN" altLang="en-US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Apollo</a:t>
            </a:r>
            <a:r>
              <a:rPr lang="zh-CN" altLang="en-US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Valet</a:t>
            </a:r>
            <a:r>
              <a:rPr lang="zh-CN" altLang="en-US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Parking</a:t>
            </a:r>
          </a:p>
        </p:txBody>
      </p: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F9EF2DE3-0037-FF44-A86B-71412C274BC5}"/>
              </a:ext>
            </a:extLst>
          </p:cNvPr>
          <p:cNvSpPr/>
          <p:nvPr/>
        </p:nvSpPr>
        <p:spPr>
          <a:xfrm>
            <a:off x="6611815" y="3622708"/>
            <a:ext cx="3820794" cy="2429541"/>
          </a:xfrm>
          <a:prstGeom prst="roundRect">
            <a:avLst>
              <a:gd name="adj" fmla="val 3086"/>
            </a:avLst>
          </a:prstGeom>
          <a:noFill/>
          <a:ln w="19050">
            <a:solidFill>
              <a:srgbClr val="0800FF"/>
            </a:solidFill>
            <a:prstDash val="lgDash"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1EE992F-ADAC-F74D-92DA-087A0A995634}"/>
              </a:ext>
            </a:extLst>
          </p:cNvPr>
          <p:cNvSpPr/>
          <p:nvPr/>
        </p:nvSpPr>
        <p:spPr>
          <a:xfrm>
            <a:off x="6909774" y="3396876"/>
            <a:ext cx="3209981" cy="411480"/>
          </a:xfrm>
          <a:prstGeom prst="rect">
            <a:avLst/>
          </a:prstGeom>
          <a:solidFill>
            <a:srgbClr val="08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微软雅黑" charset="0"/>
                <a:ea typeface="微软雅黑" charset="0"/>
              </a:rPr>
              <a:t>Deploy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 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on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 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different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 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hardware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57DA83-3866-4C46-AA1D-1A726D48AC5B}"/>
              </a:ext>
            </a:extLst>
          </p:cNvPr>
          <p:cNvSpPr/>
          <p:nvPr/>
        </p:nvSpPr>
        <p:spPr>
          <a:xfrm>
            <a:off x="6841193" y="4038193"/>
            <a:ext cx="1568881" cy="7912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TDA4VM</a:t>
            </a:r>
            <a:r>
              <a:rPr kumimoji="1" lang="zh-CN" altLang="en-US" dirty="0"/>
              <a:t> </a:t>
            </a:r>
            <a:r>
              <a:rPr kumimoji="1" lang="en-US" altLang="zh-CN" dirty="0"/>
              <a:t>Jacinto</a:t>
            </a:r>
            <a:endParaRPr kumimoji="1" lang="zh-CN" altLang="en-US" dirty="0"/>
          </a:p>
        </p:txBody>
      </p:sp>
      <p:sp>
        <p:nvSpPr>
          <p:cNvPr id="4" name="虚尾箭头 3">
            <a:extLst>
              <a:ext uri="{FF2B5EF4-FFF2-40B4-BE49-F238E27FC236}">
                <a16:creationId xmlns:a16="http://schemas.microsoft.com/office/drawing/2014/main" id="{C89F20A4-4578-F44E-A26F-5066A88F54B6}"/>
              </a:ext>
            </a:extLst>
          </p:cNvPr>
          <p:cNvSpPr/>
          <p:nvPr/>
        </p:nvSpPr>
        <p:spPr>
          <a:xfrm>
            <a:off x="4241190" y="3828719"/>
            <a:ext cx="2240454" cy="820270"/>
          </a:xfrm>
          <a:prstGeom prst="stripedRightArrow">
            <a:avLst/>
          </a:prstGeom>
          <a:solidFill>
            <a:srgbClr val="410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ONNX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Converter</a:t>
            </a:r>
            <a:endParaRPr kumimoji="1" lang="zh-CN" altLang="en-US" dirty="0"/>
          </a:p>
        </p:txBody>
      </p:sp>
      <p:sp>
        <p:nvSpPr>
          <p:cNvPr id="113" name="虚尾箭头 112">
            <a:extLst>
              <a:ext uri="{FF2B5EF4-FFF2-40B4-BE49-F238E27FC236}">
                <a16:creationId xmlns:a16="http://schemas.microsoft.com/office/drawing/2014/main" id="{5B2893A5-403D-6D45-97A3-0A6014960BB1}"/>
              </a:ext>
            </a:extLst>
          </p:cNvPr>
          <p:cNvSpPr/>
          <p:nvPr/>
        </p:nvSpPr>
        <p:spPr>
          <a:xfrm>
            <a:off x="4241190" y="4994548"/>
            <a:ext cx="2240453" cy="841936"/>
          </a:xfrm>
          <a:prstGeom prst="stripedRight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Custom</a:t>
            </a:r>
            <a:r>
              <a:rPr kumimoji="1" lang="zh-CN" altLang="en-US" dirty="0"/>
              <a:t> </a:t>
            </a:r>
            <a:r>
              <a:rPr kumimoji="1" lang="en-US" altLang="zh-CN" dirty="0"/>
              <a:t>OP</a:t>
            </a:r>
            <a:endParaRPr kumimoji="1" lang="zh-CN" altLang="en-US" dirty="0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56BBB395-2B88-D54B-97BF-550EEBDED90C}"/>
              </a:ext>
            </a:extLst>
          </p:cNvPr>
          <p:cNvSpPr/>
          <p:nvPr/>
        </p:nvSpPr>
        <p:spPr>
          <a:xfrm>
            <a:off x="1664705" y="4289038"/>
            <a:ext cx="2227385" cy="411480"/>
          </a:xfrm>
          <a:prstGeom prst="rect">
            <a:avLst/>
          </a:prstGeom>
          <a:solidFill>
            <a:srgbClr val="08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微软雅黑" charset="0"/>
                <a:ea typeface="微软雅黑" charset="0"/>
              </a:rPr>
              <a:t>PaddlePaddle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933D6EDD-131B-E44F-834E-6F9F50DCA966}"/>
              </a:ext>
            </a:extLst>
          </p:cNvPr>
          <p:cNvSpPr/>
          <p:nvPr/>
        </p:nvSpPr>
        <p:spPr>
          <a:xfrm>
            <a:off x="1664705" y="5035234"/>
            <a:ext cx="2227385" cy="41148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微软雅黑" charset="0"/>
                <a:ea typeface="微软雅黑" charset="0"/>
              </a:rPr>
              <a:t>Other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 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Frameworks</a:t>
            </a: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528A4E4F-5D4D-254A-8FBC-F31EAE3959BA}"/>
              </a:ext>
            </a:extLst>
          </p:cNvPr>
          <p:cNvSpPr/>
          <p:nvPr/>
        </p:nvSpPr>
        <p:spPr>
          <a:xfrm>
            <a:off x="8636901" y="4046217"/>
            <a:ext cx="1568881" cy="7912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Nvidia</a:t>
            </a:r>
            <a:r>
              <a:rPr kumimoji="1" lang="zh-CN" altLang="en-US" dirty="0"/>
              <a:t> </a:t>
            </a:r>
            <a:r>
              <a:rPr kumimoji="1" lang="en-US" altLang="zh-CN" dirty="0"/>
              <a:t>Jetson</a:t>
            </a:r>
            <a:r>
              <a:rPr kumimoji="1" lang="zh-CN" altLang="en-US" dirty="0"/>
              <a:t> </a:t>
            </a:r>
            <a:r>
              <a:rPr kumimoji="1" lang="en-US" altLang="zh-CN" dirty="0"/>
              <a:t>Xavier</a:t>
            </a:r>
            <a:endParaRPr kumimoji="1" lang="zh-CN" altLang="en-US" dirty="0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4F46BE05-22F5-8045-9E6B-075A328A730E}"/>
              </a:ext>
            </a:extLst>
          </p:cNvPr>
          <p:cNvSpPr/>
          <p:nvPr/>
        </p:nvSpPr>
        <p:spPr>
          <a:xfrm>
            <a:off x="6841192" y="4994548"/>
            <a:ext cx="1568881" cy="7912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Nvidia</a:t>
            </a:r>
            <a:r>
              <a:rPr kumimoji="1" lang="zh-CN" altLang="en-US" dirty="0"/>
              <a:t> </a:t>
            </a:r>
            <a:r>
              <a:rPr kumimoji="1" lang="en-US" altLang="zh-CN" dirty="0"/>
              <a:t>Drive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Orin</a:t>
            </a:r>
            <a:endParaRPr kumimoji="1" lang="zh-CN" altLang="en-US" dirty="0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C0AF01F9-02F3-C049-B9B8-DDD748514350}"/>
              </a:ext>
            </a:extLst>
          </p:cNvPr>
          <p:cNvSpPr/>
          <p:nvPr/>
        </p:nvSpPr>
        <p:spPr>
          <a:xfrm>
            <a:off x="8636901" y="4994787"/>
            <a:ext cx="1568881" cy="7912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EdgeBoard</a:t>
            </a:r>
            <a:r>
              <a:rPr kumimoji="1" lang="zh-CN" altLang="en-US" dirty="0"/>
              <a:t> </a:t>
            </a:r>
            <a:r>
              <a:rPr kumimoji="1" lang="en-US" altLang="zh-CN" dirty="0"/>
              <a:t>ZU5EV</a:t>
            </a:r>
            <a:endParaRPr kumimoji="1" lang="zh-CN" altLang="en-US" dirty="0"/>
          </a:p>
        </p:txBody>
      </p:sp>
      <p:sp>
        <p:nvSpPr>
          <p:cNvPr id="121" name="TextBox 3">
            <a:extLst>
              <a:ext uri="{FF2B5EF4-FFF2-40B4-BE49-F238E27FC236}">
                <a16:creationId xmlns:a16="http://schemas.microsoft.com/office/drawing/2014/main" id="{F32B9821-8447-0A4F-9493-E6858B78999B}"/>
              </a:ext>
            </a:extLst>
          </p:cNvPr>
          <p:cNvSpPr txBox="1"/>
          <p:nvPr/>
        </p:nvSpPr>
        <p:spPr>
          <a:xfrm>
            <a:off x="612775" y="1119505"/>
            <a:ext cx="9979660" cy="1760666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marL="571500" indent="-28575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Why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Choosing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ONNX?</a:t>
            </a:r>
          </a:p>
          <a:p>
            <a:pPr marL="1028700" lvl="1" indent="-28575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Supported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by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most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common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deep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learning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frameworks,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including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PaddlePaddle</a:t>
            </a:r>
          </a:p>
          <a:p>
            <a:pPr marL="1028700" lvl="1" indent="-28575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Easy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to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deploy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on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different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hardware</a:t>
            </a:r>
          </a:p>
          <a:p>
            <a:pPr marL="1028700" lvl="1" indent="-28575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More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flexible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deployment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with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custom</a:t>
            </a:r>
            <a:r>
              <a:rPr kumimoji="1"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operator</a:t>
            </a:r>
          </a:p>
        </p:txBody>
      </p:sp>
    </p:spTree>
    <p:extLst>
      <p:ext uri="{BB962C8B-B14F-4D97-AF65-F5344CB8AC3E}">
        <p14:creationId xmlns:p14="http://schemas.microsoft.com/office/powerpoint/2010/main" val="1208277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27972"/>
            <a:ext cx="12192000" cy="330028"/>
          </a:xfrm>
          <a:prstGeom prst="rect">
            <a:avLst/>
          </a:prstGeom>
        </p:spPr>
      </p:pic>
      <p:pic>
        <p:nvPicPr>
          <p:cNvPr id="110" name="图像" descr="图像">
            <a:extLst>
              <a:ext uri="{FF2B5EF4-FFF2-40B4-BE49-F238E27FC236}">
                <a16:creationId xmlns:a16="http://schemas.microsoft.com/office/drawing/2014/main" id="{9B16CC03-BC3E-DE45-BC29-62507475A8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4894" b="34467"/>
          <a:stretch/>
        </p:blipFill>
        <p:spPr>
          <a:xfrm>
            <a:off x="10208764" y="310832"/>
            <a:ext cx="1845582" cy="642369"/>
          </a:xfrm>
          <a:prstGeom prst="rect">
            <a:avLst/>
          </a:prstGeom>
          <a:ln w="12700">
            <a:miter lim="400000"/>
          </a:ln>
          <a:effectLst/>
          <a:scene3d>
            <a:camera prst="orthographicFront"/>
            <a:lightRig rig="threePt" dir="t"/>
          </a:scene3d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16E4F5F2-74E8-4B42-B8FC-EE6EFACA4E7B}"/>
              </a:ext>
            </a:extLst>
          </p:cNvPr>
          <p:cNvSpPr txBox="1"/>
          <p:nvPr/>
        </p:nvSpPr>
        <p:spPr>
          <a:xfrm>
            <a:off x="445450" y="179190"/>
            <a:ext cx="9071479" cy="8202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HAVP</a:t>
            </a:r>
            <a:r>
              <a:rPr lang="zh-CN" altLang="en-US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lang="zh-CN" altLang="en-US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Home</a:t>
            </a:r>
            <a:r>
              <a:rPr lang="zh-CN" altLang="en-US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zone</a:t>
            </a:r>
            <a:r>
              <a:rPr lang="zh-CN" altLang="en-US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Apollo</a:t>
            </a:r>
            <a:r>
              <a:rPr lang="zh-CN" altLang="en-US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Valet</a:t>
            </a:r>
            <a:r>
              <a:rPr lang="zh-CN" altLang="en-US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Parking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66096C-C85B-9144-9402-D264B16CA208}"/>
              </a:ext>
            </a:extLst>
          </p:cNvPr>
          <p:cNvSpPr txBox="1"/>
          <p:nvPr/>
        </p:nvSpPr>
        <p:spPr>
          <a:xfrm>
            <a:off x="6559973" y="1906065"/>
            <a:ext cx="4942216" cy="2264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kumimoji="1" lang="en-US" altLang="zh-CN" sz="16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Above–ground parking only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kumimoji="1" lang="en-US" altLang="zh-CN" sz="16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Collection only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kumimoji="1" lang="en-US" altLang="zh-CN" sz="16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40s average time–cost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kumimoji="1" lang="en-US" altLang="zh-CN" sz="16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Typically</a:t>
            </a:r>
            <a:r>
              <a:rPr kumimoji="1" lang="zh-CN" altLang="en-US" sz="16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sz="16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need more than 2 tries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kumimoji="1" lang="en-US" altLang="zh-CN" sz="16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Low parking spot search success rate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endParaRPr kumimoji="1" lang="en-US" altLang="zh-CN" sz="16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4E1CA41-48D9-9244-9EEA-076AC339C459}"/>
              </a:ext>
            </a:extLst>
          </p:cNvPr>
          <p:cNvSpPr txBox="1"/>
          <p:nvPr/>
        </p:nvSpPr>
        <p:spPr>
          <a:xfrm>
            <a:off x="1628819" y="1894034"/>
            <a:ext cx="4451212" cy="1527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1" lang="en-US" altLang="zh-CN" sz="16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Above–ground and underground parking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1" lang="en-US" altLang="zh-CN" sz="16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Both collection and parking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1" lang="en-US" altLang="zh-CN" sz="16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Route silence update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1" lang="en-US" altLang="zh-CN" sz="16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Auto</a:t>
            </a:r>
            <a:r>
              <a:rPr kumimoji="1" lang="zh-CN" altLang="en-US" sz="16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sz="16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walkaround</a:t>
            </a:r>
            <a:r>
              <a:rPr kumimoji="1" lang="zh-CN" altLang="en-US" sz="16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sz="16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to</a:t>
            </a:r>
            <a:r>
              <a:rPr kumimoji="1" lang="zh-CN" altLang="en-US" sz="16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sz="16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search</a:t>
            </a:r>
            <a:r>
              <a:rPr kumimoji="1" lang="zh-CN" altLang="en-US" sz="16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sz="16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parking</a:t>
            </a:r>
            <a:r>
              <a:rPr kumimoji="1" lang="zh-CN" altLang="en-US" sz="16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sz="16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spot</a:t>
            </a:r>
            <a:endParaRPr kumimoji="1" lang="zh-CN" altLang="en-US" sz="16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866E529-1D48-284C-B8EE-21017C4B3C31}"/>
              </a:ext>
            </a:extLst>
          </p:cNvPr>
          <p:cNvSpPr txBox="1"/>
          <p:nvPr/>
        </p:nvSpPr>
        <p:spPr>
          <a:xfrm>
            <a:off x="1628819" y="3388244"/>
            <a:ext cx="4451212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1" lang="en-US" altLang="zh-CN" sz="16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30s average time–cost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1" lang="en-US" altLang="zh-CN" sz="16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Fit into parking spot within 2 tries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1" lang="en-US" altLang="zh-CN" sz="16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More scenarios to be supported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1" lang="en-US" altLang="zh-CN" sz="16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Automatic</a:t>
            </a:r>
            <a:r>
              <a:rPr kumimoji="1" lang="zh-CN" altLang="en-US" sz="16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sz="16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correction</a:t>
            </a:r>
            <a:r>
              <a:rPr kumimoji="1" lang="zh-CN" altLang="en-US" sz="16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sz="16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while</a:t>
            </a:r>
            <a:r>
              <a:rPr kumimoji="1" lang="zh-CN" altLang="en-US" sz="16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sz="16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learning</a:t>
            </a:r>
            <a:endParaRPr kumimoji="1" lang="zh-CN" altLang="en-US" sz="16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1" lang="en-US" altLang="zh-CN" sz="16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User</a:t>
            </a:r>
            <a:r>
              <a:rPr kumimoji="1" lang="zh-CN" altLang="en-US" sz="16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sz="16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route</a:t>
            </a:r>
            <a:r>
              <a:rPr kumimoji="1" lang="zh-CN" altLang="en-US" sz="16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sz="16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sharing</a:t>
            </a:r>
            <a:r>
              <a:rPr kumimoji="1" lang="zh-CN" altLang="en-US" sz="16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sz="16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supported</a:t>
            </a:r>
            <a:endParaRPr kumimoji="1" lang="zh-CN" altLang="en-US" sz="1600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1" lang="en-US" altLang="zh-CN" sz="16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Easy control with mobile app</a:t>
            </a:r>
            <a:endParaRPr kumimoji="1" lang="zh-CN" altLang="en-US" sz="1600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F13CDE3D-93D2-DE46-9E94-856AF7CF8DD1}"/>
              </a:ext>
            </a:extLst>
          </p:cNvPr>
          <p:cNvSpPr/>
          <p:nvPr/>
        </p:nvSpPr>
        <p:spPr>
          <a:xfrm>
            <a:off x="264695" y="1707342"/>
            <a:ext cx="5642811" cy="4072670"/>
          </a:xfrm>
          <a:prstGeom prst="roundRect">
            <a:avLst>
              <a:gd name="adj" fmla="val 3086"/>
            </a:avLst>
          </a:prstGeom>
          <a:noFill/>
          <a:ln w="19050">
            <a:solidFill>
              <a:srgbClr val="0800FF"/>
            </a:solidFill>
            <a:prstDash val="lgDash"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0F28BFA3-13C9-0F40-9CA1-EAC88DF453DA}"/>
              </a:ext>
            </a:extLst>
          </p:cNvPr>
          <p:cNvSpPr/>
          <p:nvPr/>
        </p:nvSpPr>
        <p:spPr>
          <a:xfrm>
            <a:off x="6103742" y="1717891"/>
            <a:ext cx="5642811" cy="4062121"/>
          </a:xfrm>
          <a:prstGeom prst="roundRect">
            <a:avLst>
              <a:gd name="adj" fmla="val 3086"/>
            </a:avLst>
          </a:prstGeom>
          <a:noFill/>
          <a:ln w="19050">
            <a:solidFill>
              <a:srgbClr val="0800FF"/>
            </a:solidFill>
            <a:prstDash val="lgDash"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00BC203-B201-E44A-BB09-4861917F7C07}"/>
              </a:ext>
            </a:extLst>
          </p:cNvPr>
          <p:cNvSpPr/>
          <p:nvPr/>
        </p:nvSpPr>
        <p:spPr>
          <a:xfrm>
            <a:off x="1928253" y="1482554"/>
            <a:ext cx="1870986" cy="411480"/>
          </a:xfrm>
          <a:prstGeom prst="rect">
            <a:avLst/>
          </a:prstGeom>
          <a:solidFill>
            <a:srgbClr val="08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微软雅黑" charset="0"/>
                <a:ea typeface="微软雅黑" charset="0"/>
              </a:rPr>
              <a:t>Baidu</a:t>
            </a:r>
            <a:r>
              <a:rPr lang="zh-CN" altLang="en-US" sz="1600" dirty="0">
                <a:latin typeface="微软雅黑" charset="0"/>
                <a:ea typeface="微软雅黑" charset="0"/>
              </a:rPr>
              <a:t> </a:t>
            </a:r>
            <a:r>
              <a:rPr lang="en-US" altLang="zh-CN" sz="1600" dirty="0">
                <a:latin typeface="微软雅黑" charset="0"/>
                <a:ea typeface="微软雅黑" charset="0"/>
              </a:rPr>
              <a:t>HAVP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2AF1406-0869-5D4B-B9BA-FFFB6884F704}"/>
              </a:ext>
            </a:extLst>
          </p:cNvPr>
          <p:cNvSpPr/>
          <p:nvPr/>
        </p:nvSpPr>
        <p:spPr>
          <a:xfrm>
            <a:off x="7830492" y="1494585"/>
            <a:ext cx="1870986" cy="411480"/>
          </a:xfrm>
          <a:prstGeom prst="rect">
            <a:avLst/>
          </a:prstGeom>
          <a:solidFill>
            <a:srgbClr val="08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微软雅黑" charset="0"/>
                <a:ea typeface="微软雅黑" charset="0"/>
              </a:rPr>
              <a:t>Competitors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846F160-4EEA-7445-B09D-1A920A1BFF7F}"/>
              </a:ext>
            </a:extLst>
          </p:cNvPr>
          <p:cNvSpPr txBox="1"/>
          <p:nvPr/>
        </p:nvSpPr>
        <p:spPr>
          <a:xfrm>
            <a:off x="303613" y="2001672"/>
            <a:ext cx="1425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Industry</a:t>
            </a:r>
            <a:r>
              <a:rPr kumimoji="1" lang="zh-CN" altLang="en-US" sz="1200" dirty="0"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Pioneer</a:t>
            </a:r>
            <a:endParaRPr kumimoji="1" lang="zh-CN" altLang="en-US" sz="1200" dirty="0">
              <a:highlight>
                <a:srgbClr val="FF0000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9D76444-D344-D14F-8017-4DCD6E7994DC}"/>
              </a:ext>
            </a:extLst>
          </p:cNvPr>
          <p:cNvSpPr txBox="1"/>
          <p:nvPr/>
        </p:nvSpPr>
        <p:spPr>
          <a:xfrm>
            <a:off x="303613" y="2364996"/>
            <a:ext cx="1425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Industry</a:t>
            </a:r>
            <a:r>
              <a:rPr kumimoji="1" lang="zh-CN" altLang="en-US" sz="1200" dirty="0"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Pioneer</a:t>
            </a:r>
            <a:endParaRPr kumimoji="1" lang="zh-CN" altLang="en-US" sz="1200" dirty="0">
              <a:highlight>
                <a:srgbClr val="FF0000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20937DE-18D3-2E40-A5B6-B5598D5244CD}"/>
              </a:ext>
            </a:extLst>
          </p:cNvPr>
          <p:cNvSpPr txBox="1"/>
          <p:nvPr/>
        </p:nvSpPr>
        <p:spPr>
          <a:xfrm>
            <a:off x="303612" y="2728282"/>
            <a:ext cx="1425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Industry</a:t>
            </a:r>
            <a:r>
              <a:rPr kumimoji="1" lang="zh-CN" altLang="en-US" sz="1200" dirty="0"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Pioneer</a:t>
            </a:r>
            <a:endParaRPr kumimoji="1" lang="zh-CN" altLang="en-US" sz="1200" dirty="0">
              <a:highlight>
                <a:srgbClr val="FF0000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158B548-021F-844F-ADF2-113C4FC38D06}"/>
              </a:ext>
            </a:extLst>
          </p:cNvPr>
          <p:cNvSpPr txBox="1"/>
          <p:nvPr/>
        </p:nvSpPr>
        <p:spPr>
          <a:xfrm>
            <a:off x="303612" y="3087370"/>
            <a:ext cx="1425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Industry</a:t>
            </a:r>
            <a:r>
              <a:rPr kumimoji="1" lang="zh-CN" altLang="en-US" sz="1200" dirty="0"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Pioneer</a:t>
            </a:r>
            <a:endParaRPr kumimoji="1" lang="zh-CN" altLang="en-US" sz="1200" dirty="0">
              <a:highlight>
                <a:srgbClr val="FF0000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6B93E03-69A4-F04D-9EF0-05FF29A0B028}"/>
              </a:ext>
            </a:extLst>
          </p:cNvPr>
          <p:cNvSpPr txBox="1"/>
          <p:nvPr/>
        </p:nvSpPr>
        <p:spPr>
          <a:xfrm>
            <a:off x="303612" y="4591920"/>
            <a:ext cx="1425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Industry</a:t>
            </a:r>
            <a:r>
              <a:rPr kumimoji="1" lang="zh-CN" altLang="en-US" sz="1200" dirty="0"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Pioneer</a:t>
            </a:r>
            <a:endParaRPr kumimoji="1" lang="zh-CN" altLang="en-US" sz="1200" dirty="0">
              <a:highlight>
                <a:srgbClr val="FF0000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CDF4E42-C118-2647-90CA-141EF5D9ABD3}"/>
              </a:ext>
            </a:extLst>
          </p:cNvPr>
          <p:cNvSpPr txBox="1"/>
          <p:nvPr/>
        </p:nvSpPr>
        <p:spPr>
          <a:xfrm>
            <a:off x="7032665" y="6112381"/>
            <a:ext cx="5021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https://</a:t>
            </a:r>
            <a:r>
              <a:rPr kumimoji="1" lang="en" altLang="zh-CN" dirty="0" err="1"/>
              <a:t>apollo.auto</a:t>
            </a:r>
            <a:r>
              <a:rPr kumimoji="1" lang="en" altLang="zh-CN" dirty="0"/>
              <a:t>/</a:t>
            </a:r>
            <a:r>
              <a:rPr kumimoji="1" lang="en" altLang="zh-CN" dirty="0" err="1"/>
              <a:t>valet_parking</a:t>
            </a:r>
            <a:r>
              <a:rPr kumimoji="1" lang="en" altLang="zh-CN" dirty="0"/>
              <a:t>/</a:t>
            </a:r>
            <a:r>
              <a:rPr kumimoji="1" lang="en" altLang="zh-CN" dirty="0" err="1"/>
              <a:t>index_cn.html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006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 txBox="1"/>
          <p:nvPr/>
        </p:nvSpPr>
        <p:spPr>
          <a:xfrm>
            <a:off x="445450" y="179190"/>
            <a:ext cx="8764585" cy="8202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More</a:t>
            </a:r>
            <a:r>
              <a:rPr lang="zh-CN" altLang="en-US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Applications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27972"/>
            <a:ext cx="12192000" cy="330028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8972" y="443976"/>
            <a:ext cx="1953027" cy="54544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12E59F5E-2173-1249-B2D1-1419F154AD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090" y="4000112"/>
            <a:ext cx="3654912" cy="2208946"/>
          </a:xfrm>
          <a:prstGeom prst="rect">
            <a:avLst/>
          </a:prstGeom>
        </p:spPr>
      </p:pic>
      <p:sp>
        <p:nvSpPr>
          <p:cNvPr id="10" name="TextBox 3">
            <a:extLst>
              <a:ext uri="{FF2B5EF4-FFF2-40B4-BE49-F238E27FC236}">
                <a16:creationId xmlns:a16="http://schemas.microsoft.com/office/drawing/2014/main" id="{ADC77EAA-15BF-844F-94D4-4052A4B10FC2}"/>
              </a:ext>
            </a:extLst>
          </p:cNvPr>
          <p:cNvSpPr txBox="1"/>
          <p:nvPr/>
        </p:nvSpPr>
        <p:spPr>
          <a:xfrm>
            <a:off x="5290343" y="4000112"/>
            <a:ext cx="7382669" cy="2258238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marL="285750">
              <a:lnSpc>
                <a:spcPct val="120000"/>
              </a:lnSpc>
              <a:spcBef>
                <a:spcPts val="1000"/>
              </a:spcBef>
            </a:pPr>
            <a:r>
              <a:rPr kumimoji="1" lang="en-US" altLang="zh-CN" sz="20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Chengdu</a:t>
            </a:r>
            <a:r>
              <a:rPr kumimoji="1" lang="zh-CN" altLang="en-US" sz="20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sz="2000" b="1" dirty="0" err="1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SinoRail</a:t>
            </a:r>
            <a:r>
              <a:rPr kumimoji="1" lang="zh-CN" altLang="en-US" sz="20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sz="20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Electronics</a:t>
            </a:r>
          </a:p>
          <a:p>
            <a:pPr marL="457200" indent="-17145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Safety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inspection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of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railroad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tracks</a:t>
            </a:r>
          </a:p>
          <a:p>
            <a:pPr marL="457200" indent="-17145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Detection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of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channels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water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seepage</a:t>
            </a:r>
          </a:p>
          <a:p>
            <a:pPr marL="457200" indent="-17145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Deploy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by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 err="1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TensorRT</a:t>
            </a:r>
            <a:endParaRPr kumimoji="1"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>
              <a:lnSpc>
                <a:spcPct val="120000"/>
              </a:lnSpc>
              <a:spcBef>
                <a:spcPts val="1000"/>
              </a:spcBef>
            </a:pP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Link: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  <a:hlinkClick r:id="rId6"/>
              </a:rPr>
              <a:t>https://</a:t>
            </a:r>
            <a:r>
              <a:rPr kumimoji="1" lang="en" altLang="zh-CN" dirty="0" err="1">
                <a:latin typeface="Microsoft YaHei Light" panose="020B0502040204020203" pitchFamily="34" charset="-122"/>
                <a:ea typeface="Microsoft YaHei Light" panose="020B0502040204020203" pitchFamily="34" charset="-122"/>
                <a:hlinkClick r:id="rId6"/>
              </a:rPr>
              <a:t>www.paddlepaddle.org.cn</a:t>
            </a:r>
            <a:r>
              <a:rPr kumimoji="1" lang="en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  <a:hlinkClick r:id="rId6"/>
              </a:rPr>
              <a:t>/support/news</a:t>
            </a:r>
            <a:endParaRPr kumimoji="1"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A36CDB1-839C-A94D-95FB-9D6C64706F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5314" y="4012143"/>
            <a:ext cx="709581" cy="705280"/>
          </a:xfrm>
          <a:prstGeom prst="rect">
            <a:avLst/>
          </a:prstGeom>
        </p:spPr>
      </p:pic>
      <p:sp>
        <p:nvSpPr>
          <p:cNvPr id="11" name="TextBox 3">
            <a:extLst>
              <a:ext uri="{FF2B5EF4-FFF2-40B4-BE49-F238E27FC236}">
                <a16:creationId xmlns:a16="http://schemas.microsoft.com/office/drawing/2014/main" id="{A5A8A291-36ED-3844-8B65-861AA52BB739}"/>
              </a:ext>
            </a:extLst>
          </p:cNvPr>
          <p:cNvSpPr txBox="1"/>
          <p:nvPr/>
        </p:nvSpPr>
        <p:spPr>
          <a:xfrm>
            <a:off x="5290344" y="1365092"/>
            <a:ext cx="6253956" cy="2258238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marL="285750">
              <a:lnSpc>
                <a:spcPct val="120000"/>
              </a:lnSpc>
              <a:spcBef>
                <a:spcPts val="1000"/>
              </a:spcBef>
            </a:pPr>
            <a:r>
              <a:rPr kumimoji="1" lang="en-US" altLang="zh-CN" sz="20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WUHANTIELUJU(Wuhan</a:t>
            </a:r>
            <a:r>
              <a:rPr kumimoji="1" lang="zh-CN" altLang="en-US" sz="20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sz="20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railway</a:t>
            </a:r>
            <a:r>
              <a:rPr kumimoji="1" lang="zh-CN" altLang="en-US" sz="20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sz="20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bureau)</a:t>
            </a:r>
          </a:p>
          <a:p>
            <a:pPr marL="285750">
              <a:lnSpc>
                <a:spcPct val="120000"/>
              </a:lnSpc>
              <a:spcBef>
                <a:spcPts val="1000"/>
              </a:spcBef>
            </a:pP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Safety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inspection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of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railroad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tracks</a:t>
            </a:r>
          </a:p>
          <a:p>
            <a:pPr marL="457200" indent="-17145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Detection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of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channels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water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seepage</a:t>
            </a:r>
          </a:p>
          <a:p>
            <a:pPr marL="457200" indent="-17145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Deploy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by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 err="1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TensorRT</a:t>
            </a:r>
            <a:endParaRPr kumimoji="1"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>
              <a:lnSpc>
                <a:spcPct val="120000"/>
              </a:lnSpc>
              <a:spcBef>
                <a:spcPts val="1000"/>
              </a:spcBef>
            </a:pP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Link:</a:t>
            </a:r>
            <a:r>
              <a:rPr kumimoji="1" lang="zh-CN" altLang="en-US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  <a:hlinkClick r:id="rId8"/>
              </a:rPr>
              <a:t>https://</a:t>
            </a:r>
            <a:r>
              <a:rPr kumimoji="1" lang="en-US" altLang="zh-CN" dirty="0" err="1">
                <a:latin typeface="Microsoft YaHei Light" panose="020B0502040204020203" pitchFamily="34" charset="-122"/>
                <a:ea typeface="Microsoft YaHei Light" panose="020B0502040204020203" pitchFamily="34" charset="-122"/>
                <a:hlinkClick r:id="rId8"/>
              </a:rPr>
              <a:t>www.sohu.com</a:t>
            </a:r>
            <a:r>
              <a:rPr kumimoji="1" lang="en-US" altLang="zh-CN" dirty="0">
                <a:latin typeface="Microsoft YaHei Light" panose="020B0502040204020203" pitchFamily="34" charset="-122"/>
                <a:ea typeface="Microsoft YaHei Light" panose="020B0502040204020203" pitchFamily="34" charset="-122"/>
                <a:hlinkClick r:id="rId8"/>
              </a:rPr>
              <a:t>/a/442530632_104421</a:t>
            </a:r>
            <a:endParaRPr kumimoji="1" lang="en-US" altLang="zh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591CD8F-5421-054C-B361-5CBE6D51C5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5033" y="1428461"/>
            <a:ext cx="3465364" cy="2039037"/>
          </a:xfrm>
          <a:prstGeom prst="rect">
            <a:avLst/>
          </a:prstGeom>
        </p:spPr>
      </p:pic>
      <p:pic>
        <p:nvPicPr>
          <p:cNvPr id="8" name="图片 7" descr="图片包含 公司名称&#10;&#10;描述已自动生成">
            <a:extLst>
              <a:ext uri="{FF2B5EF4-FFF2-40B4-BE49-F238E27FC236}">
                <a16:creationId xmlns:a16="http://schemas.microsoft.com/office/drawing/2014/main" id="{C9C6BB03-9532-8142-91B8-BB165211B53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5314" y="1414910"/>
            <a:ext cx="2324804" cy="69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592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 txBox="1"/>
          <p:nvPr/>
        </p:nvSpPr>
        <p:spPr>
          <a:xfrm>
            <a:off x="418596" y="33841"/>
            <a:ext cx="8764585" cy="8202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3400" b="1" dirty="0">
                <a:solidFill>
                  <a:srgbClr val="165D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For More Information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27972"/>
            <a:ext cx="12192000" cy="330028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8972" y="443976"/>
            <a:ext cx="1953027" cy="545440"/>
          </a:xfrm>
          <a:prstGeom prst="rect">
            <a:avLst/>
          </a:prstGeom>
        </p:spPr>
      </p:pic>
      <p:sp>
        <p:nvSpPr>
          <p:cNvPr id="12" name="TextBox 3"/>
          <p:cNvSpPr txBox="1"/>
          <p:nvPr/>
        </p:nvSpPr>
        <p:spPr>
          <a:xfrm>
            <a:off x="825470" y="1195625"/>
            <a:ext cx="7950835" cy="5200004"/>
          </a:xfrm>
          <a:prstGeom prst="rect">
            <a:avLst/>
          </a:prstGeom>
          <a:noFill/>
        </p:spPr>
        <p:txBody>
          <a:bodyPr wrap="square" lIns="0" tIns="36000" rIns="216000" bIns="36000" rtlCol="0">
            <a:spAutoFit/>
          </a:bodyPr>
          <a:lstStyle/>
          <a:p>
            <a:pPr marL="285750" indent="0" fontAlgn="auto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None/>
            </a:pPr>
            <a:r>
              <a:rPr kumimoji="1" lang="en-US" sz="28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Explore our open-source projects </a:t>
            </a:r>
            <a:endParaRPr kumimoji="1" lang="en-US" sz="2400" dirty="0">
              <a:solidFill>
                <a:schemeClr val="tx1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1028700" lvl="1" indent="-285750" fontAlgn="auto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</a:pPr>
            <a:r>
              <a:rPr kumimoji="1" lang="en-US" sz="24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https://github.com/PaddlePaddle/Paddle</a:t>
            </a:r>
          </a:p>
          <a:p>
            <a:pPr marL="1028700" lvl="1" indent="-285750" fontAlgn="auto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</a:pPr>
            <a:r>
              <a:rPr kumimoji="1" lang="en-US" sz="24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https://</a:t>
            </a:r>
            <a:r>
              <a:rPr kumimoji="1" lang="en-US" sz="2400" dirty="0" err="1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github.com</a:t>
            </a:r>
            <a:r>
              <a:rPr kumimoji="1" lang="en-US" sz="24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/PaddlePaddle/Paddle2ONNX</a:t>
            </a:r>
          </a:p>
          <a:p>
            <a:pPr marL="1028700" lvl="1" indent="-285750" fontAlgn="auto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Char char="•"/>
            </a:pPr>
            <a:endParaRPr kumimoji="1" lang="en-US" sz="2000" dirty="0">
              <a:solidFill>
                <a:schemeClr val="tx1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lvl="0" indent="0" fontAlgn="auto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None/>
            </a:pPr>
            <a:r>
              <a:rPr kumimoji="1" lang="en-US" sz="28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Official Website of PaddlePaddle</a:t>
            </a:r>
            <a:endParaRPr kumimoji="1" lang="en-US" sz="2400" dirty="0">
              <a:solidFill>
                <a:schemeClr val="tx1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1085850" lvl="1" indent="-3429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https://</a:t>
            </a:r>
            <a:r>
              <a:rPr kumimoji="1" lang="en-US" altLang="zh-CN" sz="2400" dirty="0" err="1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www.paddlepaddle.org.cn</a:t>
            </a:r>
            <a:endParaRPr kumimoji="1" lang="en-US" altLang="zh-CN" sz="2400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lvl="0" indent="0" fontAlgn="auto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None/>
            </a:pPr>
            <a:endParaRPr kumimoji="1" lang="en-US" sz="2400" dirty="0">
              <a:solidFill>
                <a:schemeClr val="tx1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lvl="0" indent="0" fontAlgn="auto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  <a:buNone/>
            </a:pPr>
            <a:r>
              <a:rPr kumimoji="1" lang="en-US" sz="28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Lo</a:t>
            </a:r>
            <a:r>
              <a:rPr kumimoji="1" lang="en-US" altLang="zh-CN" sz="28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oking</a:t>
            </a:r>
            <a:r>
              <a:rPr kumimoji="1" lang="zh-CN" altLang="en-US" sz="28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sz="28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forward</a:t>
            </a:r>
            <a:r>
              <a:rPr kumimoji="1" lang="zh-CN" altLang="en-US" sz="28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sz="28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for</a:t>
            </a:r>
            <a:r>
              <a:rPr kumimoji="1" lang="zh-CN" altLang="en-US" sz="28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sz="28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more</a:t>
            </a:r>
            <a:r>
              <a:rPr kumimoji="1" lang="zh-CN" altLang="en-US" sz="28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sz="28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cooperation!</a:t>
            </a:r>
          </a:p>
          <a:p>
            <a:pPr marL="1085850" lvl="1" indent="-3429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solidFill>
                  <a:schemeClr val="tx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Con</a:t>
            </a:r>
            <a:r>
              <a:rPr kumimoji="1" lang="en-US" altLang="zh-CN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tact:</a:t>
            </a:r>
            <a:r>
              <a:rPr kumimoji="1" lang="zh-CN" altLang="en-US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kumimoji="1" lang="en-US" altLang="zh-CN" sz="2400" dirty="0" err="1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paddle-dev@baidu.com</a:t>
            </a:r>
            <a:endParaRPr kumimoji="1" lang="en-US" sz="2400" dirty="0">
              <a:solidFill>
                <a:schemeClr val="tx1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0106" y="1661137"/>
            <a:ext cx="1549400" cy="149860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8206" y="3936933"/>
            <a:ext cx="1511300" cy="15367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376.976377952756,&quot;width&quot;:18281.784251968504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489.823622047244,&quot;width&quot;:17946.43937007874}"/>
</p:tagLst>
</file>

<file path=ppt/theme/theme1.xml><?xml version="1.0" encoding="utf-8"?>
<a:theme xmlns:a="http://schemas.openxmlformats.org/drawingml/2006/main" name="4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5494</TotalTime>
  <Words>633</Words>
  <Application>Microsoft Macintosh PowerPoint</Application>
  <PresentationFormat>宽屏</PresentationFormat>
  <Paragraphs>163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等线</vt:lpstr>
      <vt:lpstr>等线 Light</vt:lpstr>
      <vt:lpstr>Microsoft YaHei</vt:lpstr>
      <vt:lpstr>Microsoft YaHei</vt:lpstr>
      <vt:lpstr>Microsoft YaHei Light</vt:lpstr>
      <vt:lpstr>PingFang SC</vt:lpstr>
      <vt:lpstr>Arial</vt:lpstr>
      <vt:lpstr>Wingdings</vt:lpstr>
      <vt:lpstr>4_自定义设计方案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Cas0279</dc:creator>
  <cp:lastModifiedBy>xseqtvfp</cp:lastModifiedBy>
  <cp:revision>554</cp:revision>
  <dcterms:created xsi:type="dcterms:W3CDTF">2021-03-19T06:35:11Z</dcterms:created>
  <dcterms:modified xsi:type="dcterms:W3CDTF">2021-10-18T08:47:31Z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2052-3.3.1.5149</vt:lpwstr>
  </property>
</Properties>
</file>