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sldIdLst>
    <p:sldId id="268" r:id="rId3"/>
    <p:sldId id="267" r:id="rId4"/>
    <p:sldId id="272" r:id="rId5"/>
    <p:sldId id="273" r:id="rId6"/>
    <p:sldId id="274" r:id="rId7"/>
    <p:sldId id="275" r:id="rId8"/>
    <p:sldId id="276" r:id="rId9"/>
    <p:sldId id="278" r:id="rId10"/>
    <p:sldId id="277" r:id="rId11"/>
    <p:sldId id="262" r:id="rId12"/>
    <p:sldId id="260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18"/>
    <p:restoredTop sz="94694"/>
  </p:normalViewPr>
  <p:slideViewPr>
    <p:cSldViewPr snapToGrid="0">
      <p:cViewPr varScale="1">
        <p:scale>
          <a:sx n="117" d="100"/>
          <a:sy n="117" d="100"/>
        </p:scale>
        <p:origin x="118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10/21/21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10/21/21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10/21/21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10/21/21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10/21/21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10/21/21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10/21/21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10/21/21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10/21/21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10/21/21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10/21/21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10/21/21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94279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36344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10/21/21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65318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10/21/21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69477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194769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10/21/21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21584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10/21/21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8053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10/21/21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67348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10/21/21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88985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10/21/21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922469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10/21/21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320872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10/21/21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757284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10/21/21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68436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10/21/21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10/21/21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8014113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onnx/working-groups/tree/master/preprocessing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slack.lfai.foundation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B4480E-B7FF-4481-890E-043A69AE6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6B9A02-BAD8-4456-BE80-D031CA99C13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0000"/>
          <a:stretch/>
        </p:blipFill>
        <p:spPr>
          <a:xfrm>
            <a:off x="20" y="-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64C13BAB-7C00-4D21-A857-E3D41C0A2A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8068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F1FF39A-AC3C-4066-9D4C-519AA22812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8068" y="601201"/>
            <a:ext cx="3702134" cy="5791132"/>
          </a:xfrm>
          <a:prstGeom prst="rect">
            <a:avLst/>
          </a:prstGeom>
          <a:solidFill>
            <a:srgbClr val="465359">
              <a:alpha val="97000"/>
            </a:srgbClr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D5B6EC-C11D-4E3A-B6C8-E9844256AE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4200" y="1524001"/>
            <a:ext cx="3769686" cy="3478384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Operators sig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2DE3CC-BD08-467A-AE9A-3FF5504C68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4200" y="5145513"/>
            <a:ext cx="3412067" cy="73882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>
                    <a:alpha val="75000"/>
                  </a:srgbClr>
                </a:solidFill>
              </a:rPr>
              <a:t>Breakout session</a:t>
            </a:r>
          </a:p>
        </p:txBody>
      </p:sp>
      <p:pic>
        <p:nvPicPr>
          <p:cNvPr id="12" name="ONNX-logo-reverse@2x.png" descr="ONNX">
            <a:extLst>
              <a:ext uri="{FF2B5EF4-FFF2-40B4-BE49-F238E27FC236}">
                <a16:creationId xmlns:a16="http://schemas.microsoft.com/office/drawing/2014/main" id="{3AE171D9-1181-46F3-8629-9B16B3B865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92" y="914876"/>
            <a:ext cx="3022232" cy="751191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534CC7F-F7C4-4AAC-B754-CD2D90EE9D4F}"/>
              </a:ext>
            </a:extLst>
          </p:cNvPr>
          <p:cNvSpPr/>
          <p:nvPr/>
        </p:nvSpPr>
        <p:spPr>
          <a:xfrm>
            <a:off x="5124630" y="4504536"/>
            <a:ext cx="4429932" cy="830997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Michal Karzynski (Intel)</a:t>
            </a:r>
          </a:p>
          <a:p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G. Ramalingam (Microsoft)</a:t>
            </a:r>
          </a:p>
        </p:txBody>
      </p:sp>
    </p:spTree>
    <p:extLst>
      <p:ext uri="{BB962C8B-B14F-4D97-AF65-F5344CB8AC3E}">
        <p14:creationId xmlns:p14="http://schemas.microsoft.com/office/powerpoint/2010/main" val="4202052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864"/>
    </mc:Choice>
    <mc:Fallback xmlns="">
      <p:transition spd="slow" advTm="9864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CD451-91BE-4C8C-84CF-1E92F2C6D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Calibri Light"/>
              </a:rPr>
              <a:t>Agenda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CDB986-848D-4054-9E39-C799CC3243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Recent Changes</a:t>
            </a:r>
          </a:p>
          <a:p>
            <a:pPr lvl="1"/>
            <a:r>
              <a:rPr lang="en-US" dirty="0">
                <a:ea typeface="+mn-lt"/>
                <a:cs typeface="+mn-lt"/>
              </a:rPr>
              <a:t>ONNX operator set 14 and 15 </a:t>
            </a:r>
            <a:endParaRPr lang="en-US" dirty="0">
              <a:cs typeface="Calibri"/>
            </a:endParaRPr>
          </a:p>
          <a:p>
            <a:pPr lvl="1"/>
            <a:r>
              <a:rPr lang="en-US" dirty="0">
                <a:ea typeface="+mn-lt"/>
                <a:cs typeface="+mn-lt"/>
              </a:rPr>
              <a:t>Type system extensions</a:t>
            </a:r>
          </a:p>
          <a:p>
            <a:pPr lvl="1"/>
            <a:r>
              <a:rPr lang="en-US" dirty="0"/>
              <a:t>Progress in ONNX version converter</a:t>
            </a:r>
            <a:r>
              <a:rPr lang="en-US" dirty="0">
                <a:ea typeface="+mn-lt"/>
                <a:cs typeface="+mn-lt"/>
              </a:rPr>
              <a:t> </a:t>
            </a:r>
            <a:endParaRPr lang="en-US" dirty="0"/>
          </a:p>
          <a:p>
            <a:endParaRPr lang="en-US" dirty="0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Looking forward</a:t>
            </a:r>
          </a:p>
          <a:p>
            <a:pPr lvl="1"/>
            <a:r>
              <a:rPr lang="en-US" dirty="0">
                <a:ea typeface="+mn-lt"/>
                <a:cs typeface="+mn-lt"/>
              </a:rPr>
              <a:t>ONNX Roadmap</a:t>
            </a:r>
          </a:p>
          <a:p>
            <a:pPr lvl="1"/>
            <a:r>
              <a:rPr lang="en-US" dirty="0">
                <a:ea typeface="+mn-lt"/>
                <a:cs typeface="+mn-lt"/>
              </a:rPr>
              <a:t>Unified operator interface style </a:t>
            </a:r>
          </a:p>
          <a:p>
            <a:pPr lvl="1"/>
            <a:r>
              <a:rPr lang="en-US" dirty="0">
                <a:ea typeface="+mn-lt"/>
                <a:cs typeface="+mn-lt"/>
              </a:rPr>
              <a:t>Reducing # of primitive ops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7472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983"/>
    </mc:Choice>
    <mc:Fallback xmlns="">
      <p:transition spd="slow" advTm="25983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952C9-68C8-4745-92A1-3CB06D183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Recent ONNX releases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56DF45-7741-F84C-AB68-656B4FD9CA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ONNX 1.9</a:t>
            </a:r>
          </a:p>
          <a:p>
            <a:pPr lvl="1"/>
            <a:r>
              <a:rPr lang="en-US" dirty="0"/>
              <a:t>released on Apr 19, 2021</a:t>
            </a:r>
          </a:p>
          <a:p>
            <a:pPr lvl="1"/>
            <a:r>
              <a:rPr lang="en-US" dirty="0"/>
              <a:t>operator set 14</a:t>
            </a:r>
          </a:p>
          <a:p>
            <a:r>
              <a:rPr lang="en-US" dirty="0"/>
              <a:t>ONNX 1.10 </a:t>
            </a:r>
          </a:p>
          <a:p>
            <a:pPr lvl="1"/>
            <a:r>
              <a:rPr lang="en-US" dirty="0"/>
              <a:t>released on Jul 31, 2021</a:t>
            </a:r>
          </a:p>
          <a:p>
            <a:pPr lvl="1"/>
            <a:r>
              <a:rPr lang="en-US" dirty="0"/>
              <a:t>operator set 15</a:t>
            </a:r>
          </a:p>
        </p:txBody>
      </p:sp>
    </p:spTree>
    <p:extLst>
      <p:ext uri="{BB962C8B-B14F-4D97-AF65-F5344CB8AC3E}">
        <p14:creationId xmlns:p14="http://schemas.microsoft.com/office/powerpoint/2010/main" val="35260566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AFBF1-D7E7-A04A-9876-8617D4A49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 operations added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E02264-EE8B-3142-B118-7313C9C953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Operator set 14</a:t>
            </a:r>
          </a:p>
          <a:p>
            <a:pPr lvl="1"/>
            <a:r>
              <a:rPr lang="en-US" b="1" dirty="0" err="1"/>
              <a:t>Trilu</a:t>
            </a:r>
            <a:r>
              <a:rPr lang="en-US" dirty="0"/>
              <a:t> (Lower/Upper Triangular Matrix)</a:t>
            </a:r>
          </a:p>
          <a:p>
            <a:pPr lvl="1"/>
            <a:r>
              <a:rPr lang="en-US" b="1" dirty="0" err="1"/>
              <a:t>HardSwish</a:t>
            </a:r>
            <a:r>
              <a:rPr lang="en-US" dirty="0"/>
              <a:t> (function)</a:t>
            </a:r>
          </a:p>
          <a:p>
            <a:pPr lvl="1"/>
            <a:endParaRPr lang="en-US" dirty="0"/>
          </a:p>
          <a:p>
            <a:r>
              <a:rPr lang="en-US" dirty="0"/>
              <a:t>Operator set 15</a:t>
            </a:r>
          </a:p>
          <a:p>
            <a:pPr lvl="1"/>
            <a:r>
              <a:rPr lang="en-US" b="1" dirty="0"/>
              <a:t>Bernoulli</a:t>
            </a:r>
            <a:r>
              <a:rPr lang="en-US" dirty="0"/>
              <a:t> (function, </a:t>
            </a:r>
            <a:r>
              <a:rPr lang="en-GB" dirty="0"/>
              <a:t>binary random number generator)</a:t>
            </a:r>
          </a:p>
          <a:p>
            <a:pPr lvl="1"/>
            <a:r>
              <a:rPr lang="en-GB" b="1" dirty="0" err="1"/>
              <a:t>CastLike</a:t>
            </a:r>
            <a:r>
              <a:rPr lang="en-GB" dirty="0"/>
              <a:t> (function)</a:t>
            </a:r>
          </a:p>
          <a:p>
            <a:pPr lvl="1"/>
            <a:r>
              <a:rPr lang="en-US" b="1" dirty="0"/>
              <a:t>Optional</a:t>
            </a:r>
          </a:p>
          <a:p>
            <a:pPr lvl="1"/>
            <a:r>
              <a:rPr lang="en-US" b="1" dirty="0" err="1"/>
              <a:t>OptionalGetElement</a:t>
            </a:r>
            <a:endParaRPr lang="en-US" b="1" dirty="0"/>
          </a:p>
          <a:p>
            <a:pPr lvl="1"/>
            <a:r>
              <a:rPr lang="en-US" b="1" dirty="0" err="1"/>
              <a:t>OptionalHasElement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1227833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4C146-50C4-9649-ABCD-9C0196A17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Operator updates in </a:t>
            </a:r>
            <a:r>
              <a:rPr lang="en-US" dirty="0" err="1"/>
              <a:t>opset</a:t>
            </a:r>
            <a:r>
              <a:rPr lang="en-US" dirty="0"/>
              <a:t> 15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B22FA0-CCE8-C74C-9ADB-9C4E9714D1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 bfloat16 support for </a:t>
            </a:r>
            <a:r>
              <a:rPr lang="en-US" b="1" dirty="0"/>
              <a:t>Pow</a:t>
            </a:r>
            <a:r>
              <a:rPr lang="en-US" dirty="0"/>
              <a:t>. #3412</a:t>
            </a:r>
          </a:p>
          <a:p>
            <a:r>
              <a:rPr lang="en-US" dirty="0"/>
              <a:t>Extend </a:t>
            </a:r>
            <a:r>
              <a:rPr lang="en-US" b="1" dirty="0"/>
              <a:t>Shape</a:t>
            </a:r>
            <a:r>
              <a:rPr lang="en-US" dirty="0"/>
              <a:t> to return a slice using attributes </a:t>
            </a:r>
            <a:r>
              <a:rPr lang="en-US" b="1" dirty="0"/>
              <a:t>start</a:t>
            </a:r>
            <a:r>
              <a:rPr lang="en-US" dirty="0"/>
              <a:t>, </a:t>
            </a:r>
            <a:r>
              <a:rPr lang="en-US" b="1" dirty="0"/>
              <a:t>end</a:t>
            </a:r>
            <a:r>
              <a:rPr lang="en-US" dirty="0"/>
              <a:t>. #3580</a:t>
            </a:r>
          </a:p>
          <a:p>
            <a:r>
              <a:rPr lang="en-US" dirty="0"/>
              <a:t>Spec clarification for </a:t>
            </a:r>
            <a:r>
              <a:rPr lang="en-US" b="1" dirty="0" err="1"/>
              <a:t>MatMulInteger</a:t>
            </a:r>
            <a:r>
              <a:rPr lang="en-US" dirty="0"/>
              <a:t> and </a:t>
            </a:r>
            <a:r>
              <a:rPr lang="en-US" b="1" dirty="0" err="1"/>
              <a:t>QLinearMatMul</a:t>
            </a:r>
            <a:r>
              <a:rPr lang="en-US" dirty="0"/>
              <a:t>. #3585</a:t>
            </a:r>
          </a:p>
          <a:p>
            <a:r>
              <a:rPr lang="en-US" dirty="0"/>
              <a:t>Add additional type constraints in </a:t>
            </a:r>
            <a:r>
              <a:rPr lang="en-US" b="1" dirty="0" err="1"/>
              <a:t>BatchNormalization</a:t>
            </a:r>
            <a:r>
              <a:rPr lang="en-US" dirty="0"/>
              <a:t>. #3545</a:t>
            </a:r>
          </a:p>
          <a:p>
            <a:r>
              <a:rPr lang="en-US" b="1" dirty="0" err="1"/>
              <a:t>BatchNormalization</a:t>
            </a:r>
            <a:r>
              <a:rPr lang="en-US" dirty="0"/>
              <a:t> outputs updated for training mode. #3379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8935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E4571-AB81-A543-8B11-5142723D1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System Extensions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E6648D-B9B4-4D48-B432-4175B7C8D7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New </a:t>
            </a:r>
            <a:r>
              <a:rPr lang="en-US" b="1" dirty="0"/>
              <a:t>Optional</a:t>
            </a:r>
            <a:r>
              <a:rPr lang="en-US" dirty="0"/>
              <a:t> type #3407</a:t>
            </a:r>
          </a:p>
          <a:p>
            <a:pPr lvl="1"/>
            <a:r>
              <a:rPr lang="en-US" dirty="0"/>
              <a:t>Optional value of a specific type. Can contain a value or an empty placeholder.</a:t>
            </a:r>
            <a:br>
              <a:rPr lang="en-US" dirty="0"/>
            </a:br>
            <a:r>
              <a:rPr lang="en-US" dirty="0"/>
              <a:t>Similar to std::optional&lt;T&gt; in C++, Optional[X] in Python, etc.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E.g.: Optional&lt;Tensor&lt;float&gt;&gt;</a:t>
            </a:r>
          </a:p>
          <a:p>
            <a:pPr lvl="1"/>
            <a:endParaRPr lang="en-US" dirty="0"/>
          </a:p>
          <a:p>
            <a:r>
              <a:rPr lang="en-US" dirty="0"/>
              <a:t>New </a:t>
            </a:r>
            <a:r>
              <a:rPr lang="en-US" b="1" dirty="0" err="1"/>
              <a:t>SparseTensor</a:t>
            </a:r>
            <a:r>
              <a:rPr lang="en-US" dirty="0"/>
              <a:t> type </a:t>
            </a:r>
          </a:p>
          <a:p>
            <a:pPr lvl="1"/>
            <a:r>
              <a:rPr lang="en-US" dirty="0"/>
              <a:t>Stores only sparse values and their indices. All other values default to 0.</a:t>
            </a:r>
          </a:p>
          <a:p>
            <a:pPr lvl="1"/>
            <a:r>
              <a:rPr lang="en-US" dirty="0"/>
              <a:t>Promoted from ONNX-ML</a:t>
            </a:r>
          </a:p>
        </p:txBody>
      </p:sp>
    </p:spTree>
    <p:extLst>
      <p:ext uri="{BB962C8B-B14F-4D97-AF65-F5344CB8AC3E}">
        <p14:creationId xmlns:p14="http://schemas.microsoft.com/office/powerpoint/2010/main" val="12801182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C5D40-34C0-4C4B-BB82-FED880047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Progress in ONNX version converter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C8011C-EDEE-5C4D-9D61-70DC9C1B12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en-US" sz="2400" dirty="0"/>
              <a:t>Many new adapters added by Matteo </a:t>
            </a:r>
            <a:r>
              <a:rPr lang="en-US" sz="2400" dirty="0" err="1"/>
              <a:t>Salvarezza</a:t>
            </a:r>
            <a:r>
              <a:rPr lang="en-US" sz="2400" dirty="0"/>
              <a:t> from Wolfram Research #3343</a:t>
            </a:r>
          </a:p>
          <a:p>
            <a:pPr>
              <a:spcAft>
                <a:spcPts val="1200"/>
              </a:spcAft>
            </a:pPr>
            <a:r>
              <a:rPr lang="en-US" sz="2400" dirty="0"/>
              <a:t>Most adapters to convert from a lower </a:t>
            </a:r>
            <a:r>
              <a:rPr lang="en-US" sz="2400" dirty="0" err="1"/>
              <a:t>opset</a:t>
            </a:r>
            <a:r>
              <a:rPr lang="en-US" sz="2400" dirty="0"/>
              <a:t> to a higher one are available.</a:t>
            </a:r>
          </a:p>
          <a:p>
            <a:pPr>
              <a:spcAft>
                <a:spcPts val="1200"/>
              </a:spcAft>
            </a:pPr>
            <a:r>
              <a:rPr lang="en-US" sz="2400" dirty="0"/>
              <a:t>An upgrade adapter now required as part of operator spec change procedure.</a:t>
            </a:r>
          </a:p>
          <a:p>
            <a:pPr>
              <a:spcAft>
                <a:spcPts val="1200"/>
              </a:spcAft>
            </a:pPr>
            <a:r>
              <a:rPr lang="en-US" sz="2400" dirty="0"/>
              <a:t>Tests were added which detect missing adapters #3344</a:t>
            </a:r>
          </a:p>
          <a:p>
            <a:pPr>
              <a:spcAft>
                <a:spcPts val="1200"/>
              </a:spcAft>
            </a:pPr>
            <a:r>
              <a:rPr lang="en-US" sz="2400" dirty="0"/>
              <a:t>Version converter extended to support for recursion into subgraphs. #3474</a:t>
            </a:r>
          </a:p>
          <a:p>
            <a:pPr>
              <a:spcAft>
                <a:spcPts val="1200"/>
              </a:spcAft>
            </a:pPr>
            <a:r>
              <a:rPr lang="en-US" sz="2400" dirty="0"/>
              <a:t>Question: some downgrade adapters are missing. Are you running into issues with this in your use-cases?</a:t>
            </a:r>
          </a:p>
        </p:txBody>
      </p:sp>
    </p:spTree>
    <p:extLst>
      <p:ext uri="{BB962C8B-B14F-4D97-AF65-F5344CB8AC3E}">
        <p14:creationId xmlns:p14="http://schemas.microsoft.com/office/powerpoint/2010/main" val="14732124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DA81B-FB10-2A45-8A25-D7D7A87D0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ONNX Roadmap - Future directions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BB33A3-309B-624E-BF8E-B6E8E2F9E8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Focus on pre-processing for integrated ML pipelines in ONNX</a:t>
            </a:r>
          </a:p>
          <a:p>
            <a:pPr lvl="1"/>
            <a:r>
              <a:rPr lang="en-US" dirty="0"/>
              <a:t>preprocessing data in Python can degrade model performance</a:t>
            </a:r>
          </a:p>
          <a:p>
            <a:pPr lvl="1"/>
            <a:r>
              <a:rPr lang="en-US" dirty="0"/>
              <a:t>complex rewrites may be needed to improve performance</a:t>
            </a:r>
          </a:p>
          <a:p>
            <a:pPr lvl="1"/>
            <a:r>
              <a:rPr lang="en-US" dirty="0"/>
              <a:t>integrated ONNX approach could optimize data preparation</a:t>
            </a:r>
          </a:p>
          <a:p>
            <a:pPr lvl="1"/>
            <a:r>
              <a:rPr lang="en-US" dirty="0"/>
              <a:t>new operators: </a:t>
            </a:r>
            <a:r>
              <a:rPr lang="en-US" dirty="0" err="1"/>
              <a:t>StringConcatenator</a:t>
            </a:r>
            <a:r>
              <a:rPr lang="en-US" dirty="0"/>
              <a:t>, </a:t>
            </a:r>
            <a:r>
              <a:rPr lang="en-US" dirty="0" err="1"/>
              <a:t>StringSplitter</a:t>
            </a:r>
            <a:r>
              <a:rPr lang="en-US" dirty="0"/>
              <a:t>, </a:t>
            </a:r>
            <a:r>
              <a:rPr lang="en-US" dirty="0" err="1"/>
              <a:t>DateTransformer</a:t>
            </a:r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Federated learning</a:t>
            </a:r>
          </a:p>
          <a:p>
            <a:pPr lvl="1"/>
            <a:r>
              <a:rPr lang="en-US" dirty="0"/>
              <a:t>local learning on edge devices &amp; consolidation on server</a:t>
            </a:r>
          </a:p>
          <a:p>
            <a:pPr lvl="1"/>
            <a:r>
              <a:rPr lang="en-US" dirty="0"/>
              <a:t>local learning can be achieved using ONNX Training extensions</a:t>
            </a:r>
          </a:p>
          <a:p>
            <a:pPr lvl="1"/>
            <a:r>
              <a:rPr lang="en-US" dirty="0"/>
              <a:t>new functions or operators may be required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4988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CD451-91BE-4C8C-84CF-1E92F2C6D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ONNX Preprocessing Working Group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CDB986-848D-4054-9E39-C799CC3243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  <a:hlinkClick r:id="rId2"/>
              </a:rPr>
              <a:t>https://github.com/onnx/working-groups/tree/master/preprocessing</a:t>
            </a:r>
            <a:r>
              <a:rPr lang="en-US" dirty="0">
                <a:ea typeface="+mn-lt"/>
                <a:cs typeface="+mn-lt"/>
              </a:rPr>
              <a:t> </a:t>
            </a:r>
          </a:p>
          <a:p>
            <a:pPr>
              <a:spcBef>
                <a:spcPct val="0"/>
              </a:spcBef>
            </a:pPr>
            <a:endParaRPr lang="en-US" dirty="0">
              <a:cs typeface="Calibri"/>
            </a:endParaRPr>
          </a:p>
          <a:p>
            <a:pPr>
              <a:spcBef>
                <a:spcPct val="0"/>
              </a:spcBef>
            </a:pPr>
            <a:r>
              <a:rPr lang="en-US" dirty="0">
                <a:cs typeface="Calibri"/>
              </a:rPr>
              <a:t>Goal: Identify extensions required to enable representation of a data preprocessing pipeline (prior to inference or training)</a:t>
            </a:r>
          </a:p>
          <a:p>
            <a:pPr lvl="1">
              <a:spcBef>
                <a:spcPct val="0"/>
              </a:spcBef>
            </a:pPr>
            <a:r>
              <a:rPr lang="en-US" dirty="0">
                <a:cs typeface="Calibri"/>
              </a:rPr>
              <a:t>Including new operators or extensions of existing operators</a:t>
            </a:r>
          </a:p>
          <a:p>
            <a:pPr>
              <a:spcBef>
                <a:spcPct val="0"/>
              </a:spcBef>
            </a:pPr>
            <a:endParaRPr lang="en-US">
              <a:cs typeface="Calibri"/>
            </a:endParaRPr>
          </a:p>
          <a:p>
            <a:pPr>
              <a:spcBef>
                <a:spcPct val="0"/>
              </a:spcBef>
            </a:pPr>
            <a:r>
              <a:rPr lang="en-US">
                <a:cs typeface="Calibri"/>
              </a:rPr>
              <a:t>Please </a:t>
            </a:r>
            <a:r>
              <a:rPr lang="en-US" dirty="0">
                <a:cs typeface="Calibri"/>
              </a:rPr>
              <a:t>join the monthly meetings </a:t>
            </a:r>
            <a:r>
              <a:rPr lang="en-US">
                <a:cs typeface="Calibri"/>
              </a:rPr>
              <a:t>to contribute</a:t>
            </a:r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38321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983"/>
    </mc:Choice>
    <mc:Fallback xmlns="">
      <p:transition spd="slow" advTm="25983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00CE0-BCD1-7844-ACD6-C7F052239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Going Forward:</a:t>
            </a:r>
            <a:br>
              <a:rPr lang="en-US" dirty="0"/>
            </a:br>
            <a:r>
              <a:rPr lang="en-US" dirty="0"/>
              <a:t>Unified op interface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1DA4A8-0000-7B40-88FE-E7DBDF6609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85000" lnSpcReduction="10000"/>
          </a:bodyPr>
          <a:lstStyle/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Goal:</a:t>
            </a:r>
            <a:endParaRPr lang="en-US" dirty="0">
              <a:cs typeface="Calibri" panose="020F0502020204030204"/>
            </a:endParaRPr>
          </a:p>
          <a:p>
            <a:r>
              <a:rPr lang="en-US" dirty="0">
                <a:ea typeface="+mn-lt"/>
                <a:cs typeface="+mn-lt"/>
              </a:rPr>
              <a:t>Prepare a style guide which describes expected </a:t>
            </a:r>
            <a:r>
              <a:rPr lang="en-US" dirty="0" err="1">
                <a:ea typeface="+mn-lt"/>
                <a:cs typeface="+mn-lt"/>
              </a:rPr>
              <a:t>behaviour</a:t>
            </a:r>
            <a:r>
              <a:rPr lang="en-US" dirty="0">
                <a:ea typeface="+mn-lt"/>
                <a:cs typeface="+mn-lt"/>
              </a:rPr>
              <a:t> of typical properties of operators: data layout, axis specification, attribute naming, etc.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Enforce this style on all new operators.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Apply style to existing ops which don't follow conventions.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Example: negative values for axes; scalars are rank-0 tensors</a:t>
            </a:r>
            <a:endParaRPr lang="en-US" dirty="0"/>
          </a:p>
          <a:p>
            <a:pPr marL="0" indent="0">
              <a:buNone/>
            </a:pPr>
            <a:endParaRPr lang="en-US" dirty="0">
              <a:cs typeface="Calibri"/>
            </a:endParaRPr>
          </a:p>
          <a:p>
            <a:r>
              <a:rPr lang="en-US" dirty="0">
                <a:cs typeface="Calibri"/>
              </a:rPr>
              <a:t>Jacky prepared an issue to collect feedback on spec problems, inconsistencies:</a:t>
            </a:r>
            <a:br>
              <a:rPr lang="en-US" dirty="0">
                <a:cs typeface="Calibri"/>
              </a:rPr>
            </a:br>
            <a:r>
              <a:rPr lang="en-US" dirty="0">
                <a:cs typeface="Calibri"/>
              </a:rPr>
              <a:t>https://</a:t>
            </a:r>
            <a:r>
              <a:rPr lang="en-US" dirty="0" err="1">
                <a:cs typeface="Calibri"/>
              </a:rPr>
              <a:t>github.com</a:t>
            </a:r>
            <a:r>
              <a:rPr lang="en-US" dirty="0">
                <a:cs typeface="Calibri"/>
              </a:rPr>
              <a:t>/</a:t>
            </a:r>
            <a:r>
              <a:rPr lang="en-US" dirty="0" err="1">
                <a:cs typeface="Calibri"/>
              </a:rPr>
              <a:t>onnx</a:t>
            </a:r>
            <a:r>
              <a:rPr lang="en-US" dirty="0">
                <a:cs typeface="Calibri"/>
              </a:rPr>
              <a:t>/</a:t>
            </a:r>
            <a:r>
              <a:rPr lang="en-US" dirty="0" err="1">
                <a:cs typeface="Calibri"/>
              </a:rPr>
              <a:t>onnx</a:t>
            </a:r>
            <a:r>
              <a:rPr lang="en-US" dirty="0">
                <a:cs typeface="Calibri"/>
              </a:rPr>
              <a:t>/issues/3651</a:t>
            </a:r>
          </a:p>
          <a:p>
            <a:r>
              <a:rPr lang="en-US" dirty="0">
                <a:cs typeface="Calibri"/>
              </a:rPr>
              <a:t>Please contribute to this list</a:t>
            </a:r>
          </a:p>
          <a:p>
            <a:r>
              <a:rPr lang="en-US" dirty="0">
                <a:cs typeface="Calibri"/>
              </a:rPr>
              <a:t>Also: good starting point for anyone interested in making fix PRs</a:t>
            </a:r>
          </a:p>
          <a:p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01519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7067"/>
    </mc:Choice>
    <mc:Fallback xmlns="">
      <p:transition spd="slow" advTm="47067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2747D-AA34-3541-9249-878922590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dirty="0"/>
              <a:t>Going Forward:</a:t>
            </a:r>
            <a:br>
              <a:rPr lang="en-GB" dirty="0"/>
            </a:br>
            <a:r>
              <a:rPr lang="en-GB" dirty="0"/>
              <a:t>Reduce # of primitive ops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9863B1-8101-F546-A8A2-871C413574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Goal:</a:t>
            </a:r>
            <a:endParaRPr lang="en-US" dirty="0">
              <a:cs typeface="Calibri" panose="020F0502020204030204"/>
            </a:endParaRPr>
          </a:p>
          <a:p>
            <a:r>
              <a:rPr lang="en-US" dirty="0">
                <a:ea typeface="+mn-lt"/>
                <a:cs typeface="+mn-lt"/>
              </a:rPr>
              <a:t>replace as many ONNX ops as possible with Functions</a:t>
            </a:r>
            <a:endParaRPr lang="en-US" dirty="0">
              <a:cs typeface="Calibri" panose="020F0502020204030204"/>
            </a:endParaRPr>
          </a:p>
          <a:p>
            <a:r>
              <a:rPr lang="en-US" dirty="0">
                <a:ea typeface="+mn-lt"/>
                <a:cs typeface="+mn-lt"/>
              </a:rPr>
              <a:t>add new primitive ops, which will make this possible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examples: </a:t>
            </a:r>
            <a:r>
              <a:rPr lang="en-US" dirty="0" err="1">
                <a:ea typeface="+mn-lt"/>
                <a:cs typeface="+mn-lt"/>
              </a:rPr>
              <a:t>Softmax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LogSoftmax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Tasks:</a:t>
            </a:r>
            <a:endParaRPr lang="en-US" dirty="0">
              <a:cs typeface="Calibri" panose="020F0502020204030204"/>
            </a:endParaRPr>
          </a:p>
          <a:p>
            <a:r>
              <a:rPr lang="en-US" dirty="0">
                <a:ea typeface="+mn-lt"/>
                <a:cs typeface="+mn-lt"/>
              </a:rPr>
              <a:t>analyze which ops can be replaced and what primitives are required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create PRs with function replacements</a:t>
            </a:r>
            <a:endParaRPr lang="en-US" dirty="0"/>
          </a:p>
          <a:p>
            <a:endParaRPr lang="en-US" dirty="0"/>
          </a:p>
          <a:p>
            <a:endParaRPr lang="en-US" dirty="0">
              <a:cs typeface="Calibri" panose="020F0502020204030204"/>
            </a:endParaRPr>
          </a:p>
          <a:p>
            <a:endParaRPr lang="en-US" dirty="0"/>
          </a:p>
          <a:p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83536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7284"/>
    </mc:Choice>
    <mc:Fallback xmlns="">
      <p:transition spd="slow" advTm="27284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31C19FBE-33E9-4938-AB1E-CB36F4AF9C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F2A2812-85D7-432E-819B-8CA70D19926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grayscl/>
          </a:blip>
          <a:srcRect t="10000"/>
          <a:stretch/>
        </p:blipFill>
        <p:spPr>
          <a:xfrm>
            <a:off x="20" y="0"/>
            <a:ext cx="12191980" cy="685799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F16B031A-DFF2-4273-9F94-B34585B15C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8068" y="457200"/>
            <a:ext cx="11301984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17C4E3E-20C3-45C7-A1E9-79660C1A3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8067" y="618067"/>
            <a:ext cx="11305200" cy="5774265"/>
          </a:xfrm>
          <a:prstGeom prst="rect">
            <a:avLst/>
          </a:prstGeom>
          <a:solidFill>
            <a:srgbClr val="465359">
              <a:alpha val="97000"/>
            </a:srgbClr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09DE9E-DF23-4178-9C7A-56CADE72B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883" y="1009397"/>
            <a:ext cx="10653766" cy="1369736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Thanks for coming!!!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5B0E90-3A8F-43F0-AA32-83F0AD7990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4883" y="2574470"/>
            <a:ext cx="10650760" cy="3166479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</a:rPr>
              <a:t>Please Get Involved!</a:t>
            </a:r>
          </a:p>
          <a:p>
            <a:pPr marL="0" indent="0">
              <a:buNone/>
            </a:pPr>
            <a:endParaRPr lang="en-US" sz="2800" dirty="0">
              <a:solidFill>
                <a:srgbClr val="FFFFFF"/>
              </a:solidFill>
            </a:endParaRPr>
          </a:p>
          <a:p>
            <a:r>
              <a:rPr lang="en-US" sz="2800" dirty="0" err="1"/>
              <a:t>Github</a:t>
            </a:r>
            <a:r>
              <a:rPr lang="en-US" sz="2800" dirty="0"/>
              <a:t>: PRs, Issues, and Discussions</a:t>
            </a:r>
          </a:p>
          <a:p>
            <a:r>
              <a:rPr lang="en-US" sz="2800" dirty="0"/>
              <a:t>Slack channel: </a:t>
            </a:r>
            <a:r>
              <a:rPr lang="en-US" sz="2800" dirty="0">
                <a:hlinkClick r:id="rId3"/>
              </a:rPr>
              <a:t>https://slack.lfai.foundation</a:t>
            </a:r>
            <a:r>
              <a:rPr lang="en-US" sz="2800" dirty="0"/>
              <a:t> and join </a:t>
            </a:r>
            <a:r>
              <a:rPr lang="en-US" sz="2800" dirty="0" err="1"/>
              <a:t>onnx</a:t>
            </a:r>
            <a:r>
              <a:rPr lang="en-US" sz="2800" dirty="0"/>
              <a:t>-operators</a:t>
            </a:r>
            <a:endParaRPr lang="en-US" sz="2800" dirty="0">
              <a:solidFill>
                <a:srgbClr val="FFFFFF"/>
              </a:solidFill>
            </a:endParaRPr>
          </a:p>
          <a:p>
            <a:r>
              <a:rPr lang="en-US" sz="2800" dirty="0">
                <a:solidFill>
                  <a:srgbClr val="FFFFFF"/>
                </a:solidFill>
              </a:rPr>
              <a:t>Monthly SIG meetings (see slack channel for announcements)</a:t>
            </a:r>
          </a:p>
        </p:txBody>
      </p:sp>
    </p:spTree>
    <p:extLst>
      <p:ext uri="{BB962C8B-B14F-4D97-AF65-F5344CB8AC3E}">
        <p14:creationId xmlns:p14="http://schemas.microsoft.com/office/powerpoint/2010/main" val="10996085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000" advTm="31659"/>
    </mc:Choice>
    <mc:Fallback xmlns="">
      <p:transition spd="slow" advTm="31659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ividendVTI">
  <a:themeElements>
    <a:clrScheme name="">
      <a:dk1>
        <a:srgbClr val="000000"/>
      </a:dk1>
      <a:lt1>
        <a:srgbClr val="FFFFFF"/>
      </a:lt1>
      <a:dk2>
        <a:srgbClr val="2E3948"/>
      </a:dk2>
      <a:lt2>
        <a:srgbClr val="E7E6E6"/>
      </a:lt2>
      <a:accent1>
        <a:srgbClr val="5A82CB"/>
      </a:accent1>
      <a:accent2>
        <a:srgbClr val="ED7D31"/>
      </a:accent2>
      <a:accent3>
        <a:srgbClr val="A3A3A3"/>
      </a:accent3>
      <a:accent4>
        <a:srgbClr val="CF9B00"/>
      </a:accent4>
      <a:accent5>
        <a:srgbClr val="5B9BD5"/>
      </a:accent5>
      <a:accent6>
        <a:srgbClr val="70AD47"/>
      </a:accent6>
      <a:hlink>
        <a:srgbClr val="D26012"/>
      </a:hlink>
      <a:folHlink>
        <a:srgbClr val="A9718D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1687</TotalTime>
  <Words>650</Words>
  <Application>Microsoft Macintosh PowerPoint</Application>
  <PresentationFormat>Widescreen</PresentationFormat>
  <Paragraphs>97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Calibri Light</vt:lpstr>
      <vt:lpstr>Gill Sans MT</vt:lpstr>
      <vt:lpstr>Wingdings 2</vt:lpstr>
      <vt:lpstr>office theme</vt:lpstr>
      <vt:lpstr>DividendVTI</vt:lpstr>
      <vt:lpstr>Operators sig</vt:lpstr>
      <vt:lpstr>Agenda</vt:lpstr>
      <vt:lpstr>Recent ONNX releases</vt:lpstr>
      <vt:lpstr>New operations added</vt:lpstr>
      <vt:lpstr>Operator updates in opset 15</vt:lpstr>
      <vt:lpstr>Type System Extensions</vt:lpstr>
      <vt:lpstr>Progress in ONNX version converter</vt:lpstr>
      <vt:lpstr>ONNX Roadmap - Future directions</vt:lpstr>
      <vt:lpstr>ONNX Preprocessing Working Group</vt:lpstr>
      <vt:lpstr>Going Forward: Unified op interface style</vt:lpstr>
      <vt:lpstr>Going Forward: Reduce # of primitive ops</vt:lpstr>
      <vt:lpstr>Thanks for coming!!!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Ganesan Ramalingam</dc:creator>
  <cp:lastModifiedBy>Michal K</cp:lastModifiedBy>
  <cp:revision>19</cp:revision>
  <dcterms:created xsi:type="dcterms:W3CDTF">2021-02-25T19:08:53Z</dcterms:created>
  <dcterms:modified xsi:type="dcterms:W3CDTF">2021-10-21T12:57:50Z</dcterms:modified>
</cp:coreProperties>
</file>