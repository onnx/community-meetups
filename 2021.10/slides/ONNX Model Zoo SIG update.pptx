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77" r:id="rId3"/>
    <p:sldId id="279" r:id="rId4"/>
    <p:sldId id="278" r:id="rId5"/>
    <p:sldId id="280" r:id="rId6"/>
    <p:sldId id="256" r:id="rId7"/>
    <p:sldId id="257" r:id="rId8"/>
    <p:sldId id="267" r:id="rId9"/>
    <p:sldId id="265" r:id="rId10"/>
    <p:sldId id="273" r:id="rId11"/>
    <p:sldId id="275" r:id="rId12"/>
    <p:sldId id="269" r:id="rId13"/>
    <p:sldId id="271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3F8003-22E2-4F50-99AD-95772A660761}" v="1" dt="2021-10-19T17:22:47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bing Li" userId="31a8c4fa-b915-4654-988c-412a60f96ccd" providerId="ADAL" clId="{903F8003-22E2-4F50-99AD-95772A660761}"/>
    <pc:docChg chg="undo custSel addSld delSld modSld sldOrd">
      <pc:chgData name="Wenbing Li" userId="31a8c4fa-b915-4654-988c-412a60f96ccd" providerId="ADAL" clId="{903F8003-22E2-4F50-99AD-95772A660761}" dt="2021-10-19T17:51:18.617" v="1033" actId="20577"/>
      <pc:docMkLst>
        <pc:docMk/>
      </pc:docMkLst>
      <pc:sldChg chg="ord">
        <pc:chgData name="Wenbing Li" userId="31a8c4fa-b915-4654-988c-412a60f96ccd" providerId="ADAL" clId="{903F8003-22E2-4F50-99AD-95772A660761}" dt="2021-10-19T17:22:25.667" v="2"/>
        <pc:sldMkLst>
          <pc:docMk/>
          <pc:sldMk cId="2898308617" sldId="256"/>
        </pc:sldMkLst>
      </pc:sldChg>
      <pc:sldChg chg="addSp delSp modSp new mod">
        <pc:chgData name="Wenbing Li" userId="31a8c4fa-b915-4654-988c-412a60f96ccd" providerId="ADAL" clId="{903F8003-22E2-4F50-99AD-95772A660761}" dt="2021-10-19T17:47:27.859" v="977" actId="6549"/>
        <pc:sldMkLst>
          <pc:docMk/>
          <pc:sldMk cId="140815881" sldId="276"/>
        </pc:sldMkLst>
        <pc:spChg chg="del">
          <ac:chgData name="Wenbing Li" userId="31a8c4fa-b915-4654-988c-412a60f96ccd" providerId="ADAL" clId="{903F8003-22E2-4F50-99AD-95772A660761}" dt="2021-10-19T17:22:46.699" v="3" actId="478"/>
          <ac:spMkLst>
            <pc:docMk/>
            <pc:sldMk cId="140815881" sldId="276"/>
            <ac:spMk id="2" creationId="{01A3CEA2-D323-477C-9BB7-08719C428AE5}"/>
          </ac:spMkLst>
        </pc:spChg>
        <pc:spChg chg="del">
          <ac:chgData name="Wenbing Li" userId="31a8c4fa-b915-4654-988c-412a60f96ccd" providerId="ADAL" clId="{903F8003-22E2-4F50-99AD-95772A660761}" dt="2021-10-19T17:22:46.699" v="3" actId="478"/>
          <ac:spMkLst>
            <pc:docMk/>
            <pc:sldMk cId="140815881" sldId="276"/>
            <ac:spMk id="3" creationId="{E2686483-7B8F-4624-9645-685ECDCB7BBF}"/>
          </ac:spMkLst>
        </pc:spChg>
        <pc:spChg chg="add mod">
          <ac:chgData name="Wenbing Li" userId="31a8c4fa-b915-4654-988c-412a60f96ccd" providerId="ADAL" clId="{903F8003-22E2-4F50-99AD-95772A660761}" dt="2021-10-19T17:22:47.035" v="4"/>
          <ac:spMkLst>
            <pc:docMk/>
            <pc:sldMk cId="140815881" sldId="276"/>
            <ac:spMk id="4" creationId="{4D968B26-C22F-47CD-911D-CABCBA5F5AC9}"/>
          </ac:spMkLst>
        </pc:spChg>
        <pc:spChg chg="add mod">
          <ac:chgData name="Wenbing Li" userId="31a8c4fa-b915-4654-988c-412a60f96ccd" providerId="ADAL" clId="{903F8003-22E2-4F50-99AD-95772A660761}" dt="2021-10-19T17:47:27.859" v="977" actId="6549"/>
          <ac:spMkLst>
            <pc:docMk/>
            <pc:sldMk cId="140815881" sldId="276"/>
            <ac:spMk id="5" creationId="{9378D829-047C-48EE-8068-4A7B7E381C65}"/>
          </ac:spMkLst>
        </pc:spChg>
      </pc:sldChg>
      <pc:sldChg chg="modSp new mod">
        <pc:chgData name="Wenbing Li" userId="31a8c4fa-b915-4654-988c-412a60f96ccd" providerId="ADAL" clId="{903F8003-22E2-4F50-99AD-95772A660761}" dt="2021-10-19T17:48:36.083" v="1030" actId="20577"/>
        <pc:sldMkLst>
          <pc:docMk/>
          <pc:sldMk cId="2114907586" sldId="277"/>
        </pc:sldMkLst>
        <pc:spChg chg="mod">
          <ac:chgData name="Wenbing Li" userId="31a8c4fa-b915-4654-988c-412a60f96ccd" providerId="ADAL" clId="{903F8003-22E2-4F50-99AD-95772A660761}" dt="2021-10-19T17:47:45.509" v="994" actId="20577"/>
          <ac:spMkLst>
            <pc:docMk/>
            <pc:sldMk cId="2114907586" sldId="277"/>
            <ac:spMk id="2" creationId="{97250332-BCE9-46DF-BC40-EC79ECE30EC4}"/>
          </ac:spMkLst>
        </pc:spChg>
        <pc:spChg chg="mod">
          <ac:chgData name="Wenbing Li" userId="31a8c4fa-b915-4654-988c-412a60f96ccd" providerId="ADAL" clId="{903F8003-22E2-4F50-99AD-95772A660761}" dt="2021-10-19T17:48:36.083" v="1030" actId="20577"/>
          <ac:spMkLst>
            <pc:docMk/>
            <pc:sldMk cId="2114907586" sldId="277"/>
            <ac:spMk id="3" creationId="{1654059D-D2F4-4F9F-B448-DE2F0826A50B}"/>
          </ac:spMkLst>
        </pc:spChg>
      </pc:sldChg>
      <pc:sldChg chg="modSp new del mod">
        <pc:chgData name="Wenbing Li" userId="31a8c4fa-b915-4654-988c-412a60f96ccd" providerId="ADAL" clId="{903F8003-22E2-4F50-99AD-95772A660761}" dt="2021-10-19T17:23:51.238" v="79" actId="2696"/>
        <pc:sldMkLst>
          <pc:docMk/>
          <pc:sldMk cId="831794235" sldId="278"/>
        </pc:sldMkLst>
        <pc:spChg chg="mod">
          <ac:chgData name="Wenbing Li" userId="31a8c4fa-b915-4654-988c-412a60f96ccd" providerId="ADAL" clId="{903F8003-22E2-4F50-99AD-95772A660761}" dt="2021-10-19T17:23:44.566" v="78" actId="20577"/>
          <ac:spMkLst>
            <pc:docMk/>
            <pc:sldMk cId="831794235" sldId="278"/>
            <ac:spMk id="2" creationId="{E2B306A3-3B19-48F7-A3F1-4F3D96DCB423}"/>
          </ac:spMkLst>
        </pc:spChg>
      </pc:sldChg>
      <pc:sldChg chg="modSp new mod">
        <pc:chgData name="Wenbing Li" userId="31a8c4fa-b915-4654-988c-412a60f96ccd" providerId="ADAL" clId="{903F8003-22E2-4F50-99AD-95772A660761}" dt="2021-10-19T17:46:49.476" v="976" actId="20577"/>
        <pc:sldMkLst>
          <pc:docMk/>
          <pc:sldMk cId="2139014530" sldId="278"/>
        </pc:sldMkLst>
        <pc:spChg chg="mod">
          <ac:chgData name="Wenbing Li" userId="31a8c4fa-b915-4654-988c-412a60f96ccd" providerId="ADAL" clId="{903F8003-22E2-4F50-99AD-95772A660761}" dt="2021-10-19T17:37:44.895" v="522" actId="20577"/>
          <ac:spMkLst>
            <pc:docMk/>
            <pc:sldMk cId="2139014530" sldId="278"/>
            <ac:spMk id="2" creationId="{1554AF11-BE7B-4765-8001-A87BE07188CC}"/>
          </ac:spMkLst>
        </pc:spChg>
        <pc:spChg chg="mod">
          <ac:chgData name="Wenbing Li" userId="31a8c4fa-b915-4654-988c-412a60f96ccd" providerId="ADAL" clId="{903F8003-22E2-4F50-99AD-95772A660761}" dt="2021-10-19T17:46:49.476" v="976" actId="20577"/>
          <ac:spMkLst>
            <pc:docMk/>
            <pc:sldMk cId="2139014530" sldId="278"/>
            <ac:spMk id="3" creationId="{902365EE-0494-4726-9281-3AC4365F8758}"/>
          </ac:spMkLst>
        </pc:spChg>
      </pc:sldChg>
      <pc:sldChg chg="addSp delSp modSp new mod">
        <pc:chgData name="Wenbing Li" userId="31a8c4fa-b915-4654-988c-412a60f96ccd" providerId="ADAL" clId="{903F8003-22E2-4F50-99AD-95772A660761}" dt="2021-10-19T17:35:23.790" v="399" actId="20577"/>
        <pc:sldMkLst>
          <pc:docMk/>
          <pc:sldMk cId="3261416201" sldId="279"/>
        </pc:sldMkLst>
        <pc:spChg chg="mod">
          <ac:chgData name="Wenbing Li" userId="31a8c4fa-b915-4654-988c-412a60f96ccd" providerId="ADAL" clId="{903F8003-22E2-4F50-99AD-95772A660761}" dt="2021-10-19T17:28:18.186" v="245" actId="20577"/>
          <ac:spMkLst>
            <pc:docMk/>
            <pc:sldMk cId="3261416201" sldId="279"/>
            <ac:spMk id="2" creationId="{14610EE4-DF9D-47B8-972D-728CFEEAFB5F}"/>
          </ac:spMkLst>
        </pc:spChg>
        <pc:spChg chg="mod">
          <ac:chgData name="Wenbing Li" userId="31a8c4fa-b915-4654-988c-412a60f96ccd" providerId="ADAL" clId="{903F8003-22E2-4F50-99AD-95772A660761}" dt="2021-10-19T17:35:23.790" v="399" actId="20577"/>
          <ac:spMkLst>
            <pc:docMk/>
            <pc:sldMk cId="3261416201" sldId="279"/>
            <ac:spMk id="3" creationId="{0F86D258-B9BE-4D89-BB22-DB3EFD149DB4}"/>
          </ac:spMkLst>
        </pc:spChg>
        <pc:spChg chg="add del">
          <ac:chgData name="Wenbing Li" userId="31a8c4fa-b915-4654-988c-412a60f96ccd" providerId="ADAL" clId="{903F8003-22E2-4F50-99AD-95772A660761}" dt="2021-10-19T17:34:45.322" v="369" actId="22"/>
          <ac:spMkLst>
            <pc:docMk/>
            <pc:sldMk cId="3261416201" sldId="279"/>
            <ac:spMk id="5" creationId="{F670DBAB-CF2A-427E-9622-5280E7FAE015}"/>
          </ac:spMkLst>
        </pc:spChg>
        <pc:graphicFrameChg chg="add">
          <ac:chgData name="Wenbing Li" userId="31a8c4fa-b915-4654-988c-412a60f96ccd" providerId="ADAL" clId="{903F8003-22E2-4F50-99AD-95772A660761}" dt="2021-10-19T17:35:19.258" v="394" actId="22"/>
          <ac:graphicFrameMkLst>
            <pc:docMk/>
            <pc:sldMk cId="3261416201" sldId="279"/>
            <ac:graphicFrameMk id="7" creationId="{FF5455C6-85B3-4434-AC7C-90A0F39B55A5}"/>
          </ac:graphicFrameMkLst>
        </pc:graphicFrameChg>
      </pc:sldChg>
      <pc:sldChg chg="addSp delSp modSp new add del mod">
        <pc:chgData name="Wenbing Li" userId="31a8c4fa-b915-4654-988c-412a60f96ccd" providerId="ADAL" clId="{903F8003-22E2-4F50-99AD-95772A660761}" dt="2021-10-19T17:51:18.617" v="1033" actId="20577"/>
        <pc:sldMkLst>
          <pc:docMk/>
          <pc:sldMk cId="3717992820" sldId="280"/>
        </pc:sldMkLst>
        <pc:spChg chg="mod">
          <ac:chgData name="Wenbing Li" userId="31a8c4fa-b915-4654-988c-412a60f96ccd" providerId="ADAL" clId="{903F8003-22E2-4F50-99AD-95772A660761}" dt="2021-10-19T17:28:44.778" v="249" actId="20577"/>
          <ac:spMkLst>
            <pc:docMk/>
            <pc:sldMk cId="3717992820" sldId="280"/>
            <ac:spMk id="2" creationId="{F5F80C6F-4B21-4635-9F93-DCD1EE6430B0}"/>
          </ac:spMkLst>
        </pc:spChg>
        <pc:spChg chg="mod">
          <ac:chgData name="Wenbing Li" userId="31a8c4fa-b915-4654-988c-412a60f96ccd" providerId="ADAL" clId="{903F8003-22E2-4F50-99AD-95772A660761}" dt="2021-10-19T17:51:18.617" v="1033" actId="20577"/>
          <ac:spMkLst>
            <pc:docMk/>
            <pc:sldMk cId="3717992820" sldId="280"/>
            <ac:spMk id="3" creationId="{E3041624-9509-4A97-9782-4EA4E71C54C0}"/>
          </ac:spMkLst>
        </pc:spChg>
        <pc:spChg chg="add del mod">
          <ac:chgData name="Wenbing Li" userId="31a8c4fa-b915-4654-988c-412a60f96ccd" providerId="ADAL" clId="{903F8003-22E2-4F50-99AD-95772A660761}" dt="2021-10-19T17:36:27.098" v="439" actId="478"/>
          <ac:spMkLst>
            <pc:docMk/>
            <pc:sldMk cId="3717992820" sldId="280"/>
            <ac:spMk id="6" creationId="{F33A77BF-D49B-4D81-B3DF-EB0C5C62E07F}"/>
          </ac:spMkLst>
        </pc:spChg>
        <pc:graphicFrameChg chg="del mod modGraphic">
          <ac:chgData name="Wenbing Li" userId="31a8c4fa-b915-4654-988c-412a60f96ccd" providerId="ADAL" clId="{903F8003-22E2-4F50-99AD-95772A660761}" dt="2021-10-19T17:35:16.862" v="393" actId="21"/>
          <ac:graphicFrameMkLst>
            <pc:docMk/>
            <pc:sldMk cId="3717992820" sldId="280"/>
            <ac:graphicFrameMk id="5" creationId="{4BD9B901-98ED-4A48-BFF7-BE630C57441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07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3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1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3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4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4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30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4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53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6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1C16F-4994-4E6E-81A3-669D1429527B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E02FE-B406-4F47-8F09-C5AD2E7FD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14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models/pull/model/resnet50-v1-12.onnx" TargetMode="External"/><Relationship Id="rId2" Type="http://schemas.openxmlformats.org/officeDocument/2006/relationships/hyperlink" Target="https://github.com/intel/neural-compress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nnx/models/pull/model/resnet50-v1-12-int8.tar.gz" TargetMode="External"/><Relationship Id="rId5" Type="http://schemas.openxmlformats.org/officeDocument/2006/relationships/hyperlink" Target="https://github.com/onnx/models/pull/model/resnet50-v1-12-int8.onnx" TargetMode="External"/><Relationship Id="rId4" Type="http://schemas.openxmlformats.org/officeDocument/2006/relationships/hyperlink" Target="https://github.com/onnx/models/pull/model/resnet50-v1-12.tar.gz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onnxruntime-extensions/blob/main/tutorials/gpt2bs.py" TargetMode="External"/><Relationship Id="rId2" Type="http://schemas.openxmlformats.org/officeDocument/2006/relationships/hyperlink" Target="https://github.com/onnx/models/tree/master/text/machine_comprehension/gpt2-b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968B26-C22F-47CD-911D-CABCBA5F5AC9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Model Zoo / Tutorials SIG Update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378D829-047C-48EE-8068-4A7B7E381C65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Wenbing Li (Microsoft)</a:t>
            </a:r>
          </a:p>
        </p:txBody>
      </p:sp>
    </p:spTree>
    <p:extLst>
      <p:ext uri="{BB962C8B-B14F-4D97-AF65-F5344CB8AC3E}">
        <p14:creationId xmlns:p14="http://schemas.microsoft.com/office/powerpoint/2010/main" val="14081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50332-BCE9-46DF-BC40-EC79ECE3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4059D-D2F4-4F9F-B448-DE2F0826A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model zoo for the mobile app</a:t>
            </a:r>
          </a:p>
          <a:p>
            <a:pPr lvl="1"/>
            <a:r>
              <a:rPr lang="en-US" dirty="0"/>
              <a:t>Quantization</a:t>
            </a:r>
          </a:p>
          <a:p>
            <a:r>
              <a:rPr lang="en-US" dirty="0"/>
              <a:t>The out-of-box model</a:t>
            </a:r>
          </a:p>
          <a:p>
            <a:r>
              <a:rPr lang="en-US" dirty="0"/>
              <a:t>Roadmap Priority</a:t>
            </a:r>
          </a:p>
          <a:p>
            <a:endParaRPr lang="en-US" dirty="0"/>
          </a:p>
          <a:p>
            <a:r>
              <a:rPr lang="en-US" dirty="0"/>
              <a:t>ONNX Model Hub (Mark &amp; Jason)</a:t>
            </a:r>
          </a:p>
        </p:txBody>
      </p:sp>
    </p:spTree>
    <p:extLst>
      <p:ext uri="{BB962C8B-B14F-4D97-AF65-F5344CB8AC3E}">
        <p14:creationId xmlns:p14="http://schemas.microsoft.com/office/powerpoint/2010/main" val="211490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0EE4-DF9D-47B8-972D-728CFEEA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6D258-B9BE-4D89-BB22-DB3EFD149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Quantized model (contributed by Intel):</a:t>
            </a:r>
          </a:p>
          <a:p>
            <a:pPr lvl="1"/>
            <a:r>
              <a:rPr lang="en-US" dirty="0"/>
              <a:t>Resnet50</a:t>
            </a:r>
          </a:p>
          <a:p>
            <a:pPr lvl="1"/>
            <a:r>
              <a:rPr lang="en-US" dirty="0"/>
              <a:t>VGG</a:t>
            </a:r>
          </a:p>
          <a:p>
            <a:pPr lvl="1"/>
            <a:r>
              <a:rPr lang="en-US" dirty="0"/>
              <a:t>ShuffleNetV2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Done by this </a:t>
            </a:r>
            <a:r>
              <a:rPr lang="en-US" b="0" i="0" u="none" strike="noStrike" dirty="0">
                <a:solidFill>
                  <a:srgbClr val="24292F"/>
                </a:solidFill>
                <a:effectLst/>
                <a:latin typeface="-apple-system"/>
                <a:hlinkClick r:id="rId2"/>
              </a:rPr>
              <a:t>Intel® Neural Compressor</a:t>
            </a:r>
            <a:endParaRPr lang="en-US" b="0" i="0" dirty="0">
              <a:solidFill>
                <a:srgbClr val="24292F"/>
              </a:solidFill>
              <a:effectLst/>
              <a:latin typeface="-apple-system"/>
            </a:endParaRP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5455C6-85B3-4434-AC7C-90A0F39B5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9643529"/>
              </p:ext>
            </p:extLst>
          </p:nvPr>
        </p:nvGraphicFramePr>
        <p:xfrm>
          <a:off x="1073791" y="3526678"/>
          <a:ext cx="10225481" cy="1701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8103">
                  <a:extLst>
                    <a:ext uri="{9D8B030D-6E8A-4147-A177-3AD203B41FA5}">
                      <a16:colId xmlns:a16="http://schemas.microsoft.com/office/drawing/2014/main" val="1079972341"/>
                    </a:ext>
                  </a:extLst>
                </a:gridCol>
                <a:gridCol w="1323463">
                  <a:extLst>
                    <a:ext uri="{9D8B030D-6E8A-4147-A177-3AD203B41FA5}">
                      <a16:colId xmlns:a16="http://schemas.microsoft.com/office/drawing/2014/main" val="133137978"/>
                    </a:ext>
                  </a:extLst>
                </a:gridCol>
                <a:gridCol w="1460783">
                  <a:extLst>
                    <a:ext uri="{9D8B030D-6E8A-4147-A177-3AD203B41FA5}">
                      <a16:colId xmlns:a16="http://schemas.microsoft.com/office/drawing/2014/main" val="1070762613"/>
                    </a:ext>
                  </a:extLst>
                </a:gridCol>
                <a:gridCol w="1460783">
                  <a:extLst>
                    <a:ext uri="{9D8B030D-6E8A-4147-A177-3AD203B41FA5}">
                      <a16:colId xmlns:a16="http://schemas.microsoft.com/office/drawing/2014/main" val="288110338"/>
                    </a:ext>
                  </a:extLst>
                </a:gridCol>
                <a:gridCol w="1460783">
                  <a:extLst>
                    <a:ext uri="{9D8B030D-6E8A-4147-A177-3AD203B41FA5}">
                      <a16:colId xmlns:a16="http://schemas.microsoft.com/office/drawing/2014/main" val="526727905"/>
                    </a:ext>
                  </a:extLst>
                </a:gridCol>
                <a:gridCol w="1460783">
                  <a:extLst>
                    <a:ext uri="{9D8B030D-6E8A-4147-A177-3AD203B41FA5}">
                      <a16:colId xmlns:a16="http://schemas.microsoft.com/office/drawing/2014/main" val="4200813913"/>
                    </a:ext>
                  </a:extLst>
                </a:gridCol>
                <a:gridCol w="1460783">
                  <a:extLst>
                    <a:ext uri="{9D8B030D-6E8A-4147-A177-3AD203B41FA5}">
                      <a16:colId xmlns:a16="http://schemas.microsoft.com/office/drawing/2014/main" val="3486873276"/>
                    </a:ext>
                  </a:extLst>
                </a:gridCol>
              </a:tblGrid>
              <a:tr h="534247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Model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Download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Download (with sample test data)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ONNX version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Opset version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Top-1 accuracy (%)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latency (ms)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972296799"/>
                  </a:ext>
                </a:extLst>
              </a:tr>
              <a:tr h="400964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ResNet50_fp32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hlinkClick r:id="rId3"/>
                        </a:rPr>
                        <a:t>97.8 MB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hlinkClick r:id="rId4"/>
                        </a:rPr>
                        <a:t>92.0 MB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1.7.0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12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74.97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8.32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822843373"/>
                  </a:ext>
                </a:extLst>
              </a:tr>
              <a:tr h="400964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ResNet50_int8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hlinkClick r:id="rId5"/>
                        </a:rPr>
                        <a:t>24.6 MB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hlinkClick r:id="rId6"/>
                        </a:rPr>
                        <a:t>22.3 MB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1.7.0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12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74.77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4.30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2959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416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AF11-BE7B-4765-8001-A87BE071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out-of-box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365EE-0494-4726-9281-3AC4365F8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</a:t>
            </a:r>
          </a:p>
          <a:p>
            <a:pPr lvl="1"/>
            <a:r>
              <a:rPr lang="en-US" dirty="0"/>
              <a:t>Simplify the model inference</a:t>
            </a:r>
          </a:p>
          <a:p>
            <a:pPr lvl="1"/>
            <a:r>
              <a:rPr lang="en-US" dirty="0"/>
              <a:t>More portable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GPT-2 with Beam Search Generation, </a:t>
            </a:r>
            <a:r>
              <a:rPr lang="en-US" dirty="0">
                <a:hlinkClick r:id="rId2"/>
              </a:rPr>
              <a:t>gpt2-bs</a:t>
            </a:r>
            <a:endParaRPr lang="en-US" dirty="0"/>
          </a:p>
          <a:p>
            <a:pPr lvl="1"/>
            <a:r>
              <a:rPr lang="en-US" dirty="0"/>
              <a:t>Example script of the model building in </a:t>
            </a:r>
            <a:r>
              <a:rPr lang="en-US" b="0" i="0" u="none" strike="noStrike" dirty="0" err="1">
                <a:effectLst/>
                <a:latin typeface="-apple-system"/>
                <a:hlinkClick r:id="rId3"/>
              </a:rPr>
              <a:t>onnxruntime</a:t>
            </a:r>
            <a:r>
              <a:rPr lang="en-US" b="0" i="0" u="none" strike="noStrike" dirty="0">
                <a:effectLst/>
                <a:latin typeface="-apple-system"/>
                <a:hlinkClick r:id="rId3"/>
              </a:rPr>
              <a:t>-extensions</a:t>
            </a:r>
            <a:endParaRPr lang="en-US" b="0" i="0" u="none" strike="noStrike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13901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0C6F-4B21-4635-9F93-DCD1EE64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1624-9509-4A97-9782-4EA4E71C5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Welcome more models</a:t>
            </a:r>
          </a:p>
          <a:p>
            <a:pPr lvl="1"/>
            <a:r>
              <a:rPr lang="en-US"/>
              <a:t>STOA</a:t>
            </a:r>
            <a:endParaRPr lang="en-US" dirty="0"/>
          </a:p>
          <a:p>
            <a:pPr lvl="1"/>
            <a:r>
              <a:rPr lang="en-US" dirty="0"/>
              <a:t>Mobile</a:t>
            </a:r>
          </a:p>
          <a:p>
            <a:r>
              <a:rPr lang="en-US" dirty="0"/>
              <a:t>Dealing with legacy operations and models</a:t>
            </a:r>
          </a:p>
          <a:p>
            <a:r>
              <a:rPr lang="en-US" dirty="0"/>
              <a:t>Optimize the model uploading process</a:t>
            </a:r>
          </a:p>
        </p:txBody>
      </p:sp>
    </p:spTree>
    <p:extLst>
      <p:ext uri="{BB962C8B-B14F-4D97-AF65-F5344CB8AC3E}">
        <p14:creationId xmlns:p14="http://schemas.microsoft.com/office/powerpoint/2010/main" val="371799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9FD1-2510-4AEE-820F-AA448789E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8391" y="999972"/>
            <a:ext cx="9144000" cy="2387600"/>
          </a:xfrm>
        </p:spPr>
        <p:txBody>
          <a:bodyPr/>
          <a:lstStyle/>
          <a:p>
            <a:r>
              <a:rPr lang="en-US"/>
              <a:t>ONNX Model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F2BD7-D776-4E20-835C-56551C978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21059" y="4016082"/>
            <a:ext cx="9144000" cy="1655762"/>
          </a:xfrm>
        </p:spPr>
        <p:txBody>
          <a:bodyPr/>
          <a:lstStyle/>
          <a:p>
            <a:r>
              <a:rPr lang="en-US"/>
              <a:t>Mark Hamilton</a:t>
            </a:r>
          </a:p>
          <a:p>
            <a:r>
              <a:rPr lang="en-US"/>
              <a:t>Synapse Analytics at Microsoft</a:t>
            </a:r>
          </a:p>
        </p:txBody>
      </p:sp>
      <p:pic>
        <p:nvPicPr>
          <p:cNvPr id="1026" name="Picture 2" descr="Shape&#10;&#10;Description automatically generated">
            <a:extLst>
              <a:ext uri="{FF2B5EF4-FFF2-40B4-BE49-F238E27FC236}">
                <a16:creationId xmlns:a16="http://schemas.microsoft.com/office/drawing/2014/main" id="{935315EE-1F30-4C63-B6D9-FDDCB7CE3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275" y="2193772"/>
            <a:ext cx="1346391" cy="1346391"/>
          </a:xfrm>
          <a:prstGeom prst="rect">
            <a:avLst/>
          </a:prstGeom>
          <a:noFill/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DA8A614-EEA7-406A-B935-0C5D2DAE41F7}"/>
              </a:ext>
            </a:extLst>
          </p:cNvPr>
          <p:cNvSpPr txBox="1">
            <a:spLocks/>
          </p:cNvSpPr>
          <p:nvPr/>
        </p:nvSpPr>
        <p:spPr>
          <a:xfrm>
            <a:off x="3455927" y="401608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Jason Wang </a:t>
            </a:r>
          </a:p>
          <a:p>
            <a:r>
              <a:rPr lang="en-US"/>
              <a:t>CSX Data at Microsoft</a:t>
            </a:r>
          </a:p>
        </p:txBody>
      </p:sp>
    </p:spTree>
    <p:extLst>
      <p:ext uri="{BB962C8B-B14F-4D97-AF65-F5344CB8AC3E}">
        <p14:creationId xmlns:p14="http://schemas.microsoft.com/office/powerpoint/2010/main" val="2898308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A6A3-D4A3-4383-9EE7-8246CF79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1D3DB-9371-47AF-A10E-1754AE2AFF6F}"/>
              </a:ext>
            </a:extLst>
          </p:cNvPr>
          <p:cNvSpPr txBox="1"/>
          <p:nvPr/>
        </p:nvSpPr>
        <p:spPr>
          <a:xfrm>
            <a:off x="467514" y="4523196"/>
            <a:ext cx="11880324" cy="86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 torch</a:t>
            </a:r>
            <a:endParaRPr lang="en-US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 = </a:t>
            </a:r>
            <a:r>
              <a:rPr lang="en-US" sz="240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torch.hub.load</a:t>
            </a:r>
            <a:r>
              <a:rPr lang="en-US" sz="24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('</a:t>
            </a:r>
            <a:r>
              <a:rPr lang="en-US" sz="240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facebookresearch</a:t>
            </a:r>
            <a:r>
              <a:rPr lang="en-US" sz="24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sz="240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dino:main</a:t>
            </a:r>
            <a:r>
              <a:rPr lang="en-US" sz="24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', 'dino_vits16')</a:t>
            </a:r>
            <a:endParaRPr lang="en-US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E4EED-524C-4D01-A66F-D9C866835C68}"/>
              </a:ext>
            </a:extLst>
          </p:cNvPr>
          <p:cNvSpPr txBox="1"/>
          <p:nvPr/>
        </p:nvSpPr>
        <p:spPr>
          <a:xfrm>
            <a:off x="467514" y="5629754"/>
            <a:ext cx="11880324" cy="86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US" sz="240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tensorflow_hub</a:t>
            </a:r>
            <a:r>
              <a:rPr lang="en-US" sz="24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as hub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model = </a:t>
            </a:r>
            <a:r>
              <a:rPr lang="en-US" sz="240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hub.KerasLayer</a:t>
            </a:r>
            <a:r>
              <a:rPr lang="en-US" sz="240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("https://tfhub.dev/google/nnlm-en-dim128/2")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A02528-7DB5-4B58-9065-1948E86A9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70" y="1543742"/>
            <a:ext cx="10515600" cy="4351338"/>
          </a:xfrm>
        </p:spPr>
        <p:txBody>
          <a:bodyPr/>
          <a:lstStyle/>
          <a:p>
            <a:r>
              <a:rPr lang="en-US"/>
              <a:t>Simple and easy startup</a:t>
            </a:r>
          </a:p>
          <a:p>
            <a:r>
              <a:rPr lang="en-US"/>
              <a:t>Eliminate boilerplate code</a:t>
            </a:r>
          </a:p>
          <a:p>
            <a:r>
              <a:rPr lang="en-US"/>
              <a:t>Facilitate code sharing</a:t>
            </a:r>
          </a:p>
          <a:p>
            <a:r>
              <a:rPr lang="en-US"/>
              <a:t>Build flexible applications on top</a:t>
            </a:r>
          </a:p>
          <a:p>
            <a:r>
              <a:rPr lang="en-US"/>
              <a:t>Parity with other ecosystems: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C6B4B-41BE-40B9-B032-5F0E4CD1F59F}"/>
              </a:ext>
            </a:extLst>
          </p:cNvPr>
          <p:cNvSpPr txBox="1"/>
          <p:nvPr/>
        </p:nvSpPr>
        <p:spPr>
          <a:xfrm>
            <a:off x="6251946" y="1912044"/>
            <a:ext cx="124836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onnx</a:t>
            </a:r>
            <a:endParaRPr lang="en-US" sz="2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model = </a:t>
            </a:r>
            <a:r>
              <a:rPr lang="en-US" sz="2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onnx.hub.load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AlexNet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9566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A6A3-D4A3-4383-9EE7-8246CF79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Considerations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A02528-7DB5-4B58-9065-1948E86A9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69" y="1543742"/>
            <a:ext cx="10918371" cy="5028938"/>
          </a:xfrm>
        </p:spPr>
        <p:txBody>
          <a:bodyPr>
            <a:normAutofit/>
          </a:bodyPr>
          <a:lstStyle/>
          <a:p>
            <a:r>
              <a:rPr lang="en-US"/>
              <a:t>ONNX/models hosts models in git LFS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/>
              <a:t>Versioning should align with git</a:t>
            </a:r>
          </a:p>
          <a:p>
            <a:r>
              <a:rPr lang="en-US"/>
              <a:t>Need to support multilingual clients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/>
              <a:t>Language agnostic protocol layer</a:t>
            </a:r>
          </a:p>
          <a:p>
            <a:r>
              <a:rPr lang="en-US"/>
              <a:t>Should support private and user-hosted hubs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/>
              <a:t>Any repo should be able to be a hub</a:t>
            </a:r>
          </a:p>
          <a:p>
            <a:r>
              <a:rPr lang="en-US"/>
              <a:t>Should be secure and efficient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/>
              <a:t>Checksums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/>
              <a:t>Local Caching</a:t>
            </a:r>
          </a:p>
          <a:p>
            <a:r>
              <a:rPr lang="en-US"/>
              <a:t>Limited maintenance required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/>
              <a:t>Should to auto-gen from existing ONNX/models infra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42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D374205-C804-4C43-90E5-2E9CE02DB720}"/>
              </a:ext>
            </a:extLst>
          </p:cNvPr>
          <p:cNvSpPr/>
          <p:nvPr/>
        </p:nvSpPr>
        <p:spPr>
          <a:xfrm>
            <a:off x="1498600" y="753533"/>
            <a:ext cx="8661400" cy="588433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9380B0-FBAB-4E28-9DEF-EA76401B05F5}"/>
              </a:ext>
            </a:extLst>
          </p:cNvPr>
          <p:cNvSpPr/>
          <p:nvPr/>
        </p:nvSpPr>
        <p:spPr>
          <a:xfrm>
            <a:off x="6767476" y="1585600"/>
            <a:ext cx="3311550" cy="2763826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/>
              <a:t>Git LFS Storage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40FC1-9CC4-4895-8819-5703EA4B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896" y="343956"/>
            <a:ext cx="5670025" cy="723230"/>
          </a:xfrm>
        </p:spPr>
        <p:txBody>
          <a:bodyPr/>
          <a:lstStyle/>
          <a:p>
            <a:r>
              <a:rPr lang="en-US"/>
              <a:t>ONNX Hub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58833C-994D-4987-A02E-A54E76FFDF80}"/>
              </a:ext>
            </a:extLst>
          </p:cNvPr>
          <p:cNvSpPr/>
          <p:nvPr/>
        </p:nvSpPr>
        <p:spPr>
          <a:xfrm>
            <a:off x="7021858" y="2188050"/>
            <a:ext cx="928151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M1 v2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430CEF-EF1D-4991-AEA8-FA96CAE9A647}"/>
              </a:ext>
            </a:extLst>
          </p:cNvPr>
          <p:cNvSpPr/>
          <p:nvPr/>
        </p:nvSpPr>
        <p:spPr>
          <a:xfrm>
            <a:off x="7021858" y="2758690"/>
            <a:ext cx="928151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M2 v3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C81DB5-492B-4B37-A7FF-8B9FE0527230}"/>
              </a:ext>
            </a:extLst>
          </p:cNvPr>
          <p:cNvSpPr/>
          <p:nvPr/>
        </p:nvSpPr>
        <p:spPr>
          <a:xfrm>
            <a:off x="7021858" y="3745279"/>
            <a:ext cx="928151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MN v1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FD147E-D2E2-425E-B91B-9A7FAF65F85C}"/>
              </a:ext>
            </a:extLst>
          </p:cNvPr>
          <p:cNvSpPr/>
          <p:nvPr/>
        </p:nvSpPr>
        <p:spPr>
          <a:xfrm>
            <a:off x="8033655" y="2188050"/>
            <a:ext cx="928151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M1 v1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9100B4-9AE5-479A-969F-564179FE4909}"/>
              </a:ext>
            </a:extLst>
          </p:cNvPr>
          <p:cNvSpPr/>
          <p:nvPr/>
        </p:nvSpPr>
        <p:spPr>
          <a:xfrm>
            <a:off x="8033655" y="2756732"/>
            <a:ext cx="928151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M1 v2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7FD6A8-91AC-4862-8790-46BC7602B271}"/>
              </a:ext>
            </a:extLst>
          </p:cNvPr>
          <p:cNvSpPr/>
          <p:nvPr/>
        </p:nvSpPr>
        <p:spPr>
          <a:xfrm>
            <a:off x="9045452" y="2756732"/>
            <a:ext cx="928151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M1 v2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A1C96-0441-4922-BBC4-D153C49414B1}"/>
              </a:ext>
            </a:extLst>
          </p:cNvPr>
          <p:cNvSpPr txBox="1"/>
          <p:nvPr/>
        </p:nvSpPr>
        <p:spPr>
          <a:xfrm>
            <a:off x="7234989" y="3154538"/>
            <a:ext cx="6777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/>
              <a:t>…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71CCF1-58A0-4917-B5F8-325AAAF57035}"/>
              </a:ext>
            </a:extLst>
          </p:cNvPr>
          <p:cNvSpPr/>
          <p:nvPr/>
        </p:nvSpPr>
        <p:spPr>
          <a:xfrm>
            <a:off x="3880255" y="1585600"/>
            <a:ext cx="2719925" cy="27638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err="1"/>
              <a:t>onnx</a:t>
            </a:r>
            <a:r>
              <a:rPr lang="en-US"/>
              <a:t>/models Repo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49361B-269B-43CB-B2E5-482E90BD80F6}"/>
              </a:ext>
            </a:extLst>
          </p:cNvPr>
          <p:cNvSpPr/>
          <p:nvPr/>
        </p:nvSpPr>
        <p:spPr>
          <a:xfrm rot="16200000">
            <a:off x="3368699" y="2966664"/>
            <a:ext cx="2010991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MANIFEST.json</a:t>
            </a:r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C3777B-24DB-489B-B592-1F82D8FB421A}"/>
              </a:ext>
            </a:extLst>
          </p:cNvPr>
          <p:cNvSpPr/>
          <p:nvPr/>
        </p:nvSpPr>
        <p:spPr>
          <a:xfrm>
            <a:off x="4868133" y="2188050"/>
            <a:ext cx="1560168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M1 v2 Pointer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1996DA-C086-4F19-B893-1956C58A8A15}"/>
              </a:ext>
            </a:extLst>
          </p:cNvPr>
          <p:cNvSpPr/>
          <p:nvPr/>
        </p:nvSpPr>
        <p:spPr>
          <a:xfrm>
            <a:off x="4868133" y="2758690"/>
            <a:ext cx="1560168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M2 v3 Pointer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2D4B7B5-6BFF-4ED7-9253-A7433EB9ADBF}"/>
              </a:ext>
            </a:extLst>
          </p:cNvPr>
          <p:cNvSpPr/>
          <p:nvPr/>
        </p:nvSpPr>
        <p:spPr>
          <a:xfrm>
            <a:off x="4868133" y="3745279"/>
            <a:ext cx="1560168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MN v1 Pointer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AA35DF-F5F1-4E4F-BB46-670A1451AB87}"/>
              </a:ext>
            </a:extLst>
          </p:cNvPr>
          <p:cNvCxnSpPr>
            <a:cxnSpLocks/>
            <a:stCxn id="14" idx="3"/>
            <a:endCxn id="4" idx="1"/>
          </p:cNvCxnSpPr>
          <p:nvPr/>
        </p:nvCxnSpPr>
        <p:spPr>
          <a:xfrm>
            <a:off x="6428301" y="2414931"/>
            <a:ext cx="5935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7A72F1-985E-47DB-8249-DCD3452D4F0D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6428301" y="2985571"/>
            <a:ext cx="5935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7AB39C-A88C-423D-B6C2-F2E8BA2474B7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428301" y="3972160"/>
            <a:ext cx="5935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E65489-F111-4443-9F1F-A047D42EF653}"/>
              </a:ext>
            </a:extLst>
          </p:cNvPr>
          <p:cNvCxnSpPr>
            <a:cxnSpLocks/>
            <a:stCxn id="13" idx="2"/>
            <a:endCxn id="16" idx="1"/>
          </p:cNvCxnSpPr>
          <p:nvPr/>
        </p:nvCxnSpPr>
        <p:spPr>
          <a:xfrm>
            <a:off x="4601076" y="3193545"/>
            <a:ext cx="267057" cy="778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0F96213-52ED-4196-80C3-66CF03FFF456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flipV="1">
            <a:off x="4601076" y="2985571"/>
            <a:ext cx="267057" cy="207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9F8F3D-FC87-4D05-BE5E-343B9A063037}"/>
              </a:ext>
            </a:extLst>
          </p:cNvPr>
          <p:cNvCxnSpPr>
            <a:cxnSpLocks/>
            <a:stCxn id="13" idx="2"/>
            <a:endCxn id="14" idx="1"/>
          </p:cNvCxnSpPr>
          <p:nvPr/>
        </p:nvCxnSpPr>
        <p:spPr>
          <a:xfrm flipV="1">
            <a:off x="4601076" y="2414931"/>
            <a:ext cx="267057" cy="7786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A266F76-F10A-4943-8FFB-2818B9410B5C}"/>
              </a:ext>
            </a:extLst>
          </p:cNvPr>
          <p:cNvSpPr/>
          <p:nvPr/>
        </p:nvSpPr>
        <p:spPr>
          <a:xfrm>
            <a:off x="1670671" y="1585600"/>
            <a:ext cx="2042288" cy="27638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err="1"/>
              <a:t>onnx</a:t>
            </a:r>
            <a:r>
              <a:rPr lang="en-US"/>
              <a:t>/</a:t>
            </a:r>
            <a:r>
              <a:rPr lang="en-US" err="1"/>
              <a:t>onnx</a:t>
            </a:r>
            <a:r>
              <a:rPr lang="en-US"/>
              <a:t> Repo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7B9E683-6205-43DE-AD5A-4E727F5AD8C7}"/>
              </a:ext>
            </a:extLst>
          </p:cNvPr>
          <p:cNvSpPr/>
          <p:nvPr/>
        </p:nvSpPr>
        <p:spPr>
          <a:xfrm>
            <a:off x="1837967" y="2259500"/>
            <a:ext cx="1698886" cy="65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ONNX Hub Python Client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9307165-F1C0-424F-8AEB-269329AF6A5D}"/>
              </a:ext>
            </a:extLst>
          </p:cNvPr>
          <p:cNvSpPr/>
          <p:nvPr/>
        </p:nvSpPr>
        <p:spPr>
          <a:xfrm>
            <a:off x="1670672" y="4789436"/>
            <a:ext cx="8408354" cy="1703437"/>
          </a:xfrm>
          <a:prstGeom prst="round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/>
              <a:t>Local Machine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5EF492C-0E37-4874-BF33-94F3F72AB8E4}"/>
              </a:ext>
            </a:extLst>
          </p:cNvPr>
          <p:cNvSpPr/>
          <p:nvPr/>
        </p:nvSpPr>
        <p:spPr>
          <a:xfrm>
            <a:off x="1849425" y="5280274"/>
            <a:ext cx="3745904" cy="9935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/>
              <a:t>Local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D9910-D9B5-4DF2-86D6-FB43E01B05C1}"/>
              </a:ext>
            </a:extLst>
          </p:cNvPr>
          <p:cNvSpPr txBox="1"/>
          <p:nvPr/>
        </p:nvSpPr>
        <p:spPr>
          <a:xfrm>
            <a:off x="1911302" y="5585412"/>
            <a:ext cx="3684027" cy="57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 </a:t>
            </a:r>
            <a:r>
              <a:rPr lang="en-US" sz="150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onnx</a:t>
            </a:r>
            <a:endParaRPr lang="en-US" sz="15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5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 = </a:t>
            </a:r>
            <a:r>
              <a:rPr lang="en-US" sz="150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onnx.hub.load</a:t>
            </a:r>
            <a:r>
              <a:rPr lang="en-US" sz="15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(‘</a:t>
            </a:r>
            <a:r>
              <a:rPr lang="en-US" sz="150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modelN</a:t>
            </a:r>
            <a:r>
              <a:rPr lang="en-US" sz="150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’)</a:t>
            </a:r>
            <a:endParaRPr lang="en-US" sz="15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20A9B05-6356-4DD2-B72A-A74B48B205C3}"/>
              </a:ext>
            </a:extLst>
          </p:cNvPr>
          <p:cNvSpPr/>
          <p:nvPr/>
        </p:nvSpPr>
        <p:spPr>
          <a:xfrm>
            <a:off x="6227699" y="5272400"/>
            <a:ext cx="3745904" cy="99359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/>
              <a:t>          Model Cache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B10EF3B-31D4-454C-A68D-AD65B3AB76CE}"/>
              </a:ext>
            </a:extLst>
          </p:cNvPr>
          <p:cNvSpPr/>
          <p:nvPr/>
        </p:nvSpPr>
        <p:spPr>
          <a:xfrm>
            <a:off x="7023291" y="5641154"/>
            <a:ext cx="928151" cy="4537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MN v1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EFEE5EE-89C1-4350-8B14-5A701BE629B6}"/>
              </a:ext>
            </a:extLst>
          </p:cNvPr>
          <p:cNvCxnSpPr>
            <a:cxnSpLocks/>
            <a:stCxn id="43" idx="1"/>
            <a:endCxn id="3" idx="3"/>
          </p:cNvCxnSpPr>
          <p:nvPr/>
        </p:nvCxnSpPr>
        <p:spPr>
          <a:xfrm flipH="1">
            <a:off x="5595329" y="5868035"/>
            <a:ext cx="1427962" cy="49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198713-E7A9-4F99-B885-339B62F31F46}"/>
              </a:ext>
            </a:extLst>
          </p:cNvPr>
          <p:cNvCxnSpPr>
            <a:cxnSpLocks/>
            <a:stCxn id="6" idx="2"/>
            <a:endCxn id="43" idx="0"/>
          </p:cNvCxnSpPr>
          <p:nvPr/>
        </p:nvCxnSpPr>
        <p:spPr>
          <a:xfrm>
            <a:off x="7485934" y="4199041"/>
            <a:ext cx="1433" cy="1442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457A76F-0643-4721-BA27-58D688A0E7A8}"/>
              </a:ext>
            </a:extLst>
          </p:cNvPr>
          <p:cNvCxnSpPr>
            <a:cxnSpLocks/>
          </p:cNvCxnSpPr>
          <p:nvPr/>
        </p:nvCxnSpPr>
        <p:spPr>
          <a:xfrm>
            <a:off x="2605481" y="2909238"/>
            <a:ext cx="0" cy="2371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55A13AD-F069-44DA-9F39-24131F5E5995}"/>
              </a:ext>
            </a:extLst>
          </p:cNvPr>
          <p:cNvCxnSpPr>
            <a:cxnSpLocks/>
          </p:cNvCxnSpPr>
          <p:nvPr/>
        </p:nvCxnSpPr>
        <p:spPr>
          <a:xfrm>
            <a:off x="4374194" y="4199041"/>
            <a:ext cx="0" cy="1081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711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34" grpId="0" animBg="1"/>
      <p:bldP spid="36" grpId="0" animBg="1"/>
      <p:bldP spid="3" grpId="0"/>
      <p:bldP spid="40" grpId="0" animBg="1"/>
      <p:bldP spid="4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492A-830F-421B-ACAF-E27D976E8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87" y="197346"/>
            <a:ext cx="10515600" cy="1325563"/>
          </a:xfrm>
        </p:spPr>
        <p:txBody>
          <a:bodyPr/>
          <a:lstStyle/>
          <a:p>
            <a:r>
              <a:rPr lang="en-US"/>
              <a:t>API Tour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EA3DF-0D82-41EA-9688-2E9F247C180B}"/>
              </a:ext>
            </a:extLst>
          </p:cNvPr>
          <p:cNvSpPr txBox="1"/>
          <p:nvPr/>
        </p:nvSpPr>
        <p:spPr>
          <a:xfrm>
            <a:off x="0" y="1498901"/>
            <a:ext cx="1248362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onnx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hub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 Load from </a:t>
            </a:r>
            <a:r>
              <a:rPr lang="en-US" sz="2400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onnx</a:t>
            </a:r>
            <a:r>
              <a:rPr lang="en-US" sz="2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400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models:master</a:t>
            </a:r>
            <a:r>
              <a:rPr lang="en-US" sz="2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latest </a:t>
            </a:r>
            <a:r>
              <a:rPr lang="en-US" sz="2400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opset</a:t>
            </a:r>
            <a:endParaRPr lang="en-US" sz="2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model = </a:t>
            </a:r>
            <a:r>
              <a:rPr lang="en-US" sz="2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hub.load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AlexNet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# Load from </a:t>
            </a:r>
            <a:r>
              <a:rPr lang="en-US" sz="2400" err="1">
                <a:solidFill>
                  <a:srgbClr val="6A9955"/>
                </a:solidFill>
                <a:latin typeface="Consolas" panose="020B0609020204030204" pitchFamily="49" charset="0"/>
              </a:rPr>
              <a:t>onnx</a:t>
            </a: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/</a:t>
            </a:r>
            <a:r>
              <a:rPr lang="en-US" sz="2400" err="1">
                <a:solidFill>
                  <a:srgbClr val="6A9955"/>
                </a:solidFill>
                <a:latin typeface="Consolas" panose="020B0609020204030204" pitchFamily="49" charset="0"/>
              </a:rPr>
              <a:t>models:master</a:t>
            </a: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 </a:t>
            </a:r>
            <a:r>
              <a:rPr lang="en-US" sz="2400" err="1">
                <a:solidFill>
                  <a:srgbClr val="6A9955"/>
                </a:solidFill>
                <a:latin typeface="Consolas" panose="020B0609020204030204" pitchFamily="49" charset="0"/>
              </a:rPr>
              <a:t>opset</a:t>
            </a: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 3</a:t>
            </a: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specific_opset_model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hub.load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err="1">
                <a:solidFill>
                  <a:srgbClr val="CE9178"/>
                </a:solidFill>
                <a:latin typeface="Consolas" panose="020B0609020204030204" pitchFamily="49" charset="0"/>
              </a:rPr>
              <a:t>AlexNet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2400" err="1">
                <a:solidFill>
                  <a:srgbClr val="9CDCFE"/>
                </a:solidFill>
                <a:latin typeface="Consolas" panose="020B0609020204030204" pitchFamily="49" charset="0"/>
              </a:rPr>
              <a:t>opset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# Load from a fixed hash</a:t>
            </a: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old_model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hub.load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err="1">
                <a:solidFill>
                  <a:srgbClr val="CE9178"/>
                </a:solidFill>
                <a:latin typeface="Consolas" panose="020B0609020204030204" pitchFamily="49" charset="0"/>
              </a:rPr>
              <a:t>AlexNet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2400">
                <a:solidFill>
                  <a:srgbClr val="9CDCFE"/>
                </a:solidFill>
                <a:latin typeface="Consolas" panose="020B0609020204030204" pitchFamily="49" charset="0"/>
              </a:rPr>
              <a:t>repo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err="1">
                <a:solidFill>
                  <a:srgbClr val="CE9178"/>
                </a:solidFill>
                <a:latin typeface="Consolas" panose="020B0609020204030204" pitchFamily="49" charset="0"/>
              </a:rPr>
              <a:t>onnx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/models:ad5c181f1646225f0"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# Load from a user repo</a:t>
            </a: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old_model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hub.load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err="1">
                <a:solidFill>
                  <a:srgbClr val="CE9178"/>
                </a:solidFill>
                <a:latin typeface="Consolas" panose="020B0609020204030204" pitchFamily="49" charset="0"/>
              </a:rPr>
              <a:t>AlexNet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sz="2400">
                <a:solidFill>
                  <a:srgbClr val="9CDCFE"/>
                </a:solidFill>
                <a:latin typeface="Consolas" panose="020B0609020204030204" pitchFamily="49" charset="0"/>
              </a:rPr>
              <a:t>repo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"mhamilton723/</a:t>
            </a:r>
            <a:r>
              <a:rPr lang="en-US" sz="2400" err="1">
                <a:solidFill>
                  <a:srgbClr val="CE9178"/>
                </a:solidFill>
                <a:latin typeface="Consolas" panose="020B0609020204030204" pitchFamily="49" charset="0"/>
              </a:rPr>
              <a:t>models:master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359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492A-830F-421B-ACAF-E27D976E8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87" y="197346"/>
            <a:ext cx="10515600" cy="1325563"/>
          </a:xfrm>
        </p:spPr>
        <p:txBody>
          <a:bodyPr/>
          <a:lstStyle/>
          <a:p>
            <a:r>
              <a:rPr lang="en-US"/>
              <a:t>API Tour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EA3DF-0D82-41EA-9688-2E9F247C180B}"/>
              </a:ext>
            </a:extLst>
          </p:cNvPr>
          <p:cNvSpPr txBox="1"/>
          <p:nvPr/>
        </p:nvSpPr>
        <p:spPr>
          <a:xfrm>
            <a:off x="0" y="1498897"/>
            <a:ext cx="1248362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onnx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hub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# Set custom cache locations</a:t>
            </a: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hub.set_dir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"/foo/bar/</a:t>
            </a:r>
            <a:r>
              <a:rPr lang="en-US" sz="2400" err="1">
                <a:solidFill>
                  <a:srgbClr val="CE9178"/>
                </a:solidFill>
                <a:latin typeface="Consolas" panose="020B0609020204030204" pitchFamily="49" charset="0"/>
              </a:rPr>
              <a:t>my_new_cache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# List all models and associated metadata</a:t>
            </a: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model_infos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hub.list_models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vision_model_infos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hub.list_models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 err="1">
                <a:solidFill>
                  <a:srgbClr val="9CDCFE"/>
                </a:solidFill>
                <a:latin typeface="Consolas" panose="020B0609020204030204" pitchFamily="49" charset="0"/>
              </a:rPr>
              <a:t>tag_list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=[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"vision"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6A9955"/>
                </a:solidFill>
                <a:latin typeface="Consolas" panose="020B0609020204030204" pitchFamily="49" charset="0"/>
              </a:rPr>
              <a:t># Inspect a model prior to downloading</a:t>
            </a:r>
            <a:endParaRPr lang="en-US" sz="24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model_size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2400" err="1">
                <a:solidFill>
                  <a:srgbClr val="D4D4D4"/>
                </a:solidFill>
                <a:latin typeface="Consolas" panose="020B0609020204030204" pitchFamily="49" charset="0"/>
              </a:rPr>
              <a:t>hub.get_model_info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err="1">
                <a:solidFill>
                  <a:srgbClr val="CE9178"/>
                </a:solidFill>
                <a:latin typeface="Consolas" panose="020B0609020204030204" pitchFamily="49" charset="0"/>
              </a:rPr>
              <a:t>AlexNet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).metadata[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err="1">
                <a:solidFill>
                  <a:srgbClr val="CE9178"/>
                </a:solidFill>
                <a:latin typeface="Consolas" panose="020B0609020204030204" pitchFamily="49" charset="0"/>
              </a:rPr>
              <a:t>model_size</a:t>
            </a:r>
            <a:r>
              <a:rPr lang="en-US" sz="240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endParaRPr lang="en-US" sz="2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094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6F5A21A-0130-4E8B-8128-7DB8E1ADC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6" y="1498790"/>
            <a:ext cx="6029076" cy="49466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CFEC5F3-AC85-48CA-8B7D-868DFDEB727E}"/>
              </a:ext>
            </a:extLst>
          </p:cNvPr>
          <p:cNvSpPr txBox="1">
            <a:spLocks/>
          </p:cNvSpPr>
          <p:nvPr/>
        </p:nvSpPr>
        <p:spPr>
          <a:xfrm>
            <a:off x="838200" y="2935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Autogenned</a:t>
            </a:r>
            <a:r>
              <a:rPr lang="en-US"/>
              <a:t> Manifest: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B923452-C2E7-4461-B87C-1E94574E4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6501" y="1626035"/>
            <a:ext cx="4446196" cy="5028938"/>
          </a:xfrm>
        </p:spPr>
        <p:txBody>
          <a:bodyPr>
            <a:normAutofit/>
          </a:bodyPr>
          <a:lstStyle/>
          <a:p>
            <a:r>
              <a:rPr lang="en-US"/>
              <a:t>Created from existing markdown tables</a:t>
            </a:r>
          </a:p>
          <a:p>
            <a:r>
              <a:rPr lang="en-US"/>
              <a:t>Contains 120 different models</a:t>
            </a:r>
          </a:p>
          <a:p>
            <a:r>
              <a:rPr lang="en-US"/>
              <a:t>Metadata for</a:t>
            </a:r>
          </a:p>
          <a:p>
            <a:pPr lvl="1"/>
            <a:r>
              <a:rPr lang="en-US" err="1"/>
              <a:t>Checksumming</a:t>
            </a:r>
            <a:endParaRPr lang="en-US"/>
          </a:p>
          <a:p>
            <a:pPr lvl="1"/>
            <a:r>
              <a:rPr lang="en-US"/>
              <a:t>Inspecting IO structure</a:t>
            </a:r>
          </a:p>
          <a:p>
            <a:pPr lvl="1"/>
            <a:r>
              <a:rPr lang="en-US"/>
              <a:t>Searching by tags</a:t>
            </a:r>
          </a:p>
          <a:p>
            <a:pPr lvl="1"/>
            <a:r>
              <a:rPr lang="en-US"/>
              <a:t>Downloading paired training data</a:t>
            </a:r>
          </a:p>
          <a:p>
            <a:pPr lvl="1"/>
            <a:r>
              <a:rPr lang="en-US"/>
              <a:t>Checking model size before download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52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85CD-D6F1-4D1B-BBB1-A21A9BD8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8431E-A2B1-4392-BF34-854F99900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JVM SDK for Apache Spark based Distributed ONNX Inference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Responsible AI metadata</a:t>
            </a:r>
          </a:p>
          <a:p>
            <a:pPr lvl="1"/>
            <a:r>
              <a:rPr lang="en-US"/>
              <a:t>Include Responsible AI (fairness metrics, feature weights, etc.) related metrics in the metadata section.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8B2A4-AB44-4A37-9DCB-96E39700F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31" y="2322536"/>
            <a:ext cx="6515243" cy="232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35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9C44-6969-4C2B-BAB9-309BA63A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D4931-751D-4174-8B77-D9AEC66BC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067"/>
            <a:ext cx="10849620" cy="4870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Try it out today: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pip install </a:t>
            </a:r>
            <a:r>
              <a:rPr lang="en-US" b="0" i="0" err="1">
                <a:effectLst/>
                <a:latin typeface="Consolas" panose="020B0609020204030204" pitchFamily="49" charset="0"/>
              </a:rPr>
              <a:t>onnx</a:t>
            </a:r>
            <a:r>
              <a:rPr lang="en-US" b="0" i="0">
                <a:effectLst/>
                <a:latin typeface="Consolas" panose="020B0609020204030204" pitchFamily="49" charset="0"/>
              </a:rPr>
              <a:t>-weekly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Docs: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https://aka.ms/onnx-hub</a:t>
            </a:r>
          </a:p>
          <a:p>
            <a:pPr marL="0" indent="0">
              <a:buNone/>
            </a:pPr>
            <a:r>
              <a:rPr lang="en-US"/>
              <a:t>Email:</a:t>
            </a:r>
          </a:p>
          <a:p>
            <a:pPr marL="0" indent="0">
              <a:buNone/>
            </a:pPr>
            <a:r>
              <a:rPr lang="en-US"/>
              <a:t>	marhamil@microsoft.com, jasowang@microsoft.com</a:t>
            </a:r>
          </a:p>
          <a:p>
            <a:pPr marL="0" indent="0">
              <a:buNone/>
            </a:pPr>
            <a:r>
              <a:rPr lang="en-US"/>
              <a:t>Thank you for your help building this!</a:t>
            </a:r>
          </a:p>
          <a:p>
            <a:pPr lvl="1"/>
            <a:r>
              <a:rPr lang="en-US"/>
              <a:t>Wenbing Li, Prasanth Pulavarthi, Jacky Chen, Yuan Yu, Guenther </a:t>
            </a:r>
            <a:r>
              <a:rPr lang="en-US" err="1"/>
              <a:t>Schmuelling</a:t>
            </a:r>
            <a:r>
              <a:rPr lang="en-US"/>
              <a:t>, Ke Zhang, ONNX working group, and others</a:t>
            </a:r>
          </a:p>
        </p:txBody>
      </p:sp>
    </p:spTree>
    <p:extLst>
      <p:ext uri="{BB962C8B-B14F-4D97-AF65-F5344CB8AC3E}">
        <p14:creationId xmlns:p14="http://schemas.microsoft.com/office/powerpoint/2010/main" val="2872115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587D-FD7F-4EC8-B9BE-596BCC78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83270-1E9B-4DA7-AEF7-C83EA2258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6F5B6-75E0-412B-A3D9-09DF8F85B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21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666</Words>
  <Application>Microsoft Office PowerPoint</Application>
  <PresentationFormat>Widescreen</PresentationFormat>
  <Paragraphs>160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-apple-system</vt:lpstr>
      <vt:lpstr>Arial</vt:lpstr>
      <vt:lpstr>Calibri</vt:lpstr>
      <vt:lpstr>Calibri Light</vt:lpstr>
      <vt:lpstr>Consolas</vt:lpstr>
      <vt:lpstr>Wingdings</vt:lpstr>
      <vt:lpstr>Office Theme</vt:lpstr>
      <vt:lpstr>PowerPoint Presentation</vt:lpstr>
      <vt:lpstr>Agenda</vt:lpstr>
      <vt:lpstr>Quantization</vt:lpstr>
      <vt:lpstr>The out-of-box model</vt:lpstr>
      <vt:lpstr>Roadmap Priority</vt:lpstr>
      <vt:lpstr>ONNX Model Hub</vt:lpstr>
      <vt:lpstr>Why</vt:lpstr>
      <vt:lpstr>Considerations</vt:lpstr>
      <vt:lpstr>ONNX Hub Architecture</vt:lpstr>
      <vt:lpstr>API Tour</vt:lpstr>
      <vt:lpstr>API Tour</vt:lpstr>
      <vt:lpstr>PowerPoint Presentation</vt:lpstr>
      <vt:lpstr>Next Steps</vt:lpstr>
      <vt:lpstr>Feedback Welcome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ONNX Model Hub</dc:title>
  <dc:creator>Mark Hamilton</dc:creator>
  <cp:lastModifiedBy>Wenbing Li</cp:lastModifiedBy>
  <cp:revision>1</cp:revision>
  <dcterms:created xsi:type="dcterms:W3CDTF">2021-08-19T21:47:49Z</dcterms:created>
  <dcterms:modified xsi:type="dcterms:W3CDTF">2021-10-19T17:51:41Z</dcterms:modified>
</cp:coreProperties>
</file>