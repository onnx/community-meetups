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6" r:id="rId12"/>
    <p:sldId id="297" r:id="rId13"/>
    <p:sldId id="298" r:id="rId14"/>
    <p:sldId id="300" r:id="rId15"/>
    <p:sldId id="268" r:id="rId16"/>
    <p:sldId id="269" r:id="rId17"/>
    <p:sldId id="299" r:id="rId18"/>
    <p:sldId id="273" r:id="rId19"/>
    <p:sldId id="291" r:id="rId20"/>
    <p:sldId id="292" r:id="rId21"/>
    <p:sldId id="293" r:id="rId22"/>
    <p:sldId id="294" r:id="rId23"/>
    <p:sldId id="295" r:id="rId24"/>
    <p:sldId id="277" r:id="rId25"/>
    <p:sldId id="279" r:id="rId26"/>
    <p:sldId id="280" r:id="rId27"/>
    <p:sldId id="289" r:id="rId28"/>
    <p:sldId id="283" r:id="rId29"/>
    <p:sldId id="290" r:id="rId30"/>
    <p:sldId id="285" r:id="rId31"/>
    <p:sldId id="286" r:id="rId32"/>
    <p:sldId id="288" r:id="rId3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ifAdXk6545JFOgi5LUsZF/5Tj6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63EA4-11AD-4DD8-8D52-0EA06B87CCF7}" v="2" dt="2021-10-20T18:14:28.855"/>
  </p1510:revLst>
</p1510:revInfo>
</file>

<file path=ppt/tableStyles.xml><?xml version="1.0" encoding="utf-8"?>
<a:tblStyleLst xmlns:a="http://schemas.openxmlformats.org/drawingml/2006/main" def="{FCFFDF07-19E0-44E1-B5BC-53BCCD9BA880}">
  <a:tblStyle styleId="{FCFFDF07-19E0-44E1-B5BC-53BCCD9BA88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6" autoAdjust="0"/>
    <p:restoredTop sz="61603" autoAdjust="0"/>
  </p:normalViewPr>
  <p:slideViewPr>
    <p:cSldViewPr snapToGrid="0">
      <p:cViewPr varScale="1">
        <p:scale>
          <a:sx n="93" d="100"/>
          <a:sy n="93" d="100"/>
        </p:scale>
        <p:origin x="1611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lawadi, Rajeev K" userId="66667c2c-d3da-46b8-aec7-82d4c3aff681" providerId="ADAL" clId="{44463EA4-11AD-4DD8-8D52-0EA06B87CCF7}"/>
    <pc:docChg chg="undo custSel delSld modSld">
      <pc:chgData name="Nalawadi, Rajeev K" userId="66667c2c-d3da-46b8-aec7-82d4c3aff681" providerId="ADAL" clId="{44463EA4-11AD-4DD8-8D52-0EA06B87CCF7}" dt="2021-10-20T18:28:52.197" v="578" actId="14100"/>
      <pc:docMkLst>
        <pc:docMk/>
      </pc:docMkLst>
      <pc:sldChg chg="addSp delSp modSp mod">
        <pc:chgData name="Nalawadi, Rajeev K" userId="66667c2c-d3da-46b8-aec7-82d4c3aff681" providerId="ADAL" clId="{44463EA4-11AD-4DD8-8D52-0EA06B87CCF7}" dt="2021-10-20T18:06:46.731" v="116" actId="1076"/>
        <pc:sldMkLst>
          <pc:docMk/>
          <pc:sldMk cId="0" sldId="258"/>
        </pc:sldMkLst>
        <pc:spChg chg="add mod">
          <ac:chgData name="Nalawadi, Rajeev K" userId="66667c2c-d3da-46b8-aec7-82d4c3aff681" providerId="ADAL" clId="{44463EA4-11AD-4DD8-8D52-0EA06B87CCF7}" dt="2021-10-20T18:06:46.731" v="116" actId="1076"/>
          <ac:spMkLst>
            <pc:docMk/>
            <pc:sldMk cId="0" sldId="258"/>
            <ac:spMk id="8" creationId="{47B1419B-0E31-47D2-8AB9-347C8DBA9685}"/>
          </ac:spMkLst>
        </pc:spChg>
        <pc:spChg chg="mod">
          <ac:chgData name="Nalawadi, Rajeev K" userId="66667c2c-d3da-46b8-aec7-82d4c3aff681" providerId="ADAL" clId="{44463EA4-11AD-4DD8-8D52-0EA06B87CCF7}" dt="2021-10-18T17:51:26.958" v="6" actId="14100"/>
          <ac:spMkLst>
            <pc:docMk/>
            <pc:sldMk cId="0" sldId="258"/>
            <ac:spMk id="258" creationId="{00000000-0000-0000-0000-000000000000}"/>
          </ac:spMkLst>
        </pc:spChg>
        <pc:spChg chg="del">
          <ac:chgData name="Nalawadi, Rajeev K" userId="66667c2c-d3da-46b8-aec7-82d4c3aff681" providerId="ADAL" clId="{44463EA4-11AD-4DD8-8D52-0EA06B87CCF7}" dt="2021-10-18T17:29:44.371" v="3" actId="478"/>
          <ac:spMkLst>
            <pc:docMk/>
            <pc:sldMk cId="0" sldId="258"/>
            <ac:spMk id="263" creationId="{00000000-0000-0000-0000-000000000000}"/>
          </ac:spMkLst>
        </pc:spChg>
        <pc:picChg chg="add mod">
          <ac:chgData name="Nalawadi, Rajeev K" userId="66667c2c-d3da-46b8-aec7-82d4c3aff681" providerId="ADAL" clId="{44463EA4-11AD-4DD8-8D52-0EA06B87CCF7}" dt="2021-10-18T17:53:03.168" v="14" actId="1076"/>
          <ac:picMkLst>
            <pc:docMk/>
            <pc:sldMk cId="0" sldId="258"/>
            <ac:picMk id="3" creationId="{7227101A-7121-4E92-ABF0-E8253F6B16CF}"/>
          </ac:picMkLst>
        </pc:picChg>
        <pc:picChg chg="add del mod">
          <ac:chgData name="Nalawadi, Rajeev K" userId="66667c2c-d3da-46b8-aec7-82d4c3aff681" providerId="ADAL" clId="{44463EA4-11AD-4DD8-8D52-0EA06B87CCF7}" dt="2021-10-18T20:10:35.027" v="41" actId="478"/>
          <ac:picMkLst>
            <pc:docMk/>
            <pc:sldMk cId="0" sldId="258"/>
            <ac:picMk id="5" creationId="{D79EA75F-AF95-4263-BFFB-51B43E43F6E4}"/>
          </ac:picMkLst>
        </pc:picChg>
        <pc:picChg chg="add mod">
          <ac:chgData name="Nalawadi, Rajeev K" userId="66667c2c-d3da-46b8-aec7-82d4c3aff681" providerId="ADAL" clId="{44463EA4-11AD-4DD8-8D52-0EA06B87CCF7}" dt="2021-10-20T18:04:53.870" v="96" actId="1076"/>
          <ac:picMkLst>
            <pc:docMk/>
            <pc:sldMk cId="0" sldId="258"/>
            <ac:picMk id="7" creationId="{983344B9-5944-4CAF-BC24-6856EC39EFA0}"/>
          </ac:picMkLst>
        </pc:picChg>
        <pc:picChg chg="add mod">
          <ac:chgData name="Nalawadi, Rajeev K" userId="66667c2c-d3da-46b8-aec7-82d4c3aff681" providerId="ADAL" clId="{44463EA4-11AD-4DD8-8D52-0EA06B87CCF7}" dt="2021-10-20T18:04:40.940" v="94" actId="1076"/>
          <ac:picMkLst>
            <pc:docMk/>
            <pc:sldMk cId="0" sldId="258"/>
            <ac:picMk id="9" creationId="{03F61B47-A6F5-425B-9ABD-5C180DEB4808}"/>
          </ac:picMkLst>
        </pc:picChg>
      </pc:sldChg>
      <pc:sldChg chg="modSp mod">
        <pc:chgData name="Nalawadi, Rajeev K" userId="66667c2c-d3da-46b8-aec7-82d4c3aff681" providerId="ADAL" clId="{44463EA4-11AD-4DD8-8D52-0EA06B87CCF7}" dt="2021-10-18T17:54:36.704" v="40" actId="21"/>
        <pc:sldMkLst>
          <pc:docMk/>
          <pc:sldMk cId="0" sldId="262"/>
        </pc:sldMkLst>
        <pc:graphicFrameChg chg="modGraphic">
          <ac:chgData name="Nalawadi, Rajeev K" userId="66667c2c-d3da-46b8-aec7-82d4c3aff681" providerId="ADAL" clId="{44463EA4-11AD-4DD8-8D52-0EA06B87CCF7}" dt="2021-10-18T17:54:36.704" v="40" actId="21"/>
          <ac:graphicFrameMkLst>
            <pc:docMk/>
            <pc:sldMk cId="0" sldId="262"/>
            <ac:graphicFrameMk id="288" creationId="{00000000-0000-0000-0000-000000000000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19T16:15:44.557" v="71" actId="20577"/>
        <pc:sldMkLst>
          <pc:docMk/>
          <pc:sldMk cId="0" sldId="263"/>
        </pc:sldMkLst>
        <pc:graphicFrameChg chg="modGraphic">
          <ac:chgData name="Nalawadi, Rajeev K" userId="66667c2c-d3da-46b8-aec7-82d4c3aff681" providerId="ADAL" clId="{44463EA4-11AD-4DD8-8D52-0EA06B87CCF7}" dt="2021-10-19T16:15:44.557" v="71" actId="20577"/>
          <ac:graphicFrameMkLst>
            <pc:docMk/>
            <pc:sldMk cId="0" sldId="263"/>
            <ac:graphicFrameMk id="296" creationId="{00000000-0000-0000-0000-000000000000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19T16:33:06.075" v="92" actId="20577"/>
        <pc:sldMkLst>
          <pc:docMk/>
          <pc:sldMk cId="0" sldId="264"/>
        </pc:sldMkLst>
        <pc:graphicFrameChg chg="modGraphic">
          <ac:chgData name="Nalawadi, Rajeev K" userId="66667c2c-d3da-46b8-aec7-82d4c3aff681" providerId="ADAL" clId="{44463EA4-11AD-4DD8-8D52-0EA06B87CCF7}" dt="2021-10-19T16:33:06.075" v="92" actId="20577"/>
          <ac:graphicFrameMkLst>
            <pc:docMk/>
            <pc:sldMk cId="0" sldId="264"/>
            <ac:graphicFrameMk id="305" creationId="{00000000-0000-0000-0000-000000000000}"/>
          </ac:graphicFrameMkLst>
        </pc:graphicFrameChg>
      </pc:sldChg>
      <pc:sldChg chg="delSp modSp mod">
        <pc:chgData name="Nalawadi, Rajeev K" userId="66667c2c-d3da-46b8-aec7-82d4c3aff681" providerId="ADAL" clId="{44463EA4-11AD-4DD8-8D52-0EA06B87CCF7}" dt="2021-10-20T18:12:51.996" v="340" actId="14100"/>
        <pc:sldMkLst>
          <pc:docMk/>
          <pc:sldMk cId="0" sldId="269"/>
        </pc:sldMkLst>
        <pc:spChg chg="mod">
          <ac:chgData name="Nalawadi, Rajeev K" userId="66667c2c-d3da-46b8-aec7-82d4c3aff681" providerId="ADAL" clId="{44463EA4-11AD-4DD8-8D52-0EA06B87CCF7}" dt="2021-10-20T18:11:52.634" v="261" actId="14100"/>
          <ac:spMkLst>
            <pc:docMk/>
            <pc:sldMk cId="0" sldId="269"/>
            <ac:spMk id="439" creationId="{00000000-0000-0000-0000-000000000000}"/>
          </ac:spMkLst>
        </pc:spChg>
        <pc:spChg chg="mod">
          <ac:chgData name="Nalawadi, Rajeev K" userId="66667c2c-d3da-46b8-aec7-82d4c3aff681" providerId="ADAL" clId="{44463EA4-11AD-4DD8-8D52-0EA06B87CCF7}" dt="2021-10-20T18:12:51.996" v="340" actId="14100"/>
          <ac:spMkLst>
            <pc:docMk/>
            <pc:sldMk cId="0" sldId="269"/>
            <ac:spMk id="440" creationId="{00000000-0000-0000-0000-000000000000}"/>
          </ac:spMkLst>
        </pc:spChg>
        <pc:spChg chg="del">
          <ac:chgData name="Nalawadi, Rajeev K" userId="66667c2c-d3da-46b8-aec7-82d4c3aff681" providerId="ADAL" clId="{44463EA4-11AD-4DD8-8D52-0EA06B87CCF7}" dt="2021-10-20T18:12:47.240" v="339" actId="478"/>
          <ac:spMkLst>
            <pc:docMk/>
            <pc:sldMk cId="0" sldId="269"/>
            <ac:spMk id="441" creationId="{00000000-0000-0000-0000-000000000000}"/>
          </ac:spMkLst>
        </pc:spChg>
      </pc:sldChg>
      <pc:sldChg chg="del">
        <pc:chgData name="Nalawadi, Rajeev K" userId="66667c2c-d3da-46b8-aec7-82d4c3aff681" providerId="ADAL" clId="{44463EA4-11AD-4DD8-8D52-0EA06B87CCF7}" dt="2021-10-20T18:10:47.204" v="254" actId="47"/>
        <pc:sldMkLst>
          <pc:docMk/>
          <pc:sldMk cId="0" sldId="272"/>
        </pc:sldMkLst>
      </pc:sldChg>
      <pc:sldChg chg="del">
        <pc:chgData name="Nalawadi, Rajeev K" userId="66667c2c-d3da-46b8-aec7-82d4c3aff681" providerId="ADAL" clId="{44463EA4-11AD-4DD8-8D52-0EA06B87CCF7}" dt="2021-10-20T18:16:35.238" v="349" actId="47"/>
        <pc:sldMkLst>
          <pc:docMk/>
          <pc:sldMk cId="0" sldId="274"/>
        </pc:sldMkLst>
      </pc:sldChg>
      <pc:sldChg chg="del">
        <pc:chgData name="Nalawadi, Rajeev K" userId="66667c2c-d3da-46b8-aec7-82d4c3aff681" providerId="ADAL" clId="{44463EA4-11AD-4DD8-8D52-0EA06B87CCF7}" dt="2021-10-20T18:16:38.179" v="350" actId="47"/>
        <pc:sldMkLst>
          <pc:docMk/>
          <pc:sldMk cId="0" sldId="275"/>
        </pc:sldMkLst>
      </pc:sldChg>
      <pc:sldChg chg="del">
        <pc:chgData name="Nalawadi, Rajeev K" userId="66667c2c-d3da-46b8-aec7-82d4c3aff681" providerId="ADAL" clId="{44463EA4-11AD-4DD8-8D52-0EA06B87CCF7}" dt="2021-10-20T18:16:42.223" v="351" actId="47"/>
        <pc:sldMkLst>
          <pc:docMk/>
          <pc:sldMk cId="0" sldId="276"/>
        </pc:sldMkLst>
      </pc:sldChg>
      <pc:sldChg chg="modSp mod">
        <pc:chgData name="Nalawadi, Rajeev K" userId="66667c2c-d3da-46b8-aec7-82d4c3aff681" providerId="ADAL" clId="{44463EA4-11AD-4DD8-8D52-0EA06B87CCF7}" dt="2021-10-20T18:26:15.387" v="527" actId="6549"/>
        <pc:sldMkLst>
          <pc:docMk/>
          <pc:sldMk cId="0" sldId="277"/>
        </pc:sldMkLst>
        <pc:spChg chg="mod">
          <ac:chgData name="Nalawadi, Rajeev K" userId="66667c2c-d3da-46b8-aec7-82d4c3aff681" providerId="ADAL" clId="{44463EA4-11AD-4DD8-8D52-0EA06B87CCF7}" dt="2021-10-20T18:23:32.157" v="377" actId="6549"/>
          <ac:spMkLst>
            <pc:docMk/>
            <pc:sldMk cId="0" sldId="277"/>
            <ac:spMk id="550" creationId="{00000000-0000-0000-0000-000000000000}"/>
          </ac:spMkLst>
        </pc:spChg>
        <pc:spChg chg="mod">
          <ac:chgData name="Nalawadi, Rajeev K" userId="66667c2c-d3da-46b8-aec7-82d4c3aff681" providerId="ADAL" clId="{44463EA4-11AD-4DD8-8D52-0EA06B87CCF7}" dt="2021-10-20T18:26:15.387" v="527" actId="6549"/>
          <ac:spMkLst>
            <pc:docMk/>
            <pc:sldMk cId="0" sldId="277"/>
            <ac:spMk id="551" creationId="{00000000-0000-0000-0000-000000000000}"/>
          </ac:spMkLst>
        </pc:spChg>
      </pc:sldChg>
      <pc:sldChg chg="del">
        <pc:chgData name="Nalawadi, Rajeev K" userId="66667c2c-d3da-46b8-aec7-82d4c3aff681" providerId="ADAL" clId="{44463EA4-11AD-4DD8-8D52-0EA06B87CCF7}" dt="2021-10-20T18:23:44.126" v="378" actId="47"/>
        <pc:sldMkLst>
          <pc:docMk/>
          <pc:sldMk cId="0" sldId="278"/>
        </pc:sldMkLst>
      </pc:sldChg>
      <pc:sldChg chg="del">
        <pc:chgData name="Nalawadi, Rajeev K" userId="66667c2c-d3da-46b8-aec7-82d4c3aff681" providerId="ADAL" clId="{44463EA4-11AD-4DD8-8D52-0EA06B87CCF7}" dt="2021-10-20T18:27:42.535" v="543" actId="47"/>
        <pc:sldMkLst>
          <pc:docMk/>
          <pc:sldMk cId="0" sldId="282"/>
        </pc:sldMkLst>
      </pc:sldChg>
      <pc:sldChg chg="modSp mod">
        <pc:chgData name="Nalawadi, Rajeev K" userId="66667c2c-d3da-46b8-aec7-82d4c3aff681" providerId="ADAL" clId="{44463EA4-11AD-4DD8-8D52-0EA06B87CCF7}" dt="2021-10-20T18:28:52.197" v="578" actId="14100"/>
        <pc:sldMkLst>
          <pc:docMk/>
          <pc:sldMk cId="0" sldId="286"/>
        </pc:sldMkLst>
        <pc:spChg chg="mod">
          <ac:chgData name="Nalawadi, Rajeev K" userId="66667c2c-d3da-46b8-aec7-82d4c3aff681" providerId="ADAL" clId="{44463EA4-11AD-4DD8-8D52-0EA06B87CCF7}" dt="2021-10-20T18:28:52.197" v="578" actId="14100"/>
          <ac:spMkLst>
            <pc:docMk/>
            <pc:sldMk cId="0" sldId="286"/>
            <ac:spMk id="624" creationId="{00000000-0000-0000-0000-000000000000}"/>
          </ac:spMkLst>
        </pc:spChg>
      </pc:sldChg>
      <pc:sldChg chg="modSp mod">
        <pc:chgData name="Nalawadi, Rajeev K" userId="66667c2c-d3da-46b8-aec7-82d4c3aff681" providerId="ADAL" clId="{44463EA4-11AD-4DD8-8D52-0EA06B87CCF7}" dt="2021-10-20T18:26:53.478" v="542" actId="20577"/>
        <pc:sldMkLst>
          <pc:docMk/>
          <pc:sldMk cId="1404732366" sldId="289"/>
        </pc:sldMkLst>
        <pc:graphicFrameChg chg="modGraphic">
          <ac:chgData name="Nalawadi, Rajeev K" userId="66667c2c-d3da-46b8-aec7-82d4c3aff681" providerId="ADAL" clId="{44463EA4-11AD-4DD8-8D52-0EA06B87CCF7}" dt="2021-10-20T18:26:53.478" v="542" actId="20577"/>
          <ac:graphicFrameMkLst>
            <pc:docMk/>
            <pc:sldMk cId="1404732366" sldId="289"/>
            <ac:graphicFrameMk id="296" creationId="{00000000-0000-0000-0000-000000000000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20T18:28:10.040" v="576" actId="20577"/>
        <pc:sldMkLst>
          <pc:docMk/>
          <pc:sldMk cId="538077707" sldId="290"/>
        </pc:sldMkLst>
        <pc:graphicFrameChg chg="modGraphic">
          <ac:chgData name="Nalawadi, Rajeev K" userId="66667c2c-d3da-46b8-aec7-82d4c3aff681" providerId="ADAL" clId="{44463EA4-11AD-4DD8-8D52-0EA06B87CCF7}" dt="2021-10-20T18:28:10.040" v="576" actId="20577"/>
          <ac:graphicFrameMkLst>
            <pc:docMk/>
            <pc:sldMk cId="538077707" sldId="290"/>
            <ac:graphicFrameMk id="305" creationId="{00000000-0000-0000-0000-000000000000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20T18:15:54.514" v="346" actId="1076"/>
        <pc:sldMkLst>
          <pc:docMk/>
          <pc:sldMk cId="3988695439" sldId="292"/>
        </pc:sldMkLst>
        <pc:spChg chg="mod">
          <ac:chgData name="Nalawadi, Rajeev K" userId="66667c2c-d3da-46b8-aec7-82d4c3aff681" providerId="ADAL" clId="{44463EA4-11AD-4DD8-8D52-0EA06B87CCF7}" dt="2021-10-20T18:15:54.514" v="346" actId="1076"/>
          <ac:spMkLst>
            <pc:docMk/>
            <pc:sldMk cId="3988695439" sldId="292"/>
            <ac:spMk id="9" creationId="{0CEFF84E-7115-4E42-B718-F3A3B19F4AA3}"/>
          </ac:spMkLst>
        </pc:spChg>
        <pc:graphicFrameChg chg="mod modGraphic">
          <ac:chgData name="Nalawadi, Rajeev K" userId="66667c2c-d3da-46b8-aec7-82d4c3aff681" providerId="ADAL" clId="{44463EA4-11AD-4DD8-8D52-0EA06B87CCF7}" dt="2021-10-20T18:15:50.519" v="345" actId="1076"/>
          <ac:graphicFrameMkLst>
            <pc:docMk/>
            <pc:sldMk cId="3988695439" sldId="292"/>
            <ac:graphicFrameMk id="6" creationId="{DF72AB70-4DCC-9D40-AE00-32A26CB8AC59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20T18:15:35.134" v="343" actId="255"/>
        <pc:sldMkLst>
          <pc:docMk/>
          <pc:sldMk cId="2030968610" sldId="293"/>
        </pc:sldMkLst>
        <pc:spChg chg="mod">
          <ac:chgData name="Nalawadi, Rajeev K" userId="66667c2c-d3da-46b8-aec7-82d4c3aff681" providerId="ADAL" clId="{44463EA4-11AD-4DD8-8D52-0EA06B87CCF7}" dt="2021-10-20T18:15:17.450" v="342" actId="1076"/>
          <ac:spMkLst>
            <pc:docMk/>
            <pc:sldMk cId="2030968610" sldId="293"/>
            <ac:spMk id="9" creationId="{0CEFF84E-7115-4E42-B718-F3A3B19F4AA3}"/>
          </ac:spMkLst>
        </pc:spChg>
        <pc:graphicFrameChg chg="mod modGraphic">
          <ac:chgData name="Nalawadi, Rajeev K" userId="66667c2c-d3da-46b8-aec7-82d4c3aff681" providerId="ADAL" clId="{44463EA4-11AD-4DD8-8D52-0EA06B87CCF7}" dt="2021-10-20T18:15:35.134" v="343" actId="255"/>
          <ac:graphicFrameMkLst>
            <pc:docMk/>
            <pc:sldMk cId="2030968610" sldId="293"/>
            <ac:graphicFrameMk id="6" creationId="{DF72AB70-4DCC-9D40-AE00-32A26CB8AC59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20T18:16:12.327" v="347" actId="255"/>
        <pc:sldMkLst>
          <pc:docMk/>
          <pc:sldMk cId="1574417264" sldId="294"/>
        </pc:sldMkLst>
        <pc:graphicFrameChg chg="modGraphic">
          <ac:chgData name="Nalawadi, Rajeev K" userId="66667c2c-d3da-46b8-aec7-82d4c3aff681" providerId="ADAL" clId="{44463EA4-11AD-4DD8-8D52-0EA06B87CCF7}" dt="2021-10-20T18:16:12.327" v="347" actId="255"/>
          <ac:graphicFrameMkLst>
            <pc:docMk/>
            <pc:sldMk cId="1574417264" sldId="294"/>
            <ac:graphicFrameMk id="6" creationId="{DF72AB70-4DCC-9D40-AE00-32A26CB8AC59}"/>
          </ac:graphicFrameMkLst>
        </pc:graphicFrameChg>
      </pc:sldChg>
      <pc:sldChg chg="modSp mod">
        <pc:chgData name="Nalawadi, Rajeev K" userId="66667c2c-d3da-46b8-aec7-82d4c3aff681" providerId="ADAL" clId="{44463EA4-11AD-4DD8-8D52-0EA06B87CCF7}" dt="2021-10-20T18:16:28.832" v="348" actId="255"/>
        <pc:sldMkLst>
          <pc:docMk/>
          <pc:sldMk cId="3762314308" sldId="295"/>
        </pc:sldMkLst>
        <pc:graphicFrameChg chg="modGraphic">
          <ac:chgData name="Nalawadi, Rajeev K" userId="66667c2c-d3da-46b8-aec7-82d4c3aff681" providerId="ADAL" clId="{44463EA4-11AD-4DD8-8D52-0EA06B87CCF7}" dt="2021-10-20T18:16:28.832" v="348" actId="255"/>
          <ac:graphicFrameMkLst>
            <pc:docMk/>
            <pc:sldMk cId="3762314308" sldId="295"/>
            <ac:graphicFrameMk id="6" creationId="{DF72AB70-4DCC-9D40-AE00-32A26CB8AC5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Looking forward to the day that we can have in person community workshops again.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Updated 10/20/2021 by W.Y.</a:t>
            </a:r>
            <a:endParaRPr lang="en"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endParaRPr lang="en"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From checking github.com -  https://github.com/onnx/onnx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Stars: 11.5K from 9.9K (11500-9900)/9900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Used By: Dependent Repos: 4165 from 2550 (4165-2550)/2550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Contributors: 208 from 186 (208-186)/186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Forks 2.2K from 2.2K (2200-2200)/2200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PRs across all repositories ???? from 5931 (????-5931)/5931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Monthly Download 367K from 300K (366627-300000)/300000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checking </a:t>
            </a:r>
            <a:r>
              <a:rPr lang="en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arxiv.og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http://search.arxiv.org:8081/?in=&amp;query=</a:t>
            </a:r>
            <a:r>
              <a:rPr lang="en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onnx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Papers 200 from 200 (200-200)/200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From checking </a:t>
            </a:r>
            <a:r>
              <a:rPr lang="en" dirty="0" err="1"/>
              <a:t>github</a:t>
            </a:r>
            <a:r>
              <a:rPr lang="en" dirty="0"/>
              <a:t> – https://</a:t>
            </a:r>
            <a:r>
              <a:rPr lang="en" dirty="0" err="1"/>
              <a:t>github.com</a:t>
            </a:r>
            <a:r>
              <a:rPr lang="en" dirty="0"/>
              <a:t>/</a:t>
            </a:r>
            <a:r>
              <a:rPr lang="en" dirty="0" err="1"/>
              <a:t>onnx</a:t>
            </a:r>
            <a:r>
              <a:rPr lang="en" dirty="0"/>
              <a:t>/models 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Count only the ones with model class hyperlink in first column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Models in Zoo 39 from 39 (39-39)/39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https://</a:t>
            </a:r>
            <a:r>
              <a:rPr lang="en" dirty="0" err="1"/>
              <a:t>insights.lfx.linuxfoundation.org</a:t>
            </a:r>
            <a:r>
              <a:rPr lang="en" dirty="0"/>
              <a:t>/projects/ - view 5 year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Pull Requests 6880 from 5954 (6880-5954)/5954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43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15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7" name="Google Shape;42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p1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" name="Google Shape;43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32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p2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71" name="Google Shape;47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 will start with a brief  recap of the roadmap discussion process that  we shared in the last community workshop.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you remember from the last workshop, we received a lot of feedback from community to come up with the roadmap ideas and spent about 6 weeks discussing the ideas and came up with the suggested list of features and their impact.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3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2" name="Google Shape;56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24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8" name="Google Shape;56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867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27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5" name="Google Shape;595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2992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29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3" name="Google Shape;61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3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2" name="Google Shape;62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a06db1119_0_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ca06db1119_0_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gca06db1119_0_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1:1)">
  <p:cSld name="Title; Body (1:1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ca06db1119_0_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6" cy="514282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ca06db1119_0_29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ca06db1119_0_29"/>
          <p:cNvSpPr txBox="1">
            <a:spLocks noGrp="1"/>
          </p:cNvSpPr>
          <p:nvPr>
            <p:ph type="body" idx="1"/>
          </p:nvPr>
        </p:nvSpPr>
        <p:spPr>
          <a:xfrm>
            <a:off x="5249972" y="286322"/>
            <a:ext cx="34362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; Body">
  <p:cSld name="1_Title; 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a06db1119_0_33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ca06db1119_0_33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marL="914400" lvl="1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marL="1371600" lvl="2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marL="1828800" lvl="3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marL="2286000" lvl="4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marL="2743200" lvl="5" indent="-27305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gca06db1119_0_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6" cy="514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A302-C4D0-BE4D-A482-8C200D20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03A9-25AA-6A41-AC2F-A94E7D71C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14007-C9F1-D242-97D9-3CC31763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D975-83C3-EA4A-B701-2A995D8858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CE7AB-2D05-5C46-A749-0B028A2A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2587C-4EAC-3D4C-8269-4379E6E1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951D-B8D2-564E-9093-FC98AD34E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59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1:1)">
  <p:cSld name="Title; Body (1:1)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5249972" y="286322"/>
            <a:ext cx="34362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; Body">
  <p:cSld name="1_Title; 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pic>
        <p:nvPicPr>
          <p:cNvPr id="75" name="Google Shape;7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1:2)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1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24000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1"/>
          <p:cNvSpPr txBox="1">
            <a:spLocks noGrp="1"/>
          </p:cNvSpPr>
          <p:nvPr>
            <p:ph type="body" idx="1"/>
          </p:nvPr>
        </p:nvSpPr>
        <p:spPr>
          <a:xfrm>
            <a:off x="3886289" y="286322"/>
            <a:ext cx="48000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">
  <p:cSld name="Title;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2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pic>
        <p:nvPicPr>
          <p:cNvPr id="83" name="Google Shape;83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Body">
  <p:cSld name="Impact 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3"/>
          <p:cNvSpPr txBox="1">
            <a:spLocks noGrp="1"/>
          </p:cNvSpPr>
          <p:nvPr>
            <p:ph type="body" idx="1"/>
          </p:nvPr>
        </p:nvSpPr>
        <p:spPr>
          <a:xfrm>
            <a:off x="1829157" y="286322"/>
            <a:ext cx="5485800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3-Col Body 1:1:1">
  <p:cSld name="Title; 3-Col Body 1:1: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4"/>
          <p:cNvSpPr txBox="1">
            <a:spLocks noGrp="1"/>
          </p:cNvSpPr>
          <p:nvPr>
            <p:ph type="title"/>
          </p:nvPr>
        </p:nvSpPr>
        <p:spPr>
          <a:xfrm>
            <a:off x="457736" y="456057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body" idx="1"/>
          </p:nvPr>
        </p:nvSpPr>
        <p:spPr>
          <a:xfrm>
            <a:off x="800591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body" idx="2"/>
          </p:nvPr>
        </p:nvSpPr>
        <p:spPr>
          <a:xfrm>
            <a:off x="3543434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body" idx="3"/>
          </p:nvPr>
        </p:nvSpPr>
        <p:spPr>
          <a:xfrm>
            <a:off x="6286277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2-Col Body 1:1">
  <p:cSld name="Title; 2-Col Body 1: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457736" y="456057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800591" y="1369219"/>
            <a:ext cx="3428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4914855" y="1369219"/>
            <a:ext cx="3428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NX-Brand Slide">
  <p:cSld name="ONNX-Brand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6"/>
          <p:cNvSpPr txBox="1">
            <a:spLocks noGrp="1"/>
          </p:cNvSpPr>
          <p:nvPr>
            <p:ph type="title"/>
          </p:nvPr>
        </p:nvSpPr>
        <p:spPr>
          <a:xfrm>
            <a:off x="457736" y="3086100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8202" y="1543051"/>
            <a:ext cx="4199976" cy="104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6"/>
          <p:cNvSpPr txBox="1">
            <a:spLocks noGrp="1"/>
          </p:cNvSpPr>
          <p:nvPr>
            <p:ph type="body" idx="1"/>
          </p:nvPr>
        </p:nvSpPr>
        <p:spPr>
          <a:xfrm>
            <a:off x="457736" y="3703320"/>
            <a:ext cx="82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NX Tagline">
  <p:cSld name="ONNX Taglin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868" y="1714500"/>
            <a:ext cx="4114264" cy="10190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7"/>
          <p:cNvSpPr txBox="1"/>
          <p:nvPr/>
        </p:nvSpPr>
        <p:spPr>
          <a:xfrm>
            <a:off x="557140" y="4029075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new open ecosystem for interchangeable AI models.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7"/>
          <p:cNvSpPr txBox="1"/>
          <p:nvPr/>
        </p:nvSpPr>
        <p:spPr>
          <a:xfrm>
            <a:off x="457736" y="3429000"/>
            <a:ext cx="822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25" rIns="3427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Neural Network Exchange format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NX Closing Logo">
  <p:cSld name="ONNX Closing Log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9151" y="2189559"/>
            <a:ext cx="3085697" cy="76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9"/>
          <p:cNvSpPr txBox="1">
            <a:spLocks noGrp="1"/>
          </p:cNvSpPr>
          <p:nvPr>
            <p:ph type="ctrTitle"/>
          </p:nvPr>
        </p:nvSpPr>
        <p:spPr>
          <a:xfrm>
            <a:off x="1143000" y="1183005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9"/>
          <p:cNvSpPr txBox="1">
            <a:spLocks noGrp="1"/>
          </p:cNvSpPr>
          <p:nvPr>
            <p:ph type="subTitle" idx="1"/>
          </p:nvPr>
        </p:nvSpPr>
        <p:spPr>
          <a:xfrm>
            <a:off x="1143000" y="3086100"/>
            <a:ext cx="68580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3pPr>
            <a:lvl4pPr lvl="3" algn="ct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0" name="Google Shape;110;p69"/>
          <p:cNvSpPr txBox="1">
            <a:spLocks noGrp="1"/>
          </p:cNvSpPr>
          <p:nvPr>
            <p:ph type="body" idx="2"/>
          </p:nvPr>
        </p:nvSpPr>
        <p:spPr>
          <a:xfrm>
            <a:off x="3200578" y="3943350"/>
            <a:ext cx="27429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pic>
        <p:nvPicPr>
          <p:cNvPr id="111" name="Google Shape;111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0534" y="840105"/>
            <a:ext cx="702932" cy="685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; Body">
  <p:cSld name="1_Title; Body 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0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0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70"/>
          <p:cNvSpPr/>
          <p:nvPr/>
        </p:nvSpPr>
        <p:spPr>
          <a:xfrm>
            <a:off x="595" y="0"/>
            <a:ext cx="9142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Dark)">
  <p:cSld name="Title; Body (Dark)">
    <p:bg>
      <p:bgPr>
        <a:solidFill>
          <a:schemeClr val="dk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1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1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1:2)">
  <p:cSld name="Title; Body (1:2)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2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24000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72"/>
          <p:cNvSpPr txBox="1">
            <a:spLocks noGrp="1"/>
          </p:cNvSpPr>
          <p:nvPr>
            <p:ph type="body" idx="1"/>
          </p:nvPr>
        </p:nvSpPr>
        <p:spPr>
          <a:xfrm>
            <a:off x="3886289" y="286322"/>
            <a:ext cx="48000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(1:1)">
  <p:cSld name="Title; Body (1:1) 2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3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3"/>
          <p:cNvSpPr txBox="1">
            <a:spLocks noGrp="1"/>
          </p:cNvSpPr>
          <p:nvPr>
            <p:ph type="body" idx="1"/>
          </p:nvPr>
        </p:nvSpPr>
        <p:spPr>
          <a:xfrm>
            <a:off x="5249972" y="286322"/>
            <a:ext cx="34362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Body 1:1 (Dark)">
  <p:cSld name="Title; Body 1:1 (Dark)">
    <p:bg>
      <p:bgPr>
        <a:solidFill>
          <a:schemeClr val="dk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4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74"/>
          <p:cNvSpPr txBox="1">
            <a:spLocks noGrp="1"/>
          </p:cNvSpPr>
          <p:nvPr>
            <p:ph type="body" idx="1"/>
          </p:nvPr>
        </p:nvSpPr>
        <p:spPr>
          <a:xfrm>
            <a:off x="5249972" y="286322"/>
            <a:ext cx="34362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Body 2">
  <p:cSld name="Impact Body 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5"/>
          <p:cNvSpPr txBox="1">
            <a:spLocks noGrp="1"/>
          </p:cNvSpPr>
          <p:nvPr>
            <p:ph type="body" idx="1"/>
          </p:nvPr>
        </p:nvSpPr>
        <p:spPr>
          <a:xfrm>
            <a:off x="1143446" y="286322"/>
            <a:ext cx="6857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Body (Dark)">
  <p:cSld name="Impact Body (Dark)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6"/>
          <p:cNvSpPr txBox="1">
            <a:spLocks noGrp="1"/>
          </p:cNvSpPr>
          <p:nvPr>
            <p:ph type="body" idx="1"/>
          </p:nvPr>
        </p:nvSpPr>
        <p:spPr>
          <a:xfrm>
            <a:off x="1829157" y="286322"/>
            <a:ext cx="5485800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7"/>
          <p:cNvSpPr txBox="1">
            <a:spLocks noGrp="1"/>
          </p:cNvSpPr>
          <p:nvPr>
            <p:ph type="title"/>
          </p:nvPr>
        </p:nvSpPr>
        <p:spPr>
          <a:xfrm>
            <a:off x="628650" y="1885950"/>
            <a:ext cx="7886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500"/>
              <a:buNone/>
              <a:defRPr sz="15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300"/>
              <a:buNone/>
              <a:defRPr sz="13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(Dark)">
  <p:cSld name="Section Title (Dark)">
    <p:bg>
      <p:bgPr>
        <a:solidFill>
          <a:schemeClr val="dk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8"/>
          <p:cNvSpPr txBox="1">
            <a:spLocks noGrp="1"/>
          </p:cNvSpPr>
          <p:nvPr>
            <p:ph type="title"/>
          </p:nvPr>
        </p:nvSpPr>
        <p:spPr>
          <a:xfrm>
            <a:off x="628650" y="1885950"/>
            <a:ext cx="7886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Start">
  <p:cSld name="Timeline Star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9"/>
          <p:cNvSpPr txBox="1">
            <a:spLocks noGrp="1"/>
          </p:cNvSpPr>
          <p:nvPr>
            <p:ph type="title"/>
          </p:nvPr>
        </p:nvSpPr>
        <p:spPr>
          <a:xfrm>
            <a:off x="1371421" y="2228850"/>
            <a:ext cx="6857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79"/>
          <p:cNvSpPr txBox="1">
            <a:spLocks noGrp="1"/>
          </p:cNvSpPr>
          <p:nvPr>
            <p:ph type="body" idx="1"/>
          </p:nvPr>
        </p:nvSpPr>
        <p:spPr>
          <a:xfrm>
            <a:off x="1371421" y="3024188"/>
            <a:ext cx="6857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500"/>
              <a:buNone/>
              <a:defRPr sz="15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300"/>
              <a:buNone/>
              <a:defRPr sz="13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cxnSp>
        <p:nvCxnSpPr>
          <p:cNvPr id="142" name="Google Shape;142;p79"/>
          <p:cNvCxnSpPr/>
          <p:nvPr/>
        </p:nvCxnSpPr>
        <p:spPr>
          <a:xfrm>
            <a:off x="1139994" y="2486025"/>
            <a:ext cx="0" cy="27369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3" name="Google Shape;143;p79"/>
          <p:cNvGrpSpPr/>
          <p:nvPr/>
        </p:nvGrpSpPr>
        <p:grpSpPr>
          <a:xfrm>
            <a:off x="1054882" y="2443627"/>
            <a:ext cx="170550" cy="170550"/>
            <a:chOff x="2813020" y="6516340"/>
            <a:chExt cx="454800" cy="454800"/>
          </a:xfrm>
        </p:grpSpPr>
        <p:sp>
          <p:nvSpPr>
            <p:cNvPr id="144" name="Google Shape;144;p79"/>
            <p:cNvSpPr/>
            <p:nvPr/>
          </p:nvSpPr>
          <p:spPr>
            <a:xfrm>
              <a:off x="2813020" y="6516340"/>
              <a:ext cx="454800" cy="45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9"/>
            <p:cNvSpPr/>
            <p:nvPr/>
          </p:nvSpPr>
          <p:spPr>
            <a:xfrm>
              <a:off x="2926080" y="6629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Start (Dark)">
  <p:cSld name="Timeline Start (Dark)">
    <p:bg>
      <p:bgPr>
        <a:solidFill>
          <a:schemeClr val="dk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0"/>
          <p:cNvSpPr txBox="1">
            <a:spLocks noGrp="1"/>
          </p:cNvSpPr>
          <p:nvPr>
            <p:ph type="title"/>
          </p:nvPr>
        </p:nvSpPr>
        <p:spPr>
          <a:xfrm>
            <a:off x="1371421" y="2228850"/>
            <a:ext cx="6857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80"/>
          <p:cNvSpPr txBox="1">
            <a:spLocks noGrp="1"/>
          </p:cNvSpPr>
          <p:nvPr>
            <p:ph type="body" idx="1"/>
          </p:nvPr>
        </p:nvSpPr>
        <p:spPr>
          <a:xfrm>
            <a:off x="1371421" y="3024188"/>
            <a:ext cx="6857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49" name="Google Shape;149;p80"/>
          <p:cNvCxnSpPr/>
          <p:nvPr/>
        </p:nvCxnSpPr>
        <p:spPr>
          <a:xfrm>
            <a:off x="1139994" y="2486025"/>
            <a:ext cx="0" cy="27369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0" name="Google Shape;150;p80"/>
          <p:cNvGrpSpPr/>
          <p:nvPr/>
        </p:nvGrpSpPr>
        <p:grpSpPr>
          <a:xfrm>
            <a:off x="1054882" y="2443627"/>
            <a:ext cx="170550" cy="170550"/>
            <a:chOff x="2813020" y="6516340"/>
            <a:chExt cx="454800" cy="454800"/>
          </a:xfrm>
        </p:grpSpPr>
        <p:sp>
          <p:nvSpPr>
            <p:cNvPr id="151" name="Google Shape;151;p80"/>
            <p:cNvSpPr/>
            <p:nvPr/>
          </p:nvSpPr>
          <p:spPr>
            <a:xfrm>
              <a:off x="2813020" y="6516340"/>
              <a:ext cx="454800" cy="454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0"/>
            <p:cNvSpPr/>
            <p:nvPr/>
          </p:nvSpPr>
          <p:spPr>
            <a:xfrm>
              <a:off x="2926080" y="6629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Item">
  <p:cSld name="Timeline Item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1"/>
          <p:cNvSpPr txBox="1">
            <a:spLocks noGrp="1"/>
          </p:cNvSpPr>
          <p:nvPr>
            <p:ph type="title"/>
          </p:nvPr>
        </p:nvSpPr>
        <p:spPr>
          <a:xfrm>
            <a:off x="1371421" y="761238"/>
            <a:ext cx="6857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1"/>
          <p:cNvSpPr txBox="1">
            <a:spLocks noGrp="1"/>
          </p:cNvSpPr>
          <p:nvPr>
            <p:ph type="body" idx="1"/>
          </p:nvPr>
        </p:nvSpPr>
        <p:spPr>
          <a:xfrm>
            <a:off x="1371421" y="1159669"/>
            <a:ext cx="68571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500"/>
              <a:buNone/>
              <a:defRPr sz="15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300"/>
              <a:buNone/>
              <a:defRPr sz="13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cxnSp>
        <p:nvCxnSpPr>
          <p:cNvPr id="156" name="Google Shape;156;p81"/>
          <p:cNvCxnSpPr/>
          <p:nvPr/>
        </p:nvCxnSpPr>
        <p:spPr>
          <a:xfrm>
            <a:off x="1139994" y="-102870"/>
            <a:ext cx="0" cy="53256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7" name="Google Shape;157;p81"/>
          <p:cNvGrpSpPr/>
          <p:nvPr/>
        </p:nvGrpSpPr>
        <p:grpSpPr>
          <a:xfrm>
            <a:off x="1054882" y="854041"/>
            <a:ext cx="170550" cy="170550"/>
            <a:chOff x="2813020" y="2277443"/>
            <a:chExt cx="454800" cy="454800"/>
          </a:xfrm>
        </p:grpSpPr>
        <p:sp>
          <p:nvSpPr>
            <p:cNvPr id="158" name="Google Shape;158;p81"/>
            <p:cNvSpPr/>
            <p:nvPr/>
          </p:nvSpPr>
          <p:spPr>
            <a:xfrm>
              <a:off x="2813020" y="2277443"/>
              <a:ext cx="454800" cy="45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1"/>
            <p:cNvSpPr/>
            <p:nvPr/>
          </p:nvSpPr>
          <p:spPr>
            <a:xfrm>
              <a:off x="2926080" y="2390503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Item (Dark)">
  <p:cSld name="Timeline Item (Dark)">
    <p:bg>
      <p:bgPr>
        <a:solidFill>
          <a:schemeClr val="dk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1371421" y="761238"/>
            <a:ext cx="6857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body" idx="1"/>
          </p:nvPr>
        </p:nvSpPr>
        <p:spPr>
          <a:xfrm>
            <a:off x="1371421" y="1159669"/>
            <a:ext cx="68571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63" name="Google Shape;163;p82"/>
          <p:cNvCxnSpPr/>
          <p:nvPr/>
        </p:nvCxnSpPr>
        <p:spPr>
          <a:xfrm>
            <a:off x="1139994" y="-102870"/>
            <a:ext cx="0" cy="53256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4" name="Google Shape;164;p82"/>
          <p:cNvGrpSpPr/>
          <p:nvPr/>
        </p:nvGrpSpPr>
        <p:grpSpPr>
          <a:xfrm>
            <a:off x="1054882" y="854041"/>
            <a:ext cx="170550" cy="170550"/>
            <a:chOff x="2813020" y="2277443"/>
            <a:chExt cx="454800" cy="454800"/>
          </a:xfrm>
        </p:grpSpPr>
        <p:sp>
          <p:nvSpPr>
            <p:cNvPr id="165" name="Google Shape;165;p82"/>
            <p:cNvSpPr/>
            <p:nvPr/>
          </p:nvSpPr>
          <p:spPr>
            <a:xfrm>
              <a:off x="2813020" y="2277443"/>
              <a:ext cx="454800" cy="454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2"/>
            <p:cNvSpPr/>
            <p:nvPr/>
          </p:nvSpPr>
          <p:spPr>
            <a:xfrm>
              <a:off x="2926080" y="2390503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End">
  <p:cSld name="Timeline End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3"/>
          <p:cNvSpPr txBox="1">
            <a:spLocks noGrp="1"/>
          </p:cNvSpPr>
          <p:nvPr>
            <p:ph type="title"/>
          </p:nvPr>
        </p:nvSpPr>
        <p:spPr>
          <a:xfrm>
            <a:off x="1371421" y="761238"/>
            <a:ext cx="6857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83"/>
          <p:cNvSpPr txBox="1">
            <a:spLocks noGrp="1"/>
          </p:cNvSpPr>
          <p:nvPr>
            <p:ph type="body" idx="1"/>
          </p:nvPr>
        </p:nvSpPr>
        <p:spPr>
          <a:xfrm>
            <a:off x="1371421" y="1159669"/>
            <a:ext cx="68571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500"/>
              <a:buNone/>
              <a:defRPr sz="15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300"/>
              <a:buNone/>
              <a:defRPr sz="13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8D8D"/>
              </a:buClr>
              <a:buSzPts val="1200"/>
              <a:buNone/>
              <a:defRPr sz="12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cxnSp>
        <p:nvCxnSpPr>
          <p:cNvPr id="170" name="Google Shape;170;p83"/>
          <p:cNvCxnSpPr>
            <a:endCxn id="171" idx="0"/>
          </p:cNvCxnSpPr>
          <p:nvPr/>
        </p:nvCxnSpPr>
        <p:spPr>
          <a:xfrm>
            <a:off x="1140143" y="-102861"/>
            <a:ext cx="0" cy="9993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2" name="Google Shape;172;p83"/>
          <p:cNvGrpSpPr/>
          <p:nvPr/>
        </p:nvGrpSpPr>
        <p:grpSpPr>
          <a:xfrm>
            <a:off x="1054104" y="853263"/>
            <a:ext cx="172125" cy="172125"/>
            <a:chOff x="2810944" y="2275367"/>
            <a:chExt cx="459000" cy="459000"/>
          </a:xfrm>
        </p:grpSpPr>
        <p:sp>
          <p:nvSpPr>
            <p:cNvPr id="173" name="Google Shape;173;p83"/>
            <p:cNvSpPr/>
            <p:nvPr/>
          </p:nvSpPr>
          <p:spPr>
            <a:xfrm>
              <a:off x="2810944" y="2275367"/>
              <a:ext cx="459000" cy="459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3"/>
            <p:cNvSpPr/>
            <p:nvPr/>
          </p:nvSpPr>
          <p:spPr>
            <a:xfrm>
              <a:off x="2926080" y="2390503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End (Dark)">
  <p:cSld name="Timeline End (Dark)">
    <p:bg>
      <p:bgPr>
        <a:solidFill>
          <a:schemeClr val="dk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4"/>
          <p:cNvSpPr txBox="1">
            <a:spLocks noGrp="1"/>
          </p:cNvSpPr>
          <p:nvPr>
            <p:ph type="title"/>
          </p:nvPr>
        </p:nvSpPr>
        <p:spPr>
          <a:xfrm>
            <a:off x="1371421" y="761238"/>
            <a:ext cx="6857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84"/>
          <p:cNvSpPr txBox="1">
            <a:spLocks noGrp="1"/>
          </p:cNvSpPr>
          <p:nvPr>
            <p:ph type="body" idx="1"/>
          </p:nvPr>
        </p:nvSpPr>
        <p:spPr>
          <a:xfrm>
            <a:off x="1371421" y="1159669"/>
            <a:ext cx="68571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sz="2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77" name="Google Shape;177;p84"/>
          <p:cNvCxnSpPr>
            <a:endCxn id="178" idx="0"/>
          </p:cNvCxnSpPr>
          <p:nvPr/>
        </p:nvCxnSpPr>
        <p:spPr>
          <a:xfrm>
            <a:off x="1140143" y="-102861"/>
            <a:ext cx="0" cy="999300"/>
          </a:xfrm>
          <a:prstGeom prst="straightConnector1">
            <a:avLst/>
          </a:prstGeom>
          <a:noFill/>
          <a:ln w="508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9" name="Google Shape;179;p84"/>
          <p:cNvGrpSpPr/>
          <p:nvPr/>
        </p:nvGrpSpPr>
        <p:grpSpPr>
          <a:xfrm>
            <a:off x="1054104" y="853263"/>
            <a:ext cx="172125" cy="172125"/>
            <a:chOff x="2810944" y="2275367"/>
            <a:chExt cx="459000" cy="459000"/>
          </a:xfrm>
        </p:grpSpPr>
        <p:sp>
          <p:nvSpPr>
            <p:cNvPr id="180" name="Google Shape;180;p84"/>
            <p:cNvSpPr/>
            <p:nvPr/>
          </p:nvSpPr>
          <p:spPr>
            <a:xfrm>
              <a:off x="2810944" y="2275367"/>
              <a:ext cx="459000" cy="459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4"/>
            <p:cNvSpPr/>
            <p:nvPr/>
          </p:nvSpPr>
          <p:spPr>
            <a:xfrm>
              <a:off x="2926080" y="2390503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3-Col Body 1:1:1">
  <p:cSld name="Title; 3-Col Body 1:1:1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5"/>
          <p:cNvSpPr txBox="1">
            <a:spLocks noGrp="1"/>
          </p:cNvSpPr>
          <p:nvPr>
            <p:ph type="title"/>
          </p:nvPr>
        </p:nvSpPr>
        <p:spPr>
          <a:xfrm>
            <a:off x="457736" y="456057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85"/>
          <p:cNvSpPr txBox="1">
            <a:spLocks noGrp="1"/>
          </p:cNvSpPr>
          <p:nvPr>
            <p:ph type="body" idx="1"/>
          </p:nvPr>
        </p:nvSpPr>
        <p:spPr>
          <a:xfrm>
            <a:off x="800591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85"/>
          <p:cNvSpPr txBox="1">
            <a:spLocks noGrp="1"/>
          </p:cNvSpPr>
          <p:nvPr>
            <p:ph type="body" idx="2"/>
          </p:nvPr>
        </p:nvSpPr>
        <p:spPr>
          <a:xfrm>
            <a:off x="3543434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85"/>
          <p:cNvSpPr txBox="1">
            <a:spLocks noGrp="1"/>
          </p:cNvSpPr>
          <p:nvPr>
            <p:ph type="body" idx="3"/>
          </p:nvPr>
        </p:nvSpPr>
        <p:spPr>
          <a:xfrm>
            <a:off x="6286277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85"/>
          <p:cNvSpPr/>
          <p:nvPr/>
        </p:nvSpPr>
        <p:spPr>
          <a:xfrm>
            <a:off x="595" y="0"/>
            <a:ext cx="9142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; 3-Col Body 1:1:1 (Dark)">
  <p:cSld name="Title; 3-Col Body 1:1:1 (Dark)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6"/>
          <p:cNvSpPr txBox="1">
            <a:spLocks noGrp="1"/>
          </p:cNvSpPr>
          <p:nvPr>
            <p:ph type="title"/>
          </p:nvPr>
        </p:nvSpPr>
        <p:spPr>
          <a:xfrm>
            <a:off x="457736" y="456057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86"/>
          <p:cNvSpPr txBox="1">
            <a:spLocks noGrp="1"/>
          </p:cNvSpPr>
          <p:nvPr>
            <p:ph type="body" idx="1"/>
          </p:nvPr>
        </p:nvSpPr>
        <p:spPr>
          <a:xfrm>
            <a:off x="800591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86"/>
          <p:cNvSpPr txBox="1">
            <a:spLocks noGrp="1"/>
          </p:cNvSpPr>
          <p:nvPr>
            <p:ph type="body" idx="2"/>
          </p:nvPr>
        </p:nvSpPr>
        <p:spPr>
          <a:xfrm>
            <a:off x="3543434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86"/>
          <p:cNvSpPr txBox="1">
            <a:spLocks noGrp="1"/>
          </p:cNvSpPr>
          <p:nvPr>
            <p:ph type="body" idx="3"/>
          </p:nvPr>
        </p:nvSpPr>
        <p:spPr>
          <a:xfrm>
            <a:off x="6286277" y="1369219"/>
            <a:ext cx="2057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7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(Dark)">
  <p:cSld name="Title Only (Dark)">
    <p:bg>
      <p:bgPr>
        <a:solidFill>
          <a:schemeClr val="dk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8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Z Assets">
  <p:cSld name="ZZ Assets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90"/>
          <p:cNvGrpSpPr/>
          <p:nvPr/>
        </p:nvGrpSpPr>
        <p:grpSpPr>
          <a:xfrm>
            <a:off x="1392200" y="1159696"/>
            <a:ext cx="274275" cy="274275"/>
            <a:chOff x="3712533" y="3092523"/>
            <a:chExt cx="731400" cy="731400"/>
          </a:xfrm>
        </p:grpSpPr>
        <p:sp>
          <p:nvSpPr>
            <p:cNvPr id="200" name="Google Shape;200;p90"/>
            <p:cNvSpPr/>
            <p:nvPr/>
          </p:nvSpPr>
          <p:spPr>
            <a:xfrm>
              <a:off x="3895413" y="3321640"/>
              <a:ext cx="365717" cy="272796"/>
            </a:xfrm>
            <a:custGeom>
              <a:avLst/>
              <a:gdLst/>
              <a:ahLst/>
              <a:cxnLst/>
              <a:rect l="l" t="t" r="r" b="b"/>
              <a:pathLst>
                <a:path w="897466" h="609600" extrusionOk="0">
                  <a:moveTo>
                    <a:pt x="0" y="321734"/>
                  </a:moveTo>
                  <a:lnTo>
                    <a:pt x="287866" y="609600"/>
                  </a:lnTo>
                  <a:lnTo>
                    <a:pt x="897466" y="0"/>
                  </a:lnTo>
                </a:path>
              </a:pathLst>
            </a:custGeom>
            <a:noFill/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90"/>
            <p:cNvSpPr/>
            <p:nvPr/>
          </p:nvSpPr>
          <p:spPr>
            <a:xfrm>
              <a:off x="3712533" y="3092523"/>
              <a:ext cx="731400" cy="731400"/>
            </a:xfrm>
            <a:prstGeom prst="ellipse">
              <a:avLst/>
            </a:prstGeom>
            <a:noFill/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90"/>
          <p:cNvGrpSpPr/>
          <p:nvPr/>
        </p:nvGrpSpPr>
        <p:grpSpPr>
          <a:xfrm>
            <a:off x="2085974" y="1159696"/>
            <a:ext cx="274275" cy="274275"/>
            <a:chOff x="5562598" y="3092523"/>
            <a:chExt cx="731400" cy="731400"/>
          </a:xfrm>
        </p:grpSpPr>
        <p:sp>
          <p:nvSpPr>
            <p:cNvPr id="203" name="Google Shape;203;p90"/>
            <p:cNvSpPr/>
            <p:nvPr/>
          </p:nvSpPr>
          <p:spPr>
            <a:xfrm>
              <a:off x="5562598" y="3092523"/>
              <a:ext cx="731400" cy="731400"/>
            </a:xfrm>
            <a:prstGeom prst="ellipse">
              <a:avLst/>
            </a:prstGeom>
            <a:noFill/>
            <a:ln w="508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4275" tIns="17125" rIns="3427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" name="Google Shape;204;p90"/>
            <p:cNvGrpSpPr/>
            <p:nvPr/>
          </p:nvGrpSpPr>
          <p:grpSpPr>
            <a:xfrm>
              <a:off x="5791198" y="3321123"/>
              <a:ext cx="274320" cy="274200"/>
              <a:chOff x="5791198" y="3321123"/>
              <a:chExt cx="274320" cy="274200"/>
            </a:xfrm>
          </p:grpSpPr>
          <p:cxnSp>
            <p:nvCxnSpPr>
              <p:cNvPr id="205" name="Google Shape;205;p90"/>
              <p:cNvCxnSpPr/>
              <p:nvPr/>
            </p:nvCxnSpPr>
            <p:spPr>
              <a:xfrm>
                <a:off x="5791198" y="3321123"/>
                <a:ext cx="274200" cy="27420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90"/>
              <p:cNvCxnSpPr/>
              <p:nvPr/>
            </p:nvCxnSpPr>
            <p:spPr>
              <a:xfrm flipH="1">
                <a:off x="5791318" y="3321123"/>
                <a:ext cx="274200" cy="27420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207" name="Google Shape;207;p90"/>
          <p:cNvCxnSpPr/>
          <p:nvPr/>
        </p:nvCxnSpPr>
        <p:spPr>
          <a:xfrm>
            <a:off x="1392019" y="1853803"/>
            <a:ext cx="9678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8" name="Google Shape;208;p90"/>
          <p:cNvCxnSpPr/>
          <p:nvPr/>
        </p:nvCxnSpPr>
        <p:spPr>
          <a:xfrm>
            <a:off x="1392019" y="2089547"/>
            <a:ext cx="9678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NNX-Title Slide">
  <p:cSld name="1_ONNX-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1"/>
          <p:cNvSpPr txBox="1">
            <a:spLocks noGrp="1"/>
          </p:cNvSpPr>
          <p:nvPr>
            <p:ph type="title"/>
          </p:nvPr>
        </p:nvSpPr>
        <p:spPr>
          <a:xfrm>
            <a:off x="457736" y="2400300"/>
            <a:ext cx="82284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pic>
        <p:nvPicPr>
          <p:cNvPr id="211" name="Google Shape;211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2668" y="1028700"/>
            <a:ext cx="878664" cy="857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1"/>
          <p:cNvSpPr txBox="1">
            <a:spLocks noGrp="1"/>
          </p:cNvSpPr>
          <p:nvPr>
            <p:ph type="body" idx="1"/>
          </p:nvPr>
        </p:nvSpPr>
        <p:spPr>
          <a:xfrm>
            <a:off x="3543434" y="3960495"/>
            <a:ext cx="20571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NNX Partners (Dark)">
  <p:cSld name="1_ONNX Partners (Dark)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08" cy="514282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2"/>
          <p:cNvSpPr txBox="1"/>
          <p:nvPr/>
        </p:nvSpPr>
        <p:spPr>
          <a:xfrm>
            <a:off x="457736" y="456057"/>
            <a:ext cx="82284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ONNX  </a:t>
            </a:r>
            <a:r>
              <a:rPr lang="en"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Partners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5796" y="462255"/>
            <a:ext cx="1605317" cy="39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7682" y="1746995"/>
            <a:ext cx="2412426" cy="773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1298" y="1873755"/>
            <a:ext cx="2479248" cy="52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1544" y="1798744"/>
            <a:ext cx="1403717" cy="838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92"/>
          <p:cNvCxnSpPr/>
          <p:nvPr/>
        </p:nvCxnSpPr>
        <p:spPr>
          <a:xfrm>
            <a:off x="3886289" y="1066587"/>
            <a:ext cx="1371300" cy="0"/>
          </a:xfrm>
          <a:prstGeom prst="straightConnector1">
            <a:avLst/>
          </a:prstGeom>
          <a:noFill/>
          <a:ln w="50800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1" name="Google Shape;221;p9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0042" y="3169087"/>
            <a:ext cx="928573" cy="221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26983" y="3168819"/>
            <a:ext cx="728129" cy="221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9020" y="3970300"/>
            <a:ext cx="1352740" cy="29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54035" y="3134058"/>
            <a:ext cx="728613" cy="291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28924" y="3968256"/>
            <a:ext cx="1199993" cy="29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61386" y="3022625"/>
            <a:ext cx="514285" cy="514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9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2988" y="3896312"/>
            <a:ext cx="672611" cy="443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92243" y="4007647"/>
            <a:ext cx="1202144" cy="221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9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257711" y="3960311"/>
            <a:ext cx="1387983" cy="31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2"/>
          <p:cNvPicPr preferRelativeResize="0"/>
          <p:nvPr/>
        </p:nvPicPr>
        <p:blipFill rotWithShape="1">
          <a:blip r:embed="rId16">
            <a:alphaModFix/>
          </a:blip>
          <a:srcRect l="7209" r="6965"/>
          <a:stretch/>
        </p:blipFill>
        <p:spPr>
          <a:xfrm>
            <a:off x="4133477" y="2976271"/>
            <a:ext cx="1349542" cy="60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ragraph Subtitle">
  <p:cSld name="Paragraph Subtitle"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3"/>
          <p:cNvSpPr txBox="1">
            <a:spLocks noGrp="1"/>
          </p:cNvSpPr>
          <p:nvPr>
            <p:ph type="body" idx="1"/>
          </p:nvPr>
        </p:nvSpPr>
        <p:spPr>
          <a:xfrm>
            <a:off x="571500" y="1809750"/>
            <a:ext cx="8001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5998"/>
              </a:buClr>
              <a:buSzPts val="2600"/>
              <a:buFont typeface="Arial"/>
              <a:buNone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735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385998"/>
              </a:buClr>
              <a:buSzPts val="2500"/>
              <a:buFont typeface="Arial"/>
              <a:buChar char="•"/>
              <a:defRPr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683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385998"/>
              </a:buClr>
              <a:buSzPts val="2200"/>
              <a:buFont typeface="Arial"/>
              <a:buChar char="•"/>
              <a:defRPr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385998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385998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93"/>
          <p:cNvSpPr txBox="1">
            <a:spLocks noGrp="1"/>
          </p:cNvSpPr>
          <p:nvPr>
            <p:ph type="title"/>
          </p:nvPr>
        </p:nvSpPr>
        <p:spPr>
          <a:xfrm>
            <a:off x="571500" y="390525"/>
            <a:ext cx="80010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Arial"/>
              <a:buNone/>
              <a:defRPr sz="3700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93"/>
          <p:cNvSpPr txBox="1">
            <a:spLocks noGrp="1"/>
          </p:cNvSpPr>
          <p:nvPr>
            <p:ph type="body" idx="2"/>
          </p:nvPr>
        </p:nvSpPr>
        <p:spPr>
          <a:xfrm>
            <a:off x="571500" y="1095375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5890FF"/>
              </a:buClr>
              <a:buSzPts val="2200"/>
              <a:buNone/>
              <a:defRPr sz="2200">
                <a:solidFill>
                  <a:srgbClr val="589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5890FF"/>
              </a:buClr>
              <a:buSzPts val="2200"/>
              <a:buNone/>
              <a:defRPr sz="2200">
                <a:solidFill>
                  <a:srgbClr val="589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5890FF"/>
              </a:buClr>
              <a:buSzPts val="2200"/>
              <a:buNone/>
              <a:defRPr sz="2200">
                <a:solidFill>
                  <a:srgbClr val="589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5890FF"/>
              </a:buClr>
              <a:buSzPts val="2200"/>
              <a:buNone/>
              <a:defRPr sz="2200">
                <a:solidFill>
                  <a:srgbClr val="589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4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94"/>
          <p:cNvSpPr txBox="1">
            <a:spLocks noGrp="1"/>
          </p:cNvSpPr>
          <p:nvPr>
            <p:ph type="body" idx="1"/>
          </p:nvPr>
        </p:nvSpPr>
        <p:spPr>
          <a:xfrm>
            <a:off x="438150" y="1076623"/>
            <a:ext cx="8263800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marL="914400" lvl="1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marL="1371600" lvl="2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marL="1828800" lvl="3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marL="2286000" lvl="4" indent="-22860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marL="2743200" lvl="5" indent="-27305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77">
          <p15:clr>
            <a:srgbClr val="5ACBF0"/>
          </p15:clr>
        </p15:guide>
        <p15:guide id="2" orient="horz" pos="108">
          <p15:clr>
            <a:srgbClr val="5ACBF0"/>
          </p15:clr>
        </p15:guide>
        <p15:guide id="3" orient="horz" pos="33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70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73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62886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intel.com/content/www/us/en/products/overview.html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fai.foundation/blog/2020/09/24/lf-ai-day-onnx-community-virtual-meetup-fall-202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linuxfoundation.org/lf-ai-data-day-onnx-community-virtual-meetup-spring/program/schedul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alexeichenberger/" TargetMode="External"/><Relationship Id="rId5" Type="http://schemas.openxmlformats.org/officeDocument/2006/relationships/hyperlink" Target="https://www.linkedin.com/in/wenming-ye-0170b11/" TargetMode="External"/><Relationship Id="rId4" Type="http://schemas.openxmlformats.org/officeDocument/2006/relationships/hyperlink" Target="https://www.linkedin.com/in/rajeev-nalawadi-6bbb495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kiefer-k-34963729/" TargetMode="External"/><Relationship Id="rId3" Type="http://schemas.openxmlformats.org/officeDocument/2006/relationships/hyperlink" Target="https://events.linuxfoundation.org/lf-ai-data-day-onnx-community-virtual-meetup-spring/program/schedule/" TargetMode="External"/><Relationship Id="rId7" Type="http://schemas.openxmlformats.org/officeDocument/2006/relationships/hyperlink" Target="https://www.linkedin.com/in/gavin-huangzhipeng/" TargetMode="External"/><Relationship Id="rId12" Type="http://schemas.openxmlformats.org/officeDocument/2006/relationships/hyperlink" Target="https://www.linkedin.com/in/ashwini-khade-0266541a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andrewmsica/" TargetMode="External"/><Relationship Id="rId11" Type="http://schemas.openxmlformats.org/officeDocument/2006/relationships/hyperlink" Target="https://www.linkedin.com/in/binarybana/" TargetMode="External"/><Relationship Id="rId5" Type="http://schemas.openxmlformats.org/officeDocument/2006/relationships/hyperlink" Target="https://www.linkedin.com/in/elpidatzortzatos/" TargetMode="External"/><Relationship Id="rId10" Type="http://schemas.openxmlformats.org/officeDocument/2006/relationships/hyperlink" Target="https://www.linkedin.com/in/srikrishnamurthy/" TargetMode="External"/><Relationship Id="rId4" Type="http://schemas.openxmlformats.org/officeDocument/2006/relationships/hyperlink" Target="https://www.linkedin.com/in/haixuan-xavier-tao-7460b1102/" TargetMode="External"/><Relationship Id="rId9" Type="http://schemas.openxmlformats.org/officeDocument/2006/relationships/hyperlink" Target="https://www.linkedin.com/in/ti-zhou-57216531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guentherschmuelling/" TargetMode="External"/><Relationship Id="rId3" Type="http://schemas.openxmlformats.org/officeDocument/2006/relationships/hyperlink" Target="https://events.linuxfoundation.org/lf-ai-data-day-onnx-community-virtual-meetup-spring/program/schedule/" TargetMode="External"/><Relationship Id="rId7" Type="http://schemas.openxmlformats.org/officeDocument/2006/relationships/hyperlink" Target="https://github.com/chinhuang00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g-ramalingam-637b0511/" TargetMode="External"/><Relationship Id="rId5" Type="http://schemas.openxmlformats.org/officeDocument/2006/relationships/hyperlink" Target="https://www.linkedin.com/in/micha%C5%82-karzy%C5%84ski-ba37a79/" TargetMode="External"/><Relationship Id="rId10" Type="http://schemas.openxmlformats.org/officeDocument/2006/relationships/hyperlink" Target="https://www.linkedin.com/in/jantonguirao/" TargetMode="External"/><Relationship Id="rId4" Type="http://schemas.openxmlformats.org/officeDocument/2006/relationships/hyperlink" Target="https://www.linkedin.com/in/ashwini-khade-0266541a/" TargetMode="External"/><Relationship Id="rId9" Type="http://schemas.openxmlformats.org/officeDocument/2006/relationships/hyperlink" Target="https://www.linkedin.com/in/mark-t-hamilto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42" Type="http://schemas.openxmlformats.org/officeDocument/2006/relationships/image" Target="../media/image68.png"/><Relationship Id="rId47" Type="http://schemas.openxmlformats.org/officeDocument/2006/relationships/image" Target="../media/image73.png"/><Relationship Id="rId50" Type="http://schemas.openxmlformats.org/officeDocument/2006/relationships/image" Target="../media/image76.png"/><Relationship Id="rId55" Type="http://schemas.openxmlformats.org/officeDocument/2006/relationships/image" Target="../media/image8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46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3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41" Type="http://schemas.openxmlformats.org/officeDocument/2006/relationships/image" Target="../media/image67.png"/><Relationship Id="rId54" Type="http://schemas.openxmlformats.org/officeDocument/2006/relationships/image" Target="../media/image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71.png"/><Relationship Id="rId53" Type="http://schemas.openxmlformats.org/officeDocument/2006/relationships/image" Target="../media/image79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jpg"/><Relationship Id="rId49" Type="http://schemas.openxmlformats.org/officeDocument/2006/relationships/image" Target="../media/image75.png"/><Relationship Id="rId10" Type="http://schemas.openxmlformats.org/officeDocument/2006/relationships/image" Target="../media/image37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4" Type="http://schemas.openxmlformats.org/officeDocument/2006/relationships/image" Target="../media/image70.png"/><Relationship Id="rId52" Type="http://schemas.openxmlformats.org/officeDocument/2006/relationships/image" Target="../media/image7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image" Target="../media/image74.png"/><Relationship Id="rId8" Type="http://schemas.openxmlformats.org/officeDocument/2006/relationships/image" Target="../media/image35.png"/><Relationship Id="rId51" Type="http://schemas.openxmlformats.org/officeDocument/2006/relationships/image" Target="../media/image77.png"/><Relationship Id="rId3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steering-committe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onnx/sig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nnx/releases/tag/v1.10.0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kiefer-k-34963729/" TargetMode="External"/><Relationship Id="rId3" Type="http://schemas.openxmlformats.org/officeDocument/2006/relationships/hyperlink" Target="https://events.linuxfoundation.org/lf-ai-data-day-onnx-community-virtual-meetup-spring/program/schedule/" TargetMode="External"/><Relationship Id="rId7" Type="http://schemas.openxmlformats.org/officeDocument/2006/relationships/hyperlink" Target="https://www.linkedin.com/in/gavin-huangzhipeng/" TargetMode="External"/><Relationship Id="rId12" Type="http://schemas.openxmlformats.org/officeDocument/2006/relationships/hyperlink" Target="https://www.linkedin.com/in/ashwini-khade-0266541a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linkedin.com/in/andrewmsica/" TargetMode="External"/><Relationship Id="rId11" Type="http://schemas.openxmlformats.org/officeDocument/2006/relationships/hyperlink" Target="https://www.linkedin.com/in/binarybana/" TargetMode="External"/><Relationship Id="rId5" Type="http://schemas.openxmlformats.org/officeDocument/2006/relationships/hyperlink" Target="https://www.linkedin.com/in/elpidatzortzatos/" TargetMode="External"/><Relationship Id="rId10" Type="http://schemas.openxmlformats.org/officeDocument/2006/relationships/hyperlink" Target="https://www.linkedin.com/in/srikrishnamurthy/" TargetMode="External"/><Relationship Id="rId4" Type="http://schemas.openxmlformats.org/officeDocument/2006/relationships/hyperlink" Target="https://www.linkedin.com/in/haixuan-xavier-tao-7460b1102/" TargetMode="External"/><Relationship Id="rId9" Type="http://schemas.openxmlformats.org/officeDocument/2006/relationships/hyperlink" Target="https://www.linkedin.com/in/ti-zhou-57216531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guentherschmuelling/" TargetMode="External"/><Relationship Id="rId3" Type="http://schemas.openxmlformats.org/officeDocument/2006/relationships/hyperlink" Target="https://events.linuxfoundation.org/lf-ai-data-day-onnx-community-virtual-meetup-spring/program/schedule/" TargetMode="External"/><Relationship Id="rId7" Type="http://schemas.openxmlformats.org/officeDocument/2006/relationships/hyperlink" Target="https://github.com/chinhuang007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g-ramalingam-637b0511/" TargetMode="External"/><Relationship Id="rId5" Type="http://schemas.openxmlformats.org/officeDocument/2006/relationships/hyperlink" Target="https://www.linkedin.com/in/micha%C5%82-karzy%C5%84ski-ba37a79/" TargetMode="External"/><Relationship Id="rId4" Type="http://schemas.openxmlformats.org/officeDocument/2006/relationships/hyperlink" Target="https://www.linkedin.com/in/ashwini-khade-0266541a/" TargetMode="External"/><Relationship Id="rId9" Type="http://schemas.openxmlformats.org/officeDocument/2006/relationships/hyperlink" Target="https://www.linkedin.com/in/jantonguirao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nnx.ai/" TargetMode="External"/><Relationship Id="rId7" Type="http://schemas.openxmlformats.org/officeDocument/2006/relationships/hyperlink" Target="https://lists.lfai.foundation/g/onnx-announc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onnx.ai/calendar" TargetMode="External"/><Relationship Id="rId5" Type="http://schemas.openxmlformats.org/officeDocument/2006/relationships/hyperlink" Target="https://slack.lfai.foundation" TargetMode="External"/><Relationship Id="rId4" Type="http://schemas.openxmlformats.org/officeDocument/2006/relationships/hyperlink" Target="https://github.com/onn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48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1"/>
          <p:cNvCxnSpPr/>
          <p:nvPr/>
        </p:nvCxnSpPr>
        <p:spPr>
          <a:xfrm>
            <a:off x="5718181" y="2104275"/>
            <a:ext cx="0" cy="92790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p1"/>
          <p:cNvSpPr txBox="1"/>
          <p:nvPr/>
        </p:nvSpPr>
        <p:spPr>
          <a:xfrm>
            <a:off x="6063149" y="1923175"/>
            <a:ext cx="25878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endParaRPr sz="3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dirty="0">
                <a:solidFill>
                  <a:srgbClr val="FFFFFF"/>
                </a:solidFill>
              </a:rPr>
              <a:t>10/21</a:t>
            </a:r>
            <a:r>
              <a:rPr lang="en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/2021</a:t>
            </a:r>
            <a:endParaRPr sz="3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75" y="2005394"/>
            <a:ext cx="4629824" cy="114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"/>
          <p:cNvSpPr txBox="1">
            <a:spLocks noGrp="1"/>
          </p:cNvSpPr>
          <p:nvPr>
            <p:ph type="body" idx="1"/>
          </p:nvPr>
        </p:nvSpPr>
        <p:spPr>
          <a:xfrm>
            <a:off x="5199178" y="1096210"/>
            <a:ext cx="34362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Welcome!</a:t>
            </a:r>
            <a:endParaRPr sz="3400"/>
          </a:p>
        </p:txBody>
      </p:sp>
      <p:cxnSp>
        <p:nvCxnSpPr>
          <p:cNvPr id="251" name="Google Shape;251;p2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2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5" cy="75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48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 txBox="1">
            <a:spLocks noGrp="1"/>
          </p:cNvSpPr>
          <p:nvPr>
            <p:ph type="title"/>
          </p:nvPr>
        </p:nvSpPr>
        <p:spPr>
          <a:xfrm>
            <a:off x="131818" y="118989"/>
            <a:ext cx="8520600" cy="101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FFFFFF"/>
                </a:solidFill>
              </a:rPr>
              <a:t>Welcome Message from Host </a:t>
            </a:r>
            <a:br>
              <a:rPr lang="en" dirty="0">
                <a:solidFill>
                  <a:srgbClr val="FFFFFF"/>
                </a:solidFill>
              </a:rPr>
            </a:br>
            <a:r>
              <a:rPr lang="en" dirty="0">
                <a:solidFill>
                  <a:srgbClr val="FFFFFF"/>
                </a:solidFill>
              </a:rPr>
              <a:t>Rajeev Nalawadi and Intel </a:t>
            </a:r>
            <a:br>
              <a:rPr lang="en" dirty="0">
                <a:solidFill>
                  <a:srgbClr val="FFFFFF"/>
                </a:solidFill>
              </a:rPr>
            </a:b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7101A-7121-4E92-ABF0-E8253F6B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1757"/>
            <a:ext cx="9144000" cy="2625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3344B9-5944-4CAF-BC24-6856EC39E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273" y="3840517"/>
            <a:ext cx="1314216" cy="1302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F61B47-A6F5-425B-9ABD-5C180DEB4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85807"/>
            <a:ext cx="2824773" cy="13576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B1419B-0E31-47D2-8AB9-347C8DBA9685}"/>
              </a:ext>
            </a:extLst>
          </p:cNvPr>
          <p:cNvSpPr txBox="1"/>
          <p:nvPr/>
        </p:nvSpPr>
        <p:spPr>
          <a:xfrm>
            <a:off x="3087973" y="403180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Products Link:</a:t>
            </a:r>
            <a:r>
              <a:rPr lang="en-US" sz="1400" u="sng" dirty="0">
                <a:solidFill>
                  <a:srgbClr val="0097A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</a:p>
          <a:p>
            <a:r>
              <a:rPr lang="en-US" sz="1400" u="sng" dirty="0">
                <a:solidFill>
                  <a:srgbClr val="0097A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Intel® Products: Processors, Intel® NUC, Memory and Storage, Chipsets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48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FF"/>
                </a:solidFill>
              </a:rPr>
              <a:t>Disclaimer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9" name="Google Shape;269;p3"/>
          <p:cNvSpPr/>
          <p:nvPr/>
        </p:nvSpPr>
        <p:spPr>
          <a:xfrm>
            <a:off x="551050" y="1027350"/>
            <a:ext cx="7911900" cy="3550200"/>
          </a:xfrm>
          <a:prstGeom prst="roundRect">
            <a:avLst>
              <a:gd name="adj" fmla="val 33403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 workshop presentations, SIG/WG sessions will be recorded and made available publicly afterwards. </a:t>
            </a: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275" name="Google Shape;275;p5"/>
          <p:cNvSpPr txBox="1">
            <a:spLocks noGrp="1"/>
          </p:cNvSpPr>
          <p:nvPr>
            <p:ph type="body" idx="1"/>
          </p:nvPr>
        </p:nvSpPr>
        <p:spPr>
          <a:xfrm>
            <a:off x="457736" y="1369219"/>
            <a:ext cx="8228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Host of Zoom Meeting will share the slides on screen and record all presentations.  </a:t>
            </a:r>
            <a:endParaRPr sz="2000" dirty="0"/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All participants will be muted except when presenting.</a:t>
            </a:r>
            <a:endParaRPr sz="2000" dirty="0"/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Questions should be posted in the Slack “</a:t>
            </a:r>
            <a:r>
              <a:rPr lang="en" sz="2000" dirty="0" err="1"/>
              <a:t>onnx</a:t>
            </a:r>
            <a:r>
              <a:rPr lang="en" sz="2000" dirty="0"/>
              <a:t>-general”</a:t>
            </a:r>
            <a:endParaRPr sz="2000" dirty="0"/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Please “raise hand” (Zoom feature) if you would like to speak and engage in the discussion.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Goals for the Workshop</a:t>
            </a:r>
            <a:endParaRPr/>
          </a:p>
        </p:txBody>
      </p:sp>
      <p:sp>
        <p:nvSpPr>
          <p:cNvPr id="281" name="Google Shape;281;p6"/>
          <p:cNvSpPr txBox="1">
            <a:spLocks noGrp="1"/>
          </p:cNvSpPr>
          <p:nvPr>
            <p:ph type="body" idx="1"/>
          </p:nvPr>
        </p:nvSpPr>
        <p:spPr>
          <a:xfrm>
            <a:off x="457725" y="1369225"/>
            <a:ext cx="8518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Get the latest updates on ONNX - Processes, Roadmap Releases, and SIGs/WGs</a:t>
            </a:r>
            <a:endParaRPr sz="2400"/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Learn from the community and how ONNX is being used</a:t>
            </a:r>
            <a:endParaRPr sz="2400"/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Share feedback on what is working (and what isn’t)</a:t>
            </a:r>
            <a:endParaRPr sz="2400"/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Learn how to get more involved with ONNX Steering Committee, SIGs and Working Groups</a:t>
            </a:r>
            <a:endParaRPr sz="2400"/>
          </a:p>
          <a:p>
            <a:pPr marL="457200" marR="0" lvl="0" indent="0" algn="l" rtl="0">
              <a:lnSpc>
                <a:spcPct val="130000"/>
              </a:lnSpc>
              <a:spcBef>
                <a:spcPts val="1800"/>
              </a:spcBef>
              <a:spcAft>
                <a:spcPts val="1800"/>
              </a:spcAft>
              <a:buSzPts val="700"/>
              <a:buNone/>
            </a:pP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Agenda</a:t>
            </a:r>
            <a:r>
              <a:rPr lang="en"/>
              <a:t> -1</a:t>
            </a:r>
            <a:endParaRPr/>
          </a:p>
        </p:txBody>
      </p:sp>
      <p:graphicFrame>
        <p:nvGraphicFramePr>
          <p:cNvPr id="287" name="Google Shape;287;p7"/>
          <p:cNvGraphicFramePr/>
          <p:nvPr>
            <p:extLst>
              <p:ext uri="{D42A27DB-BD31-4B8C-83A1-F6EECF244321}">
                <p14:modId xmlns:p14="http://schemas.microsoft.com/office/powerpoint/2010/main" val="102916241"/>
              </p:ext>
            </p:extLst>
          </p:nvPr>
        </p:nvGraphicFramePr>
        <p:xfrm>
          <a:off x="457725" y="1111250"/>
          <a:ext cx="2806775" cy="34290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76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ONNX SC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8:15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Community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Break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SIG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11:00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Wrap Up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8" name="Google Shape;288;p7"/>
          <p:cNvGraphicFramePr/>
          <p:nvPr>
            <p:extLst>
              <p:ext uri="{D42A27DB-BD31-4B8C-83A1-F6EECF244321}">
                <p14:modId xmlns:p14="http://schemas.microsoft.com/office/powerpoint/2010/main" val="1909994801"/>
              </p:ext>
            </p:extLst>
          </p:nvPr>
        </p:nvGraphicFramePr>
        <p:xfrm>
          <a:off x="3751350" y="590550"/>
          <a:ext cx="5392650" cy="219447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228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hlinkClick r:id="rId4"/>
                        </a:rPr>
                        <a:t>Rajeev </a:t>
                      </a:r>
                      <a:r>
                        <a:rPr lang="en-US" sz="1200" u="none" strike="noStrike" cap="none" dirty="0" err="1">
                          <a:hlinkClick r:id="rId4"/>
                        </a:rPr>
                        <a:t>Nalawadi</a:t>
                      </a:r>
                      <a:r>
                        <a:rPr lang="en-US" sz="1200" u="none" strike="noStrike" cap="none" dirty="0">
                          <a:hlinkClick r:id="rId4"/>
                        </a:rPr>
                        <a:t> (Intel)</a:t>
                      </a:r>
                      <a:endParaRPr sz="12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Logistics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Goals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Agenda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 err="1">
                          <a:hlinkClick r:id="rId5"/>
                        </a:rPr>
                        <a:t>Wenming</a:t>
                      </a:r>
                      <a:r>
                        <a:rPr lang="en-US" sz="1200" u="none" strike="noStrike" cap="none" dirty="0">
                          <a:hlinkClick r:id="rId5"/>
                        </a:rPr>
                        <a:t> Ye (Amazon)</a:t>
                      </a:r>
                      <a:endParaRPr sz="1200" u="none" strike="noStrike" cap="none" dirty="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State of the State: ONNX Growth &amp; Governance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cap="none" dirty="0">
                          <a:hlinkClick r:id="rId6"/>
                        </a:rPr>
                        <a:t>Alexandre </a:t>
                      </a:r>
                      <a:r>
                        <a:rPr lang="en-US" sz="1200" u="none" strike="noStrike" cap="none" dirty="0" err="1">
                          <a:hlinkClick r:id="rId6"/>
                        </a:rPr>
                        <a:t>Eichenberger</a:t>
                      </a:r>
                      <a:r>
                        <a:rPr lang="en-US" sz="1200" u="none" strike="noStrike" cap="none" dirty="0">
                          <a:hlinkClick r:id="rId6"/>
                        </a:rPr>
                        <a:t> (IBM)</a:t>
                      </a:r>
                      <a:endParaRPr lang="en-US" sz="12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Roadmap &amp; Releases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89" name="Google Shape;289;p7"/>
          <p:cNvCxnSpPr/>
          <p:nvPr/>
        </p:nvCxnSpPr>
        <p:spPr>
          <a:xfrm rot="10800000" flipH="1">
            <a:off x="3264500" y="615950"/>
            <a:ext cx="484200" cy="49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7"/>
          <p:cNvCxnSpPr/>
          <p:nvPr/>
        </p:nvCxnSpPr>
        <p:spPr>
          <a:xfrm>
            <a:off x="3266025" y="2254250"/>
            <a:ext cx="484800" cy="39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Agenda</a:t>
            </a:r>
            <a:r>
              <a:rPr lang="en" dirty="0"/>
              <a:t> - 2</a:t>
            </a:r>
            <a:endParaRPr dirty="0"/>
          </a:p>
        </p:txBody>
      </p:sp>
      <p:graphicFrame>
        <p:nvGraphicFramePr>
          <p:cNvPr id="296" name="Google Shape;296;p8"/>
          <p:cNvGraphicFramePr/>
          <p:nvPr>
            <p:extLst>
              <p:ext uri="{D42A27DB-BD31-4B8C-83A1-F6EECF244321}">
                <p14:modId xmlns:p14="http://schemas.microsoft.com/office/powerpoint/2010/main" val="570168218"/>
              </p:ext>
            </p:extLst>
          </p:nvPr>
        </p:nvGraphicFramePr>
        <p:xfrm>
          <a:off x="3706590" y="412750"/>
          <a:ext cx="5392650" cy="461753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196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/>
                        <a:t>Emma Ning (Microsoft)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Runtime Web: running your machine learning model in browser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4"/>
                        </a:rPr>
                        <a:t>Haixuan</a:t>
                      </a:r>
                      <a:r>
                        <a:rPr lang="en-US" sz="800" dirty="0">
                          <a:hlinkClick r:id="rId4"/>
                        </a:rPr>
                        <a:t> Xavier Tao ( Banque France)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as standard format for institution with legacy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5"/>
                        </a:rPr>
                        <a:t>Elpida Tzortzatos (IBM)</a:t>
                      </a:r>
                      <a:r>
                        <a:rPr lang="en-US" sz="800" dirty="0"/>
                        <a:t>&amp; </a:t>
                      </a:r>
                      <a:r>
                        <a:rPr lang="en-US" sz="800" dirty="0">
                          <a:hlinkClick r:id="rId6"/>
                        </a:rPr>
                        <a:t>Andrew M. </a:t>
                      </a:r>
                      <a:r>
                        <a:rPr lang="en-US" sz="800" dirty="0" err="1">
                          <a:hlinkClick r:id="rId6"/>
                        </a:rPr>
                        <a:t>Sica</a:t>
                      </a:r>
                      <a:r>
                        <a:rPr lang="en-US" sz="800" dirty="0">
                          <a:hlinkClick r:id="rId6"/>
                        </a:rPr>
                        <a:t> (IBM)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and the AI on IBM Z client journey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/>
                        <a:t>Mengni</a:t>
                      </a:r>
                      <a:r>
                        <a:rPr lang="en-US" sz="800" dirty="0"/>
                        <a:t> Wang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Intel® Neural Compressor: A Scalable Quantization Tool for ONNX Models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7"/>
                        </a:rPr>
                        <a:t>Zhipeng</a:t>
                      </a:r>
                      <a:r>
                        <a:rPr lang="en-US" sz="800" dirty="0">
                          <a:hlinkClick r:id="rId7"/>
                        </a:rPr>
                        <a:t> Huang (Huawei)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Ascend CANN and ONNX : inference interoperability for better performance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8"/>
                        </a:rPr>
                        <a:t>Kiefer </a:t>
                      </a:r>
                      <a:r>
                        <a:rPr lang="en-US" sz="800" dirty="0" err="1">
                          <a:hlinkClick r:id="rId8"/>
                        </a:rPr>
                        <a:t>Kuah</a:t>
                      </a:r>
                      <a:r>
                        <a:rPr lang="en-US" sz="800" dirty="0">
                          <a:hlinkClick r:id="rId8"/>
                        </a:rPr>
                        <a:t>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Intel® </a:t>
                      </a:r>
                      <a:r>
                        <a:rPr lang="en-US" sz="800" dirty="0" err="1"/>
                        <a:t>OneAPI</a:t>
                      </a:r>
                      <a:r>
                        <a:rPr lang="en-US" sz="800" dirty="0"/>
                        <a:t> software stack: ONNX Support for </a:t>
                      </a:r>
                      <a:r>
                        <a:rPr lang="en-US" sz="800" dirty="0" err="1"/>
                        <a:t>xPU</a:t>
                      </a:r>
                      <a:r>
                        <a:rPr lang="en-US" sz="800" dirty="0"/>
                        <a:t> hardware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9"/>
                        </a:rPr>
                        <a:t>Ti</a:t>
                      </a:r>
                      <a:r>
                        <a:rPr lang="en-US" sz="800" dirty="0">
                          <a:hlinkClick r:id="rId9"/>
                        </a:rPr>
                        <a:t> Zhou (Baidu)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ONNX: Boosting </a:t>
                      </a:r>
                      <a:r>
                        <a:rPr lang="en-US" sz="800" dirty="0" err="1"/>
                        <a:t>PaddlePaddle</a:t>
                      </a:r>
                      <a:r>
                        <a:rPr lang="en-US" sz="800" dirty="0"/>
                        <a:t> Deployment in Industry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10"/>
                        </a:rPr>
                        <a:t>Sri Krishnamurthy (</a:t>
                      </a:r>
                      <a:r>
                        <a:rPr lang="en-US" sz="800" dirty="0" err="1">
                          <a:hlinkClick r:id="rId10"/>
                        </a:rPr>
                        <a:t>QuantUniversity</a:t>
                      </a:r>
                      <a:r>
                        <a:rPr lang="en-US" sz="800" dirty="0">
                          <a:hlinkClick r:id="rId10"/>
                        </a:rPr>
                        <a:t>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Auditing considerations for ONNX models and benchmarking with </a:t>
                      </a:r>
                      <a:r>
                        <a:rPr lang="en-US" sz="800" dirty="0" err="1"/>
                        <a:t>QuSandbox</a:t>
                      </a:r>
                      <a:endParaRPr lang="en-US"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11"/>
                        </a:rPr>
                        <a:t>Jason Knight (</a:t>
                      </a:r>
                      <a:r>
                        <a:rPr lang="en-US" sz="800" dirty="0" err="1">
                          <a:hlinkClick r:id="rId11"/>
                        </a:rPr>
                        <a:t>OctoML</a:t>
                      </a:r>
                      <a:r>
                        <a:rPr lang="en-US" sz="800" dirty="0">
                          <a:hlinkClick r:id="rId11"/>
                        </a:rPr>
                        <a:t>) </a:t>
                      </a:r>
                      <a:r>
                        <a:rPr lang="en-US" sz="800" dirty="0"/>
                        <a:t>and Andrew Luo (</a:t>
                      </a:r>
                      <a:r>
                        <a:rPr lang="en-US" sz="800" dirty="0" err="1"/>
                        <a:t>OctoML</a:t>
                      </a:r>
                      <a:r>
                        <a:rPr lang="en-US" sz="800" dirty="0"/>
                        <a:t>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TVM: Dynamic shapes, control flow, and quantization with a compiler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/>
                        <a:t>Sergey </a:t>
                      </a:r>
                      <a:r>
                        <a:rPr lang="en-US" sz="800" dirty="0" err="1"/>
                        <a:t>Lyalin</a:t>
                      </a:r>
                      <a:r>
                        <a:rPr lang="en-US" sz="800" dirty="0"/>
                        <a:t>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Place of ONNX in </a:t>
                      </a:r>
                      <a:r>
                        <a:rPr lang="en-US" sz="800" dirty="0" err="1"/>
                        <a:t>OpenVINO</a:t>
                      </a:r>
                      <a:r>
                        <a:rPr lang="en-US" sz="800" dirty="0"/>
                        <a:t> ecosystem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hlinkClick r:id="rId12"/>
                        </a:rPr>
                        <a:t>Ashwini </a:t>
                      </a:r>
                      <a:r>
                        <a:rPr lang="en-US" sz="800" dirty="0" err="1">
                          <a:hlinkClick r:id="rId12"/>
                        </a:rPr>
                        <a:t>Khade</a:t>
                      </a:r>
                      <a:r>
                        <a:rPr lang="en-US" sz="800" dirty="0">
                          <a:hlinkClick r:id="rId12"/>
                        </a:rPr>
                        <a:t> (Microsoft)</a:t>
                      </a:r>
                      <a:endParaRPr 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Triton &amp; ONNX Runtime: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111068020"/>
                  </a:ext>
                </a:extLst>
              </a:tr>
            </a:tbl>
          </a:graphicData>
        </a:graphic>
      </p:graphicFrame>
      <p:cxnSp>
        <p:nvCxnSpPr>
          <p:cNvPr id="297" name="Google Shape;297;p8"/>
          <p:cNvCxnSpPr/>
          <p:nvPr/>
        </p:nvCxnSpPr>
        <p:spPr>
          <a:xfrm rot="10800000" flipH="1">
            <a:off x="3212246" y="412650"/>
            <a:ext cx="494344" cy="18951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8"/>
          <p:cNvCxnSpPr/>
          <p:nvPr/>
        </p:nvCxnSpPr>
        <p:spPr>
          <a:xfrm>
            <a:off x="3212246" y="2939960"/>
            <a:ext cx="494400" cy="17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99" name="Google Shape;299;p8"/>
          <p:cNvGraphicFramePr/>
          <p:nvPr>
            <p:extLst>
              <p:ext uri="{D42A27DB-BD31-4B8C-83A1-F6EECF244321}">
                <p14:modId xmlns:p14="http://schemas.microsoft.com/office/powerpoint/2010/main" val="2924604597"/>
              </p:ext>
            </p:extLst>
          </p:nvPr>
        </p:nvGraphicFramePr>
        <p:xfrm>
          <a:off x="405471" y="1111250"/>
          <a:ext cx="2806775" cy="34290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76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ONNX SC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8:15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Community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Break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SIG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11:00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Wrap Up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Agenda</a:t>
            </a:r>
            <a:r>
              <a:rPr lang="en"/>
              <a:t> - 3</a:t>
            </a:r>
            <a:endParaRPr/>
          </a:p>
        </p:txBody>
      </p:sp>
      <p:graphicFrame>
        <p:nvGraphicFramePr>
          <p:cNvPr id="305" name="Google Shape;305;p9"/>
          <p:cNvGraphicFramePr/>
          <p:nvPr>
            <p:extLst>
              <p:ext uri="{D42A27DB-BD31-4B8C-83A1-F6EECF244321}">
                <p14:modId xmlns:p14="http://schemas.microsoft.com/office/powerpoint/2010/main" val="3942588666"/>
              </p:ext>
            </p:extLst>
          </p:nvPr>
        </p:nvGraphicFramePr>
        <p:xfrm>
          <a:off x="3751350" y="2616942"/>
          <a:ext cx="5392650" cy="22618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328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4"/>
                        </a:rPr>
                        <a:t>Ashwini Khade (Microsoft)</a:t>
                      </a:r>
                      <a:endParaRPr sz="13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Architecture/Infrastructure SIG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>
                          <a:solidFill>
                            <a:schemeClr val="hlink"/>
                          </a:solidFill>
                          <a:hlinkClick r:id="rId5"/>
                        </a:rPr>
                        <a:t>Michał Karzyński (Intel) </a:t>
                      </a:r>
                      <a:r>
                        <a:rPr lang="en" sz="1000" u="none" strike="noStrike" cap="none"/>
                        <a:t>and </a:t>
                      </a:r>
                      <a:r>
                        <a:rPr lang="en" sz="1000" u="sng" strike="noStrike" cap="none">
                          <a:solidFill>
                            <a:schemeClr val="hlink"/>
                          </a:solidFill>
                          <a:hlinkClick r:id="rId6"/>
                        </a:rPr>
                        <a:t>Ganesan Ramalingen (Microsoft)</a:t>
                      </a:r>
                      <a:endParaRPr sz="13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Operators SIG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7"/>
                        </a:rPr>
                        <a:t>Chin Huang (IBM)</a:t>
                      </a:r>
                      <a:r>
                        <a:rPr lang="en" sz="1000" u="none" strike="noStrike" cap="none" dirty="0"/>
                        <a:t> and </a:t>
                      </a: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8"/>
                        </a:rPr>
                        <a:t>Guenther Schmuelling (Microsoft)</a:t>
                      </a:r>
                      <a:r>
                        <a:rPr lang="en" sz="1000" dirty="0"/>
                        <a:t> </a:t>
                      </a:r>
                      <a:endParaRPr sz="16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Converters SIG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Wenbing</a:t>
                      </a:r>
                      <a:r>
                        <a:rPr lang="en" sz="1000" u="none" strike="noStrike" cap="none" dirty="0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 Li &amp; </a:t>
                      </a:r>
                      <a:r>
                        <a:rPr lang="en" sz="1000" u="none" strike="noStrike" cap="none" dirty="0">
                          <a:hlinkClick r:id="rId9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Mark Hamilton</a:t>
                      </a:r>
                      <a:r>
                        <a:rPr lang="en" sz="1000" u="none" strike="noStrike" cap="none" dirty="0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 (Microsoft)</a:t>
                      </a:r>
                      <a:endParaRPr sz="13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/>
                        <a:t>Model Zoo/Tutorials SIG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hlinkClick r:id="rId10"/>
                        </a:rPr>
                        <a:t>Joaquin Anton (Nvidia)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Pre-processing WG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11084277"/>
                  </a:ext>
                </a:extLst>
              </a:tr>
            </a:tbl>
          </a:graphicData>
        </a:graphic>
      </p:graphicFrame>
      <p:cxnSp>
        <p:nvCxnSpPr>
          <p:cNvPr id="306" name="Google Shape;306;p9"/>
          <p:cNvCxnSpPr/>
          <p:nvPr/>
        </p:nvCxnSpPr>
        <p:spPr>
          <a:xfrm rot="10800000" flipH="1">
            <a:off x="3278725" y="2889350"/>
            <a:ext cx="4698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9"/>
          <p:cNvCxnSpPr/>
          <p:nvPr/>
        </p:nvCxnSpPr>
        <p:spPr>
          <a:xfrm>
            <a:off x="3278725" y="3981450"/>
            <a:ext cx="469800" cy="72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08" name="Google Shape;308;p9"/>
          <p:cNvGraphicFramePr/>
          <p:nvPr>
            <p:extLst>
              <p:ext uri="{D42A27DB-BD31-4B8C-83A1-F6EECF244321}">
                <p14:modId xmlns:p14="http://schemas.microsoft.com/office/powerpoint/2010/main" val="804890700"/>
              </p:ext>
            </p:extLst>
          </p:nvPr>
        </p:nvGraphicFramePr>
        <p:xfrm>
          <a:off x="457725" y="937070"/>
          <a:ext cx="2806775" cy="34290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76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ONNX SC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8:15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Community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Break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SIG &amp; WG Updates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11:00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Wrap Up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body" idx="1"/>
          </p:nvPr>
        </p:nvSpPr>
        <p:spPr>
          <a:xfrm>
            <a:off x="5199174" y="1096200"/>
            <a:ext cx="4053103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 dirty="0"/>
              <a:t>State of the state</a:t>
            </a:r>
            <a:endParaRPr sz="3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"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1600" dirty="0"/>
              <a:t>	</a:t>
            </a:r>
            <a:r>
              <a:rPr lang="en" sz="2800" dirty="0"/>
              <a:t>(Wenming Ye)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2800" dirty="0"/>
              <a:t>	</a:t>
            </a:r>
            <a:endParaRPr lang="en-US" sz="2800" dirty="0"/>
          </a:p>
        </p:txBody>
      </p:sp>
      <p:cxnSp>
        <p:nvCxnSpPr>
          <p:cNvPr id="315" name="Google Shape;315;p10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6" name="Google Shape;316;p10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5" cy="75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321925" y="1205900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503125" y="1205900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21925" y="3344475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789083" y="1205900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503125" y="3377350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 txBox="1">
            <a:spLocks noGrp="1"/>
          </p:cNvSpPr>
          <p:nvPr>
            <p:ph type="title"/>
          </p:nvPr>
        </p:nvSpPr>
        <p:spPr>
          <a:xfrm>
            <a:off x="311700" y="928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 dirty="0"/>
              <a:t>Engagement &amp; usage (from 3/21/21 to 10/20/21)</a:t>
            </a:r>
            <a:endParaRPr sz="1600" b="1" dirty="0">
              <a:highlight>
                <a:srgbClr val="FFFF00"/>
              </a:highlight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321925" y="12931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dirty="0">
                <a:solidFill>
                  <a:srgbClr val="4A86E8"/>
                </a:solidFill>
              </a:rPr>
              <a:t>6.8</a:t>
            </a:r>
            <a:r>
              <a:rPr lang="en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PRs</a:t>
            </a:r>
            <a:endParaRPr sz="41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2503175" y="12931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dirty="0">
                <a:solidFill>
                  <a:srgbClr val="4A86E8"/>
                </a:solidFill>
              </a:rPr>
              <a:t>208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Contributors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4789000" y="12931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dirty="0">
                <a:solidFill>
                  <a:srgbClr val="4A86E8"/>
                </a:solidFill>
              </a:rPr>
              <a:t>11.6</a:t>
            </a:r>
            <a:r>
              <a:rPr lang="en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Stars</a:t>
            </a:r>
            <a:endParaRPr sz="41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321925" y="34210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dirty="0">
                <a:solidFill>
                  <a:srgbClr val="4A86E8"/>
                </a:solidFill>
              </a:rPr>
              <a:t>2.2</a:t>
            </a:r>
            <a:r>
              <a:rPr lang="en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Forks</a:t>
            </a:r>
            <a:endParaRPr sz="41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2503125" y="34210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Papers</a:t>
            </a:r>
            <a:endParaRPr sz="41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544900" y="86410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725273" y="85930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998225" y="86410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/>
              <a:t>16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1"/>
          <p:cNvCxnSpPr/>
          <p:nvPr/>
        </p:nvCxnSpPr>
        <p:spPr>
          <a:xfrm rot="10800000">
            <a:off x="6634400" y="1101550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7" name="Google Shape;337;p11"/>
          <p:cNvCxnSpPr/>
          <p:nvPr/>
        </p:nvCxnSpPr>
        <p:spPr>
          <a:xfrm rot="10800000">
            <a:off x="4353167" y="1101550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8" name="Google Shape;338;p11"/>
          <p:cNvCxnSpPr/>
          <p:nvPr/>
        </p:nvCxnSpPr>
        <p:spPr>
          <a:xfrm rot="10800000">
            <a:off x="2207656" y="1101550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9" name="Google Shape;339;p11"/>
          <p:cNvSpPr/>
          <p:nvPr/>
        </p:nvSpPr>
        <p:spPr>
          <a:xfrm>
            <a:off x="1544900" y="301200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1"/>
          <p:cNvCxnSpPr/>
          <p:nvPr/>
        </p:nvCxnSpPr>
        <p:spPr>
          <a:xfrm rot="10800000">
            <a:off x="2205677" y="3238384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11"/>
          <p:cNvSpPr/>
          <p:nvPr/>
        </p:nvSpPr>
        <p:spPr>
          <a:xfrm>
            <a:off x="4821925" y="3377350"/>
            <a:ext cx="1507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821974" y="3421000"/>
            <a:ext cx="1507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in Zoo</a:t>
            </a:r>
            <a:endParaRPr sz="41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015008" y="301200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1"/>
          <p:cNvCxnSpPr/>
          <p:nvPr/>
        </p:nvCxnSpPr>
        <p:spPr>
          <a:xfrm rot="10800000">
            <a:off x="6683843" y="3238394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5" name="Google Shape;345;p11"/>
          <p:cNvSpPr/>
          <p:nvPr/>
        </p:nvSpPr>
        <p:spPr>
          <a:xfrm>
            <a:off x="3549975" y="3012000"/>
            <a:ext cx="957398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/>
              <a:t>0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1"/>
          <p:cNvCxnSpPr/>
          <p:nvPr/>
        </p:nvCxnSpPr>
        <p:spPr>
          <a:xfrm rot="10800000">
            <a:off x="4386049" y="3238384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7" name="Google Shape;347;p11"/>
          <p:cNvSpPr/>
          <p:nvPr/>
        </p:nvSpPr>
        <p:spPr>
          <a:xfrm>
            <a:off x="7149208" y="1205900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7149125" y="1293100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4165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</a:t>
            </a:r>
            <a:b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sz="15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149246" y="3344475"/>
            <a:ext cx="1540800" cy="163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7149163" y="3431675"/>
            <a:ext cx="15408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4800" dirty="0">
                <a:solidFill>
                  <a:srgbClr val="4A86E8"/>
                </a:solidFill>
              </a:rPr>
              <a:t>1.6</a:t>
            </a:r>
            <a:r>
              <a:rPr lang="en-US" sz="4800" dirty="0">
                <a:solidFill>
                  <a:srgbClr val="4A86E8"/>
                </a:solidFill>
              </a:rPr>
              <a:t>m</a:t>
            </a:r>
            <a:endParaRPr sz="48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Downloads</a:t>
            </a:r>
            <a:endParaRPr sz="1500" b="0" i="0" u="none" strike="noStrike" cap="none" dirty="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271177" y="815650"/>
            <a:ext cx="782100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8259917" y="2990398"/>
            <a:ext cx="1024759" cy="693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436%</a:t>
            </a:r>
            <a:endParaRPr sz="1800" b="0" i="0" u="none" strike="noStrike" cap="none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1"/>
          <p:cNvCxnSpPr/>
          <p:nvPr/>
        </p:nvCxnSpPr>
        <p:spPr>
          <a:xfrm rot="10800000">
            <a:off x="9053277" y="3240075"/>
            <a:ext cx="0" cy="2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358393" y="4381234"/>
            <a:ext cx="7754405" cy="615300"/>
          </a:xfrm>
          <a:prstGeom prst="roundRect">
            <a:avLst>
              <a:gd name="adj" fmla="val 26698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73984" y="2634563"/>
            <a:ext cx="7638814" cy="1601400"/>
          </a:xfrm>
          <a:prstGeom prst="roundRect">
            <a:avLst>
              <a:gd name="adj" fmla="val 9489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361295" y="897298"/>
            <a:ext cx="7751503" cy="1601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 txBox="1">
            <a:spLocks noGrp="1"/>
          </p:cNvSpPr>
          <p:nvPr>
            <p:ph type="title"/>
          </p:nvPr>
        </p:nvSpPr>
        <p:spPr>
          <a:xfrm>
            <a:off x="299874" y="216425"/>
            <a:ext cx="69152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Tools (and Companies) that </a:t>
            </a:r>
            <a:r>
              <a:rPr lang="en" dirty="0"/>
              <a:t>Support </a:t>
            </a:r>
            <a:r>
              <a:rPr lang="en-US" dirty="0" err="1"/>
              <a:t>Onnx</a:t>
            </a:r>
            <a:endParaRPr dirty="0"/>
          </a:p>
        </p:txBody>
      </p:sp>
      <p:pic>
        <p:nvPicPr>
          <p:cNvPr id="362" name="Google Shape;3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7663" y="928983"/>
            <a:ext cx="809226" cy="42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9786" y="994456"/>
            <a:ext cx="859501" cy="29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7353" y="1033623"/>
            <a:ext cx="1028675" cy="21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06493" y="1027806"/>
            <a:ext cx="716090" cy="2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2" descr="A close up of a sign&#10;&#10;Description generated with very high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90499" y="1391007"/>
            <a:ext cx="1257900" cy="269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2" descr="A close up of a sig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b="13702"/>
          <a:stretch/>
        </p:blipFill>
        <p:spPr>
          <a:xfrm>
            <a:off x="3032567" y="2167813"/>
            <a:ext cx="826275" cy="2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35972" y="2175188"/>
            <a:ext cx="632875" cy="254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49419" y="2195690"/>
            <a:ext cx="1028700" cy="237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44945" y="2237235"/>
            <a:ext cx="950073" cy="1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2"/>
          <p:cNvPicPr preferRelativeResize="0"/>
          <p:nvPr/>
        </p:nvPicPr>
        <p:blipFill rotWithShape="1">
          <a:blip r:embed="rId12">
            <a:alphaModFix amt="11000"/>
          </a:blip>
          <a:srcRect/>
          <a:stretch/>
        </p:blipFill>
        <p:spPr>
          <a:xfrm>
            <a:off x="3374367" y="1795080"/>
            <a:ext cx="1190475" cy="29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62911" y="3176528"/>
            <a:ext cx="1137557" cy="25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2"/>
          <p:cNvPicPr preferRelativeResize="0"/>
          <p:nvPr/>
        </p:nvPicPr>
        <p:blipFill rotWithShape="1">
          <a:blip r:embed="rId14">
            <a:alphaModFix/>
          </a:blip>
          <a:srcRect l="5253" r="9033"/>
          <a:stretch/>
        </p:blipFill>
        <p:spPr>
          <a:xfrm>
            <a:off x="4432430" y="3524900"/>
            <a:ext cx="859500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2" descr="A close up of a logo&#10;&#10;Description generated with very high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05617" y="3881940"/>
            <a:ext cx="916500" cy="31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2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994450" y="3189462"/>
            <a:ext cx="1190475" cy="22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950069" y="2735014"/>
            <a:ext cx="1071550" cy="26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163360" y="2726952"/>
            <a:ext cx="1137550" cy="27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2" descr="A picture containing object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882280" y="3107676"/>
            <a:ext cx="859563" cy="36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043196" y="2678301"/>
            <a:ext cx="765132" cy="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2" descr="A close up of a sign&#10;&#10;Description generated with very high confidence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511377" y="3553201"/>
            <a:ext cx="809226" cy="29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2" descr="A picture containing vector graphics&#10;&#10;Description generated with high confidence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192476" y="3162409"/>
            <a:ext cx="1028700" cy="298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2"/>
          <p:cNvPicPr preferRelativeResize="0"/>
          <p:nvPr/>
        </p:nvPicPr>
        <p:blipFill rotWithShape="1">
          <a:blip r:embed="rId23">
            <a:alphaModFix/>
          </a:blip>
          <a:srcRect l="9002" t="18217" r="7175" b="22689"/>
          <a:stretch/>
        </p:blipFill>
        <p:spPr>
          <a:xfrm>
            <a:off x="1898654" y="2666956"/>
            <a:ext cx="1002801" cy="397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2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722583" y="1798000"/>
            <a:ext cx="264235" cy="2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2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901832" y="1355752"/>
            <a:ext cx="320596" cy="3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2" descr="A close up of a sign&#10;&#10;Description generated with very high confidence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845328" y="1401117"/>
            <a:ext cx="859575" cy="24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 descr="A close up of a logo&#10;&#10;Description generated with very high confidence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842259" y="1778921"/>
            <a:ext cx="581271" cy="30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615832" y="1814270"/>
            <a:ext cx="632875" cy="23499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/>
          <p:nvPr/>
        </p:nvSpPr>
        <p:spPr>
          <a:xfrm>
            <a:off x="4942625" y="1008300"/>
            <a:ext cx="780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25" rIns="34275" bIns="17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 i="0" u="none" strike="noStrike" cap="none">
                <a:solidFill>
                  <a:srgbClr val="0071C5"/>
                </a:solidFill>
                <a:latin typeface="Arial"/>
                <a:ea typeface="Arial"/>
                <a:cs typeface="Arial"/>
                <a:sym typeface="Arial"/>
              </a:rPr>
              <a:t>LibSVM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2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898649" y="1349973"/>
            <a:ext cx="294925" cy="29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2" descr="A close up of a sign&#10;&#10;Description generated with very high confidence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184149" y="3579644"/>
            <a:ext cx="1028833" cy="24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2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785933" y="3901655"/>
            <a:ext cx="780650" cy="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2" descr="A picture containing clipart&#10;&#10;Description automatically generated"/>
          <p:cNvPicPr preferRelativeResize="0"/>
          <p:nvPr/>
        </p:nvPicPr>
        <p:blipFill rotWithShape="1">
          <a:blip r:embed="rId32">
            <a:alphaModFix/>
          </a:blip>
          <a:srcRect l="23529" t="7706" r="22193"/>
          <a:stretch/>
        </p:blipFill>
        <p:spPr>
          <a:xfrm>
            <a:off x="6202582" y="2721934"/>
            <a:ext cx="632883" cy="2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2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1968790" y="4537984"/>
            <a:ext cx="1028835" cy="31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2" descr="A close up of a sign&#10;&#10;Description generated with very high confidence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232237" y="4564471"/>
            <a:ext cx="1257901" cy="2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2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936002" y="3539430"/>
            <a:ext cx="1028700" cy="322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/>
          <p:nvPr/>
        </p:nvSpPr>
        <p:spPr>
          <a:xfrm>
            <a:off x="338045" y="912625"/>
            <a:ext cx="1484100" cy="16014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Creation/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Manipulation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33780" y="2629475"/>
            <a:ext cx="1484100" cy="1601400"/>
          </a:xfrm>
          <a:prstGeom prst="roundRect">
            <a:avLst>
              <a:gd name="adj" fmla="val 7924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Run/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19850" y="4380376"/>
            <a:ext cx="1484100" cy="615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Visualization/ Test Tools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12"/>
          <p:cNvPicPr preferRelativeResize="0"/>
          <p:nvPr/>
        </p:nvPicPr>
        <p:blipFill rotWithShape="1">
          <a:blip r:embed="rId36">
            <a:alphaModFix/>
          </a:blip>
          <a:srcRect l="5988" t="31510" r="5927" b="33138"/>
          <a:stretch/>
        </p:blipFill>
        <p:spPr>
          <a:xfrm>
            <a:off x="2003472" y="3907246"/>
            <a:ext cx="1376750" cy="20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2"/>
          <p:cNvPicPr preferRelativeResize="0"/>
          <p:nvPr/>
        </p:nvPicPr>
        <p:blipFill rotWithShape="1">
          <a:blip r:embed="rId37">
            <a:alphaModFix/>
          </a:blip>
          <a:srcRect l="10976" t="17476" r="11395" b="19814"/>
          <a:stretch/>
        </p:blipFill>
        <p:spPr>
          <a:xfrm>
            <a:off x="5085758" y="1786901"/>
            <a:ext cx="667200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2" descr="sionnx" title="Sionnx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4724751" y="4481038"/>
            <a:ext cx="1190462" cy="4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2"/>
          <p:cNvPicPr preferRelativeResize="0"/>
          <p:nvPr/>
        </p:nvPicPr>
        <p:blipFill rotWithShape="1">
          <a:blip r:embed="rId39">
            <a:alphaModFix/>
          </a:blip>
          <a:srcRect t="11978" b="32073"/>
          <a:stretch/>
        </p:blipFill>
        <p:spPr>
          <a:xfrm>
            <a:off x="6149813" y="1363141"/>
            <a:ext cx="581275" cy="32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2"/>
          <p:cNvPicPr preferRelativeResize="0"/>
          <p:nvPr/>
        </p:nvPicPr>
        <p:blipFill rotWithShape="1">
          <a:blip r:embed="rId40">
            <a:alphaModFix/>
          </a:blip>
          <a:srcRect r="75588"/>
          <a:stretch/>
        </p:blipFill>
        <p:spPr>
          <a:xfrm>
            <a:off x="6178840" y="3063921"/>
            <a:ext cx="320600" cy="41286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2"/>
          <p:cNvSpPr txBox="1"/>
          <p:nvPr/>
        </p:nvSpPr>
        <p:spPr>
          <a:xfrm>
            <a:off x="6383759" y="3579617"/>
            <a:ext cx="6672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NNOIR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2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3569194" y="3861906"/>
            <a:ext cx="1002806" cy="30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2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6703421" y="1428600"/>
            <a:ext cx="859575" cy="329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2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766004" y="994456"/>
            <a:ext cx="809225" cy="28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2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6748757" y="1841825"/>
            <a:ext cx="780650" cy="31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2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7337465" y="3416680"/>
            <a:ext cx="638620" cy="49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2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6929645" y="2641768"/>
            <a:ext cx="492875" cy="48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2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6547368" y="3199134"/>
            <a:ext cx="950075" cy="26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2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5875336" y="2140155"/>
            <a:ext cx="809225" cy="27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2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860741" y="1736797"/>
            <a:ext cx="826266" cy="2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2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5419358" y="1412139"/>
            <a:ext cx="533526" cy="2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2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149825" y="4520620"/>
            <a:ext cx="1028825" cy="34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2"/>
          <p:cNvPicPr preferRelativeResize="0"/>
          <p:nvPr/>
        </p:nvPicPr>
        <p:blipFill rotWithShape="1">
          <a:blip r:embed="rId52">
            <a:alphaModFix/>
          </a:blip>
          <a:srcRect l="11774" t="20701" r="18636" b="11089"/>
          <a:stretch/>
        </p:blipFill>
        <p:spPr>
          <a:xfrm>
            <a:off x="3527375" y="1756600"/>
            <a:ext cx="916501" cy="3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2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6667219" y="3861906"/>
            <a:ext cx="744888" cy="36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2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6749695" y="2241637"/>
            <a:ext cx="859576" cy="22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s://djl.ai/website/img/djl-middle.png">
            <a:extLst>
              <a:ext uri="{FF2B5EF4-FFF2-40B4-BE49-F238E27FC236}">
                <a16:creationId xmlns:a16="http://schemas.microsoft.com/office/drawing/2014/main" id="{6003475D-3319-40C4-BC0E-5A75A95C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381" y="1645746"/>
            <a:ext cx="600147" cy="3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A76849-6511-4F3B-A084-75E2026C56A2}"/>
              </a:ext>
            </a:extLst>
          </p:cNvPr>
          <p:cNvSpPr/>
          <p:nvPr/>
        </p:nvSpPr>
        <p:spPr>
          <a:xfrm>
            <a:off x="7529407" y="1455031"/>
            <a:ext cx="659895" cy="68512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BE16-0E70-42D8-B6F3-68DD070B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79" y="37886"/>
            <a:ext cx="8710370" cy="690657"/>
          </a:xfrm>
        </p:spPr>
        <p:txBody>
          <a:bodyPr/>
          <a:lstStyle/>
          <a:p>
            <a:r>
              <a:rPr lang="en-US" dirty="0"/>
              <a:t>Companies (Continued)</a:t>
            </a:r>
          </a:p>
        </p:txBody>
      </p:sp>
      <p:pic>
        <p:nvPicPr>
          <p:cNvPr id="6" name="Picture 2" descr="ABBYY">
            <a:extLst>
              <a:ext uri="{FF2B5EF4-FFF2-40B4-BE49-F238E27FC236}">
                <a16:creationId xmlns:a16="http://schemas.microsoft.com/office/drawing/2014/main" id="{0C7B5B6B-76D4-4E4D-B5B5-37AEF279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" y="822887"/>
            <a:ext cx="1340644" cy="43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libaba">
            <a:extLst>
              <a:ext uri="{FF2B5EF4-FFF2-40B4-BE49-F238E27FC236}">
                <a16:creationId xmlns:a16="http://schemas.microsoft.com/office/drawing/2014/main" id="{9F14845F-1629-49A5-BC6F-8B27F963E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8" y="808916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AMD">
            <a:extLst>
              <a:ext uri="{FF2B5EF4-FFF2-40B4-BE49-F238E27FC236}">
                <a16:creationId xmlns:a16="http://schemas.microsoft.com/office/drawing/2014/main" id="{BF9D6DDC-87EE-4E1A-B17E-9DA45117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429" y="795604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WS">
            <a:extLst>
              <a:ext uri="{FF2B5EF4-FFF2-40B4-BE49-F238E27FC236}">
                <a16:creationId xmlns:a16="http://schemas.microsoft.com/office/drawing/2014/main" id="{4B62DD73-2385-423C-8C0D-31F594DDA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744" y="806573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Baidu">
            <a:extLst>
              <a:ext uri="{FF2B5EF4-FFF2-40B4-BE49-F238E27FC236}">
                <a16:creationId xmlns:a16="http://schemas.microsoft.com/office/drawing/2014/main" id="{58DF66A2-0603-48E2-B937-7E184068D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4" y="1601340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eckhoff">
            <a:extLst>
              <a:ext uri="{FF2B5EF4-FFF2-40B4-BE49-F238E27FC236}">
                <a16:creationId xmlns:a16="http://schemas.microsoft.com/office/drawing/2014/main" id="{406FB5C5-B4CA-4E5A-B060-0C0D3D72B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428" y="1630017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BITMAIN">
            <a:extLst>
              <a:ext uri="{FF2B5EF4-FFF2-40B4-BE49-F238E27FC236}">
                <a16:creationId xmlns:a16="http://schemas.microsoft.com/office/drawing/2014/main" id="{D266F423-3E3E-4B2E-BB1B-DAE16AC2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8" y="1644786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Hewlett Packard">
            <a:extLst>
              <a:ext uri="{FF2B5EF4-FFF2-40B4-BE49-F238E27FC236}">
                <a16:creationId xmlns:a16="http://schemas.microsoft.com/office/drawing/2014/main" id="{DE5C2F5E-8FA1-4313-9509-9A6F0452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944" y="811804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8" descr="Huawei">
            <a:extLst>
              <a:ext uri="{FF2B5EF4-FFF2-40B4-BE49-F238E27FC236}">
                <a16:creationId xmlns:a16="http://schemas.microsoft.com/office/drawing/2014/main" id="{5AC746C6-1A9E-4470-AB48-A88076243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79" y="2593752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0" descr="IBM">
            <a:extLst>
              <a:ext uri="{FF2B5EF4-FFF2-40B4-BE49-F238E27FC236}">
                <a16:creationId xmlns:a16="http://schemas.microsoft.com/office/drawing/2014/main" id="{B743FE21-2DF3-42EE-9C2E-57B425D70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8" y="2593751"/>
            <a:ext cx="1365648" cy="40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2" descr="Idein">
            <a:extLst>
              <a:ext uri="{FF2B5EF4-FFF2-40B4-BE49-F238E27FC236}">
                <a16:creationId xmlns:a16="http://schemas.microsoft.com/office/drawing/2014/main" id="{4B4610D8-9A2E-4434-8C2D-1AB903AD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76" y="2561604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6" descr="Maxar">
            <a:extLst>
              <a:ext uri="{FF2B5EF4-FFF2-40B4-BE49-F238E27FC236}">
                <a16:creationId xmlns:a16="http://schemas.microsoft.com/office/drawing/2014/main" id="{9B0ED70C-2925-4D44-AA57-9FCC355F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4" y="3586163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8" descr="Mediatek">
            <a:extLst>
              <a:ext uri="{FF2B5EF4-FFF2-40B4-BE49-F238E27FC236}">
                <a16:creationId xmlns:a16="http://schemas.microsoft.com/office/drawing/2014/main" id="{A675A98C-AEAE-4D49-A0F5-C3A78B44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3" y="2593750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0" descr="Xiaomi">
            <a:extLst>
              <a:ext uri="{FF2B5EF4-FFF2-40B4-BE49-F238E27FC236}">
                <a16:creationId xmlns:a16="http://schemas.microsoft.com/office/drawing/2014/main" id="{F57B127D-969B-4A8E-83A5-B0C3353D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872" y="2593749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2" descr="Microsoft">
            <a:extLst>
              <a:ext uri="{FF2B5EF4-FFF2-40B4-BE49-F238E27FC236}">
                <a16:creationId xmlns:a16="http://schemas.microsoft.com/office/drawing/2014/main" id="{BAB25666-624F-4127-A762-9E018D2BA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744" y="3564543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4" descr="NXP">
            <a:extLst>
              <a:ext uri="{FF2B5EF4-FFF2-40B4-BE49-F238E27FC236}">
                <a16:creationId xmlns:a16="http://schemas.microsoft.com/office/drawing/2014/main" id="{DD159567-55D7-4CB0-B1DE-14F310D9B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0" y="4446160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6" descr="Open AI Lab">
            <a:extLst>
              <a:ext uri="{FF2B5EF4-FFF2-40B4-BE49-F238E27FC236}">
                <a16:creationId xmlns:a16="http://schemas.microsoft.com/office/drawing/2014/main" id="{AF460B33-AECF-47FC-9CA1-E9139729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919" y="3678826"/>
            <a:ext cx="1239738" cy="29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8" descr="Preferred Networks">
            <a:extLst>
              <a:ext uri="{FF2B5EF4-FFF2-40B4-BE49-F238E27FC236}">
                <a16:creationId xmlns:a16="http://schemas.microsoft.com/office/drawing/2014/main" id="{6D7E1E7C-C9D4-472B-9A52-6778782EA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2" y="3557217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0" descr="Sony">
            <a:extLst>
              <a:ext uri="{FF2B5EF4-FFF2-40B4-BE49-F238E27FC236}">
                <a16:creationId xmlns:a16="http://schemas.microsoft.com/office/drawing/2014/main" id="{E8161639-9B83-4E90-B10C-960D59ABF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688" y="3586161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2" descr="SenseTime">
            <a:extLst>
              <a:ext uri="{FF2B5EF4-FFF2-40B4-BE49-F238E27FC236}">
                <a16:creationId xmlns:a16="http://schemas.microsoft.com/office/drawing/2014/main" id="{FD8E6846-5027-48EB-8FC5-D10C78BDA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7" y="4476751"/>
            <a:ext cx="1544486" cy="41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4" descr="Unity">
            <a:extLst>
              <a:ext uri="{FF2B5EF4-FFF2-40B4-BE49-F238E27FC236}">
                <a16:creationId xmlns:a16="http://schemas.microsoft.com/office/drawing/2014/main" id="{513F75EE-CC2F-4951-BC66-86590F6FB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878" y="4446160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6" descr="Verizon Media">
            <a:extLst>
              <a:ext uri="{FF2B5EF4-FFF2-40B4-BE49-F238E27FC236}">
                <a16:creationId xmlns:a16="http://schemas.microsoft.com/office/drawing/2014/main" id="{C5BA720A-7818-4BB4-8E37-B1C659272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942" y="4446160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8" descr="VMware">
            <a:extLst>
              <a:ext uri="{FF2B5EF4-FFF2-40B4-BE49-F238E27FC236}">
                <a16:creationId xmlns:a16="http://schemas.microsoft.com/office/drawing/2014/main" id="{13A466F4-5E4C-43B9-ACD3-E7DF8B4AA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744" y="1630283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50" descr="Wolfram">
            <a:extLst>
              <a:ext uri="{FF2B5EF4-FFF2-40B4-BE49-F238E27FC236}">
                <a16:creationId xmlns:a16="http://schemas.microsoft.com/office/drawing/2014/main" id="{AF0232D1-2E16-4843-AE41-9DE47C77A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869" y="4415573"/>
            <a:ext cx="1488281" cy="47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rm">
            <a:extLst>
              <a:ext uri="{FF2B5EF4-FFF2-40B4-BE49-F238E27FC236}">
                <a16:creationId xmlns:a16="http://schemas.microsoft.com/office/drawing/2014/main" id="{EFD36EA9-119C-482E-9F37-E6757977F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815" y="1689421"/>
            <a:ext cx="1282538" cy="43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93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"/>
          <p:cNvSpPr txBox="1">
            <a:spLocks noGrp="1"/>
          </p:cNvSpPr>
          <p:nvPr>
            <p:ph type="body" idx="1"/>
          </p:nvPr>
        </p:nvSpPr>
        <p:spPr>
          <a:xfrm>
            <a:off x="5199175" y="1096200"/>
            <a:ext cx="37986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Governance</a:t>
            </a:r>
            <a:endParaRPr sz="3600"/>
          </a:p>
        </p:txBody>
      </p:sp>
      <p:cxnSp>
        <p:nvCxnSpPr>
          <p:cNvPr id="430" name="Google Shape;430;p15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1" name="Google Shape;431;p15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8" cy="759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"/>
          <p:cNvSpPr txBox="1">
            <a:spLocks noGrp="1"/>
          </p:cNvSpPr>
          <p:nvPr>
            <p:ph type="title"/>
          </p:nvPr>
        </p:nvSpPr>
        <p:spPr>
          <a:xfrm>
            <a:off x="457736" y="3500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"/>
              <a:t>ONNX open governance update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104931" y="861934"/>
            <a:ext cx="2990538" cy="4160316"/>
          </a:xfrm>
          <a:prstGeom prst="roundRect">
            <a:avLst>
              <a:gd name="adj" fmla="val 13028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Steering Committee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https://github.com/onnx/steering-committee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Prasanth Pulavarthi (MSFT)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Alexander Eichenberger (IBM)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Wenming Ye (Amazon)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</a:rPr>
              <a:t>Mayank Kaushik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(Nvidia)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Rajeev Nalawadi (Intel)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3171200" y="861934"/>
            <a:ext cx="5629200" cy="4084820"/>
          </a:xfrm>
          <a:prstGeom prst="roundRect">
            <a:avLst>
              <a:gd name="adj" fmla="val 13314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Interest Groups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(SIGs)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https://github.com/onnx/sigs</a:t>
            </a:r>
            <a:endParaRPr sz="9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 &amp; Infra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Ashwini Khade, Ke Zhang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Michał Karzyński, Ganesan Ramaling</a:t>
            </a:r>
            <a:r>
              <a:rPr lang="en" sz="1500" dirty="0">
                <a:solidFill>
                  <a:schemeClr val="dk1"/>
                </a:solidFill>
              </a:rPr>
              <a:t>am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Converters: 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Guenther Schmuelling, Chin Huang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Zoo &amp; Tutorials: 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Wenbing Li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"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500"/>
            </a:pPr>
            <a:r>
              <a:rPr lang="en" sz="1500" b="1" dirty="0">
                <a:solidFill>
                  <a:schemeClr val="dk1"/>
                </a:solidFill>
              </a:rPr>
              <a:t>Pre-processing</a:t>
            </a: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500" dirty="0">
                <a:solidFill>
                  <a:schemeClr val="dk1"/>
                </a:solidFill>
              </a:rPr>
              <a:t>J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oaquin Anton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28AA-D5B1-41EC-8196-CF5E61E7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563C-5E68-4929-815F-C144D2076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728336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Participation</a:t>
            </a:r>
          </a:p>
          <a:p>
            <a:r>
              <a:rPr lang="en-US" dirty="0"/>
              <a:t>Roadmap discussion</a:t>
            </a:r>
          </a:p>
          <a:p>
            <a:r>
              <a:rPr lang="en-US" dirty="0"/>
              <a:t>Slack Invitation</a:t>
            </a:r>
          </a:p>
          <a:p>
            <a:r>
              <a:rPr lang="en-US" dirty="0"/>
              <a:t>Q&amp;A on </a:t>
            </a:r>
            <a:r>
              <a:rPr lang="en-US" dirty="0" err="1"/>
              <a:t>Github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Contribution</a:t>
            </a:r>
          </a:p>
          <a:p>
            <a:r>
              <a:rPr lang="en-US" dirty="0"/>
              <a:t>Start with Documentation</a:t>
            </a:r>
          </a:p>
          <a:p>
            <a:r>
              <a:rPr lang="en-US" dirty="0"/>
              <a:t>Blogs – How are you and your customers using </a:t>
            </a:r>
            <a:r>
              <a:rPr lang="en-US" dirty="0" err="1"/>
              <a:t>Onnx</a:t>
            </a:r>
            <a:r>
              <a:rPr lang="en-US" dirty="0"/>
              <a:t>?</a:t>
            </a:r>
          </a:p>
          <a:p>
            <a:r>
              <a:rPr lang="en-US" dirty="0"/>
              <a:t>Talks by Community members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12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0"/>
          <p:cNvSpPr txBox="1">
            <a:spLocks noGrp="1"/>
          </p:cNvSpPr>
          <p:nvPr>
            <p:ph type="body" idx="1"/>
          </p:nvPr>
        </p:nvSpPr>
        <p:spPr>
          <a:xfrm>
            <a:off x="5199175" y="1096200"/>
            <a:ext cx="37986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 dirty="0"/>
              <a:t>Roadmap</a:t>
            </a:r>
            <a:endParaRPr sz="3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 dirty="0"/>
              <a:t>(</a:t>
            </a:r>
            <a:r>
              <a:rPr lang="en" sz="2800" dirty="0"/>
              <a:t>Alexandre </a:t>
            </a:r>
            <a:r>
              <a:rPr lang="en" sz="2800" dirty="0" err="1"/>
              <a:t>Eichenberger</a:t>
            </a:r>
            <a:r>
              <a:rPr lang="en" sz="3600" dirty="0"/>
              <a:t>)</a:t>
            </a:r>
            <a:endParaRPr sz="3600" dirty="0"/>
          </a:p>
        </p:txBody>
      </p:sp>
      <p:cxnSp>
        <p:nvCxnSpPr>
          <p:cNvPr id="474" name="Google Shape;474;p20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5" name="Google Shape;475;p20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8" cy="759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/>
              <a:t>ONNX roadmap discussions</a:t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3417325" y="1420700"/>
            <a:ext cx="2901425" cy="73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dirty="0"/>
              <a:t>Request for features</a:t>
            </a:r>
            <a:endParaRPr dirty="0"/>
          </a:p>
        </p:txBody>
      </p:sp>
      <p:sp>
        <p:nvSpPr>
          <p:cNvPr id="483" name="Google Shape;483;p21"/>
          <p:cNvSpPr/>
          <p:nvPr/>
        </p:nvSpPr>
        <p:spPr>
          <a:xfrm>
            <a:off x="3417400" y="2572950"/>
            <a:ext cx="2901425" cy="73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dirty="0"/>
              <a:t>Presentations on selected topics:</a:t>
            </a:r>
          </a:p>
          <a:p>
            <a:pPr>
              <a:buClr>
                <a:srgbClr val="000000"/>
              </a:buClr>
              <a:buSzPts val="1400"/>
            </a:pPr>
            <a:r>
              <a:rPr lang="en" dirty="0"/>
              <a:t>12 presentations</a:t>
            </a:r>
          </a:p>
        </p:txBody>
      </p:sp>
      <p:sp>
        <p:nvSpPr>
          <p:cNvPr id="484" name="Google Shape;484;p21"/>
          <p:cNvSpPr/>
          <p:nvPr/>
        </p:nvSpPr>
        <p:spPr>
          <a:xfrm>
            <a:off x="3417325" y="3725200"/>
            <a:ext cx="2901425" cy="90587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dirty="0"/>
              <a:t>Referral to appropriate SIGs for ongoing discussions &amp; </a:t>
            </a:r>
            <a:r>
              <a:rPr lang="en-US" dirty="0" err="1"/>
              <a:t>implemenation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85" name="Google Shape;485;p21"/>
          <p:cNvSpPr/>
          <p:nvPr/>
        </p:nvSpPr>
        <p:spPr>
          <a:xfrm>
            <a:off x="385282" y="1420700"/>
            <a:ext cx="2610269" cy="73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b="1" dirty="0"/>
              <a:t>ONNX Roadmap Slack</a:t>
            </a:r>
          </a:p>
          <a:p>
            <a:pPr algn="ctr">
              <a:buClr>
                <a:srgbClr val="000000"/>
              </a:buClr>
              <a:buSzPts val="1400"/>
            </a:pPr>
            <a:r>
              <a:rPr lang="en-US" b="1" dirty="0" err="1"/>
              <a:t>onnx.ai</a:t>
            </a:r>
            <a:r>
              <a:rPr lang="en-US" b="1" dirty="0"/>
              <a:t> website</a:t>
            </a:r>
            <a:endParaRPr b="1" dirty="0"/>
          </a:p>
        </p:txBody>
      </p:sp>
      <p:cxnSp>
        <p:nvCxnSpPr>
          <p:cNvPr id="486" name="Google Shape;486;p21"/>
          <p:cNvCxnSpPr>
            <a:cxnSpLocks/>
            <a:stCxn id="485" idx="3"/>
            <a:endCxn id="482" idx="1"/>
          </p:cNvCxnSpPr>
          <p:nvPr/>
        </p:nvCxnSpPr>
        <p:spPr>
          <a:xfrm>
            <a:off x="2995551" y="1786700"/>
            <a:ext cx="42177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7" name="Google Shape;487;p21"/>
          <p:cNvCxnSpPr>
            <a:cxnSpLocks/>
            <a:stCxn id="483" idx="1"/>
            <a:endCxn id="484" idx="1"/>
          </p:cNvCxnSpPr>
          <p:nvPr/>
        </p:nvCxnSpPr>
        <p:spPr>
          <a:xfrm rot="10800000" flipV="1">
            <a:off x="3417324" y="2938950"/>
            <a:ext cx="75" cy="1239188"/>
          </a:xfrm>
          <a:prstGeom prst="curvedConnector3">
            <a:avLst>
              <a:gd name="adj1" fmla="val 2287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8" name="Google Shape;488;p21"/>
          <p:cNvSpPr/>
          <p:nvPr/>
        </p:nvSpPr>
        <p:spPr>
          <a:xfrm>
            <a:off x="385281" y="3149074"/>
            <a:ext cx="2610269" cy="73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b="1" dirty="0"/>
              <a:t>Published video &amp; presentations on Slack</a:t>
            </a:r>
            <a:endParaRPr b="1" dirty="0"/>
          </a:p>
        </p:txBody>
      </p:sp>
      <p:sp>
        <p:nvSpPr>
          <p:cNvPr id="489" name="Google Shape;489;p21"/>
          <p:cNvSpPr/>
          <p:nvPr/>
        </p:nvSpPr>
        <p:spPr>
          <a:xfrm>
            <a:off x="7296825" y="1420700"/>
            <a:ext cx="500100" cy="3036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6807825" y="2403350"/>
            <a:ext cx="1478100" cy="107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/>
              <a:t>6 weekly</a:t>
            </a:r>
            <a:endParaRPr/>
          </a:p>
          <a:p>
            <a:pPr algn="ctr">
              <a:buClr>
                <a:srgbClr val="000000"/>
              </a:buClr>
              <a:buSzPts val="1400"/>
            </a:pPr>
            <a:r>
              <a:rPr lang="en"/>
              <a:t>community </a:t>
            </a:r>
            <a:endParaRPr/>
          </a:p>
          <a:p>
            <a:pPr algn="ctr">
              <a:buClr>
                <a:srgbClr val="000000"/>
              </a:buClr>
              <a:buSzPts val="1400"/>
            </a:pPr>
            <a:r>
              <a:rPr lang="en"/>
              <a:t>discussions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AA38-F6BF-CA4B-AF3A-5964C918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573774"/>
          </a:xfrm>
        </p:spPr>
        <p:txBody>
          <a:bodyPr/>
          <a:lstStyle/>
          <a:p>
            <a:r>
              <a:rPr lang="en-US" dirty="0"/>
              <a:t>ONNX Roadmap Discussions (# 1 of 4)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72AB70-4DCC-9D40-AE00-32A26CB8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45954"/>
              </p:ext>
            </p:extLst>
          </p:nvPr>
        </p:nvGraphicFramePr>
        <p:xfrm>
          <a:off x="446838" y="822165"/>
          <a:ext cx="7744174" cy="3255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168">
                  <a:extLst>
                    <a:ext uri="{9D8B030D-6E8A-4147-A177-3AD203B41FA5}">
                      <a16:colId xmlns:a16="http://schemas.microsoft.com/office/drawing/2014/main" val="1465147641"/>
                    </a:ext>
                  </a:extLst>
                </a:gridCol>
                <a:gridCol w="588818">
                  <a:extLst>
                    <a:ext uri="{9D8B030D-6E8A-4147-A177-3AD203B41FA5}">
                      <a16:colId xmlns:a16="http://schemas.microsoft.com/office/drawing/2014/main" val="1045329111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4240744273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4015607168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3831047150"/>
                    </a:ext>
                  </a:extLst>
                </a:gridCol>
                <a:gridCol w="692727">
                  <a:extLst>
                    <a:ext uri="{9D8B030D-6E8A-4147-A177-3AD203B41FA5}">
                      <a16:colId xmlns:a16="http://schemas.microsoft.com/office/drawing/2014/main" val="1061482151"/>
                    </a:ext>
                  </a:extLst>
                </a:gridCol>
                <a:gridCol w="713509">
                  <a:extLst>
                    <a:ext uri="{9D8B030D-6E8A-4147-A177-3AD203B41FA5}">
                      <a16:colId xmlns:a16="http://schemas.microsoft.com/office/drawing/2014/main" val="910433887"/>
                    </a:ext>
                  </a:extLst>
                </a:gridCol>
                <a:gridCol w="666038">
                  <a:extLst>
                    <a:ext uri="{9D8B030D-6E8A-4147-A177-3AD203B41FA5}">
                      <a16:colId xmlns:a16="http://schemas.microsoft.com/office/drawing/2014/main" val="3237084427"/>
                    </a:ext>
                  </a:extLst>
                </a:gridCol>
                <a:gridCol w="737950">
                  <a:extLst>
                    <a:ext uri="{9D8B030D-6E8A-4147-A177-3AD203B41FA5}">
                      <a16:colId xmlns:a16="http://schemas.microsoft.com/office/drawing/2014/main" val="1970731484"/>
                    </a:ext>
                  </a:extLst>
                </a:gridCol>
              </a:tblGrid>
              <a:tr h="489685">
                <a:tc>
                  <a:txBody>
                    <a:bodyPr/>
                    <a:lstStyle/>
                    <a:p>
                      <a:r>
                        <a:rPr lang="en-US" sz="1100" dirty="0"/>
                        <a:t>Topics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arch infra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convert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 tutorial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oper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preproc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training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release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other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696313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New operators for data processing to cover ML pipeline (1).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4071084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/>
                        <a:t>C API for C++ components of ONNX (to assist in wrapper for model checker functionality) (2).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056993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Better support for emitting ONNX models from other languages beyond Python  (3)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40736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FF84E-7115-4E42-B718-F3A3B19F4AA3}"/>
              </a:ext>
            </a:extLst>
          </p:cNvPr>
          <p:cNvSpPr txBox="1"/>
          <p:nvPr/>
        </p:nvSpPr>
        <p:spPr>
          <a:xfrm>
            <a:off x="521901" y="4292574"/>
            <a:ext cx="471475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(1) </a:t>
            </a:r>
            <a:r>
              <a:rPr lang="en-US" sz="1050" dirty="0" err="1"/>
              <a:t>Nakaike</a:t>
            </a:r>
            <a:r>
              <a:rPr lang="en-US" sz="1050" dirty="0"/>
              <a:t> (IBM). “New preprocessing operators for </a:t>
            </a:r>
            <a:r>
              <a:rPr lang="en-US" sz="1050" dirty="0" err="1"/>
              <a:t>Kagle</a:t>
            </a:r>
            <a:r>
              <a:rPr lang="en-US" sz="1050" dirty="0"/>
              <a:t> pre-processing.”</a:t>
            </a:r>
          </a:p>
          <a:p>
            <a:r>
              <a:rPr lang="en-US" sz="1050" dirty="0"/>
              <a:t>(2) Pocock (Oracle). “C API to enables model checking and modifying”</a:t>
            </a:r>
          </a:p>
          <a:p>
            <a:r>
              <a:rPr lang="en-US" sz="1050" dirty="0"/>
              <a:t>(3) Pocock (Oracle). “Writing models from other languages (C#, Java)”</a:t>
            </a:r>
          </a:p>
        </p:txBody>
      </p:sp>
    </p:spTree>
    <p:extLst>
      <p:ext uri="{BB962C8B-B14F-4D97-AF65-F5344CB8AC3E}">
        <p14:creationId xmlns:p14="http://schemas.microsoft.com/office/powerpoint/2010/main" val="3988695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AA38-F6BF-CA4B-AF3A-5964C918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573774"/>
          </a:xfrm>
        </p:spPr>
        <p:txBody>
          <a:bodyPr/>
          <a:lstStyle/>
          <a:p>
            <a:r>
              <a:rPr lang="en-US" dirty="0"/>
              <a:t>ONNX Roadmap Discussions (# 2 of 4)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72AB70-4DCC-9D40-AE00-32A26CB8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676832"/>
              </p:ext>
            </p:extLst>
          </p:nvPr>
        </p:nvGraphicFramePr>
        <p:xfrm>
          <a:off x="484313" y="847619"/>
          <a:ext cx="7744174" cy="3377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168">
                  <a:extLst>
                    <a:ext uri="{9D8B030D-6E8A-4147-A177-3AD203B41FA5}">
                      <a16:colId xmlns:a16="http://schemas.microsoft.com/office/drawing/2014/main" val="1465147641"/>
                    </a:ext>
                  </a:extLst>
                </a:gridCol>
                <a:gridCol w="588818">
                  <a:extLst>
                    <a:ext uri="{9D8B030D-6E8A-4147-A177-3AD203B41FA5}">
                      <a16:colId xmlns:a16="http://schemas.microsoft.com/office/drawing/2014/main" val="1045329111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4240744273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4015607168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3831047150"/>
                    </a:ext>
                  </a:extLst>
                </a:gridCol>
                <a:gridCol w="692727">
                  <a:extLst>
                    <a:ext uri="{9D8B030D-6E8A-4147-A177-3AD203B41FA5}">
                      <a16:colId xmlns:a16="http://schemas.microsoft.com/office/drawing/2014/main" val="1061482151"/>
                    </a:ext>
                  </a:extLst>
                </a:gridCol>
                <a:gridCol w="713509">
                  <a:extLst>
                    <a:ext uri="{9D8B030D-6E8A-4147-A177-3AD203B41FA5}">
                      <a16:colId xmlns:a16="http://schemas.microsoft.com/office/drawing/2014/main" val="910433887"/>
                    </a:ext>
                  </a:extLst>
                </a:gridCol>
                <a:gridCol w="666038">
                  <a:extLst>
                    <a:ext uri="{9D8B030D-6E8A-4147-A177-3AD203B41FA5}">
                      <a16:colId xmlns:a16="http://schemas.microsoft.com/office/drawing/2014/main" val="3237084427"/>
                    </a:ext>
                  </a:extLst>
                </a:gridCol>
                <a:gridCol w="737950">
                  <a:extLst>
                    <a:ext uri="{9D8B030D-6E8A-4147-A177-3AD203B41FA5}">
                      <a16:colId xmlns:a16="http://schemas.microsoft.com/office/drawing/2014/main" val="1970731484"/>
                    </a:ext>
                  </a:extLst>
                </a:gridCol>
              </a:tblGrid>
              <a:tr h="489685">
                <a:tc>
                  <a:txBody>
                    <a:bodyPr/>
                    <a:lstStyle/>
                    <a:p>
                      <a:r>
                        <a:rPr lang="en-US" sz="1100" dirty="0"/>
                        <a:t>Topics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arch infra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convert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 tutorial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oper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preproc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training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release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other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696313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Add meta information in tensors (4).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40710849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E2E pipeline with ONNX operators (include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Keras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TF, Scikit-learn/Spark pipeline preprocessing flows) using single graph </a:t>
                      </a:r>
                      <a:r>
                        <a:rPr lang="en-US" sz="1100" dirty="0"/>
                        <a:t>(5).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056993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Converters improvement suggestions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tensorflow-onnx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Keras2Onnx) for better graph optimizations </a:t>
                      </a:r>
                      <a:r>
                        <a:rPr lang="en-US" sz="1100" dirty="0"/>
                        <a:t>(6).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40736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FF84E-7115-4E42-B718-F3A3B19F4AA3}"/>
              </a:ext>
            </a:extLst>
          </p:cNvPr>
          <p:cNvSpPr txBox="1"/>
          <p:nvPr/>
        </p:nvSpPr>
        <p:spPr>
          <a:xfrm>
            <a:off x="484313" y="4419077"/>
            <a:ext cx="606448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(4) </a:t>
            </a:r>
            <a:r>
              <a:rPr lang="en-US" sz="1050" dirty="0" err="1"/>
              <a:t>Croome</a:t>
            </a:r>
            <a:r>
              <a:rPr lang="en-US" sz="1050" dirty="0"/>
              <a:t> (</a:t>
            </a:r>
            <a:r>
              <a:rPr lang="en-US" sz="1050" dirty="0" err="1"/>
              <a:t>Greenwaves</a:t>
            </a:r>
            <a:r>
              <a:rPr lang="en-US" sz="1050" dirty="0"/>
              <a:t>). “Converter robustness and usability of quantization from older models.”</a:t>
            </a:r>
          </a:p>
          <a:p>
            <a:r>
              <a:rPr lang="en-US" sz="1050" dirty="0"/>
              <a:t>(5) </a:t>
            </a:r>
            <a:r>
              <a:rPr lang="en-US" sz="1050" dirty="0" err="1"/>
              <a:t>Sica</a:t>
            </a:r>
            <a:r>
              <a:rPr lang="en-US" sz="1050" dirty="0"/>
              <a:t> (IBM). “Combine data processing and inference as part of a single model”</a:t>
            </a:r>
          </a:p>
          <a:p>
            <a:r>
              <a:rPr lang="en-US" sz="1050" dirty="0"/>
              <a:t>(6) </a:t>
            </a:r>
            <a:r>
              <a:rPr lang="en-US" sz="1050" dirty="0" err="1"/>
              <a:t>Sica</a:t>
            </a:r>
            <a:r>
              <a:rPr lang="en-US" sz="1050" dirty="0"/>
              <a:t> (IBM). “Converters targeting the higher functionality ops (e.g. LSTM/RNN/GRU)”</a:t>
            </a:r>
          </a:p>
        </p:txBody>
      </p:sp>
    </p:spTree>
    <p:extLst>
      <p:ext uri="{BB962C8B-B14F-4D97-AF65-F5344CB8AC3E}">
        <p14:creationId xmlns:p14="http://schemas.microsoft.com/office/powerpoint/2010/main" val="2030968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AA38-F6BF-CA4B-AF3A-5964C918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573774"/>
          </a:xfrm>
        </p:spPr>
        <p:txBody>
          <a:bodyPr/>
          <a:lstStyle/>
          <a:p>
            <a:r>
              <a:rPr lang="en-US" dirty="0"/>
              <a:t>ONNX Roadmap Discussions (# 3 of 4)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72AB70-4DCC-9D40-AE00-32A26CB8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44515"/>
              </p:ext>
            </p:extLst>
          </p:nvPr>
        </p:nvGraphicFramePr>
        <p:xfrm>
          <a:off x="469323" y="1149351"/>
          <a:ext cx="7744174" cy="28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168">
                  <a:extLst>
                    <a:ext uri="{9D8B030D-6E8A-4147-A177-3AD203B41FA5}">
                      <a16:colId xmlns:a16="http://schemas.microsoft.com/office/drawing/2014/main" val="1465147641"/>
                    </a:ext>
                  </a:extLst>
                </a:gridCol>
                <a:gridCol w="588818">
                  <a:extLst>
                    <a:ext uri="{9D8B030D-6E8A-4147-A177-3AD203B41FA5}">
                      <a16:colId xmlns:a16="http://schemas.microsoft.com/office/drawing/2014/main" val="1045329111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4240744273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4015607168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3831047150"/>
                    </a:ext>
                  </a:extLst>
                </a:gridCol>
                <a:gridCol w="692727">
                  <a:extLst>
                    <a:ext uri="{9D8B030D-6E8A-4147-A177-3AD203B41FA5}">
                      <a16:colId xmlns:a16="http://schemas.microsoft.com/office/drawing/2014/main" val="1061482151"/>
                    </a:ext>
                  </a:extLst>
                </a:gridCol>
                <a:gridCol w="713509">
                  <a:extLst>
                    <a:ext uri="{9D8B030D-6E8A-4147-A177-3AD203B41FA5}">
                      <a16:colId xmlns:a16="http://schemas.microsoft.com/office/drawing/2014/main" val="910433887"/>
                    </a:ext>
                  </a:extLst>
                </a:gridCol>
                <a:gridCol w="666038">
                  <a:extLst>
                    <a:ext uri="{9D8B030D-6E8A-4147-A177-3AD203B41FA5}">
                      <a16:colId xmlns:a16="http://schemas.microsoft.com/office/drawing/2014/main" val="3237084427"/>
                    </a:ext>
                  </a:extLst>
                </a:gridCol>
                <a:gridCol w="737950">
                  <a:extLst>
                    <a:ext uri="{9D8B030D-6E8A-4147-A177-3AD203B41FA5}">
                      <a16:colId xmlns:a16="http://schemas.microsoft.com/office/drawing/2014/main" val="1970731484"/>
                    </a:ext>
                  </a:extLst>
                </a:gridCol>
              </a:tblGrid>
              <a:tr h="489685">
                <a:tc>
                  <a:txBody>
                    <a:bodyPr/>
                    <a:lstStyle/>
                    <a:p>
                      <a:r>
                        <a:rPr lang="en-US" sz="1100" dirty="0"/>
                        <a:t>Topics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arch infra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convert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 tutorial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oper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preproc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training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release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other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696313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/>
                        <a:t>Address gaps with </a:t>
                      </a:r>
                      <a:r>
                        <a:rPr lang="en-US" sz="1400" dirty="0" err="1"/>
                        <a:t>Opset</a:t>
                      </a:r>
                      <a:r>
                        <a:rPr lang="en-US" sz="1400" dirty="0"/>
                        <a:t> conversions across broad set of models (7).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4071084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/>
                        <a:t>ONNX model zoo example for E2E distributed training scenario of large models (8).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056993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Define concept of federated learning for ONNX (9).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40736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FF84E-7115-4E42-B718-F3A3B19F4AA3}"/>
              </a:ext>
            </a:extLst>
          </p:cNvPr>
          <p:cNvSpPr txBox="1"/>
          <p:nvPr/>
        </p:nvSpPr>
        <p:spPr>
          <a:xfrm>
            <a:off x="559376" y="4052455"/>
            <a:ext cx="57198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(7) Sabharwal (Intel). “Converter robustness and usability of quantization from older models.”</a:t>
            </a:r>
          </a:p>
          <a:p>
            <a:r>
              <a:rPr lang="en-US" sz="1050" dirty="0"/>
              <a:t>(8) Esteves (Intel). “Distributed learning”</a:t>
            </a:r>
          </a:p>
          <a:p>
            <a:r>
              <a:rPr lang="en-US" sz="1050" dirty="0"/>
              <a:t>(9) Esteves (Intel). “Federated learning”</a:t>
            </a:r>
          </a:p>
        </p:txBody>
      </p:sp>
    </p:spTree>
    <p:extLst>
      <p:ext uri="{BB962C8B-B14F-4D97-AF65-F5344CB8AC3E}">
        <p14:creationId xmlns:p14="http://schemas.microsoft.com/office/powerpoint/2010/main" val="1574417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AA38-F6BF-CA4B-AF3A-5964C918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573774"/>
          </a:xfrm>
        </p:spPr>
        <p:txBody>
          <a:bodyPr/>
          <a:lstStyle/>
          <a:p>
            <a:r>
              <a:rPr lang="en-US" dirty="0"/>
              <a:t>ONNX Roadmap Discussions (# 4 of 4)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72AB70-4DCC-9D40-AE00-32A26CB8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130245"/>
              </p:ext>
            </p:extLst>
          </p:nvPr>
        </p:nvGraphicFramePr>
        <p:xfrm>
          <a:off x="469323" y="1149351"/>
          <a:ext cx="7744174" cy="28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168">
                  <a:extLst>
                    <a:ext uri="{9D8B030D-6E8A-4147-A177-3AD203B41FA5}">
                      <a16:colId xmlns:a16="http://schemas.microsoft.com/office/drawing/2014/main" val="1465147641"/>
                    </a:ext>
                  </a:extLst>
                </a:gridCol>
                <a:gridCol w="588818">
                  <a:extLst>
                    <a:ext uri="{9D8B030D-6E8A-4147-A177-3AD203B41FA5}">
                      <a16:colId xmlns:a16="http://schemas.microsoft.com/office/drawing/2014/main" val="1045329111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4240744273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4015607168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3831047150"/>
                    </a:ext>
                  </a:extLst>
                </a:gridCol>
                <a:gridCol w="692727">
                  <a:extLst>
                    <a:ext uri="{9D8B030D-6E8A-4147-A177-3AD203B41FA5}">
                      <a16:colId xmlns:a16="http://schemas.microsoft.com/office/drawing/2014/main" val="1061482151"/>
                    </a:ext>
                  </a:extLst>
                </a:gridCol>
                <a:gridCol w="713509">
                  <a:extLst>
                    <a:ext uri="{9D8B030D-6E8A-4147-A177-3AD203B41FA5}">
                      <a16:colId xmlns:a16="http://schemas.microsoft.com/office/drawing/2014/main" val="910433887"/>
                    </a:ext>
                  </a:extLst>
                </a:gridCol>
                <a:gridCol w="666038">
                  <a:extLst>
                    <a:ext uri="{9D8B030D-6E8A-4147-A177-3AD203B41FA5}">
                      <a16:colId xmlns:a16="http://schemas.microsoft.com/office/drawing/2014/main" val="3237084427"/>
                    </a:ext>
                  </a:extLst>
                </a:gridCol>
                <a:gridCol w="737950">
                  <a:extLst>
                    <a:ext uri="{9D8B030D-6E8A-4147-A177-3AD203B41FA5}">
                      <a16:colId xmlns:a16="http://schemas.microsoft.com/office/drawing/2014/main" val="1970731484"/>
                    </a:ext>
                  </a:extLst>
                </a:gridCol>
              </a:tblGrid>
              <a:tr h="489685">
                <a:tc>
                  <a:txBody>
                    <a:bodyPr/>
                    <a:lstStyle/>
                    <a:p>
                      <a:r>
                        <a:rPr lang="en-US" sz="1100" dirty="0"/>
                        <a:t>Topics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arch infra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convert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 tutorial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oper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preproc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training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release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other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696313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Improvements to shape inference implementation (10).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4071084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/>
                        <a:t>Introduce ONNX model provenance &amp; security to safeguard against manipulations (11).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runtime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056993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/>
                        <a:t>ONNX model zoo support for quantized and mixed precision models. (12)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40736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FF84E-7115-4E42-B718-F3A3B19F4AA3}"/>
              </a:ext>
            </a:extLst>
          </p:cNvPr>
          <p:cNvSpPr txBox="1"/>
          <p:nvPr/>
        </p:nvSpPr>
        <p:spPr>
          <a:xfrm>
            <a:off x="559376" y="4052455"/>
            <a:ext cx="614142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(10) McCarter (</a:t>
            </a:r>
            <a:r>
              <a:rPr lang="en-US" sz="1050" dirty="0" err="1"/>
              <a:t>Lightmatter</a:t>
            </a:r>
            <a:r>
              <a:rPr lang="en-US" sz="1050" dirty="0"/>
              <a:t>). “Shapes with symbolic computations, unknown ranks.”</a:t>
            </a:r>
          </a:p>
          <a:p>
            <a:r>
              <a:rPr lang="en-US" sz="1050" dirty="0"/>
              <a:t>(11) </a:t>
            </a:r>
            <a:r>
              <a:rPr lang="en-US" sz="1050" dirty="0" err="1"/>
              <a:t>Karumanchi</a:t>
            </a:r>
            <a:r>
              <a:rPr lang="en-US" sz="1050" dirty="0"/>
              <a:t> et al (Intel &amp; IBM + Oracle). “Meta data properties, from model to runtime, integrity”</a:t>
            </a:r>
          </a:p>
          <a:p>
            <a:r>
              <a:rPr lang="en-US" sz="1050" dirty="0"/>
              <a:t>(12) </a:t>
            </a:r>
            <a:r>
              <a:rPr lang="en-US" sz="1050" dirty="0" err="1"/>
              <a:t>Karumanchi</a:t>
            </a:r>
            <a:r>
              <a:rPr lang="en-US" sz="1050" dirty="0"/>
              <a:t> et al (Intel &amp; IBM). “Meta data for models, ops with reduction type as an attribute?”</a:t>
            </a:r>
          </a:p>
        </p:txBody>
      </p:sp>
    </p:spTree>
    <p:extLst>
      <p:ext uri="{BB962C8B-B14F-4D97-AF65-F5344CB8AC3E}">
        <p14:creationId xmlns:p14="http://schemas.microsoft.com/office/powerpoint/2010/main" val="3762314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sz="3200" dirty="0"/>
              <a:t>ONNX 1.10 Released</a:t>
            </a:r>
            <a:endParaRPr sz="1900" dirty="0"/>
          </a:p>
        </p:txBody>
      </p:sp>
      <p:sp>
        <p:nvSpPr>
          <p:cNvPr id="551" name="Google Shape;551;p13"/>
          <p:cNvSpPr/>
          <p:nvPr/>
        </p:nvSpPr>
        <p:spPr>
          <a:xfrm>
            <a:off x="457725" y="834875"/>
            <a:ext cx="7898100" cy="3270000"/>
          </a:xfrm>
          <a:prstGeom prst="roundRect">
            <a:avLst>
              <a:gd name="adj" fmla="val 6462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3232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3232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dirty="0">
                <a:hlinkClick r:id="rId3"/>
              </a:rPr>
              <a:t>Release v1.10.0 · </a:t>
            </a:r>
            <a:r>
              <a:rPr lang="en-US" sz="2400" dirty="0" err="1">
                <a:hlinkClick r:id="rId3"/>
              </a:rPr>
              <a:t>onnx</a:t>
            </a:r>
            <a:r>
              <a:rPr lang="en-US" sz="2400" dirty="0">
                <a:hlinkClick r:id="rId3"/>
              </a:rPr>
              <a:t>/</a:t>
            </a:r>
            <a:r>
              <a:rPr lang="en-US" sz="2400" dirty="0" err="1">
                <a:hlinkClick r:id="rId3"/>
              </a:rPr>
              <a:t>onnx</a:t>
            </a:r>
            <a:r>
              <a:rPr lang="en-US" sz="2400" dirty="0">
                <a:hlinkClick r:id="rId3"/>
              </a:rPr>
              <a:t> (github.com)</a:t>
            </a:r>
            <a:endParaRPr lang="en-US" sz="2400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" sz="1800" b="0" i="0" u="none" strike="noStrike" cap="none" dirty="0">
              <a:solidFill>
                <a:srgbClr val="3232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rPr>
              <a:t>ONNX v1.10 comes with several Key updates, IR Updates, Opset Version 15, API, Infrastructure, Bug fixes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" sz="1800" dirty="0">
              <a:solidFill>
                <a:srgbClr val="32323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323232"/>
                </a:solidFill>
              </a:rPr>
              <a:t>Visit ONNX.AI website to learn more</a:t>
            </a:r>
            <a:endParaRPr sz="1300" dirty="0">
              <a:solidFill>
                <a:srgbClr val="323232"/>
              </a:solidFill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457725" y="4198225"/>
            <a:ext cx="7898100" cy="744900"/>
          </a:xfrm>
          <a:prstGeom prst="roundRect">
            <a:avLst>
              <a:gd name="adj" fmla="val 24630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323232"/>
                </a:solidFill>
                <a:latin typeface="Arial"/>
                <a:ea typeface="Arial"/>
                <a:cs typeface="Arial"/>
                <a:sym typeface="Arial"/>
              </a:rPr>
              <a:t>Thank you everyone for your countless hours of work!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"/>
          <p:cNvSpPr txBox="1">
            <a:spLocks noGrp="1"/>
          </p:cNvSpPr>
          <p:nvPr>
            <p:ph type="body" idx="1"/>
          </p:nvPr>
        </p:nvSpPr>
        <p:spPr>
          <a:xfrm>
            <a:off x="2672700" y="994050"/>
            <a:ext cx="37986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4000"/>
              <a:t>Questions?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 txBox="1">
            <a:spLocks noGrp="1"/>
          </p:cNvSpPr>
          <p:nvPr>
            <p:ph type="body" idx="1"/>
          </p:nvPr>
        </p:nvSpPr>
        <p:spPr>
          <a:xfrm>
            <a:off x="5199175" y="1096200"/>
            <a:ext cx="37986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Community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Presentations</a:t>
            </a:r>
            <a:endParaRPr sz="3400"/>
          </a:p>
        </p:txBody>
      </p:sp>
      <p:cxnSp>
        <p:nvCxnSpPr>
          <p:cNvPr id="571" name="Google Shape;571;p24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2" name="Google Shape;572;p24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5" cy="75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Agenda</a:t>
            </a:r>
            <a:r>
              <a:rPr lang="en" dirty="0"/>
              <a:t> - 2</a:t>
            </a:r>
            <a:endParaRPr dirty="0"/>
          </a:p>
        </p:txBody>
      </p:sp>
      <p:graphicFrame>
        <p:nvGraphicFramePr>
          <p:cNvPr id="296" name="Google Shape;296;p8"/>
          <p:cNvGraphicFramePr/>
          <p:nvPr>
            <p:extLst>
              <p:ext uri="{D42A27DB-BD31-4B8C-83A1-F6EECF244321}">
                <p14:modId xmlns:p14="http://schemas.microsoft.com/office/powerpoint/2010/main" val="401261140"/>
              </p:ext>
            </p:extLst>
          </p:nvPr>
        </p:nvGraphicFramePr>
        <p:xfrm>
          <a:off x="3706590" y="412750"/>
          <a:ext cx="5392650" cy="461753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196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/>
                        <a:t>Emma Ning (Microsoft)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Runtime Web: running your machine learning model in browser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4"/>
                        </a:rPr>
                        <a:t>Haixuan</a:t>
                      </a:r>
                      <a:r>
                        <a:rPr lang="en-US" sz="800" dirty="0">
                          <a:hlinkClick r:id="rId4"/>
                        </a:rPr>
                        <a:t> Xavier Tao ( Banque France)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as standard format for institution with legacy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5"/>
                        </a:rPr>
                        <a:t>Elpida Tzortzatos (IBM)</a:t>
                      </a:r>
                      <a:r>
                        <a:rPr lang="en-US" sz="800" dirty="0"/>
                        <a:t>&amp; </a:t>
                      </a:r>
                      <a:r>
                        <a:rPr lang="en-US" sz="800" dirty="0">
                          <a:hlinkClick r:id="rId6"/>
                        </a:rPr>
                        <a:t>Andrew M. </a:t>
                      </a:r>
                      <a:r>
                        <a:rPr lang="en-US" sz="800" dirty="0" err="1">
                          <a:hlinkClick r:id="rId6"/>
                        </a:rPr>
                        <a:t>Sica</a:t>
                      </a:r>
                      <a:r>
                        <a:rPr lang="en-US" sz="800" dirty="0">
                          <a:hlinkClick r:id="rId6"/>
                        </a:rPr>
                        <a:t> (IBM)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 and the AI on IBM Z client journey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/>
                        <a:t>Mengni</a:t>
                      </a:r>
                      <a:r>
                        <a:rPr lang="en-US" sz="800" dirty="0"/>
                        <a:t> Wang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Intel® Neural Compressor: A Scalable Quantization Tool for ONNX Models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7"/>
                        </a:rPr>
                        <a:t>Zhipeng</a:t>
                      </a:r>
                      <a:r>
                        <a:rPr lang="en-US" sz="800" dirty="0">
                          <a:hlinkClick r:id="rId7"/>
                        </a:rPr>
                        <a:t> Huang (Huawei)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Ascend CANN and ONNX : inference interoperability for better performance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8"/>
                        </a:rPr>
                        <a:t>Kiefer </a:t>
                      </a:r>
                      <a:r>
                        <a:rPr lang="en-US" sz="800" dirty="0" err="1">
                          <a:hlinkClick r:id="rId8"/>
                        </a:rPr>
                        <a:t>Kuah</a:t>
                      </a:r>
                      <a:r>
                        <a:rPr lang="en-US" sz="800" dirty="0">
                          <a:hlinkClick r:id="rId8"/>
                        </a:rPr>
                        <a:t>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Intel® </a:t>
                      </a:r>
                      <a:r>
                        <a:rPr lang="en-US" sz="800" dirty="0" err="1"/>
                        <a:t>OneAPI</a:t>
                      </a:r>
                      <a:r>
                        <a:rPr lang="en-US" sz="800" dirty="0"/>
                        <a:t> software stack: ONNX Support for </a:t>
                      </a:r>
                      <a:r>
                        <a:rPr lang="en-US" sz="800" dirty="0" err="1"/>
                        <a:t>xPU</a:t>
                      </a:r>
                      <a:r>
                        <a:rPr lang="en-US" sz="800" dirty="0"/>
                        <a:t> hardware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 err="1">
                          <a:hlinkClick r:id="rId9"/>
                        </a:rPr>
                        <a:t>Ti</a:t>
                      </a:r>
                      <a:r>
                        <a:rPr lang="en-US" sz="800" dirty="0">
                          <a:hlinkClick r:id="rId9"/>
                        </a:rPr>
                        <a:t> Zhou (Baidu)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ONNX: Boosting </a:t>
                      </a:r>
                      <a:r>
                        <a:rPr lang="en-US" sz="800" dirty="0" err="1"/>
                        <a:t>PaddlePaddle</a:t>
                      </a:r>
                      <a:r>
                        <a:rPr lang="en-US" sz="800" dirty="0"/>
                        <a:t> Deployment in Industry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10"/>
                        </a:rPr>
                        <a:t>Sri Krishnamurthy (</a:t>
                      </a:r>
                      <a:r>
                        <a:rPr lang="en-US" sz="800" dirty="0" err="1">
                          <a:hlinkClick r:id="rId10"/>
                        </a:rPr>
                        <a:t>QuantUniversity</a:t>
                      </a:r>
                      <a:r>
                        <a:rPr lang="en-US" sz="800" dirty="0">
                          <a:hlinkClick r:id="rId10"/>
                        </a:rPr>
                        <a:t>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Auditing considerations for ONNX models and benchmarking with </a:t>
                      </a:r>
                      <a:r>
                        <a:rPr lang="en-US" sz="800" dirty="0" err="1"/>
                        <a:t>QuSandbox</a:t>
                      </a:r>
                      <a:endParaRPr lang="en-US"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>
                          <a:hlinkClick r:id="rId11"/>
                        </a:rPr>
                        <a:t>Jason Knight (</a:t>
                      </a:r>
                      <a:r>
                        <a:rPr lang="en-US" sz="800" dirty="0" err="1">
                          <a:hlinkClick r:id="rId11"/>
                        </a:rPr>
                        <a:t>OctoML</a:t>
                      </a:r>
                      <a:r>
                        <a:rPr lang="en-US" sz="800" dirty="0">
                          <a:hlinkClick r:id="rId11"/>
                        </a:rPr>
                        <a:t>) </a:t>
                      </a:r>
                      <a:r>
                        <a:rPr lang="en-US" sz="800" dirty="0"/>
                        <a:t>and Andrew Luo (</a:t>
                      </a:r>
                      <a:r>
                        <a:rPr lang="en-US" sz="800" dirty="0" err="1"/>
                        <a:t>OctoML</a:t>
                      </a:r>
                      <a:r>
                        <a:rPr lang="en-US" sz="800" dirty="0"/>
                        <a:t>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TVM: Dynamic shapes, control flow, and quantization with a compiler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dirty="0"/>
                        <a:t>Sergey </a:t>
                      </a:r>
                      <a:r>
                        <a:rPr lang="en-US" sz="800" dirty="0" err="1"/>
                        <a:t>Lyalin</a:t>
                      </a:r>
                      <a:r>
                        <a:rPr lang="en-US" sz="800" dirty="0"/>
                        <a:t> (Intel)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Place of ONNX in </a:t>
                      </a:r>
                      <a:r>
                        <a:rPr lang="en-US" sz="800" dirty="0" err="1"/>
                        <a:t>OpenVINO</a:t>
                      </a:r>
                      <a:r>
                        <a:rPr lang="en-US" sz="800" dirty="0"/>
                        <a:t> ecosystem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hlinkClick r:id="rId12"/>
                        </a:rPr>
                        <a:t>Ashwini </a:t>
                      </a:r>
                      <a:r>
                        <a:rPr lang="en-US" sz="800" dirty="0" err="1">
                          <a:hlinkClick r:id="rId12"/>
                        </a:rPr>
                        <a:t>Khade</a:t>
                      </a:r>
                      <a:r>
                        <a:rPr lang="en-US" sz="800" dirty="0">
                          <a:hlinkClick r:id="rId12"/>
                        </a:rPr>
                        <a:t> (Microsoft)</a:t>
                      </a:r>
                      <a:endParaRPr 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Triton &amp; ONNX Runtime:</a:t>
                      </a:r>
                      <a:endParaRPr sz="8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111068020"/>
                  </a:ext>
                </a:extLst>
              </a:tr>
            </a:tbl>
          </a:graphicData>
        </a:graphic>
      </p:graphicFrame>
      <p:cxnSp>
        <p:nvCxnSpPr>
          <p:cNvPr id="297" name="Google Shape;297;p8"/>
          <p:cNvCxnSpPr/>
          <p:nvPr/>
        </p:nvCxnSpPr>
        <p:spPr>
          <a:xfrm rot="10800000" flipH="1">
            <a:off x="3212246" y="412650"/>
            <a:ext cx="494344" cy="18951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8"/>
          <p:cNvCxnSpPr/>
          <p:nvPr/>
        </p:nvCxnSpPr>
        <p:spPr>
          <a:xfrm>
            <a:off x="3212246" y="2939960"/>
            <a:ext cx="494400" cy="17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99" name="Google Shape;299;p8"/>
          <p:cNvGraphicFramePr/>
          <p:nvPr/>
        </p:nvGraphicFramePr>
        <p:xfrm>
          <a:off x="405471" y="1111250"/>
          <a:ext cx="2806775" cy="34290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76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ONNX SC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8:15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Community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Break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SIG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11:00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Wrap Up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732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"/>
          <p:cNvSpPr txBox="1">
            <a:spLocks noGrp="1"/>
          </p:cNvSpPr>
          <p:nvPr>
            <p:ph type="body" idx="1"/>
          </p:nvPr>
        </p:nvSpPr>
        <p:spPr>
          <a:xfrm>
            <a:off x="5199175" y="1096200"/>
            <a:ext cx="37986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SIG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Presentations</a:t>
            </a:r>
            <a:endParaRPr sz="3400"/>
          </a:p>
        </p:txBody>
      </p:sp>
      <p:cxnSp>
        <p:nvCxnSpPr>
          <p:cNvPr id="598" name="Google Shape;598;p27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9" name="Google Shape;599;p27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5" cy="75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Agenda</a:t>
            </a:r>
            <a:r>
              <a:rPr lang="en"/>
              <a:t> - 3</a:t>
            </a:r>
            <a:endParaRPr/>
          </a:p>
        </p:txBody>
      </p:sp>
      <p:graphicFrame>
        <p:nvGraphicFramePr>
          <p:cNvPr id="305" name="Google Shape;305;p9"/>
          <p:cNvGraphicFramePr/>
          <p:nvPr>
            <p:extLst>
              <p:ext uri="{D42A27DB-BD31-4B8C-83A1-F6EECF244321}">
                <p14:modId xmlns:p14="http://schemas.microsoft.com/office/powerpoint/2010/main" val="4093650704"/>
              </p:ext>
            </p:extLst>
          </p:nvPr>
        </p:nvGraphicFramePr>
        <p:xfrm>
          <a:off x="3751350" y="2616942"/>
          <a:ext cx="5392650" cy="22618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328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4"/>
                        </a:rPr>
                        <a:t>Ashwini Khade (Microsoft)</a:t>
                      </a:r>
                      <a:endParaRPr sz="13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Architecture/Infrastructure SIG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>
                          <a:solidFill>
                            <a:schemeClr val="hlink"/>
                          </a:solidFill>
                          <a:hlinkClick r:id="rId5"/>
                        </a:rPr>
                        <a:t>Michał Karzyński (Intel) </a:t>
                      </a:r>
                      <a:r>
                        <a:rPr lang="en" sz="1000" u="none" strike="noStrike" cap="none"/>
                        <a:t>and </a:t>
                      </a:r>
                      <a:r>
                        <a:rPr lang="en" sz="1000" u="sng" strike="noStrike" cap="none">
                          <a:solidFill>
                            <a:schemeClr val="hlink"/>
                          </a:solidFill>
                          <a:hlinkClick r:id="rId6"/>
                        </a:rPr>
                        <a:t>Ganesan Ramalingen (Microsoft)</a:t>
                      </a:r>
                      <a:endParaRPr sz="13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Operators SIG</a:t>
                      </a:r>
                      <a:endParaRPr sz="1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7"/>
                        </a:rPr>
                        <a:t>Chin Huang (IBM)</a:t>
                      </a:r>
                      <a:r>
                        <a:rPr lang="en" sz="1000" u="none" strike="noStrike" cap="none" dirty="0"/>
                        <a:t> and </a:t>
                      </a:r>
                      <a:r>
                        <a:rPr lang="en" sz="1000" u="sng" strike="noStrike" cap="none" dirty="0">
                          <a:solidFill>
                            <a:schemeClr val="hlink"/>
                          </a:solidFill>
                          <a:hlinkClick r:id="rId8"/>
                        </a:rPr>
                        <a:t>Guenther Schmuelling (Microsoft)</a:t>
                      </a:r>
                      <a:r>
                        <a:rPr lang="en" sz="1000" dirty="0"/>
                        <a:t> </a:t>
                      </a:r>
                      <a:endParaRPr sz="16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Converters SIG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Wenbing</a:t>
                      </a:r>
                      <a:r>
                        <a:rPr lang="en" sz="1000" u="none" strike="noStrike" cap="none" dirty="0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          </a:ext>
                          </a:extLst>
                        </a:rPr>
                        <a:t> Li (Microsoft) &amp; Mark Hamilton (Microsoft)</a:t>
                      </a:r>
                      <a:endParaRPr sz="13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 dirty="0"/>
                        <a:t>Model Zoo/Tutorials SIG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hlinkClick r:id="rId9"/>
                        </a:rPr>
                        <a:t>Joaquin Anton (Nvidia)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Pre-processing WG</a:t>
                      </a:r>
                      <a:endParaRPr sz="10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11084277"/>
                  </a:ext>
                </a:extLst>
              </a:tr>
            </a:tbl>
          </a:graphicData>
        </a:graphic>
      </p:graphicFrame>
      <p:cxnSp>
        <p:nvCxnSpPr>
          <p:cNvPr id="306" name="Google Shape;306;p9"/>
          <p:cNvCxnSpPr/>
          <p:nvPr/>
        </p:nvCxnSpPr>
        <p:spPr>
          <a:xfrm rot="10800000" flipH="1">
            <a:off x="3278725" y="2889350"/>
            <a:ext cx="4698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9"/>
          <p:cNvCxnSpPr/>
          <p:nvPr/>
        </p:nvCxnSpPr>
        <p:spPr>
          <a:xfrm>
            <a:off x="3278725" y="3981450"/>
            <a:ext cx="469800" cy="72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08" name="Google Shape;308;p9"/>
          <p:cNvGraphicFramePr/>
          <p:nvPr/>
        </p:nvGraphicFramePr>
        <p:xfrm>
          <a:off x="457725" y="937070"/>
          <a:ext cx="2806775" cy="3429000"/>
        </p:xfrm>
        <a:graphic>
          <a:graphicData uri="http://schemas.openxmlformats.org/drawingml/2006/table">
            <a:tbl>
              <a:tblPr>
                <a:noFill/>
                <a:tableStyleId>{FCFFDF07-19E0-44E1-B5BC-53BCCD9BA880}</a:tableStyleId>
              </a:tblPr>
              <a:tblGrid>
                <a:gridCol w="76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Welcome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8:05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ONNX SC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8:15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Community Updates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Break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10:10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SIG &amp; WG Updates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11:00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Wrap Up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077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 txBox="1">
            <a:spLocks noGrp="1"/>
          </p:cNvSpPr>
          <p:nvPr>
            <p:ph type="body" idx="1"/>
          </p:nvPr>
        </p:nvSpPr>
        <p:spPr>
          <a:xfrm>
            <a:off x="5199178" y="1096210"/>
            <a:ext cx="34362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/>
              <a:t>Wrap up!</a:t>
            </a:r>
            <a:endParaRPr sz="3400"/>
          </a:p>
        </p:txBody>
      </p:sp>
      <p:cxnSp>
        <p:nvCxnSpPr>
          <p:cNvPr id="616" name="Google Shape;616;p29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7" name="Google Shape;617;p29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8" cy="759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0"/>
          <p:cNvSpPr txBox="1">
            <a:spLocks noGrp="1"/>
          </p:cNvSpPr>
          <p:nvPr>
            <p:ph type="body" idx="1"/>
          </p:nvPr>
        </p:nvSpPr>
        <p:spPr>
          <a:xfrm>
            <a:off x="5066653" y="1454046"/>
            <a:ext cx="3798600" cy="3605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 sz="3600" dirty="0"/>
              <a:t>Wish we had more time!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sz="3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sz="3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sz="3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sz="3400" dirty="0"/>
          </a:p>
        </p:txBody>
      </p:sp>
      <p:cxnSp>
        <p:nvCxnSpPr>
          <p:cNvPr id="625" name="Google Shape;625;p30"/>
          <p:cNvCxnSpPr/>
          <p:nvPr/>
        </p:nvCxnSpPr>
        <p:spPr>
          <a:xfrm>
            <a:off x="4607119" y="1603289"/>
            <a:ext cx="0" cy="2020200"/>
          </a:xfrm>
          <a:prstGeom prst="straightConnector1">
            <a:avLst/>
          </a:prstGeom>
          <a:noFill/>
          <a:ln w="60325" cap="flat" cmpd="sng">
            <a:solidFill>
              <a:srgbClr val="2A707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6" name="Google Shape;626;p30"/>
          <p:cNvSpPr txBox="1"/>
          <p:nvPr/>
        </p:nvSpPr>
        <p:spPr>
          <a:xfrm>
            <a:off x="514878" y="330994"/>
            <a:ext cx="34287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857" y="2233625"/>
            <a:ext cx="3076435" cy="75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2"/>
          <p:cNvSpPr txBox="1">
            <a:spLocks noGrp="1"/>
          </p:cNvSpPr>
          <p:nvPr>
            <p:ph type="title"/>
          </p:nvPr>
        </p:nvSpPr>
        <p:spPr>
          <a:xfrm>
            <a:off x="457736" y="273844"/>
            <a:ext cx="822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Thank you ...</a:t>
            </a:r>
            <a:endParaRPr/>
          </a:p>
        </p:txBody>
      </p:sp>
      <p:sp>
        <p:nvSpPr>
          <p:cNvPr id="639" name="Google Shape;639;p32"/>
          <p:cNvSpPr/>
          <p:nvPr/>
        </p:nvSpPr>
        <p:spPr>
          <a:xfrm>
            <a:off x="457725" y="1024050"/>
            <a:ext cx="8228400" cy="37383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Recording of today’s workshop and other applicable content will be shared via ONNX-Announce mailing list when available.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stay engaged and continue to contribute to ONNX and ONNX related projects.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 to use the following ONNX resources: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https://onnx.ai/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https://github.com/onnx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Slack: (join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https://slack.lfai.foundation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email, password, then find onnx-general)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https://onnx.ai/calendar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Mailing List: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https://lists.lfai.foundation/g/onnx-announce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5">
      <a:dk1>
        <a:srgbClr val="333333"/>
      </a:dk1>
      <a:lt1>
        <a:srgbClr val="FFFFFF"/>
      </a:lt1>
      <a:dk2>
        <a:srgbClr val="333333"/>
      </a:dk2>
      <a:lt2>
        <a:srgbClr val="EDEDED"/>
      </a:lt2>
      <a:accent1>
        <a:srgbClr val="61DAFB"/>
      </a:accent1>
      <a:accent2>
        <a:srgbClr val="28278B"/>
      </a:accent2>
      <a:accent3>
        <a:srgbClr val="848484"/>
      </a:accent3>
      <a:accent4>
        <a:srgbClr val="53ADDF"/>
      </a:accent4>
      <a:accent5>
        <a:srgbClr val="4580C3"/>
      </a:accent5>
      <a:accent6>
        <a:srgbClr val="3654A7"/>
      </a:accent6>
      <a:hlink>
        <a:srgbClr val="3A5896"/>
      </a:hlink>
      <a:folHlink>
        <a:srgbClr val="8484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1919</Words>
  <Application>Microsoft Office PowerPoint</Application>
  <PresentationFormat>On-screen Show (16:9)</PresentationFormat>
  <Paragraphs>389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Arial</vt:lpstr>
      <vt:lpstr>Simple Light</vt:lpstr>
      <vt:lpstr>Office Theme</vt:lpstr>
      <vt:lpstr>PowerPoint Presentation</vt:lpstr>
      <vt:lpstr>PowerPoint Presentation</vt:lpstr>
      <vt:lpstr>Welcome Message from Host  Rajeev Nalawadi and Intel  </vt:lpstr>
      <vt:lpstr>Disclaimer</vt:lpstr>
      <vt:lpstr>Logistics</vt:lpstr>
      <vt:lpstr>Goals for the Workshop</vt:lpstr>
      <vt:lpstr>Agenda -1</vt:lpstr>
      <vt:lpstr>Agenda - 2</vt:lpstr>
      <vt:lpstr>Agenda - 3</vt:lpstr>
      <vt:lpstr>PowerPoint Presentation</vt:lpstr>
      <vt:lpstr>Engagement &amp; usage (from 3/21/21 to 10/20/21)</vt:lpstr>
      <vt:lpstr>Tools (and Companies) that Support Onnx</vt:lpstr>
      <vt:lpstr>Companies (Continued)</vt:lpstr>
      <vt:lpstr>PowerPoint Presentation</vt:lpstr>
      <vt:lpstr>ONNX open governance update</vt:lpstr>
      <vt:lpstr>Call to Action!</vt:lpstr>
      <vt:lpstr>PowerPoint Presentation</vt:lpstr>
      <vt:lpstr>ONNX roadmap discussions</vt:lpstr>
      <vt:lpstr>ONNX Roadmap Discussions (# 1 of 4)</vt:lpstr>
      <vt:lpstr>ONNX Roadmap Discussions (# 2 of 4)</vt:lpstr>
      <vt:lpstr>ONNX Roadmap Discussions (# 3 of 4)</vt:lpstr>
      <vt:lpstr>ONNX Roadmap Discussions (# 4 of 4)</vt:lpstr>
      <vt:lpstr>ONNX 1.10 Released</vt:lpstr>
      <vt:lpstr>PowerPoint Presentation</vt:lpstr>
      <vt:lpstr>PowerPoint Presentation</vt:lpstr>
      <vt:lpstr>Agenda - 2</vt:lpstr>
      <vt:lpstr>PowerPoint Presentation</vt:lpstr>
      <vt:lpstr>Agenda - 3</vt:lpstr>
      <vt:lpstr>PowerPoint Presentation</vt:lpstr>
      <vt:lpstr>PowerPoint Presentation</vt:lpstr>
      <vt:lpstr>Thank you 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Wenming Ye</cp:lastModifiedBy>
  <cp:revision>41</cp:revision>
  <dcterms:modified xsi:type="dcterms:W3CDTF">2021-10-21T06:39:51Z</dcterms:modified>
</cp:coreProperties>
</file>